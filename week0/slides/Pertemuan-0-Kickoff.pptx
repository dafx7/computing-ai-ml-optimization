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1.svg" ContentType="image/svg+xml"/>
  <Override PartName="/ppt/media/image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61" r:id="rId13"/>
    <p:sldId id="262" r:id="rId14"/>
    <p:sldId id="263" r:id="rId15"/>
    <p:sldId id="264" r:id="rId16"/>
    <p:sldId id="265" r:id="rId17"/>
    <p:sldId id="266" r:id="rId18"/>
    <p:sldId id="267" r:id="rId19"/>
    <p:sldId id="268" r:id="rId20"/>
    <p:sldId id="269" r:id="rId21"/>
    <p:sldId id="280" r:id="rId32"/>
    <p:sldId id="270" r:id="rId22"/>
    <p:sldId id="271" r:id="rId23"/>
    <p:sldId id="272" r:id="rId24"/>
    <p:sldId id="281" r:id="rId33"/>
    <p:sldId id="273" r:id="rId25"/>
    <p:sldId id="274" r:id="rId26"/>
    <p:sldId id="275" r:id="rId27"/>
    <p:sldId id="276" r:id="rId28"/>
    <p:sldId id="277" r:id="rId29"/>
    <p:sldId id="278" r:id="rId30"/>
    <p:sldId id="282" r:id="rId34"/>
    <p:sldId id="283" r:id="rId35"/>
    <p:sldId id="284" r:id="rId36"/>
    <p:sldId id="285" r:id="rId37"/>
    <p:sldId id="286" r:id="rId38"/>
    <p:sldId id="287" r:id="rId39"/>
    <p:sldId id="289" r:id="rId41"/>
    <p:sldId id="288" r:id="rId40"/>
  </p:sldIdLst>
  <p:sldSz cx="18288000" cy="10287000"/>
  <p:notesSz cx="6858000" cy="9144000"/>
  <p:embeddedFontLst>
    <p:embeddedFont>
      <p:font typeface="Playpen Sans Bold" charset="1" panose="00000000000000000000"/>
      <p:regular r:id="rId11"/>
    </p:embeddedFont>
    <p:embeddedFont>
      <p:font typeface="Playpen Sans" charset="1" panose="00000000000000000000"/>
      <p:regular r:id="rId12"/>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esProps" Target="presProps.xml"/><Relationship Id="rId3" Type="http://schemas.openxmlformats.org/officeDocument/2006/relationships/viewProps" Target="viewProps.xml"/><Relationship Id="rId4" Type="http://schemas.openxmlformats.org/officeDocument/2006/relationships/theme" Target="theme/theme1.xml"/><Relationship Id="rId5" Type="http://schemas.openxmlformats.org/officeDocument/2006/relationships/tableStyles" Target="tableStyles.xml"/><Relationship Id="rId11" Type="http://schemas.openxmlformats.org/officeDocument/2006/relationships/font" Target="fonts/font11.fntdata"/><Relationship Id="rId12" Type="http://schemas.openxmlformats.org/officeDocument/2006/relationships/font" Target="fonts/font12.fntdata"/><Relationship Id="rId13" Type="http://schemas.openxmlformats.org/officeDocument/2006/relationships/slide" Target="slides/slide1.xml"/><Relationship Id="rId14" Type="http://schemas.openxmlformats.org/officeDocument/2006/relationships/slide" Target="slides/slide2.xml"/><Relationship Id="rId15" Type="http://schemas.openxmlformats.org/officeDocument/2006/relationships/slide" Target="slides/slide3.xml"/><Relationship Id="rId16" Type="http://schemas.openxmlformats.org/officeDocument/2006/relationships/slide" Target="slides/slide4.xml"/><Relationship Id="rId17" Type="http://schemas.openxmlformats.org/officeDocument/2006/relationships/slide" Target="slides/slide5.xml"/><Relationship Id="rId18" Type="http://schemas.openxmlformats.org/officeDocument/2006/relationships/slide" Target="slides/slide6.xml"/><Relationship Id="rId19" Type="http://schemas.openxmlformats.org/officeDocument/2006/relationships/slide" Target="slides/slide7.xml"/><Relationship Id="rId20" Type="http://schemas.openxmlformats.org/officeDocument/2006/relationships/slide" Target="slides/slide8.xml"/><Relationship Id="rId21" Type="http://schemas.openxmlformats.org/officeDocument/2006/relationships/slide" Target="slides/slide9.xml"/><Relationship Id="rId22" Type="http://schemas.openxmlformats.org/officeDocument/2006/relationships/slide" Target="slides/slide11.xml"/><Relationship Id="rId23" Type="http://schemas.openxmlformats.org/officeDocument/2006/relationships/slide" Target="slides/slide12.xml"/><Relationship Id="rId24" Type="http://schemas.openxmlformats.org/officeDocument/2006/relationships/slide" Target="slides/slide13.xml"/><Relationship Id="rId25" Type="http://schemas.openxmlformats.org/officeDocument/2006/relationships/slide" Target="slides/slide15.xml"/><Relationship Id="rId26" Type="http://schemas.openxmlformats.org/officeDocument/2006/relationships/slide" Target="slides/slide16.xml"/><Relationship Id="rId27" Type="http://schemas.openxmlformats.org/officeDocument/2006/relationships/slide" Target="slides/slide17.xml"/><Relationship Id="rId28" Type="http://schemas.openxmlformats.org/officeDocument/2006/relationships/slide" Target="slides/slide18.xml"/><Relationship Id="rId29" Type="http://schemas.openxmlformats.org/officeDocument/2006/relationships/slide" Target="slides/slide19.xml"/><Relationship Id="rId30" Type="http://schemas.openxmlformats.org/officeDocument/2006/relationships/slide" Target="slides/slide20.xml"/><Relationship Id="rId31" Type="http://schemas.openxmlformats.org/officeDocument/2006/relationships/notesMaster" Target="notesMasters/notesMaster1.xml"/><Relationship Id="rId32" Type="http://schemas.openxmlformats.org/officeDocument/2006/relationships/slide" Target="slides/slide10.xml"/><Relationship Id="rId33" Type="http://schemas.openxmlformats.org/officeDocument/2006/relationships/slide" Target="slides/slide14.xml"/><Relationship Id="rId34" Type="http://schemas.openxmlformats.org/officeDocument/2006/relationships/slide" Target="slides/slide21.xml"/><Relationship Id="rId35" Type="http://schemas.openxmlformats.org/officeDocument/2006/relationships/slide" Target="slides/slide22.xml"/><Relationship Id="rId36" Type="http://schemas.openxmlformats.org/officeDocument/2006/relationships/slide" Target="slides/slide23.xml"/><Relationship Id="rId37" Type="http://schemas.openxmlformats.org/officeDocument/2006/relationships/slide" Target="slides/slide24.xml"/><Relationship Id="rId38" Type="http://schemas.openxmlformats.org/officeDocument/2006/relationships/slide" Target="slides/slide25.xml"/><Relationship Id="rId39" Type="http://schemas.openxmlformats.org/officeDocument/2006/relationships/slide" Target="slides/slide26.xml"/><Relationship Id="rId40" Type="http://schemas.openxmlformats.org/officeDocument/2006/relationships/slide" Target="slides/slide28.xml"/><Relationship Id="rId41"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0:00. On screen while students arrive. Ask everyone to charge their phone: the closing game runs on phones.</a:t>
            </a:r>
          </a:p>
          <a:p>
            <a:r>
              <a:t>Shape of today: a little motivation from papers, then intuition, then what to expect, then a game where evolution learns to play.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 to 0:01 (1 min). One breath: 'Sedikit cerita, banyak intuisi, lalu kita main game. Tidak ada tes hari ini.'</a:t>
            </a:r>
          </a:p>
          <a:p>
            <a:r>
              <a:t>Mentor note: no pretest and no exit ticket this time. The Python worksheet is supplementary material, published later.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0:01 to 0:04 (3 min). Motivation only; do not read the papers. 'Deteksi kanker kulit, rekomendasi, chatbot: semuanya pernah dimulai sebagai paper seperti ini. Beberapa ditulis di kampus kita, sebagian di lab kita.'</a:t>
            </a:r>
          </a:p>
          <a:p>
            <a:r>
              <a:t>Examples on the wall: skin-tone bias audit in dermatology AI, diabetic foot ulcer segmentation, fairness in recommendation, reasoning in small language models, token eviction for video LLMs, reference-vector swarm optimisation, and the KMA family (next slide).</a:t>
            </a:r>
          </a:p>
          <a:p>
            <a:r>
              <a:t>This is a study group, not a research group: papers are where the field lives, and by Week 16 the vocabulary on these pages will be familiar.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0:04 to 0:08 (4 min). The only story today. KMA (Suyanto et al., Telkom University; Applied Soft Computing, online Nov 2021): a search algorithm inspired by Komodo dragons. Improved Adaptive KMA (Liu and Zhang, Jilin University; IEEE Access 2022): researchers abroad read it and improved it. KomoTrip (Baizal et al.; PeerJ Computer Science, Nov 2025): a discrete KMA that plans multi-day travel itineraries.</a:t>
            </a:r>
          </a:p>
          <a:p>
            <a:r>
              <a:t>Say: 'Ide dari kampus kita dibaca orang di Tiongkok, diperbaiki, lalu dipakai untuk menyusun rute wisata. KMA adalah algoritma pencarian, keluarga yang sama dengan evolusi yang nanti main Flappy Komodo. Di Pekan 9 sampai 11 kamu akan menulis algoritma seperti ini sendiri.'</a:t>
            </a:r>
          </a:p>
          <a:p>
            <a:r>
              <a:t>Bridge: 'Untuk sampai ke sana, kita mulai dari intuisinya.'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0:08 to 0:12 (4 min). AI is the umbrella; ML is the part of AI that learns rules from examples; optimisation is the search engine underneath both. Training an ML model IS an optimisation problem (find the parameters with the smallest error). The second half of this course (Weeks 9 to 12) studies optimisation directly.</a:t>
            </a:r>
          </a:p>
          <a:p>
            <a:r>
              <a:t>Ask: 'Sebutkan satu aplikasi di HP-mu yang menurutmu memakai ML.' Take two answers.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0:12 to 0:15 (3 min). The classic picture. In ordinary programming you supply the rules; in ML you supply examples with answers and the computer produces the rule (the model).</a:t>
            </a:r>
          </a:p>
          <a:p>
            <a:r>
              <a:t>Use their Go background: they have written plenty of if-statements. The question for the next slides: how does a computer 'find' a rule? Answer: by trying many settings of some knobs and measuring how wrong each one is.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0:15 to 0:19 (4 min). Show of hands for A, B, C. Then ask two people why. Expected: most pick B, but the reasons are vague ('kelihatannya pas'). Push: 'Kalau ada sejuta titik dan seribu garis, apa yang kamu lakukan? Komputer tidak bisa melihat. Kita butuh angka.'</a:t>
            </a:r>
          </a:p>
          <a:p>
            <a:r>
              <a:t>The data is made up for class (fare in thousands of rupiah versus km). A = 3.4x + 0.5, B = 2.4x + 5, C = 1.5x + 10.</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0:19 to 0:23 (4 min). Each dashed segment is one mistake. Square them, average them: that is the loss (mean squared error). A = 6.7, B = 1.3, C = 8.9 (rounded on the picture).</a:t>
            </a:r>
          </a:p>
          <a:p>
            <a:r>
              <a:t>Two key sentences, ask them to say them back: 'Model adalah rumus dengan kenop.' 'Belajar adalah memutar kenop supaya galat kecil.' This is exactly Week 1 (UDL chapter 2).</a:t>
            </a:r>
          </a:p>
          <a:p>
            <a:r>
              <a:t>Bonus question if time: 'Garis B galatnya 1,3, bukan nol. Mungkinkah ada garis yang galatnya nol? Perlukah?'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0:23 to 0:27 (4 min). Left: if you can compute which way is downhill (the slope, the gradient), follow it. That is how neural networks are trained (first half of the course).</a:t>
            </a:r>
          </a:p>
          <a:p>
            <a:r>
              <a:t>Right: if there is no slope (the score comes from a game, a simulation, a route), try many candidates and keep the best ones. That is a metaheuristic: hill climbing, genetic algorithms, PSO, KMA (second half).</a:t>
            </a:r>
          </a:p>
          <a:p>
            <a:r>
              <a:t>Analogy: turun gunung dalam kabut. Kiri: rasakan kemiringan di kakimu. Kanan: kirim banyak teman ke titik acak, tanya siapa yang paling rendah.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0:27 to 0:31 (4 min). LIVE DEMO: demo.html on the class site, speed Cepat, press Mulai before you talk. 40 triangles, hill climbing: the right-hand picture from the previous slide, running.</a:t>
            </a:r>
          </a:p>
          <a:p>
            <a:r>
              <a:t>Ask: 'Kapan kurvanya turun cepat? Kapan melambat?' Then press 'Ulang dengan acak baru': different start, different result. Plant the word 'seed'; it returns in the game.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0:31 to 0:35 (4 min). The vocabulary for 16 weeks. Model = a formula with knobs (parameters). Loss = how wrong it is. Search = how you turn the knobs (gradient descent or a metaheuristic). Budget = how many tries you can afford (evaluations).</a:t>
            </a:r>
          </a:p>
          <a:p>
            <a:r>
              <a:t>Ask for one more everyday example of 'anggaran'. Point forward: in Flappy Komodo the budget is literally counted (komodos used).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0:35 to 0:38 (3 min). Concrete outcomes, all from the 16-week plan. Stress 'yang kamu tulis sendiri': the first half builds things from scratch in NumPy before using PyTorch in Week 6.</a:t>
            </a:r>
          </a:p>
          <a:p>
            <a:r>
              <a:t>No prior ML is assumed. Python is new for most; the supplementary Python material for Go programmers will be on the class site.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0:38 to 0:41 (3 min). Four blocks. Weeks 8 and 15 are buffers. Checkpoint 2 (team oral) is in Week 12. Details on the class site (Panduan Peserta).</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0:41 to 0:43 (2 min). Read, class, practice. The 5 to 6 hours is an estimate including class. The opening quiz is ungraded retrieval practice.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0:43 to 0:45 (2 min). Both are free from the authors. Their licenses forbid modification and translation, so mentors write Indonesian reading guides as separate commentary that points to the chapters.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0:45 to 0:47 (2 min). 40 / 10 / 50. Oral checks are about 7 minutes: explain your own code and predict the effect of a small change.</a:t>
            </a:r>
          </a:p>
          <a:p>
            <a:r>
              <a:t>CONFIRM BEFORE CLASS: the attendance threshold (13 of 16) is a proposal. If not confirmed say 'ambang kehadiran diumumkan minggu depan' and edit this slide.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0:47 to 0:50 (3 min). Teams formed by mentors in Week 8. 'Lapisan optimasi yang menentukan hasil': remove it and the result must get worse; that is what the baseline comparison shows. Open or synthetic data only.</a:t>
            </a:r>
          </a:p>
          <a:p>
            <a:r>
              <a:t>Tease: 'Flappy Komodo nanti adalah contoh kecil proyek seperti ini: jaringan saraf, dilatih oleh algoritma genetika, diukur dengan anggaran.'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0:50 to 0:52 (2 min). 'Pakai AI sesukamu. Tidak ada yang mencatat. Tapi di cek lisan kamu menjelaskan kodemu tanpa perangkat, jadi pastikan kamu paham apa yang kamu kumpulkan.'</a:t>
            </a:r>
          </a:p>
          <a:p>
            <a:r>
              <a:t>Several weeks include a 'verify the assistant' task (weeks 2, 5, 7, 9, 10, 11, 14).</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0:52 to 0:55 (3 min). Expectations both ways. Mentor commitments here are a proposal: confirm with the other two mentors before class and drop any you cannot keep every week.</a:t>
            </a:r>
          </a:p>
          <a:p>
            <a:r>
              <a:t>Say: 'Kalau kamu tertinggal, bilang di pekan itu juga, jangan tunggu Pekan 8.'</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0:55 to 1:00 (5 min). Break. Mentors: open stage.html on the projector laptop now, check the Act 2 run code (50-10-6-43), and clear old leaderboards.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1:00 to 1:10 (10 min). Mentor 2 = A (Colab first), mentor 3 = B, mentor 1 = C. Unfinished items are homework. Never cut this block.</a:t>
            </a:r>
          </a:p>
          <a:p>
            <a:r>
              <a:t>Put the class site address on the whiteboard during this block (or show it as a QR code) so every phone has it before the game starts.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 to 1:12 (2 min). Individual game, three acts, then an 8-minute debrief. Everything runs in the browser; nothing is sent anywhere, so the leaderboards are kept by mentors on the projector laptop.</a:t>
            </a:r>
          </a:p>
          <a:p>
            <a:r>
              <a:t>GAME ADDRESS: the game is at /game/ on the class site. Fill in the real Netlify address on the whiteboard once deployed.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1:12 to 1:22 (10 min). 8 minutes of play, 2 minutes to collect scores. Mentors walk around; students show the 'Best' number on their phone; type it in stage.html, tab 'Act 1: Humans'. This is honour-based: the score lives only on their phone. Say so openly.</a:t>
            </a:r>
          </a:p>
          <a:p>
            <a:r>
              <a:t>Typical human scores on this course are low single digits to low teens; the course is deliberately harder than the original game. When collection is done, press 'Use Act 1 top score' on the Act 2 tab.</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1:22 to 1:32 (10 min). On stage.html, tab 'Act 2: Evolution', code 50-10-6-43 (rehearsed: generation 1 passes 0 pipes, about 9 pipes by generation 9 to 12, then a jump to 23, 38 and the finish at 50 in generation 15, 750 komodos). Before pressing Start, collect guesses by show of hands.</a:t>
            </a:r>
          </a:p>
          <a:p>
            <a:r>
              <a:t>Speed 3x for the first generations, then 10x. The orange-outlined komodo is last generation's champion, copied unchanged (elitism). A banner appears when evolution passes the best human; let it land.</a:t>
            </a:r>
          </a:p>
          <a:p>
            <a:r>
              <a:t>Say: 'Tidak ada yang menulis aturan kapan harus mengepak. Aturan itu muncul dari mencoba, mengukur, dan memilih.'</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1:32 to 1:47 (15 min). 12 minutes to breed, 3 minutes to submit. Students open Breed, try knobs, and tell a mentor their name and best code; the mentor types it in stage.html tab 'Act 3: Breeders', which re-runs it and ranks by komodos used. Duplicate codes are rejected.</a:t>
            </a:r>
          </a:p>
          <a:p>
            <a:r>
              <a:t>What they will discover (from rehearsal): population 50 needs about 700 komodos; population 20 often solves it in 240 to 400; population 10 is cheapest when it works but fails more often. Lucky seeds exist: that is the debrief.</a:t>
            </a:r>
          </a:p>
          <a:p>
            <a:r>
              <a:t>If someone asks: every run costs only milliseconds, so trying many seeds is allowed. That itself is a search over seeds; mention it in the debrief.</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1:47 to 1:55 (8 min). Before discussing, press 'Check' (Other seeds) on the top 3 Act 3 entries: it re-runs the same knobs with five new seeds. A lucky single run usually drops to 2/5 or 3/5 solved; robust knobs stay at 5/5. That is why the final project demands 10 or more runs.</a:t>
            </a:r>
          </a:p>
          <a:p>
            <a:r>
              <a:t>Q1: a small population explores less per generation, so it can get stuck (and hits the 60-generation limit). Q2: repeat with other seeds. Q3: from selection: measure, keep the best, vary.</a:t>
            </a:r>
          </a:p>
          <a:p>
            <a:r>
              <a:t>Map it back: the komodo brain is a tiny neural network (5 inputs, a few hidden neurons, 1 output); the evolution is a genetic algorithm with elitism, tournament selection, crossover and mutation.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1:55 to 2:00 (5 min). Announce winners from stage.html. Tie-breaks: Act 1 by who showed the score first; Act 3 by the 5-seed check, then submission time.</a:t>
            </a:r>
          </a:p>
          <a:p>
            <a:r>
              <a:t>Page numbers are printed numbers (UDL printed 17 = PDF 31). Chapter 2 is exactly today's ojek example: a line, a loss, and turning the knobs.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2:00. End. See you in Week 1.</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svg"/><Relationship Id="rId11" Type="http://schemas.openxmlformats.org/officeDocument/2006/relationships/image" Target="../media/image10.png"/><Relationship Id="rId12" Type="http://schemas.openxmlformats.org/officeDocument/2006/relationships/image" Target="../media/image11.svg"/><Relationship Id="rId1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svg"/><Relationship Id="rId11" Type="http://schemas.openxmlformats.org/officeDocument/2006/relationships/image" Target="../media/image10.png"/><Relationship Id="rId12" Type="http://schemas.openxmlformats.org/officeDocument/2006/relationships/image" Target="../media/image11.svg"/><Relationship Id="rId1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svg"/><Relationship Id="rId11" Type="http://schemas.openxmlformats.org/officeDocument/2006/relationships/image" Target="../media/image10.png"/><Relationship Id="rId12" Type="http://schemas.openxmlformats.org/officeDocument/2006/relationships/image" Target="../media/image11.svg"/><Relationship Id="rId13" Type="http://schemas.openxmlformats.org/officeDocument/2006/relationships/image" Target="../media/image16.png"/><Relationship Id="rId14" Type="http://schemas.openxmlformats.org/officeDocument/2006/relationships/image" Target="../media/image17.png"/><Relationship Id="rId15" Type="http://schemas.openxmlformats.org/officeDocument/2006/relationships/image" Target="../media/image18.png"/><Relationship Id="rId16" Type="http://schemas.openxmlformats.org/officeDocument/2006/relationships/image" Target="../media/image19.png"/><Relationship Id="rId17" Type="http://schemas.openxmlformats.org/officeDocument/2006/relationships/image" Target="../media/image20.png"/><Relationship Id="rId18" Type="http://schemas.openxmlformats.org/officeDocument/2006/relationships/image" Target="../media/image21.png"/><Relationship Id="rId19" Type="http://schemas.openxmlformats.org/officeDocument/2006/relationships/image" Target="../media/image22.png"/><Relationship Id="rId20" Type="http://schemas.openxmlformats.org/officeDocument/2006/relationships/image" Target="../media/image23.png"/><Relationship Id="rId21"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svg"/><Relationship Id="rId11" Type="http://schemas.openxmlformats.org/officeDocument/2006/relationships/image" Target="../media/image10.png"/><Relationship Id="rId12" Type="http://schemas.openxmlformats.org/officeDocument/2006/relationships/image" Target="../media/image11.svg"/><Relationship Id="rId13" Type="http://schemas.openxmlformats.org/officeDocument/2006/relationships/image" Target="../media/image16.png"/><Relationship Id="rId14" Type="http://schemas.openxmlformats.org/officeDocument/2006/relationships/image" Target="../media/image17.png"/><Relationship Id="rId15" Type="http://schemas.openxmlformats.org/officeDocument/2006/relationships/image" Target="../media/image24.png"/><Relationship Id="rId1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svg"/><Relationship Id="rId11" Type="http://schemas.openxmlformats.org/officeDocument/2006/relationships/image" Target="../media/image10.png"/><Relationship Id="rId12" Type="http://schemas.openxmlformats.org/officeDocument/2006/relationships/image" Target="../media/image11.svg"/><Relationship Id="rId1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svg"/><Relationship Id="rId11" Type="http://schemas.openxmlformats.org/officeDocument/2006/relationships/image" Target="../media/image10.png"/><Relationship Id="rId12" Type="http://schemas.openxmlformats.org/officeDocument/2006/relationships/image" Target="../media/image11.svg"/><Relationship Id="rId1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svg"/><Relationship Id="rId11" Type="http://schemas.openxmlformats.org/officeDocument/2006/relationships/image" Target="../media/image10.png"/><Relationship Id="rId12" Type="http://schemas.openxmlformats.org/officeDocument/2006/relationships/image" Target="../media/image11.svg"/><Relationship Id="rId13" Type="http://schemas.openxmlformats.org/officeDocument/2006/relationships/image" Target="../media/image25.png"/><Relationship Id="rId1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svg"/><Relationship Id="rId11" Type="http://schemas.openxmlformats.org/officeDocument/2006/relationships/image" Target="../media/image10.png"/><Relationship Id="rId12" Type="http://schemas.openxmlformats.org/officeDocument/2006/relationships/image" Target="../media/image11.svg"/><Relationship Id="rId13" Type="http://schemas.openxmlformats.org/officeDocument/2006/relationships/image" Target="../media/image26.png"/><Relationship Id="rId1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svg"/><Relationship Id="rId11" Type="http://schemas.openxmlformats.org/officeDocument/2006/relationships/image" Target="../media/image10.png"/><Relationship Id="rId12" Type="http://schemas.openxmlformats.org/officeDocument/2006/relationships/image" Target="../media/image11.svg"/><Relationship Id="rId13" Type="http://schemas.openxmlformats.org/officeDocument/2006/relationships/image" Target="../media/image27.png"/><Relationship Id="rId1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8.png"/><Relationship Id="rId7" Type="http://schemas.openxmlformats.org/officeDocument/2006/relationships/image" Target="../media/image9.svg"/><Relationship Id="rId8" Type="http://schemas.openxmlformats.org/officeDocument/2006/relationships/image" Target="../media/image13.png"/><Relationship Id="rId9" Type="http://schemas.openxmlformats.org/officeDocument/2006/relationships/image" Target="../media/image14.png"/><Relationship Id="rId10" Type="http://schemas.openxmlformats.org/officeDocument/2006/relationships/image" Target="../media/image15.png"/><Relationship Id="rId11"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svg"/><Relationship Id="rId11" Type="http://schemas.openxmlformats.org/officeDocument/2006/relationships/image" Target="../media/image10.png"/><Relationship Id="rId12" Type="http://schemas.openxmlformats.org/officeDocument/2006/relationships/image" Target="../media/image11.svg"/><Relationship Id="rId1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svg"/><Relationship Id="rId11" Type="http://schemas.openxmlformats.org/officeDocument/2006/relationships/image" Target="../media/image10.png"/><Relationship Id="rId12" Type="http://schemas.openxmlformats.org/officeDocument/2006/relationships/image" Target="../media/image11.svg"/><Relationship Id="rId1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svg"/><Relationship Id="rId11" Type="http://schemas.openxmlformats.org/officeDocument/2006/relationships/image" Target="../media/image10.png"/><Relationship Id="rId12" Type="http://schemas.openxmlformats.org/officeDocument/2006/relationships/image" Target="../media/image11.svg"/><Relationship Id="rId1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12.png"/><Relationship Id="rId6" Type="http://schemas.openxmlformats.org/officeDocument/2006/relationships/image" Target="../media/image4.png"/><Relationship Id="rId7" Type="http://schemas.openxmlformats.org/officeDocument/2006/relationships/image" Target="../media/image8.png"/><Relationship Id="rId8" Type="http://schemas.openxmlformats.org/officeDocument/2006/relationships/image" Target="../media/image9.svg"/><Relationship Id="rId9" Type="http://schemas.openxmlformats.org/officeDocument/2006/relationships/image" Target="../media/image6.png"/><Relationship Id="rId10"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svg"/><Relationship Id="rId11" Type="http://schemas.openxmlformats.org/officeDocument/2006/relationships/image" Target="../media/image10.png"/><Relationship Id="rId12" Type="http://schemas.openxmlformats.org/officeDocument/2006/relationships/image" Target="../media/image11.svg"/><Relationship Id="rId1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svg"/><Relationship Id="rId11" Type="http://schemas.openxmlformats.org/officeDocument/2006/relationships/image" Target="../media/image10.png"/><Relationship Id="rId12" Type="http://schemas.openxmlformats.org/officeDocument/2006/relationships/image" Target="../media/image11.svg"/><Relationship Id="rId1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svg"/><Relationship Id="rId11" Type="http://schemas.openxmlformats.org/officeDocument/2006/relationships/image" Target="../media/image10.png"/><Relationship Id="rId12" Type="http://schemas.openxmlformats.org/officeDocument/2006/relationships/image" Target="../media/image11.svg"/><Relationship Id="rId1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svg"/><Relationship Id="rId11" Type="http://schemas.openxmlformats.org/officeDocument/2006/relationships/image" Target="../media/image10.png"/><Relationship Id="rId12" Type="http://schemas.openxmlformats.org/officeDocument/2006/relationships/image" Target="../media/image11.svg"/><Relationship Id="rId1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svg"/><Relationship Id="rId11" Type="http://schemas.openxmlformats.org/officeDocument/2006/relationships/image" Target="../media/image10.png"/><Relationship Id="rId12" Type="http://schemas.openxmlformats.org/officeDocument/2006/relationships/image" Target="../media/image11.svg"/><Relationship Id="rId1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image" Target="../media/image2.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svg"/><Relationship Id="rId11" Type="http://schemas.openxmlformats.org/officeDocument/2006/relationships/image" Target="../media/image14.png"/><Relationship Id="rId1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svg"/><Relationship Id="rId11" Type="http://schemas.openxmlformats.org/officeDocument/2006/relationships/image" Target="../media/image10.png"/><Relationship Id="rId12" Type="http://schemas.openxmlformats.org/officeDocument/2006/relationships/image" Target="../media/image11.svg"/><Relationship Id="rId1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svg"/><Relationship Id="rId11" Type="http://schemas.openxmlformats.org/officeDocument/2006/relationships/image" Target="../media/image10.png"/><Relationship Id="rId12" Type="http://schemas.openxmlformats.org/officeDocument/2006/relationships/image" Target="../media/image11.svg"/><Relationship Id="rId1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svg"/><Relationship Id="rId11" Type="http://schemas.openxmlformats.org/officeDocument/2006/relationships/image" Target="../media/image10.png"/><Relationship Id="rId12" Type="http://schemas.openxmlformats.org/officeDocument/2006/relationships/image" Target="../media/image11.svg"/><Relationship Id="rId13" Type="http://schemas.openxmlformats.org/officeDocument/2006/relationships/image" Target="../media/image28.png"/><Relationship Id="rId1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svg"/><Relationship Id="rId11" Type="http://schemas.openxmlformats.org/officeDocument/2006/relationships/image" Target="../media/image10.png"/><Relationship Id="rId12" Type="http://schemas.openxmlformats.org/officeDocument/2006/relationships/image" Target="../media/image11.svg"/><Relationship Id="rId13" Type="http://schemas.openxmlformats.org/officeDocument/2006/relationships/image" Target="../media/image29.png"/><Relationship Id="rId1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svg"/><Relationship Id="rId11" Type="http://schemas.openxmlformats.org/officeDocument/2006/relationships/image" Target="../media/image10.png"/><Relationship Id="rId12" Type="http://schemas.openxmlformats.org/officeDocument/2006/relationships/image" Target="../media/image11.svg"/><Relationship Id="rId13" Type="http://schemas.openxmlformats.org/officeDocument/2006/relationships/image" Target="../media/image30.png"/><Relationship Id="rId1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svg"/><Relationship Id="rId11" Type="http://schemas.openxmlformats.org/officeDocument/2006/relationships/image" Target="../media/image10.png"/><Relationship Id="rId12" Type="http://schemas.openxmlformats.org/officeDocument/2006/relationships/image" Target="../media/image11.svg"/><Relationship Id="rId1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svg"/><Relationship Id="rId11" Type="http://schemas.openxmlformats.org/officeDocument/2006/relationships/image" Target="../media/image10.png"/><Relationship Id="rId12" Type="http://schemas.openxmlformats.org/officeDocument/2006/relationships/image" Target="../media/image11.svg"/><Relationship Id="rId1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image" Target="../media/image2.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svg"/><Relationship Id="rId11" Type="http://schemas.openxmlformats.org/officeDocument/2006/relationships/image" Target="../media/image14.png"/><Relationship Id="rId12" Type="http://schemas.openxmlformats.org/officeDocument/2006/relationships/notesSlide" Target="../notesSlides/notesSlide28.xml"/></Relationships>
</file>

<file path=ppt/slides/slide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67928" r="0" b="-67928"/>
            </a:stretch>
          </a:blipFill>
        </p:spPr>
      </p:sp>
      <p:sp>
        <p:nvSpPr>
          <p:cNvPr name="Freeform 3" id="3"/>
          <p:cNvSpPr/>
          <p:nvPr/>
        </p:nvSpPr>
        <p:spPr>
          <a:xfrm flipH="false" flipV="false" rot="0">
            <a:off x="12533569" y="-21055"/>
            <a:ext cx="5762298" cy="6532600"/>
          </a:xfrm>
          <a:custGeom>
            <a:avLst/>
            <a:gdLst/>
            <a:ahLst/>
            <a:cxnLst/>
            <a:rect r="r" b="b" t="t" l="l"/>
            <a:pathLst>
              <a:path h="6532600" w="5762298">
                <a:moveTo>
                  <a:pt x="0" y="0"/>
                </a:moveTo>
                <a:lnTo>
                  <a:pt x="5762298" y="0"/>
                </a:lnTo>
                <a:lnTo>
                  <a:pt x="5762298" y="6532600"/>
                </a:lnTo>
                <a:lnTo>
                  <a:pt x="0" y="6532600"/>
                </a:lnTo>
                <a:lnTo>
                  <a:pt x="0" y="0"/>
                </a:lnTo>
                <a:close/>
              </a:path>
            </a:pathLst>
          </a:custGeom>
          <a:blipFill>
            <a:blip r:embed="rId3"/>
            <a:stretch>
              <a:fillRect l="0" t="0" r="0" b="0"/>
            </a:stretch>
          </a:blipFill>
        </p:spPr>
      </p:sp>
      <p:sp>
        <p:nvSpPr>
          <p:cNvPr name="Freeform 4" id="4"/>
          <p:cNvSpPr/>
          <p:nvPr/>
        </p:nvSpPr>
        <p:spPr>
          <a:xfrm flipH="false" flipV="false" rot="0">
            <a:off x="12978766" y="2004481"/>
            <a:ext cx="5309234" cy="5465964"/>
          </a:xfrm>
          <a:custGeom>
            <a:avLst/>
            <a:gdLst/>
            <a:ahLst/>
            <a:cxnLst/>
            <a:rect r="r" b="b" t="t" l="l"/>
            <a:pathLst>
              <a:path h="5465964" w="5309234">
                <a:moveTo>
                  <a:pt x="0" y="0"/>
                </a:moveTo>
                <a:lnTo>
                  <a:pt x="5309234" y="0"/>
                </a:lnTo>
                <a:lnTo>
                  <a:pt x="5309234" y="5465965"/>
                </a:lnTo>
                <a:lnTo>
                  <a:pt x="0" y="5465965"/>
                </a:lnTo>
                <a:lnTo>
                  <a:pt x="0" y="0"/>
                </a:lnTo>
                <a:close/>
              </a:path>
            </a:pathLst>
          </a:custGeom>
          <a:blipFill>
            <a:blip r:embed="rId4"/>
            <a:stretch>
              <a:fillRect l="0" t="0" r="0" b="0"/>
            </a:stretch>
          </a:blipFill>
        </p:spPr>
      </p:sp>
      <p:sp>
        <p:nvSpPr>
          <p:cNvPr name="Freeform 5" id="5"/>
          <p:cNvSpPr/>
          <p:nvPr/>
        </p:nvSpPr>
        <p:spPr>
          <a:xfrm flipH="true" flipV="false" rot="0">
            <a:off x="-29416" y="0"/>
            <a:ext cx="5762298" cy="6532600"/>
          </a:xfrm>
          <a:custGeom>
            <a:avLst/>
            <a:gdLst/>
            <a:ahLst/>
            <a:cxnLst/>
            <a:rect r="r" b="b" t="t" l="l"/>
            <a:pathLst>
              <a:path h="6532600" w="5762298">
                <a:moveTo>
                  <a:pt x="5762298" y="0"/>
                </a:moveTo>
                <a:lnTo>
                  <a:pt x="0" y="0"/>
                </a:lnTo>
                <a:lnTo>
                  <a:pt x="0" y="6532600"/>
                </a:lnTo>
                <a:lnTo>
                  <a:pt x="5762298" y="6532600"/>
                </a:lnTo>
                <a:lnTo>
                  <a:pt x="5762298" y="0"/>
                </a:lnTo>
                <a:close/>
              </a:path>
            </a:pathLst>
          </a:custGeom>
          <a:blipFill>
            <a:blip r:embed="rId3"/>
            <a:stretch>
              <a:fillRect l="0" t="0" r="0" b="0"/>
            </a:stretch>
          </a:blipFill>
        </p:spPr>
      </p:sp>
      <p:sp>
        <p:nvSpPr>
          <p:cNvPr name="Freeform 6" id="6"/>
          <p:cNvSpPr/>
          <p:nvPr/>
        </p:nvSpPr>
        <p:spPr>
          <a:xfrm flipH="false" flipV="false" rot="0">
            <a:off x="423648" y="2410518"/>
            <a:ext cx="5309234" cy="5465964"/>
          </a:xfrm>
          <a:custGeom>
            <a:avLst/>
            <a:gdLst/>
            <a:ahLst/>
            <a:cxnLst/>
            <a:rect r="r" b="b" t="t" l="l"/>
            <a:pathLst>
              <a:path h="5465964" w="5309234">
                <a:moveTo>
                  <a:pt x="0" y="0"/>
                </a:moveTo>
                <a:lnTo>
                  <a:pt x="5309234" y="0"/>
                </a:lnTo>
                <a:lnTo>
                  <a:pt x="5309234" y="5465964"/>
                </a:lnTo>
                <a:lnTo>
                  <a:pt x="0" y="5465964"/>
                </a:lnTo>
                <a:lnTo>
                  <a:pt x="0" y="0"/>
                </a:lnTo>
                <a:close/>
              </a:path>
            </a:pathLst>
          </a:custGeom>
          <a:blipFill>
            <a:blip r:embed="rId4"/>
            <a:stretch>
              <a:fillRect l="0" t="0" r="0" b="0"/>
            </a:stretch>
          </a:blipFill>
        </p:spPr>
      </p:sp>
      <p:sp>
        <p:nvSpPr>
          <p:cNvPr name="Freeform 7" id="7"/>
          <p:cNvSpPr/>
          <p:nvPr/>
        </p:nvSpPr>
        <p:spPr>
          <a:xfrm flipH="false" flipV="false" rot="0">
            <a:off x="-317430" y="7660946"/>
            <a:ext cx="18613297" cy="3022078"/>
          </a:xfrm>
          <a:custGeom>
            <a:avLst/>
            <a:gdLst/>
            <a:ahLst/>
            <a:cxnLst/>
            <a:rect r="r" b="b" t="t" l="l"/>
            <a:pathLst>
              <a:path h="3022078" w="18613297">
                <a:moveTo>
                  <a:pt x="0" y="0"/>
                </a:moveTo>
                <a:lnTo>
                  <a:pt x="18613297" y="0"/>
                </a:lnTo>
                <a:lnTo>
                  <a:pt x="18613297" y="3022077"/>
                </a:lnTo>
                <a:lnTo>
                  <a:pt x="0" y="3022077"/>
                </a:lnTo>
                <a:lnTo>
                  <a:pt x="0" y="0"/>
                </a:lnTo>
                <a:close/>
              </a:path>
            </a:pathLst>
          </a:custGeom>
          <a:blipFill>
            <a:blip r:embed="rId5"/>
            <a:stretch>
              <a:fillRect l="-158" t="0" r="-158" b="-6838"/>
            </a:stretch>
          </a:blipFill>
        </p:spPr>
      </p:sp>
      <p:sp>
        <p:nvSpPr>
          <p:cNvPr name="Freeform 8" id="8"/>
          <p:cNvSpPr/>
          <p:nvPr/>
        </p:nvSpPr>
        <p:spPr>
          <a:xfrm flipH="true" flipV="false" rot="0">
            <a:off x="12591528" y="2004481"/>
            <a:ext cx="5427899" cy="1816870"/>
          </a:xfrm>
          <a:custGeom>
            <a:avLst/>
            <a:gdLst/>
            <a:ahLst/>
            <a:cxnLst/>
            <a:rect r="r" b="b" t="t" l="l"/>
            <a:pathLst>
              <a:path h="1816870" w="5427899">
                <a:moveTo>
                  <a:pt x="5427899" y="0"/>
                </a:moveTo>
                <a:lnTo>
                  <a:pt x="0" y="0"/>
                </a:lnTo>
                <a:lnTo>
                  <a:pt x="0" y="1816870"/>
                </a:lnTo>
                <a:lnTo>
                  <a:pt x="5427899" y="1816870"/>
                </a:lnTo>
                <a:lnTo>
                  <a:pt x="5427899" y="0"/>
                </a:lnTo>
                <a:close/>
              </a:path>
            </a:pathLst>
          </a:custGeom>
          <a:blipFill>
            <a:blip r:embed="rId6">
              <a:alphaModFix amt="65000"/>
            </a:blip>
            <a:stretch>
              <a:fillRect l="0" t="0" r="0" b="0"/>
            </a:stretch>
          </a:blipFill>
        </p:spPr>
      </p:sp>
      <p:sp>
        <p:nvSpPr>
          <p:cNvPr name="Freeform 9" id="9"/>
          <p:cNvSpPr/>
          <p:nvPr/>
        </p:nvSpPr>
        <p:spPr>
          <a:xfrm flipH="false" flipV="false" rot="0">
            <a:off x="12978766" y="2453423"/>
            <a:ext cx="7524206" cy="8229600"/>
          </a:xfrm>
          <a:custGeom>
            <a:avLst/>
            <a:gdLst/>
            <a:ahLst/>
            <a:cxnLst/>
            <a:rect r="r" b="b" t="t" l="l"/>
            <a:pathLst>
              <a:path h="8229600" w="7524206">
                <a:moveTo>
                  <a:pt x="0" y="0"/>
                </a:moveTo>
                <a:lnTo>
                  <a:pt x="7524205" y="0"/>
                </a:lnTo>
                <a:lnTo>
                  <a:pt x="7524205" y="8229600"/>
                </a:lnTo>
                <a:lnTo>
                  <a:pt x="0" y="8229600"/>
                </a:lnTo>
                <a:lnTo>
                  <a:pt x="0" y="0"/>
                </a:lnTo>
                <a:close/>
              </a:path>
            </a:pathLst>
          </a:custGeom>
          <a:blipFill>
            <a:blip r:embed="rId7"/>
            <a:stretch>
              <a:fillRect l="0" t="0" r="0" b="0"/>
            </a:stretch>
          </a:blipFill>
        </p:spPr>
      </p:sp>
      <p:sp>
        <p:nvSpPr>
          <p:cNvPr name="Freeform 10" id="10"/>
          <p:cNvSpPr/>
          <p:nvPr/>
        </p:nvSpPr>
        <p:spPr>
          <a:xfrm flipH="false" flipV="false" rot="0">
            <a:off x="-29416" y="2396745"/>
            <a:ext cx="4040554" cy="8229600"/>
          </a:xfrm>
          <a:custGeom>
            <a:avLst/>
            <a:gdLst/>
            <a:ahLst/>
            <a:cxnLst/>
            <a:rect r="r" b="b" t="t" l="l"/>
            <a:pathLst>
              <a:path h="8229600" w="4040554">
                <a:moveTo>
                  <a:pt x="0" y="0"/>
                </a:moveTo>
                <a:lnTo>
                  <a:pt x="4040554" y="0"/>
                </a:lnTo>
                <a:lnTo>
                  <a:pt x="4040554" y="8229600"/>
                </a:lnTo>
                <a:lnTo>
                  <a:pt x="0" y="8229600"/>
                </a:lnTo>
                <a:lnTo>
                  <a:pt x="0" y="0"/>
                </a:lnTo>
                <a:close/>
              </a:path>
            </a:pathLst>
          </a:custGeom>
          <a:blipFill>
            <a:blip r:embed="rId8"/>
            <a:stretch>
              <a:fillRect l="0" t="0" r="0" b="0"/>
            </a:stretch>
          </a:blipFill>
        </p:spPr>
      </p:sp>
      <p:sp>
        <p:nvSpPr>
          <p:cNvPr name="Freeform 11" id="11"/>
          <p:cNvSpPr/>
          <p:nvPr/>
        </p:nvSpPr>
        <p:spPr>
          <a:xfrm flipH="false" flipV="false" rot="0">
            <a:off x="681269" y="7470446"/>
            <a:ext cx="6083710" cy="4114800"/>
          </a:xfrm>
          <a:custGeom>
            <a:avLst/>
            <a:gdLst/>
            <a:ahLst/>
            <a:cxnLst/>
            <a:rect r="r" b="b" t="t" l="l"/>
            <a:pathLst>
              <a:path h="4114800" w="6083710">
                <a:moveTo>
                  <a:pt x="0" y="0"/>
                </a:moveTo>
                <a:lnTo>
                  <a:pt x="6083709" y="0"/>
                </a:lnTo>
                <a:lnTo>
                  <a:pt x="6083709" y="4114800"/>
                </a:lnTo>
                <a:lnTo>
                  <a:pt x="0" y="4114800"/>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name="Freeform 12" id="12"/>
          <p:cNvSpPr/>
          <p:nvPr/>
        </p:nvSpPr>
        <p:spPr>
          <a:xfrm flipH="false" flipV="false" rot="0">
            <a:off x="3300005" y="6713575"/>
            <a:ext cx="7627961" cy="3716897"/>
          </a:xfrm>
          <a:custGeom>
            <a:avLst/>
            <a:gdLst/>
            <a:ahLst/>
            <a:cxnLst/>
            <a:rect r="r" b="b" t="t" l="l"/>
            <a:pathLst>
              <a:path h="3716897" w="7627961">
                <a:moveTo>
                  <a:pt x="0" y="0"/>
                </a:moveTo>
                <a:lnTo>
                  <a:pt x="7627961" y="0"/>
                </a:lnTo>
                <a:lnTo>
                  <a:pt x="7627961" y="3716898"/>
                </a:lnTo>
                <a:lnTo>
                  <a:pt x="0" y="3716898"/>
                </a:lnTo>
                <a:lnTo>
                  <a:pt x="0" y="0"/>
                </a:lnTo>
                <a:close/>
              </a:path>
            </a:pathLst>
          </a:custGeom>
          <a:blipFill>
            <a:blip r:embed="rId11">
              <a:extLst>
                <a:ext uri="{96DAC541-7B7A-43D3-8B79-37D633B846F1}">
                  <asvg:svgBlip xmlns:asvg="http://schemas.microsoft.com/office/drawing/2016/SVG/main" r:embed="rId12"/>
                </a:ext>
              </a:extLst>
            </a:blip>
            <a:stretch>
              <a:fillRect l="0" t="0" r="0" b="0"/>
            </a:stretch>
          </a:blipFill>
        </p:spPr>
      </p:sp>
      <p:sp>
        <p:nvSpPr>
          <p:cNvPr name="Freeform 13" id="13"/>
          <p:cNvSpPr/>
          <p:nvPr/>
        </p:nvSpPr>
        <p:spPr>
          <a:xfrm flipH="false" flipV="false" rot="0">
            <a:off x="9549673" y="7660946"/>
            <a:ext cx="6083710" cy="4114800"/>
          </a:xfrm>
          <a:custGeom>
            <a:avLst/>
            <a:gdLst/>
            <a:ahLst/>
            <a:cxnLst/>
            <a:rect r="r" b="b" t="t" l="l"/>
            <a:pathLst>
              <a:path h="4114800" w="6083710">
                <a:moveTo>
                  <a:pt x="0" y="0"/>
                </a:moveTo>
                <a:lnTo>
                  <a:pt x="6083710" y="0"/>
                </a:lnTo>
                <a:lnTo>
                  <a:pt x="6083710" y="4114800"/>
                </a:lnTo>
                <a:lnTo>
                  <a:pt x="0" y="4114800"/>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name="Freeform 14" id="14"/>
          <p:cNvSpPr/>
          <p:nvPr/>
        </p:nvSpPr>
        <p:spPr>
          <a:xfrm flipH="false" flipV="false" rot="0">
            <a:off x="1271868" y="458450"/>
            <a:ext cx="5790657" cy="1938295"/>
          </a:xfrm>
          <a:custGeom>
            <a:avLst/>
            <a:gdLst/>
            <a:ahLst/>
            <a:cxnLst/>
            <a:rect r="r" b="b" t="t" l="l"/>
            <a:pathLst>
              <a:path h="1938295" w="5790657">
                <a:moveTo>
                  <a:pt x="0" y="0"/>
                </a:moveTo>
                <a:lnTo>
                  <a:pt x="5790656" y="0"/>
                </a:lnTo>
                <a:lnTo>
                  <a:pt x="5790656" y="1938295"/>
                </a:lnTo>
                <a:lnTo>
                  <a:pt x="0" y="1938295"/>
                </a:lnTo>
                <a:lnTo>
                  <a:pt x="0" y="0"/>
                </a:lnTo>
                <a:close/>
              </a:path>
            </a:pathLst>
          </a:custGeom>
          <a:blipFill>
            <a:blip r:embed="rId6">
              <a:alphaModFix amt="65000"/>
            </a:blip>
            <a:stretch>
              <a:fillRect l="0" t="0" r="0" b="0"/>
            </a:stretch>
          </a:blipFill>
        </p:spPr>
      </p:sp>
      <p:sp>
        <p:nvSpPr>
          <p:cNvPr name="TextBox 15" id="15"/>
          <p:cNvSpPr txBox="true"/>
          <p:nvPr/>
        </p:nvSpPr>
        <p:spPr>
          <a:xfrm rot="0">
            <a:off x="5299875" y="2845945"/>
            <a:ext cx="7688251" cy="1920836"/>
          </a:xfrm>
          <a:prstGeom prst="rect">
            <a:avLst/>
          </a:prstGeom>
        </p:spPr>
        <p:txBody>
          <a:bodyPr anchor="t" rtlCol="false" tIns="0" lIns="0" bIns="0" rIns="0">
            <a:spAutoFit/>
          </a:bodyPr>
          <a:lstStyle/>
          <a:p>
            <a:pPr algn="ctr">
              <a:lnSpc>
                <a:spcPct val="100000"/>
              </a:lnSpc>
            </a:pPr>
            <a:r>
              <a:rPr lang="en-US" b="true" sz="9200">
                <a:solidFill>
                  <a:srgbClr val="EAC24B"/>
                </a:solidFill>
                <a:latin typeface="Playpen Sans Bold"/>
                <a:ea typeface="Playpen Sans Bold"/>
                <a:cs typeface="Playpen Sans Bold"/>
                <a:sym typeface="Playpen Sans Bold"/>
              </a:rPr>
              <a:t>AI, ML, dan</a:t>
            </a:r>
          </a:p>
        </p:txBody>
      </p:sp>
      <p:grpSp>
        <p:nvGrpSpPr>
          <p:cNvPr name="Group 16" id="16"/>
          <p:cNvGrpSpPr/>
          <p:nvPr/>
        </p:nvGrpSpPr>
        <p:grpSpPr>
          <a:xfrm rot="0">
            <a:off x="6680389" y="1456173"/>
            <a:ext cx="4927222" cy="791725"/>
            <a:chOff x="0" y="0"/>
            <a:chExt cx="1297705" cy="208520"/>
          </a:xfrm>
        </p:grpSpPr>
        <p:sp>
          <p:nvSpPr>
            <p:cNvPr name="Freeform 17" id="17"/>
            <p:cNvSpPr/>
            <p:nvPr/>
          </p:nvSpPr>
          <p:spPr>
            <a:xfrm flipH="false" flipV="false" rot="0">
              <a:off x="0" y="0"/>
              <a:ext cx="1297705" cy="208520"/>
            </a:xfrm>
            <a:custGeom>
              <a:avLst/>
              <a:gdLst/>
              <a:ahLst/>
              <a:cxnLst/>
              <a:rect r="r" b="b" t="t" l="l"/>
              <a:pathLst>
                <a:path h="208520" w="1297705">
                  <a:moveTo>
                    <a:pt x="104260" y="0"/>
                  </a:moveTo>
                  <a:lnTo>
                    <a:pt x="1193444" y="0"/>
                  </a:lnTo>
                  <a:cubicBezTo>
                    <a:pt x="1251026" y="0"/>
                    <a:pt x="1297705" y="46679"/>
                    <a:pt x="1297705" y="104260"/>
                  </a:cubicBezTo>
                  <a:lnTo>
                    <a:pt x="1297705" y="104260"/>
                  </a:lnTo>
                  <a:cubicBezTo>
                    <a:pt x="1297705" y="161841"/>
                    <a:pt x="1251026" y="208520"/>
                    <a:pt x="1193444" y="208520"/>
                  </a:cubicBezTo>
                  <a:lnTo>
                    <a:pt x="104260" y="208520"/>
                  </a:lnTo>
                  <a:cubicBezTo>
                    <a:pt x="46679" y="208520"/>
                    <a:pt x="0" y="161841"/>
                    <a:pt x="0" y="104260"/>
                  </a:cubicBezTo>
                  <a:lnTo>
                    <a:pt x="0" y="104260"/>
                  </a:lnTo>
                  <a:cubicBezTo>
                    <a:pt x="0" y="46679"/>
                    <a:pt x="46679" y="0"/>
                    <a:pt x="104260" y="0"/>
                  </a:cubicBezTo>
                  <a:close/>
                </a:path>
              </a:pathLst>
            </a:custGeom>
            <a:ln w="19050" cap="rnd">
              <a:solidFill>
                <a:srgbClr val="FFFFFF"/>
              </a:solidFill>
              <a:prstDash val="solid"/>
              <a:round/>
            </a:ln>
          </p:spPr>
        </p:sp>
        <p:sp>
          <p:nvSpPr>
            <p:cNvPr name="TextBox 18" id="18"/>
            <p:cNvSpPr txBox="true"/>
            <p:nvPr/>
          </p:nvSpPr>
          <p:spPr>
            <a:xfrm>
              <a:off x="0" y="-38100"/>
              <a:ext cx="1297705" cy="246620"/>
            </a:xfrm>
            <a:prstGeom prst="rect">
              <a:avLst/>
            </a:prstGeom>
          </p:spPr>
          <p:txBody>
            <a:bodyPr anchor="ctr" rtlCol="false" tIns="50800" lIns="50800" bIns="50800" rIns="50800"/>
            <a:lstStyle/>
            <a:p>
              <a:pPr algn="ctr">
                <a:lnSpc>
                  <a:spcPts val="2659"/>
                </a:lnSpc>
                <a:spcBef>
                  <a:spcPct val="0"/>
                </a:spcBef>
              </a:pPr>
            </a:p>
          </p:txBody>
        </p:sp>
      </p:grpSp>
      <p:sp>
        <p:nvSpPr>
          <p:cNvPr name="TextBox 19" id="19"/>
          <p:cNvSpPr txBox="true"/>
          <p:nvPr/>
        </p:nvSpPr>
        <p:spPr>
          <a:xfrm rot="0">
            <a:off x="6889755" y="1710743"/>
            <a:ext cx="4508490" cy="330209"/>
          </a:xfrm>
          <a:prstGeom prst="rect">
            <a:avLst/>
          </a:prstGeom>
        </p:spPr>
        <p:txBody>
          <a:bodyPr anchor="t" rtlCol="false" tIns="0" lIns="0" bIns="0" rIns="0">
            <a:spAutoFit/>
          </a:bodyPr>
          <a:lstStyle/>
          <a:p>
            <a:pPr algn="ctr">
              <a:lnSpc>
                <a:spcPct val="100000"/>
              </a:lnSpc>
            </a:pPr>
            <a:r>
              <a:rPr lang="en-US" b="true" sz="2500">
                <a:solidFill>
                  <a:srgbClr val="FFFFFF"/>
                </a:solidFill>
                <a:latin typeface="Playpen Sans Bold"/>
                <a:ea typeface="Playpen Sans Bold"/>
                <a:cs typeface="Playpen Sans Bold"/>
                <a:sym typeface="Playpen Sans Bold"/>
              </a:rPr>
              <a:t>Advance Study Group</a:t>
            </a:r>
          </a:p>
        </p:txBody>
      </p:sp>
      <p:grpSp>
        <p:nvGrpSpPr>
          <p:cNvPr name="Group 20" id="20"/>
          <p:cNvGrpSpPr/>
          <p:nvPr/>
        </p:nvGrpSpPr>
        <p:grpSpPr>
          <a:xfrm rot="0">
            <a:off x="9894294" y="6869221"/>
            <a:ext cx="2441189" cy="791725"/>
            <a:chOff x="0" y="0"/>
            <a:chExt cx="642947" cy="208520"/>
          </a:xfrm>
        </p:grpSpPr>
        <p:sp>
          <p:nvSpPr>
            <p:cNvPr name="Freeform 21" id="21"/>
            <p:cNvSpPr/>
            <p:nvPr/>
          </p:nvSpPr>
          <p:spPr>
            <a:xfrm flipH="false" flipV="false" rot="0">
              <a:off x="0" y="0"/>
              <a:ext cx="642947" cy="208520"/>
            </a:xfrm>
            <a:custGeom>
              <a:avLst/>
              <a:gdLst/>
              <a:ahLst/>
              <a:cxnLst/>
              <a:rect r="r" b="b" t="t" l="l"/>
              <a:pathLst>
                <a:path h="208520" w="642947">
                  <a:moveTo>
                    <a:pt x="104260" y="0"/>
                  </a:moveTo>
                  <a:lnTo>
                    <a:pt x="538687" y="0"/>
                  </a:lnTo>
                  <a:cubicBezTo>
                    <a:pt x="596268" y="0"/>
                    <a:pt x="642947" y="46679"/>
                    <a:pt x="642947" y="104260"/>
                  </a:cubicBezTo>
                  <a:lnTo>
                    <a:pt x="642947" y="104260"/>
                  </a:lnTo>
                  <a:cubicBezTo>
                    <a:pt x="642947" y="161841"/>
                    <a:pt x="596268" y="208520"/>
                    <a:pt x="538687" y="208520"/>
                  </a:cubicBezTo>
                  <a:lnTo>
                    <a:pt x="104260" y="208520"/>
                  </a:lnTo>
                  <a:cubicBezTo>
                    <a:pt x="46679" y="208520"/>
                    <a:pt x="0" y="161841"/>
                    <a:pt x="0" y="104260"/>
                  </a:cubicBezTo>
                  <a:lnTo>
                    <a:pt x="0" y="104260"/>
                  </a:lnTo>
                  <a:cubicBezTo>
                    <a:pt x="0" y="46679"/>
                    <a:pt x="46679" y="0"/>
                    <a:pt x="104260" y="0"/>
                  </a:cubicBezTo>
                  <a:close/>
                </a:path>
              </a:pathLst>
            </a:custGeom>
            <a:solidFill>
              <a:srgbClr val="001769"/>
            </a:solidFill>
            <a:ln cap="rnd">
              <a:noFill/>
              <a:prstDash val="solid"/>
              <a:round/>
            </a:ln>
          </p:spPr>
        </p:sp>
        <p:sp>
          <p:nvSpPr>
            <p:cNvPr name="TextBox 22" id="22"/>
            <p:cNvSpPr txBox="true"/>
            <p:nvPr/>
          </p:nvSpPr>
          <p:spPr>
            <a:xfrm>
              <a:off x="0" y="-38100"/>
              <a:ext cx="642947" cy="246620"/>
            </a:xfrm>
            <a:prstGeom prst="rect">
              <a:avLst/>
            </a:prstGeom>
          </p:spPr>
          <p:txBody>
            <a:bodyPr anchor="ctr" rtlCol="false" tIns="50800" lIns="50800" bIns="50800" rIns="50800"/>
            <a:lstStyle/>
            <a:p>
              <a:pPr algn="ctr">
                <a:lnSpc>
                  <a:spcPts val="2659"/>
                </a:lnSpc>
                <a:spcBef>
                  <a:spcPct val="0"/>
                </a:spcBef>
              </a:pPr>
            </a:p>
          </p:txBody>
        </p:sp>
      </p:grpSp>
      <p:sp>
        <p:nvSpPr>
          <p:cNvPr name="TextBox 23" id="23"/>
          <p:cNvSpPr txBox="true"/>
          <p:nvPr/>
        </p:nvSpPr>
        <p:spPr>
          <a:xfrm rot="0">
            <a:off x="9998024" y="7123791"/>
            <a:ext cx="2233728" cy="330209"/>
          </a:xfrm>
          <a:prstGeom prst="rect">
            <a:avLst/>
          </a:prstGeom>
        </p:spPr>
        <p:txBody>
          <a:bodyPr anchor="t" rtlCol="false" tIns="0" lIns="0" bIns="0" rIns="0">
            <a:spAutoFit/>
          </a:bodyPr>
          <a:lstStyle/>
          <a:p>
            <a:pPr algn="ctr">
              <a:lnSpc>
                <a:spcPct val="100000"/>
              </a:lnSpc>
            </a:pPr>
            <a:r>
              <a:rPr lang="en-US" b="true" sz="2400">
                <a:solidFill>
                  <a:srgbClr val="FFFFFF"/>
                </a:solidFill>
                <a:latin typeface="Playpen Sans Bold"/>
                <a:ea typeface="Playpen Sans Bold"/>
                <a:cs typeface="Playpen Sans Bold"/>
                <a:sym typeface="Playpen Sans Bold"/>
              </a:rPr>
              <a:t>Pertemuan 0</a:t>
            </a:r>
          </a:p>
        </p:txBody>
      </p:sp>
      <p:sp>
        <p:nvSpPr>
          <p:cNvPr name="TextBox 24" id="24"/>
          <p:cNvSpPr txBox="true"/>
          <p:nvPr/>
        </p:nvSpPr>
        <p:spPr>
          <a:xfrm rot="0">
            <a:off x="3300005" y="4630814"/>
            <a:ext cx="11687990" cy="1920836"/>
          </a:xfrm>
          <a:prstGeom prst="rect">
            <a:avLst/>
          </a:prstGeom>
        </p:spPr>
        <p:txBody>
          <a:bodyPr anchor="t" rtlCol="false" tIns="0" lIns="0" bIns="0" rIns="0">
            <a:spAutoFit/>
          </a:bodyPr>
          <a:lstStyle/>
          <a:p>
            <a:pPr algn="ctr">
              <a:lnSpc>
                <a:spcPct val="100000"/>
              </a:lnSpc>
            </a:pPr>
            <a:r>
              <a:rPr lang="en-US" b="true" sz="11000">
                <a:solidFill>
                  <a:srgbClr val="FFFFFF"/>
                </a:solidFill>
                <a:latin typeface="Playpen Sans Bold"/>
                <a:ea typeface="Playpen Sans Bold"/>
                <a:cs typeface="Playpen Sans Bold"/>
                <a:sym typeface="Playpen Sans Bold"/>
              </a:rPr>
              <a:t>Optimasi</a:t>
            </a:r>
          </a:p>
        </p:txBody>
      </p:sp>
      <p:sp>
        <p:nvSpPr>
          <p:cNvPr id="25" name="Label lab"/>
          <p:cNvSpPr/>
          <p:nvPr/>
        </p:nvSpPr>
        <p:spPr>
          <a:xfrm>
            <a:off x="3474720" y="320040"/>
            <a:ext cx="11338560" cy="685800"/>
          </a:xfrm>
          <a:prstGeom prst="roundRect">
            <a:avLst>
              <a:gd name="adj" fmla="val 40000"/>
            </a:avLst>
          </a:prstGeom>
          <a:solidFill>
            <a:srgbClr val="0A2540">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Nama lab"/>
          <p:cNvSpPr txBox="1"/>
          <p:nvPr/>
        </p:nvSpPr>
        <p:spPr>
          <a:xfrm>
            <a:off x="3474720" y="457200"/>
            <a:ext cx="11338560" cy="457200"/>
          </a:xfrm>
          <a:prstGeom prst="rect">
            <a:avLst/>
          </a:prstGeom>
          <a:noFill/>
        </p:spPr>
        <p:txBody>
          <a:bodyPr wrap="square" lIns="0" rIns="0" tIns="0" bIns="0" anchor="t">
            <a:spAutoFit/>
          </a:bodyPr>
          <a:lstStyle/>
          <a:p>
            <a:pPr algn="ctr">
              <a:spcAft>
                <a:spcPts val="0"/>
              </a:spcAft>
            </a:pPr>
            <a:r>
              <a:rPr sz="2200">
                <a:solidFill>
                  <a:srgbClr val="FFFFFF"/>
                </a:solidFill>
                <a:latin typeface="Playpen Sans"/>
              </a:rPr>
              <a:t>Computing Laboratory · Fakultas Informatika · Telkom University</a:t>
            </a:r>
          </a:p>
        </p:txBody>
      </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67928" r="0" b="-67928"/>
            </a:stretch>
          </a:blipFill>
        </p:spPr>
      </p:sp>
      <p:sp>
        <p:nvSpPr>
          <p:cNvPr name="Freeform 3" id="3"/>
          <p:cNvSpPr/>
          <p:nvPr/>
        </p:nvSpPr>
        <p:spPr>
          <a:xfrm flipH="false" flipV="false" rot="0">
            <a:off x="12533569" y="-21055"/>
            <a:ext cx="5762298" cy="6532600"/>
          </a:xfrm>
          <a:custGeom>
            <a:avLst/>
            <a:gdLst/>
            <a:ahLst/>
            <a:cxnLst/>
            <a:rect r="r" b="b" t="t" l="l"/>
            <a:pathLst>
              <a:path h="6532600" w="5762298">
                <a:moveTo>
                  <a:pt x="0" y="0"/>
                </a:moveTo>
                <a:lnTo>
                  <a:pt x="5762298" y="0"/>
                </a:lnTo>
                <a:lnTo>
                  <a:pt x="5762298" y="6532600"/>
                </a:lnTo>
                <a:lnTo>
                  <a:pt x="0" y="6532600"/>
                </a:lnTo>
                <a:lnTo>
                  <a:pt x="0" y="0"/>
                </a:lnTo>
                <a:close/>
              </a:path>
            </a:pathLst>
          </a:custGeom>
          <a:blipFill>
            <a:blip r:embed="rId3"/>
            <a:stretch>
              <a:fillRect l="0" t="0" r="0" b="0"/>
            </a:stretch>
          </a:blipFill>
        </p:spPr>
      </p:sp>
      <p:sp>
        <p:nvSpPr>
          <p:cNvPr name="Freeform 4" id="4"/>
          <p:cNvSpPr/>
          <p:nvPr/>
        </p:nvSpPr>
        <p:spPr>
          <a:xfrm flipH="false" flipV="false" rot="0">
            <a:off x="12978766" y="2004481"/>
            <a:ext cx="5309234" cy="5465964"/>
          </a:xfrm>
          <a:custGeom>
            <a:avLst/>
            <a:gdLst/>
            <a:ahLst/>
            <a:cxnLst/>
            <a:rect r="r" b="b" t="t" l="l"/>
            <a:pathLst>
              <a:path h="5465964" w="5309234">
                <a:moveTo>
                  <a:pt x="0" y="0"/>
                </a:moveTo>
                <a:lnTo>
                  <a:pt x="5309234" y="0"/>
                </a:lnTo>
                <a:lnTo>
                  <a:pt x="5309234" y="5465965"/>
                </a:lnTo>
                <a:lnTo>
                  <a:pt x="0" y="5465965"/>
                </a:lnTo>
                <a:lnTo>
                  <a:pt x="0" y="0"/>
                </a:lnTo>
                <a:close/>
              </a:path>
            </a:pathLst>
          </a:custGeom>
          <a:blipFill>
            <a:blip r:embed="rId4"/>
            <a:stretch>
              <a:fillRect l="0" t="0" r="0" b="0"/>
            </a:stretch>
          </a:blipFill>
        </p:spPr>
      </p:sp>
      <p:sp>
        <p:nvSpPr>
          <p:cNvPr name="Freeform 5" id="5"/>
          <p:cNvSpPr/>
          <p:nvPr/>
        </p:nvSpPr>
        <p:spPr>
          <a:xfrm flipH="true" flipV="false" rot="0">
            <a:off x="-29416" y="0"/>
            <a:ext cx="5762298" cy="6532600"/>
          </a:xfrm>
          <a:custGeom>
            <a:avLst/>
            <a:gdLst/>
            <a:ahLst/>
            <a:cxnLst/>
            <a:rect r="r" b="b" t="t" l="l"/>
            <a:pathLst>
              <a:path h="6532600" w="5762298">
                <a:moveTo>
                  <a:pt x="5762298" y="0"/>
                </a:moveTo>
                <a:lnTo>
                  <a:pt x="0" y="0"/>
                </a:lnTo>
                <a:lnTo>
                  <a:pt x="0" y="6532600"/>
                </a:lnTo>
                <a:lnTo>
                  <a:pt x="5762298" y="6532600"/>
                </a:lnTo>
                <a:lnTo>
                  <a:pt x="5762298" y="0"/>
                </a:lnTo>
                <a:close/>
              </a:path>
            </a:pathLst>
          </a:custGeom>
          <a:blipFill>
            <a:blip r:embed="rId3"/>
            <a:stretch>
              <a:fillRect l="0" t="0" r="0" b="0"/>
            </a:stretch>
          </a:blipFill>
        </p:spPr>
      </p:sp>
      <p:sp>
        <p:nvSpPr>
          <p:cNvPr name="Freeform 6" id="6"/>
          <p:cNvSpPr/>
          <p:nvPr/>
        </p:nvSpPr>
        <p:spPr>
          <a:xfrm flipH="false" flipV="false" rot="0">
            <a:off x="423648" y="2410518"/>
            <a:ext cx="5309234" cy="5465964"/>
          </a:xfrm>
          <a:custGeom>
            <a:avLst/>
            <a:gdLst/>
            <a:ahLst/>
            <a:cxnLst/>
            <a:rect r="r" b="b" t="t" l="l"/>
            <a:pathLst>
              <a:path h="5465964" w="5309234">
                <a:moveTo>
                  <a:pt x="0" y="0"/>
                </a:moveTo>
                <a:lnTo>
                  <a:pt x="5309234" y="0"/>
                </a:lnTo>
                <a:lnTo>
                  <a:pt x="5309234" y="5465964"/>
                </a:lnTo>
                <a:lnTo>
                  <a:pt x="0" y="5465964"/>
                </a:lnTo>
                <a:lnTo>
                  <a:pt x="0" y="0"/>
                </a:lnTo>
                <a:close/>
              </a:path>
            </a:pathLst>
          </a:custGeom>
          <a:blipFill>
            <a:blip r:embed="rId4"/>
            <a:stretch>
              <a:fillRect l="0" t="0" r="0" b="0"/>
            </a:stretch>
          </a:blipFill>
        </p:spPr>
      </p:sp>
      <p:sp>
        <p:nvSpPr>
          <p:cNvPr name="Freeform 7" id="7"/>
          <p:cNvSpPr/>
          <p:nvPr/>
        </p:nvSpPr>
        <p:spPr>
          <a:xfrm flipH="false" flipV="false" rot="0">
            <a:off x="-317430" y="7660946"/>
            <a:ext cx="18613297" cy="3022078"/>
          </a:xfrm>
          <a:custGeom>
            <a:avLst/>
            <a:gdLst/>
            <a:ahLst/>
            <a:cxnLst/>
            <a:rect r="r" b="b" t="t" l="l"/>
            <a:pathLst>
              <a:path h="3022078" w="18613297">
                <a:moveTo>
                  <a:pt x="0" y="0"/>
                </a:moveTo>
                <a:lnTo>
                  <a:pt x="18613297" y="0"/>
                </a:lnTo>
                <a:lnTo>
                  <a:pt x="18613297" y="3022077"/>
                </a:lnTo>
                <a:lnTo>
                  <a:pt x="0" y="3022077"/>
                </a:lnTo>
                <a:lnTo>
                  <a:pt x="0" y="0"/>
                </a:lnTo>
                <a:close/>
              </a:path>
            </a:pathLst>
          </a:custGeom>
          <a:blipFill>
            <a:blip r:embed="rId5"/>
            <a:stretch>
              <a:fillRect l="-158" t="0" r="-158" b="-6838"/>
            </a:stretch>
          </a:blipFill>
        </p:spPr>
      </p:sp>
      <p:sp>
        <p:nvSpPr>
          <p:cNvPr name="Freeform 10" id="10"/>
          <p:cNvSpPr/>
          <p:nvPr/>
        </p:nvSpPr>
        <p:spPr>
          <a:xfrm flipH="false" flipV="false" rot="0">
            <a:off x="-29416" y="2396745"/>
            <a:ext cx="4040554" cy="8229600"/>
          </a:xfrm>
          <a:custGeom>
            <a:avLst/>
            <a:gdLst/>
            <a:ahLst/>
            <a:cxnLst/>
            <a:rect r="r" b="b" t="t" l="l"/>
            <a:pathLst>
              <a:path h="8229600" w="4040554">
                <a:moveTo>
                  <a:pt x="0" y="0"/>
                </a:moveTo>
                <a:lnTo>
                  <a:pt x="4040554" y="0"/>
                </a:lnTo>
                <a:lnTo>
                  <a:pt x="4040554" y="8229600"/>
                </a:lnTo>
                <a:lnTo>
                  <a:pt x="0" y="8229600"/>
                </a:lnTo>
                <a:lnTo>
                  <a:pt x="0" y="0"/>
                </a:lnTo>
                <a:close/>
              </a:path>
            </a:pathLst>
          </a:custGeom>
          <a:blipFill>
            <a:blip r:embed="rId8"/>
            <a:stretch>
              <a:fillRect l="0" t="0" r="0" b="0"/>
            </a:stretch>
          </a:blipFill>
        </p:spPr>
      </p:sp>
      <p:sp>
        <p:nvSpPr>
          <p:cNvPr name="Freeform 11" id="11"/>
          <p:cNvSpPr/>
          <p:nvPr/>
        </p:nvSpPr>
        <p:spPr>
          <a:xfrm flipH="false" flipV="false" rot="0">
            <a:off x="681269" y="7470446"/>
            <a:ext cx="6083710" cy="4114800"/>
          </a:xfrm>
          <a:custGeom>
            <a:avLst/>
            <a:gdLst/>
            <a:ahLst/>
            <a:cxnLst/>
            <a:rect r="r" b="b" t="t" l="l"/>
            <a:pathLst>
              <a:path h="4114800" w="6083710">
                <a:moveTo>
                  <a:pt x="0" y="0"/>
                </a:moveTo>
                <a:lnTo>
                  <a:pt x="6083709" y="0"/>
                </a:lnTo>
                <a:lnTo>
                  <a:pt x="6083709" y="4114800"/>
                </a:lnTo>
                <a:lnTo>
                  <a:pt x="0" y="4114800"/>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id="12" name="Panel"/>
          <p:cNvSpPr/>
          <p:nvPr/>
        </p:nvSpPr>
        <p:spPr>
          <a:xfrm>
            <a:off x="4480560" y="731520"/>
            <a:ext cx="12893040" cy="6675120"/>
          </a:xfrm>
          <a:prstGeom prst="roundRect">
            <a:avLst>
              <a:gd name="adj" fmla="val 5000"/>
            </a:avLst>
          </a:prstGeom>
          <a:solidFill>
            <a:srgbClr val="0A2540">
              <a:alpha val="8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Judul"/>
          <p:cNvSpPr txBox="1"/>
          <p:nvPr/>
        </p:nvSpPr>
        <p:spPr>
          <a:xfrm>
            <a:off x="5074920" y="1005840"/>
            <a:ext cx="11704319" cy="1188720"/>
          </a:xfrm>
          <a:prstGeom prst="rect">
            <a:avLst/>
          </a:prstGeom>
          <a:noFill/>
        </p:spPr>
        <p:txBody>
          <a:bodyPr wrap="square" lIns="0" rIns="0" tIns="0" bIns="0" anchor="t">
            <a:spAutoFit/>
          </a:bodyPr>
          <a:lstStyle/>
          <a:p>
            <a:pPr algn="l">
              <a:spcAft>
                <a:spcPts val="0"/>
              </a:spcAft>
            </a:pPr>
            <a:r>
              <a:rPr sz="6400">
                <a:solidFill>
                  <a:srgbClr val="F7B125"/>
                </a:solidFill>
                <a:latin typeface="Playpen Sans Bold"/>
              </a:rPr>
              <a:t>Agenda Hari Ini</a:t>
            </a:r>
          </a:p>
        </p:txBody>
      </p:sp>
      <p:sp>
        <p:nvSpPr>
          <p:cNvPr id="14" name="Jam"/>
          <p:cNvSpPr txBox="1"/>
          <p:nvPr/>
        </p:nvSpPr>
        <p:spPr>
          <a:xfrm>
            <a:off x="5074920" y="2286000"/>
            <a:ext cx="1737360" cy="4937760"/>
          </a:xfrm>
          <a:prstGeom prst="rect">
            <a:avLst/>
          </a:prstGeom>
          <a:noFill/>
        </p:spPr>
        <p:txBody>
          <a:bodyPr wrap="square" lIns="0" rIns="0" tIns="0" bIns="0" anchor="t">
            <a:spAutoFit/>
          </a:bodyPr>
          <a:lstStyle/>
          <a:p>
            <a:pPr algn="l">
              <a:spcAft>
                <a:spcPts val="1000"/>
              </a:spcAft>
            </a:pPr>
            <a:r>
              <a:rPr sz="3000">
                <a:solidFill>
                  <a:srgbClr val="F7B125"/>
                </a:solidFill>
                <a:latin typeface="Playpen Sans Bold"/>
              </a:rPr>
              <a:t>0:00</a:t>
            </a:r>
          </a:p>
          <a:p>
            <a:pPr algn="l">
              <a:spcAft>
                <a:spcPts val="1000"/>
              </a:spcAft>
            </a:pPr>
            <a:r>
              <a:rPr sz="3000">
                <a:solidFill>
                  <a:srgbClr val="F7B125"/>
                </a:solidFill>
                <a:latin typeface="Playpen Sans Bold"/>
              </a:rPr>
              <a:t>0:08</a:t>
            </a:r>
          </a:p>
          <a:p>
            <a:pPr algn="l">
              <a:spcAft>
                <a:spcPts val="1000"/>
              </a:spcAft>
            </a:pPr>
            <a:r>
              <a:rPr sz="3000">
                <a:solidFill>
                  <a:srgbClr val="F7B125"/>
                </a:solidFill>
                <a:latin typeface="Playpen Sans Bold"/>
              </a:rPr>
              <a:t>0:35</a:t>
            </a:r>
          </a:p>
          <a:p>
            <a:pPr algn="l">
              <a:spcAft>
                <a:spcPts val="1000"/>
              </a:spcAft>
            </a:pPr>
            <a:r>
              <a:rPr sz="3000">
                <a:solidFill>
                  <a:srgbClr val="F7B125"/>
                </a:solidFill>
                <a:latin typeface="Playpen Sans Bold"/>
              </a:rPr>
              <a:t>0:55</a:t>
            </a:r>
          </a:p>
          <a:p>
            <a:pPr algn="l">
              <a:spcAft>
                <a:spcPts val="1000"/>
              </a:spcAft>
            </a:pPr>
            <a:r>
              <a:rPr sz="3000">
                <a:solidFill>
                  <a:srgbClr val="F7B125"/>
                </a:solidFill>
                <a:latin typeface="Playpen Sans Bold"/>
              </a:rPr>
              <a:t>1:00</a:t>
            </a:r>
          </a:p>
          <a:p>
            <a:pPr algn="l">
              <a:spcAft>
                <a:spcPts val="1000"/>
              </a:spcAft>
            </a:pPr>
            <a:r>
              <a:rPr sz="3000">
                <a:solidFill>
                  <a:srgbClr val="F7B125"/>
                </a:solidFill>
                <a:latin typeface="Playpen Sans Bold"/>
              </a:rPr>
              <a:t>1:10</a:t>
            </a:r>
          </a:p>
          <a:p>
            <a:pPr algn="l">
              <a:spcAft>
                <a:spcPts val="1000"/>
              </a:spcAft>
            </a:pPr>
            <a:r>
              <a:rPr sz="3000">
                <a:solidFill>
                  <a:srgbClr val="F7B125"/>
                </a:solidFill>
                <a:latin typeface="Playpen Sans Bold"/>
              </a:rPr>
              <a:t>1:55</a:t>
            </a:r>
          </a:p>
        </p:txBody>
      </p:sp>
      <p:sp>
        <p:nvSpPr>
          <p:cNvPr id="15" name="Kegiatan"/>
          <p:cNvSpPr txBox="1"/>
          <p:nvPr/>
        </p:nvSpPr>
        <p:spPr>
          <a:xfrm>
            <a:off x="6995160" y="2286000"/>
            <a:ext cx="9784080" cy="4937760"/>
          </a:xfrm>
          <a:prstGeom prst="rect">
            <a:avLst/>
          </a:prstGeom>
          <a:noFill/>
        </p:spPr>
        <p:txBody>
          <a:bodyPr wrap="square" lIns="0" rIns="0" tIns="0" bIns="0" anchor="t">
            <a:spAutoFit/>
          </a:bodyPr>
          <a:lstStyle/>
          <a:p>
            <a:pPr algn="l">
              <a:spcAft>
                <a:spcPts val="1000"/>
              </a:spcAft>
            </a:pPr>
            <a:r>
              <a:rPr sz="3000">
                <a:solidFill>
                  <a:srgbClr val="FFFFFF"/>
                </a:solidFill>
                <a:latin typeface="Playpen Sans"/>
              </a:rPr>
              <a:t>Kenapa AI? Cerita dari paper (8 menit)</a:t>
            </a:r>
          </a:p>
          <a:p>
            <a:pPr algn="l">
              <a:spcAft>
                <a:spcPts val="1000"/>
              </a:spcAft>
            </a:pPr>
            <a:r>
              <a:rPr sz="3000">
                <a:solidFill>
                  <a:srgbClr val="FFFFFF"/>
                </a:solidFill>
                <a:latin typeface="Playpen Sans"/>
              </a:rPr>
              <a:t>Intuisi: AI, ML, dan optimasi (27)</a:t>
            </a:r>
          </a:p>
          <a:p>
            <a:pPr algn="l">
              <a:spcAft>
                <a:spcPts val="1000"/>
              </a:spcAft>
            </a:pPr>
            <a:r>
              <a:rPr sz="3000">
                <a:solidFill>
                  <a:srgbClr val="FFFFFF"/>
                </a:solidFill>
                <a:latin typeface="Playpen Sans"/>
              </a:rPr>
              <a:t>Capaian dan harapan kelas (20)</a:t>
            </a:r>
          </a:p>
          <a:p>
            <a:pPr algn="l">
              <a:spcAft>
                <a:spcPts val="1000"/>
              </a:spcAft>
            </a:pPr>
            <a:r>
              <a:rPr sz="3000">
                <a:solidFill>
                  <a:srgbClr val="FFFFFF"/>
                </a:solidFill>
                <a:latin typeface="Playpen Sans"/>
              </a:rPr>
              <a:t>Istirahat (5)</a:t>
            </a:r>
          </a:p>
          <a:p>
            <a:pPr algn="l">
              <a:spcAft>
                <a:spcPts val="1000"/>
              </a:spcAft>
            </a:pPr>
            <a:r>
              <a:rPr sz="3000">
                <a:solidFill>
                  <a:srgbClr val="FFFFFF"/>
                </a:solidFill>
                <a:latin typeface="Playpen Sans"/>
              </a:rPr>
              <a:t>Stasiun persiapan (10)</a:t>
            </a:r>
          </a:p>
          <a:p>
            <a:pPr algn="l">
              <a:spcAft>
                <a:spcPts val="1000"/>
              </a:spcAft>
            </a:pPr>
            <a:r>
              <a:rPr sz="3000">
                <a:solidFill>
                  <a:srgbClr val="FFFFFF"/>
                </a:solidFill>
                <a:latin typeface="Playpen Sans"/>
              </a:rPr>
              <a:t>Flappy Komodo: manusia lawan evolusi (45)</a:t>
            </a:r>
          </a:p>
          <a:p>
            <a:pPr algn="l">
              <a:spcAft>
                <a:spcPts val="1000"/>
              </a:spcAft>
            </a:pPr>
            <a:r>
              <a:rPr sz="3000">
                <a:solidFill>
                  <a:srgbClr val="FFFFFF"/>
                </a:solidFill>
                <a:latin typeface="Playpen Sans"/>
              </a:rPr>
              <a:t>Pemenang dan Pertemuan 1 (5)</a:t>
            </a:r>
          </a:p>
        </p:txBody>
      </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67928" r="0" b="-67928"/>
            </a:stretch>
          </a:blipFill>
        </p:spPr>
      </p:sp>
      <p:sp>
        <p:nvSpPr>
          <p:cNvPr name="Freeform 3" id="3"/>
          <p:cNvSpPr/>
          <p:nvPr/>
        </p:nvSpPr>
        <p:spPr>
          <a:xfrm flipH="false" flipV="false" rot="0">
            <a:off x="12533569" y="-21055"/>
            <a:ext cx="5762298" cy="6532600"/>
          </a:xfrm>
          <a:custGeom>
            <a:avLst/>
            <a:gdLst/>
            <a:ahLst/>
            <a:cxnLst/>
            <a:rect r="r" b="b" t="t" l="l"/>
            <a:pathLst>
              <a:path h="6532600" w="5762298">
                <a:moveTo>
                  <a:pt x="0" y="0"/>
                </a:moveTo>
                <a:lnTo>
                  <a:pt x="5762298" y="0"/>
                </a:lnTo>
                <a:lnTo>
                  <a:pt x="5762298" y="6532600"/>
                </a:lnTo>
                <a:lnTo>
                  <a:pt x="0" y="6532600"/>
                </a:lnTo>
                <a:lnTo>
                  <a:pt x="0" y="0"/>
                </a:lnTo>
                <a:close/>
              </a:path>
            </a:pathLst>
          </a:custGeom>
          <a:blipFill>
            <a:blip r:embed="rId3"/>
            <a:stretch>
              <a:fillRect l="0" t="0" r="0" b="0"/>
            </a:stretch>
          </a:blipFill>
        </p:spPr>
      </p:sp>
      <p:sp>
        <p:nvSpPr>
          <p:cNvPr name="Freeform 4" id="4"/>
          <p:cNvSpPr/>
          <p:nvPr/>
        </p:nvSpPr>
        <p:spPr>
          <a:xfrm flipH="false" flipV="false" rot="0">
            <a:off x="12978766" y="2004481"/>
            <a:ext cx="5309234" cy="5465964"/>
          </a:xfrm>
          <a:custGeom>
            <a:avLst/>
            <a:gdLst/>
            <a:ahLst/>
            <a:cxnLst/>
            <a:rect r="r" b="b" t="t" l="l"/>
            <a:pathLst>
              <a:path h="5465964" w="5309234">
                <a:moveTo>
                  <a:pt x="0" y="0"/>
                </a:moveTo>
                <a:lnTo>
                  <a:pt x="5309234" y="0"/>
                </a:lnTo>
                <a:lnTo>
                  <a:pt x="5309234" y="5465965"/>
                </a:lnTo>
                <a:lnTo>
                  <a:pt x="0" y="5465965"/>
                </a:lnTo>
                <a:lnTo>
                  <a:pt x="0" y="0"/>
                </a:lnTo>
                <a:close/>
              </a:path>
            </a:pathLst>
          </a:custGeom>
          <a:blipFill>
            <a:blip r:embed="rId4"/>
            <a:stretch>
              <a:fillRect l="0" t="0" r="0" b="0"/>
            </a:stretch>
          </a:blipFill>
        </p:spPr>
      </p:sp>
      <p:sp>
        <p:nvSpPr>
          <p:cNvPr name="Freeform 5" id="5"/>
          <p:cNvSpPr/>
          <p:nvPr/>
        </p:nvSpPr>
        <p:spPr>
          <a:xfrm flipH="true" flipV="false" rot="0">
            <a:off x="-29416" y="0"/>
            <a:ext cx="5762298" cy="6532600"/>
          </a:xfrm>
          <a:custGeom>
            <a:avLst/>
            <a:gdLst/>
            <a:ahLst/>
            <a:cxnLst/>
            <a:rect r="r" b="b" t="t" l="l"/>
            <a:pathLst>
              <a:path h="6532600" w="5762298">
                <a:moveTo>
                  <a:pt x="5762298" y="0"/>
                </a:moveTo>
                <a:lnTo>
                  <a:pt x="0" y="0"/>
                </a:lnTo>
                <a:lnTo>
                  <a:pt x="0" y="6532600"/>
                </a:lnTo>
                <a:lnTo>
                  <a:pt x="5762298" y="6532600"/>
                </a:lnTo>
                <a:lnTo>
                  <a:pt x="5762298" y="0"/>
                </a:lnTo>
                <a:close/>
              </a:path>
            </a:pathLst>
          </a:custGeom>
          <a:blipFill>
            <a:blip r:embed="rId3"/>
            <a:stretch>
              <a:fillRect l="0" t="0" r="0" b="0"/>
            </a:stretch>
          </a:blipFill>
        </p:spPr>
      </p:sp>
      <p:sp>
        <p:nvSpPr>
          <p:cNvPr name="Freeform 6" id="6"/>
          <p:cNvSpPr/>
          <p:nvPr/>
        </p:nvSpPr>
        <p:spPr>
          <a:xfrm flipH="false" flipV="false" rot="0">
            <a:off x="423648" y="2410518"/>
            <a:ext cx="5309234" cy="5465964"/>
          </a:xfrm>
          <a:custGeom>
            <a:avLst/>
            <a:gdLst/>
            <a:ahLst/>
            <a:cxnLst/>
            <a:rect r="r" b="b" t="t" l="l"/>
            <a:pathLst>
              <a:path h="5465964" w="5309234">
                <a:moveTo>
                  <a:pt x="0" y="0"/>
                </a:moveTo>
                <a:lnTo>
                  <a:pt x="5309234" y="0"/>
                </a:lnTo>
                <a:lnTo>
                  <a:pt x="5309234" y="5465964"/>
                </a:lnTo>
                <a:lnTo>
                  <a:pt x="0" y="5465964"/>
                </a:lnTo>
                <a:lnTo>
                  <a:pt x="0" y="0"/>
                </a:lnTo>
                <a:close/>
              </a:path>
            </a:pathLst>
          </a:custGeom>
          <a:blipFill>
            <a:blip r:embed="rId4"/>
            <a:stretch>
              <a:fillRect l="0" t="0" r="0" b="0"/>
            </a:stretch>
          </a:blipFill>
        </p:spPr>
      </p:sp>
      <p:sp>
        <p:nvSpPr>
          <p:cNvPr name="Freeform 7" id="7"/>
          <p:cNvSpPr/>
          <p:nvPr/>
        </p:nvSpPr>
        <p:spPr>
          <a:xfrm flipH="false" flipV="false" rot="0">
            <a:off x="-317430" y="7660946"/>
            <a:ext cx="18613297" cy="3022078"/>
          </a:xfrm>
          <a:custGeom>
            <a:avLst/>
            <a:gdLst/>
            <a:ahLst/>
            <a:cxnLst/>
            <a:rect r="r" b="b" t="t" l="l"/>
            <a:pathLst>
              <a:path h="3022078" w="18613297">
                <a:moveTo>
                  <a:pt x="0" y="0"/>
                </a:moveTo>
                <a:lnTo>
                  <a:pt x="18613297" y="0"/>
                </a:lnTo>
                <a:lnTo>
                  <a:pt x="18613297" y="3022077"/>
                </a:lnTo>
                <a:lnTo>
                  <a:pt x="0" y="3022077"/>
                </a:lnTo>
                <a:lnTo>
                  <a:pt x="0" y="0"/>
                </a:lnTo>
                <a:close/>
              </a:path>
            </a:pathLst>
          </a:custGeom>
          <a:blipFill>
            <a:blip r:embed="rId5"/>
            <a:stretch>
              <a:fillRect l="-158" t="0" r="-158" b="-6838"/>
            </a:stretch>
          </a:blipFill>
        </p:spPr>
      </p:sp>
      <p:sp>
        <p:nvSpPr>
          <p:cNvPr name="Freeform 11" id="11"/>
          <p:cNvSpPr/>
          <p:nvPr/>
        </p:nvSpPr>
        <p:spPr>
          <a:xfrm flipH="false" flipV="false" rot="0">
            <a:off x="681269" y="7470446"/>
            <a:ext cx="6083710" cy="4114800"/>
          </a:xfrm>
          <a:custGeom>
            <a:avLst/>
            <a:gdLst/>
            <a:ahLst/>
            <a:cxnLst/>
            <a:rect r="r" b="b" t="t" l="l"/>
            <a:pathLst>
              <a:path h="4114800" w="6083710">
                <a:moveTo>
                  <a:pt x="0" y="0"/>
                </a:moveTo>
                <a:lnTo>
                  <a:pt x="6083709" y="0"/>
                </a:lnTo>
                <a:lnTo>
                  <a:pt x="6083709" y="4114800"/>
                </a:lnTo>
                <a:lnTo>
                  <a:pt x="0" y="4114800"/>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name="Freeform 13" id="13"/>
          <p:cNvSpPr/>
          <p:nvPr/>
        </p:nvSpPr>
        <p:spPr>
          <a:xfrm flipH="false" flipV="false" rot="0">
            <a:off x="9549673" y="7660946"/>
            <a:ext cx="6083710" cy="4114800"/>
          </a:xfrm>
          <a:custGeom>
            <a:avLst/>
            <a:gdLst/>
            <a:ahLst/>
            <a:cxnLst/>
            <a:rect r="r" b="b" t="t" l="l"/>
            <a:pathLst>
              <a:path h="4114800" w="6083710">
                <a:moveTo>
                  <a:pt x="0" y="0"/>
                </a:moveTo>
                <a:lnTo>
                  <a:pt x="6083710" y="0"/>
                </a:lnTo>
                <a:lnTo>
                  <a:pt x="6083710" y="4114800"/>
                </a:lnTo>
                <a:lnTo>
                  <a:pt x="0" y="4114800"/>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id="14" name="Panel"/>
          <p:cNvSpPr/>
          <p:nvPr/>
        </p:nvSpPr>
        <p:spPr>
          <a:xfrm>
            <a:off x="914400" y="731520"/>
            <a:ext cx="16459200" cy="6675120"/>
          </a:xfrm>
          <a:prstGeom prst="roundRect">
            <a:avLst>
              <a:gd name="adj" fmla="val 5000"/>
            </a:avLst>
          </a:prstGeom>
          <a:solidFill>
            <a:srgbClr val="0A2540">
              <a:alpha val="8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Judul"/>
          <p:cNvSpPr txBox="1"/>
          <p:nvPr/>
        </p:nvSpPr>
        <p:spPr>
          <a:xfrm>
            <a:off x="1508760" y="914400"/>
            <a:ext cx="15270480" cy="1097280"/>
          </a:xfrm>
          <a:prstGeom prst="rect">
            <a:avLst/>
          </a:prstGeom>
          <a:noFill/>
        </p:spPr>
        <p:txBody>
          <a:bodyPr wrap="square" lIns="0" rIns="0" tIns="0" bIns="0" anchor="t">
            <a:spAutoFit/>
          </a:bodyPr>
          <a:lstStyle/>
          <a:p>
            <a:pPr algn="ctr">
              <a:spcAft>
                <a:spcPts val="0"/>
              </a:spcAft>
            </a:pPr>
            <a:r>
              <a:rPr sz="5600">
                <a:solidFill>
                  <a:srgbClr val="F7B125"/>
                </a:solidFill>
                <a:latin typeface="Playpen Sans Bold"/>
              </a:rPr>
              <a:t>AI yang kamu pakai bermula dari paper</a:t>
            </a:r>
          </a:p>
        </p:txBody>
      </p:sp>
      <p:pic>
        <p:nvPicPr>
          <p:cNvPr id="16" name="Paper kma" descr="Halaman depan sebuah paper"/>
          <p:cNvPicPr>
            <a:picLocks noChangeAspect="1"/>
          </p:cNvPicPr>
          <p:nvPr/>
        </p:nvPicPr>
        <p:blipFill>
          <a:blip r:embed="rId13"/>
          <a:stretch>
            <a:fillRect/>
          </a:stretch>
        </p:blipFill>
        <p:spPr>
          <a:xfrm rot="21480000">
            <a:off x="1508760" y="2148840"/>
            <a:ext cx="3413637" cy="2286000"/>
          </a:xfrm>
          <a:prstGeom prst="rect">
            <a:avLst/>
          </a:prstGeom>
          <a:ln w="38100">
            <a:solidFill>
              <a:srgbClr val="FFFFFF"/>
            </a:solidFill>
          </a:ln>
        </p:spPr>
      </p:pic>
      <p:pic>
        <p:nvPicPr>
          <p:cNvPr id="17" name="Paper ikma" descr="Halaman depan sebuah paper"/>
          <p:cNvPicPr>
            <a:picLocks noChangeAspect="1"/>
          </p:cNvPicPr>
          <p:nvPr/>
        </p:nvPicPr>
        <p:blipFill>
          <a:blip r:embed="rId14"/>
          <a:stretch>
            <a:fillRect/>
          </a:stretch>
        </p:blipFill>
        <p:spPr>
          <a:xfrm rot="90000">
            <a:off x="5284431" y="2148840"/>
            <a:ext cx="3159125" cy="2286000"/>
          </a:xfrm>
          <a:prstGeom prst="rect">
            <a:avLst/>
          </a:prstGeom>
          <a:ln w="38100">
            <a:solidFill>
              <a:srgbClr val="FFFFFF"/>
            </a:solidFill>
          </a:ln>
        </p:spPr>
      </p:pic>
      <p:pic>
        <p:nvPicPr>
          <p:cNvPr id="18" name="Paper skin" descr="Halaman depan sebuah paper"/>
          <p:cNvPicPr>
            <a:picLocks noChangeAspect="1"/>
          </p:cNvPicPr>
          <p:nvPr/>
        </p:nvPicPr>
        <p:blipFill>
          <a:blip r:embed="rId15"/>
          <a:stretch>
            <a:fillRect/>
          </a:stretch>
        </p:blipFill>
        <p:spPr>
          <a:xfrm rot="21540000">
            <a:off x="8805591" y="2148840"/>
            <a:ext cx="4023252" cy="2286000"/>
          </a:xfrm>
          <a:prstGeom prst="rect">
            <a:avLst/>
          </a:prstGeom>
          <a:ln w="38100">
            <a:solidFill>
              <a:srgbClr val="FFFFFF"/>
            </a:solidFill>
          </a:ln>
        </p:spPr>
      </p:pic>
      <p:pic>
        <p:nvPicPr>
          <p:cNvPr id="19" name="Paper cotpot" descr="Halaman depan sebuah paper"/>
          <p:cNvPicPr>
            <a:picLocks noChangeAspect="1"/>
          </p:cNvPicPr>
          <p:nvPr/>
        </p:nvPicPr>
        <p:blipFill>
          <a:blip r:embed="rId16"/>
          <a:stretch>
            <a:fillRect/>
          </a:stretch>
        </p:blipFill>
        <p:spPr>
          <a:xfrm rot="120000">
            <a:off x="13190879" y="2148840"/>
            <a:ext cx="3588360" cy="2286000"/>
          </a:xfrm>
          <a:prstGeom prst="rect">
            <a:avLst/>
          </a:prstGeom>
          <a:ln w="38100">
            <a:solidFill>
              <a:srgbClr val="FFFFFF"/>
            </a:solidFill>
          </a:ln>
        </p:spPr>
      </p:pic>
      <p:pic>
        <p:nvPicPr>
          <p:cNvPr id="20" name="Paper dfu" descr="Halaman depan sebuah paper"/>
          <p:cNvPicPr>
            <a:picLocks noChangeAspect="1"/>
          </p:cNvPicPr>
          <p:nvPr/>
        </p:nvPicPr>
        <p:blipFill>
          <a:blip r:embed="rId17"/>
          <a:stretch>
            <a:fillRect/>
          </a:stretch>
        </p:blipFill>
        <p:spPr>
          <a:xfrm rot="72000">
            <a:off x="1508760" y="4983479"/>
            <a:ext cx="3766278" cy="1143000"/>
          </a:xfrm>
          <a:prstGeom prst="rect">
            <a:avLst/>
          </a:prstGeom>
          <a:ln w="38100">
            <a:solidFill>
              <a:srgbClr val="FFFFFF"/>
            </a:solidFill>
          </a:ln>
        </p:spPr>
      </p:pic>
      <p:pic>
        <p:nvPicPr>
          <p:cNvPr id="21" name="Paper ncf" descr="Halaman depan sebuah paper"/>
          <p:cNvPicPr>
            <a:picLocks noChangeAspect="1"/>
          </p:cNvPicPr>
          <p:nvPr/>
        </p:nvPicPr>
        <p:blipFill>
          <a:blip r:embed="rId18"/>
          <a:stretch>
            <a:fillRect/>
          </a:stretch>
        </p:blipFill>
        <p:spPr>
          <a:xfrm rot="21510000">
            <a:off x="5803440" y="4983479"/>
            <a:ext cx="3544584" cy="1143000"/>
          </a:xfrm>
          <a:prstGeom prst="rect">
            <a:avLst/>
          </a:prstGeom>
          <a:ln w="38100">
            <a:solidFill>
              <a:srgbClr val="FFFFFF"/>
            </a:solidFill>
          </a:ln>
        </p:spPr>
      </p:pic>
      <p:pic>
        <p:nvPicPr>
          <p:cNvPr id="22" name="Paper ref" descr="Halaman depan sebuah paper"/>
          <p:cNvPicPr>
            <a:picLocks noChangeAspect="1"/>
          </p:cNvPicPr>
          <p:nvPr/>
        </p:nvPicPr>
        <p:blipFill>
          <a:blip r:embed="rId19"/>
          <a:stretch>
            <a:fillRect/>
          </a:stretch>
        </p:blipFill>
        <p:spPr>
          <a:xfrm rot="90000">
            <a:off x="9876425" y="4892040"/>
            <a:ext cx="3046451" cy="1325880"/>
          </a:xfrm>
          <a:prstGeom prst="rect">
            <a:avLst/>
          </a:prstGeom>
          <a:ln w="38100">
            <a:solidFill>
              <a:srgbClr val="FFFFFF"/>
            </a:solidFill>
          </a:ln>
        </p:spPr>
      </p:pic>
      <p:pic>
        <p:nvPicPr>
          <p:cNvPr id="23" name="Paper token" descr="Halaman depan sebuah paper"/>
          <p:cNvPicPr>
            <a:picLocks noChangeAspect="1"/>
          </p:cNvPicPr>
          <p:nvPr/>
        </p:nvPicPr>
        <p:blipFill>
          <a:blip r:embed="rId20"/>
          <a:stretch>
            <a:fillRect/>
          </a:stretch>
        </p:blipFill>
        <p:spPr>
          <a:xfrm rot="21528000">
            <a:off x="13451278" y="4983479"/>
            <a:ext cx="3327961" cy="1143000"/>
          </a:xfrm>
          <a:prstGeom prst="rect">
            <a:avLst/>
          </a:prstGeom>
          <a:ln w="38100">
            <a:solidFill>
              <a:srgbClr val="FFFFFF"/>
            </a:solidFill>
          </a:ln>
        </p:spPr>
      </p:pic>
      <p:sp>
        <p:nvSpPr>
          <p:cNvPr id="24" name="Penutup"/>
          <p:cNvSpPr txBox="1"/>
          <p:nvPr/>
        </p:nvSpPr>
        <p:spPr>
          <a:xfrm>
            <a:off x="1508760" y="6446520"/>
            <a:ext cx="15270480" cy="640080"/>
          </a:xfrm>
          <a:prstGeom prst="rect">
            <a:avLst/>
          </a:prstGeom>
          <a:noFill/>
        </p:spPr>
        <p:txBody>
          <a:bodyPr wrap="square" lIns="0" rIns="0" tIns="0" bIns="0" anchor="t">
            <a:spAutoFit/>
          </a:bodyPr>
          <a:lstStyle/>
          <a:p>
            <a:pPr algn="ctr">
              <a:spcAft>
                <a:spcPts val="0"/>
              </a:spcAft>
            </a:pPr>
            <a:r>
              <a:rPr sz="3200">
                <a:solidFill>
                  <a:srgbClr val="FFFFFF"/>
                </a:solidFill>
                <a:latin typeface="Playpen Sans"/>
              </a:rPr>
              <a:t>Banyak yang ditulis di kampus kita sendiri</a:t>
            </a:r>
          </a:p>
        </p:txBody>
      </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67928" r="0" b="-67928"/>
            </a:stretch>
          </a:blipFill>
        </p:spPr>
      </p:sp>
      <p:sp>
        <p:nvSpPr>
          <p:cNvPr name="Freeform 3" id="3"/>
          <p:cNvSpPr/>
          <p:nvPr/>
        </p:nvSpPr>
        <p:spPr>
          <a:xfrm flipH="false" flipV="false" rot="0">
            <a:off x="12533569" y="-21055"/>
            <a:ext cx="5762298" cy="6532600"/>
          </a:xfrm>
          <a:custGeom>
            <a:avLst/>
            <a:gdLst/>
            <a:ahLst/>
            <a:cxnLst/>
            <a:rect r="r" b="b" t="t" l="l"/>
            <a:pathLst>
              <a:path h="6532600" w="5762298">
                <a:moveTo>
                  <a:pt x="0" y="0"/>
                </a:moveTo>
                <a:lnTo>
                  <a:pt x="5762298" y="0"/>
                </a:lnTo>
                <a:lnTo>
                  <a:pt x="5762298" y="6532600"/>
                </a:lnTo>
                <a:lnTo>
                  <a:pt x="0" y="6532600"/>
                </a:lnTo>
                <a:lnTo>
                  <a:pt x="0" y="0"/>
                </a:lnTo>
                <a:close/>
              </a:path>
            </a:pathLst>
          </a:custGeom>
          <a:blipFill>
            <a:blip r:embed="rId3"/>
            <a:stretch>
              <a:fillRect l="0" t="0" r="0" b="0"/>
            </a:stretch>
          </a:blipFill>
        </p:spPr>
      </p:sp>
      <p:sp>
        <p:nvSpPr>
          <p:cNvPr name="Freeform 4" id="4"/>
          <p:cNvSpPr/>
          <p:nvPr/>
        </p:nvSpPr>
        <p:spPr>
          <a:xfrm flipH="false" flipV="false" rot="0">
            <a:off x="12978766" y="2004481"/>
            <a:ext cx="5309234" cy="5465964"/>
          </a:xfrm>
          <a:custGeom>
            <a:avLst/>
            <a:gdLst/>
            <a:ahLst/>
            <a:cxnLst/>
            <a:rect r="r" b="b" t="t" l="l"/>
            <a:pathLst>
              <a:path h="5465964" w="5309234">
                <a:moveTo>
                  <a:pt x="0" y="0"/>
                </a:moveTo>
                <a:lnTo>
                  <a:pt x="5309234" y="0"/>
                </a:lnTo>
                <a:lnTo>
                  <a:pt x="5309234" y="5465965"/>
                </a:lnTo>
                <a:lnTo>
                  <a:pt x="0" y="5465965"/>
                </a:lnTo>
                <a:lnTo>
                  <a:pt x="0" y="0"/>
                </a:lnTo>
                <a:close/>
              </a:path>
            </a:pathLst>
          </a:custGeom>
          <a:blipFill>
            <a:blip r:embed="rId4"/>
            <a:stretch>
              <a:fillRect l="0" t="0" r="0" b="0"/>
            </a:stretch>
          </a:blipFill>
        </p:spPr>
      </p:sp>
      <p:sp>
        <p:nvSpPr>
          <p:cNvPr name="Freeform 5" id="5"/>
          <p:cNvSpPr/>
          <p:nvPr/>
        </p:nvSpPr>
        <p:spPr>
          <a:xfrm flipH="true" flipV="false" rot="0">
            <a:off x="-29416" y="0"/>
            <a:ext cx="5762298" cy="6532600"/>
          </a:xfrm>
          <a:custGeom>
            <a:avLst/>
            <a:gdLst/>
            <a:ahLst/>
            <a:cxnLst/>
            <a:rect r="r" b="b" t="t" l="l"/>
            <a:pathLst>
              <a:path h="6532600" w="5762298">
                <a:moveTo>
                  <a:pt x="5762298" y="0"/>
                </a:moveTo>
                <a:lnTo>
                  <a:pt x="0" y="0"/>
                </a:lnTo>
                <a:lnTo>
                  <a:pt x="0" y="6532600"/>
                </a:lnTo>
                <a:lnTo>
                  <a:pt x="5762298" y="6532600"/>
                </a:lnTo>
                <a:lnTo>
                  <a:pt x="5762298" y="0"/>
                </a:lnTo>
                <a:close/>
              </a:path>
            </a:pathLst>
          </a:custGeom>
          <a:blipFill>
            <a:blip r:embed="rId3"/>
            <a:stretch>
              <a:fillRect l="0" t="0" r="0" b="0"/>
            </a:stretch>
          </a:blipFill>
        </p:spPr>
      </p:sp>
      <p:sp>
        <p:nvSpPr>
          <p:cNvPr name="Freeform 6" id="6"/>
          <p:cNvSpPr/>
          <p:nvPr/>
        </p:nvSpPr>
        <p:spPr>
          <a:xfrm flipH="false" flipV="false" rot="0">
            <a:off x="423648" y="2410518"/>
            <a:ext cx="5309234" cy="5465964"/>
          </a:xfrm>
          <a:custGeom>
            <a:avLst/>
            <a:gdLst/>
            <a:ahLst/>
            <a:cxnLst/>
            <a:rect r="r" b="b" t="t" l="l"/>
            <a:pathLst>
              <a:path h="5465964" w="5309234">
                <a:moveTo>
                  <a:pt x="0" y="0"/>
                </a:moveTo>
                <a:lnTo>
                  <a:pt x="5309234" y="0"/>
                </a:lnTo>
                <a:lnTo>
                  <a:pt x="5309234" y="5465964"/>
                </a:lnTo>
                <a:lnTo>
                  <a:pt x="0" y="5465964"/>
                </a:lnTo>
                <a:lnTo>
                  <a:pt x="0" y="0"/>
                </a:lnTo>
                <a:close/>
              </a:path>
            </a:pathLst>
          </a:custGeom>
          <a:blipFill>
            <a:blip r:embed="rId4"/>
            <a:stretch>
              <a:fillRect l="0" t="0" r="0" b="0"/>
            </a:stretch>
          </a:blipFill>
        </p:spPr>
      </p:sp>
      <p:sp>
        <p:nvSpPr>
          <p:cNvPr name="Freeform 7" id="7"/>
          <p:cNvSpPr/>
          <p:nvPr/>
        </p:nvSpPr>
        <p:spPr>
          <a:xfrm flipH="false" flipV="false" rot="0">
            <a:off x="-317430" y="7660946"/>
            <a:ext cx="18613297" cy="3022078"/>
          </a:xfrm>
          <a:custGeom>
            <a:avLst/>
            <a:gdLst/>
            <a:ahLst/>
            <a:cxnLst/>
            <a:rect r="r" b="b" t="t" l="l"/>
            <a:pathLst>
              <a:path h="3022078" w="18613297">
                <a:moveTo>
                  <a:pt x="0" y="0"/>
                </a:moveTo>
                <a:lnTo>
                  <a:pt x="18613297" y="0"/>
                </a:lnTo>
                <a:lnTo>
                  <a:pt x="18613297" y="3022077"/>
                </a:lnTo>
                <a:lnTo>
                  <a:pt x="0" y="3022077"/>
                </a:lnTo>
                <a:lnTo>
                  <a:pt x="0" y="0"/>
                </a:lnTo>
                <a:close/>
              </a:path>
            </a:pathLst>
          </a:custGeom>
          <a:blipFill>
            <a:blip r:embed="rId5"/>
            <a:stretch>
              <a:fillRect l="-158" t="0" r="-158" b="-6838"/>
            </a:stretch>
          </a:blipFill>
        </p:spPr>
      </p:sp>
      <p:sp>
        <p:nvSpPr>
          <p:cNvPr name="Freeform 11" id="11"/>
          <p:cNvSpPr/>
          <p:nvPr/>
        </p:nvSpPr>
        <p:spPr>
          <a:xfrm flipH="false" flipV="false" rot="0">
            <a:off x="681269" y="7470446"/>
            <a:ext cx="6083710" cy="4114800"/>
          </a:xfrm>
          <a:custGeom>
            <a:avLst/>
            <a:gdLst/>
            <a:ahLst/>
            <a:cxnLst/>
            <a:rect r="r" b="b" t="t" l="l"/>
            <a:pathLst>
              <a:path h="4114800" w="6083710">
                <a:moveTo>
                  <a:pt x="0" y="0"/>
                </a:moveTo>
                <a:lnTo>
                  <a:pt x="6083709" y="0"/>
                </a:lnTo>
                <a:lnTo>
                  <a:pt x="6083709" y="4114800"/>
                </a:lnTo>
                <a:lnTo>
                  <a:pt x="0" y="4114800"/>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name="Freeform 13" id="13"/>
          <p:cNvSpPr/>
          <p:nvPr/>
        </p:nvSpPr>
        <p:spPr>
          <a:xfrm flipH="false" flipV="false" rot="0">
            <a:off x="9549673" y="7660946"/>
            <a:ext cx="6083710" cy="4114800"/>
          </a:xfrm>
          <a:custGeom>
            <a:avLst/>
            <a:gdLst/>
            <a:ahLst/>
            <a:cxnLst/>
            <a:rect r="r" b="b" t="t" l="l"/>
            <a:pathLst>
              <a:path h="4114800" w="6083710">
                <a:moveTo>
                  <a:pt x="0" y="0"/>
                </a:moveTo>
                <a:lnTo>
                  <a:pt x="6083710" y="0"/>
                </a:lnTo>
                <a:lnTo>
                  <a:pt x="6083710" y="4114800"/>
                </a:lnTo>
                <a:lnTo>
                  <a:pt x="0" y="4114800"/>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id="14" name="Panel"/>
          <p:cNvSpPr/>
          <p:nvPr/>
        </p:nvSpPr>
        <p:spPr>
          <a:xfrm>
            <a:off x="914400" y="731520"/>
            <a:ext cx="16459200" cy="6675120"/>
          </a:xfrm>
          <a:prstGeom prst="roundRect">
            <a:avLst>
              <a:gd name="adj" fmla="val 5000"/>
            </a:avLst>
          </a:prstGeom>
          <a:solidFill>
            <a:srgbClr val="0A2540">
              <a:alpha val="8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ag CERITA"/>
          <p:cNvSpPr/>
          <p:nvPr/>
        </p:nvSpPr>
        <p:spPr>
          <a:xfrm>
            <a:off x="1508760" y="960120"/>
            <a:ext cx="1972056" cy="640080"/>
          </a:xfrm>
          <a:prstGeom prst="roundRect">
            <a:avLst>
              <a:gd name="adj" fmla="val 50000"/>
            </a:avLst>
          </a:prstGeom>
          <a:solidFill>
            <a:srgbClr val="F7B1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ks tag CERITA"/>
          <p:cNvSpPr txBox="1"/>
          <p:nvPr/>
        </p:nvSpPr>
        <p:spPr>
          <a:xfrm>
            <a:off x="1508760" y="1024128"/>
            <a:ext cx="1972056" cy="548640"/>
          </a:xfrm>
          <a:prstGeom prst="rect">
            <a:avLst/>
          </a:prstGeom>
          <a:noFill/>
        </p:spPr>
        <p:txBody>
          <a:bodyPr wrap="square" lIns="0" rIns="0" tIns="0" bIns="0" anchor="t">
            <a:spAutoFit/>
          </a:bodyPr>
          <a:lstStyle/>
          <a:p>
            <a:pPr algn="ctr">
              <a:spcAft>
                <a:spcPts val="0"/>
              </a:spcAft>
            </a:pPr>
            <a:r>
              <a:rPr sz="2200">
                <a:solidFill>
                  <a:srgbClr val="0A2540"/>
                </a:solidFill>
                <a:latin typeface="Playpen Sans Bold"/>
              </a:rPr>
              <a:t>CERITA</a:t>
            </a:r>
          </a:p>
        </p:txBody>
      </p:sp>
      <p:sp>
        <p:nvSpPr>
          <p:cNvPr id="17" name="Judul"/>
          <p:cNvSpPr txBox="1"/>
          <p:nvPr/>
        </p:nvSpPr>
        <p:spPr>
          <a:xfrm>
            <a:off x="3846576" y="960120"/>
            <a:ext cx="12932664" cy="731520"/>
          </a:xfrm>
          <a:prstGeom prst="rect">
            <a:avLst/>
          </a:prstGeom>
          <a:noFill/>
        </p:spPr>
        <p:txBody>
          <a:bodyPr wrap="square" lIns="0" rIns="0" tIns="0" bIns="0" anchor="ctr">
            <a:spAutoFit/>
          </a:bodyPr>
          <a:lstStyle/>
          <a:p>
            <a:pPr algn="l">
              <a:spcAft>
                <a:spcPts val="0"/>
              </a:spcAft>
            </a:pPr>
            <a:r>
              <a:rPr sz="4200">
                <a:solidFill>
                  <a:srgbClr val="F7B125"/>
                </a:solidFill>
                <a:latin typeface="Playpen Sans Bold"/>
              </a:rPr>
              <a:t>Satu ide dari kampus kita, tiga paper</a:t>
            </a:r>
          </a:p>
        </p:txBody>
      </p:sp>
      <p:sp>
        <p:nvSpPr>
          <p:cNvPr id="18" name="Kartu 1"/>
          <p:cNvSpPr/>
          <p:nvPr/>
        </p:nvSpPr>
        <p:spPr>
          <a:xfrm>
            <a:off x="1508760" y="2148840"/>
            <a:ext cx="4480560" cy="4892040"/>
          </a:xfrm>
          <a:prstGeom prst="roundRect">
            <a:avLst>
              <a:gd name="adj" fmla="val 5000"/>
            </a:avLst>
          </a:prstGeom>
          <a:solidFill>
            <a:srgbClr val="14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ahun"/>
          <p:cNvSpPr txBox="1"/>
          <p:nvPr/>
        </p:nvSpPr>
        <p:spPr>
          <a:xfrm>
            <a:off x="1737360" y="2240280"/>
            <a:ext cx="4023360" cy="822960"/>
          </a:xfrm>
          <a:prstGeom prst="rect">
            <a:avLst/>
          </a:prstGeom>
          <a:noFill/>
        </p:spPr>
        <p:txBody>
          <a:bodyPr wrap="square" lIns="0" rIns="0" tIns="0" bIns="0" anchor="t">
            <a:spAutoFit/>
          </a:bodyPr>
          <a:lstStyle/>
          <a:p>
            <a:pPr algn="l">
              <a:spcAft>
                <a:spcPts val="0"/>
              </a:spcAft>
            </a:pPr>
            <a:r>
              <a:rPr sz="4000">
                <a:solidFill>
                  <a:srgbClr val="F7B125"/>
                </a:solidFill>
                <a:latin typeface="Playpen Sans Bold"/>
              </a:rPr>
              <a:t>2021</a:t>
            </a:r>
          </a:p>
        </p:txBody>
      </p:sp>
      <p:pic>
        <p:nvPicPr>
          <p:cNvPr id="20" name="Paper kma" descr="Komodo Mlipir Algorithm"/>
          <p:cNvPicPr>
            <a:picLocks noChangeAspect="1"/>
          </p:cNvPicPr>
          <p:nvPr/>
        </p:nvPicPr>
        <p:blipFill>
          <a:blip r:embed="rId13"/>
          <a:stretch>
            <a:fillRect/>
          </a:stretch>
        </p:blipFill>
        <p:spPr>
          <a:xfrm>
            <a:off x="2247039" y="3063240"/>
            <a:ext cx="3004000" cy="2011680"/>
          </a:xfrm>
          <a:prstGeom prst="rect">
            <a:avLst/>
          </a:prstGeom>
          <a:ln w="38100">
            <a:solidFill>
              <a:srgbClr val="FFFFFF"/>
            </a:solidFill>
          </a:ln>
        </p:spPr>
      </p:pic>
      <p:sp>
        <p:nvSpPr>
          <p:cNvPr id="21" name="Keterangan"/>
          <p:cNvSpPr txBox="1"/>
          <p:nvPr/>
        </p:nvSpPr>
        <p:spPr>
          <a:xfrm>
            <a:off x="1737360" y="5257800"/>
            <a:ext cx="4023360" cy="1737360"/>
          </a:xfrm>
          <a:prstGeom prst="rect">
            <a:avLst/>
          </a:prstGeom>
          <a:noFill/>
        </p:spPr>
        <p:txBody>
          <a:bodyPr wrap="square" lIns="0" rIns="0" tIns="0" bIns="0" anchor="t">
            <a:spAutoFit/>
          </a:bodyPr>
          <a:lstStyle/>
          <a:p>
            <a:pPr algn="l">
              <a:spcAft>
                <a:spcPts val="600"/>
              </a:spcAft>
            </a:pPr>
            <a:r>
              <a:rPr sz="2600">
                <a:solidFill>
                  <a:srgbClr val="FFFFFF"/>
                </a:solidFill>
                <a:latin typeface="Playpen Sans Bold"/>
              </a:rPr>
              <a:t>Komodo Mlipir Algorithm</a:t>
            </a:r>
          </a:p>
          <a:p>
            <a:pPr algn="l">
              <a:spcAft>
                <a:spcPts val="0"/>
              </a:spcAft>
            </a:pPr>
            <a:r>
              <a:rPr sz="2200">
                <a:solidFill>
                  <a:srgbClr val="F7B125"/>
                </a:solidFill>
                <a:latin typeface="Playpen Sans"/>
              </a:rPr>
              <a:t>Ide baru, Telkom University</a:t>
            </a:r>
          </a:p>
        </p:txBody>
      </p:sp>
      <p:sp>
        <p:nvSpPr>
          <p:cNvPr id="22" name="Panah 1"/>
          <p:cNvSpPr/>
          <p:nvPr/>
        </p:nvSpPr>
        <p:spPr>
          <a:xfrm>
            <a:off x="6099048" y="4023360"/>
            <a:ext cx="603504" cy="640080"/>
          </a:xfrm>
          <a:prstGeom prst="rightArrow">
            <a:avLst/>
          </a:prstGeom>
          <a:solidFill>
            <a:srgbClr val="F7B1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Kartu 2"/>
          <p:cNvSpPr/>
          <p:nvPr/>
        </p:nvSpPr>
        <p:spPr>
          <a:xfrm>
            <a:off x="6812280" y="2148840"/>
            <a:ext cx="4480560" cy="4892040"/>
          </a:xfrm>
          <a:prstGeom prst="roundRect">
            <a:avLst>
              <a:gd name="adj" fmla="val 5000"/>
            </a:avLst>
          </a:prstGeom>
          <a:solidFill>
            <a:srgbClr val="14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ahun"/>
          <p:cNvSpPr txBox="1"/>
          <p:nvPr/>
        </p:nvSpPr>
        <p:spPr>
          <a:xfrm>
            <a:off x="7040880" y="2240280"/>
            <a:ext cx="4023360" cy="822960"/>
          </a:xfrm>
          <a:prstGeom prst="rect">
            <a:avLst/>
          </a:prstGeom>
          <a:noFill/>
        </p:spPr>
        <p:txBody>
          <a:bodyPr wrap="square" lIns="0" rIns="0" tIns="0" bIns="0" anchor="t">
            <a:spAutoFit/>
          </a:bodyPr>
          <a:lstStyle/>
          <a:p>
            <a:pPr algn="l">
              <a:spcAft>
                <a:spcPts val="0"/>
              </a:spcAft>
            </a:pPr>
            <a:r>
              <a:rPr sz="4000">
                <a:solidFill>
                  <a:srgbClr val="F7B125"/>
                </a:solidFill>
                <a:latin typeface="Playpen Sans Bold"/>
              </a:rPr>
              <a:t>2022</a:t>
            </a:r>
          </a:p>
        </p:txBody>
      </p:sp>
      <p:pic>
        <p:nvPicPr>
          <p:cNvPr id="25" name="Paper ikma" descr="Diperbaiki orang lain"/>
          <p:cNvPicPr>
            <a:picLocks noChangeAspect="1"/>
          </p:cNvPicPr>
          <p:nvPr/>
        </p:nvPicPr>
        <p:blipFill>
          <a:blip r:embed="rId14"/>
          <a:stretch>
            <a:fillRect/>
          </a:stretch>
        </p:blipFill>
        <p:spPr>
          <a:xfrm>
            <a:off x="7662545" y="3063240"/>
            <a:ext cx="2780030" cy="2011680"/>
          </a:xfrm>
          <a:prstGeom prst="rect">
            <a:avLst/>
          </a:prstGeom>
          <a:ln w="38100">
            <a:solidFill>
              <a:srgbClr val="FFFFFF"/>
            </a:solidFill>
          </a:ln>
        </p:spPr>
      </p:pic>
      <p:sp>
        <p:nvSpPr>
          <p:cNvPr id="26" name="Keterangan"/>
          <p:cNvSpPr txBox="1"/>
          <p:nvPr/>
        </p:nvSpPr>
        <p:spPr>
          <a:xfrm>
            <a:off x="7040880" y="5257800"/>
            <a:ext cx="4023360" cy="1737360"/>
          </a:xfrm>
          <a:prstGeom prst="rect">
            <a:avLst/>
          </a:prstGeom>
          <a:noFill/>
        </p:spPr>
        <p:txBody>
          <a:bodyPr wrap="square" lIns="0" rIns="0" tIns="0" bIns="0" anchor="t">
            <a:spAutoFit/>
          </a:bodyPr>
          <a:lstStyle/>
          <a:p>
            <a:pPr algn="l">
              <a:spcAft>
                <a:spcPts val="600"/>
              </a:spcAft>
            </a:pPr>
            <a:r>
              <a:rPr sz="2600">
                <a:solidFill>
                  <a:srgbClr val="FFFFFF"/>
                </a:solidFill>
                <a:latin typeface="Playpen Sans Bold"/>
              </a:rPr>
              <a:t>Diperbaiki orang lain</a:t>
            </a:r>
          </a:p>
          <a:p>
            <a:pPr algn="l">
              <a:spcAft>
                <a:spcPts val="0"/>
              </a:spcAft>
            </a:pPr>
            <a:r>
              <a:rPr sz="2200">
                <a:solidFill>
                  <a:srgbClr val="F7B125"/>
                </a:solidFill>
                <a:latin typeface="Playpen Sans"/>
              </a:rPr>
              <a:t>Jilin University, Tiongkok</a:t>
            </a:r>
          </a:p>
        </p:txBody>
      </p:sp>
      <p:sp>
        <p:nvSpPr>
          <p:cNvPr id="27" name="Panah 2"/>
          <p:cNvSpPr/>
          <p:nvPr/>
        </p:nvSpPr>
        <p:spPr>
          <a:xfrm>
            <a:off x="11402568" y="4023360"/>
            <a:ext cx="603504" cy="640080"/>
          </a:xfrm>
          <a:prstGeom prst="rightArrow">
            <a:avLst/>
          </a:prstGeom>
          <a:solidFill>
            <a:srgbClr val="F7B1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Kartu 3"/>
          <p:cNvSpPr/>
          <p:nvPr/>
        </p:nvSpPr>
        <p:spPr>
          <a:xfrm>
            <a:off x="12115800" y="2148840"/>
            <a:ext cx="4480560" cy="4892040"/>
          </a:xfrm>
          <a:prstGeom prst="roundRect">
            <a:avLst>
              <a:gd name="adj" fmla="val 5000"/>
            </a:avLst>
          </a:prstGeom>
          <a:solidFill>
            <a:srgbClr val="14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ahun"/>
          <p:cNvSpPr txBox="1"/>
          <p:nvPr/>
        </p:nvSpPr>
        <p:spPr>
          <a:xfrm>
            <a:off x="12344400" y="2240280"/>
            <a:ext cx="4023360" cy="822960"/>
          </a:xfrm>
          <a:prstGeom prst="rect">
            <a:avLst/>
          </a:prstGeom>
          <a:noFill/>
        </p:spPr>
        <p:txBody>
          <a:bodyPr wrap="square" lIns="0" rIns="0" tIns="0" bIns="0" anchor="t">
            <a:spAutoFit/>
          </a:bodyPr>
          <a:lstStyle/>
          <a:p>
            <a:pPr algn="l">
              <a:spcAft>
                <a:spcPts val="0"/>
              </a:spcAft>
            </a:pPr>
            <a:r>
              <a:rPr sz="4000">
                <a:solidFill>
                  <a:srgbClr val="F7B125"/>
                </a:solidFill>
                <a:latin typeface="Playpen Sans Bold"/>
              </a:rPr>
              <a:t>2025</a:t>
            </a:r>
          </a:p>
        </p:txBody>
      </p:sp>
      <p:pic>
        <p:nvPicPr>
          <p:cNvPr id="30" name="Paper komotrip" descr="Dipakai: KomoTrip"/>
          <p:cNvPicPr>
            <a:picLocks noChangeAspect="1"/>
          </p:cNvPicPr>
          <p:nvPr/>
        </p:nvPicPr>
        <p:blipFill>
          <a:blip r:embed="rId15"/>
          <a:stretch>
            <a:fillRect/>
          </a:stretch>
        </p:blipFill>
        <p:spPr>
          <a:xfrm>
            <a:off x="12298680" y="3385315"/>
            <a:ext cx="4114800" cy="1367529"/>
          </a:xfrm>
          <a:prstGeom prst="rect">
            <a:avLst/>
          </a:prstGeom>
          <a:ln w="38100">
            <a:solidFill>
              <a:srgbClr val="FFFFFF"/>
            </a:solidFill>
          </a:ln>
        </p:spPr>
      </p:pic>
      <p:sp>
        <p:nvSpPr>
          <p:cNvPr id="31" name="Keterangan"/>
          <p:cNvSpPr txBox="1"/>
          <p:nvPr/>
        </p:nvSpPr>
        <p:spPr>
          <a:xfrm>
            <a:off x="12344400" y="5257800"/>
            <a:ext cx="4023360" cy="1737360"/>
          </a:xfrm>
          <a:prstGeom prst="rect">
            <a:avLst/>
          </a:prstGeom>
          <a:noFill/>
        </p:spPr>
        <p:txBody>
          <a:bodyPr wrap="square" lIns="0" rIns="0" tIns="0" bIns="0" anchor="t">
            <a:spAutoFit/>
          </a:bodyPr>
          <a:lstStyle/>
          <a:p>
            <a:pPr algn="l">
              <a:spcAft>
                <a:spcPts val="600"/>
              </a:spcAft>
            </a:pPr>
            <a:r>
              <a:rPr sz="2600">
                <a:solidFill>
                  <a:srgbClr val="FFFFFF"/>
                </a:solidFill>
                <a:latin typeface="Playpen Sans Bold"/>
              </a:rPr>
              <a:t>Dipakai: KomoTrip</a:t>
            </a:r>
          </a:p>
          <a:p>
            <a:pPr algn="l">
              <a:spcAft>
                <a:spcPts val="0"/>
              </a:spcAft>
            </a:pPr>
            <a:r>
              <a:rPr sz="2200">
                <a:solidFill>
                  <a:srgbClr val="F7B125"/>
                </a:solidFill>
                <a:latin typeface="Playpen Sans"/>
              </a:rPr>
              <a:t>Menyusun rute wisata beberapa hari</a:t>
            </a:r>
          </a:p>
        </p:txBody>
      </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67928" r="0" b="-67928"/>
            </a:stretch>
          </a:blipFill>
        </p:spPr>
      </p:sp>
      <p:sp>
        <p:nvSpPr>
          <p:cNvPr name="Freeform 3" id="3"/>
          <p:cNvSpPr/>
          <p:nvPr/>
        </p:nvSpPr>
        <p:spPr>
          <a:xfrm flipH="false" flipV="false" rot="0">
            <a:off x="12533569" y="-21055"/>
            <a:ext cx="5762298" cy="6532600"/>
          </a:xfrm>
          <a:custGeom>
            <a:avLst/>
            <a:gdLst/>
            <a:ahLst/>
            <a:cxnLst/>
            <a:rect r="r" b="b" t="t" l="l"/>
            <a:pathLst>
              <a:path h="6532600" w="5762298">
                <a:moveTo>
                  <a:pt x="0" y="0"/>
                </a:moveTo>
                <a:lnTo>
                  <a:pt x="5762298" y="0"/>
                </a:lnTo>
                <a:lnTo>
                  <a:pt x="5762298" y="6532600"/>
                </a:lnTo>
                <a:lnTo>
                  <a:pt x="0" y="6532600"/>
                </a:lnTo>
                <a:lnTo>
                  <a:pt x="0" y="0"/>
                </a:lnTo>
                <a:close/>
              </a:path>
            </a:pathLst>
          </a:custGeom>
          <a:blipFill>
            <a:blip r:embed="rId3"/>
            <a:stretch>
              <a:fillRect l="0" t="0" r="0" b="0"/>
            </a:stretch>
          </a:blipFill>
        </p:spPr>
      </p:sp>
      <p:sp>
        <p:nvSpPr>
          <p:cNvPr name="Freeform 4" id="4"/>
          <p:cNvSpPr/>
          <p:nvPr/>
        </p:nvSpPr>
        <p:spPr>
          <a:xfrm flipH="false" flipV="false" rot="0">
            <a:off x="12978766" y="2004481"/>
            <a:ext cx="5309234" cy="5465964"/>
          </a:xfrm>
          <a:custGeom>
            <a:avLst/>
            <a:gdLst/>
            <a:ahLst/>
            <a:cxnLst/>
            <a:rect r="r" b="b" t="t" l="l"/>
            <a:pathLst>
              <a:path h="5465964" w="5309234">
                <a:moveTo>
                  <a:pt x="0" y="0"/>
                </a:moveTo>
                <a:lnTo>
                  <a:pt x="5309234" y="0"/>
                </a:lnTo>
                <a:lnTo>
                  <a:pt x="5309234" y="5465965"/>
                </a:lnTo>
                <a:lnTo>
                  <a:pt x="0" y="5465965"/>
                </a:lnTo>
                <a:lnTo>
                  <a:pt x="0" y="0"/>
                </a:lnTo>
                <a:close/>
              </a:path>
            </a:pathLst>
          </a:custGeom>
          <a:blipFill>
            <a:blip r:embed="rId4"/>
            <a:stretch>
              <a:fillRect l="0" t="0" r="0" b="0"/>
            </a:stretch>
          </a:blipFill>
        </p:spPr>
      </p:sp>
      <p:sp>
        <p:nvSpPr>
          <p:cNvPr name="Freeform 5" id="5"/>
          <p:cNvSpPr/>
          <p:nvPr/>
        </p:nvSpPr>
        <p:spPr>
          <a:xfrm flipH="true" flipV="false" rot="0">
            <a:off x="-29416" y="0"/>
            <a:ext cx="5762298" cy="6532600"/>
          </a:xfrm>
          <a:custGeom>
            <a:avLst/>
            <a:gdLst/>
            <a:ahLst/>
            <a:cxnLst/>
            <a:rect r="r" b="b" t="t" l="l"/>
            <a:pathLst>
              <a:path h="6532600" w="5762298">
                <a:moveTo>
                  <a:pt x="5762298" y="0"/>
                </a:moveTo>
                <a:lnTo>
                  <a:pt x="0" y="0"/>
                </a:lnTo>
                <a:lnTo>
                  <a:pt x="0" y="6532600"/>
                </a:lnTo>
                <a:lnTo>
                  <a:pt x="5762298" y="6532600"/>
                </a:lnTo>
                <a:lnTo>
                  <a:pt x="5762298" y="0"/>
                </a:lnTo>
                <a:close/>
              </a:path>
            </a:pathLst>
          </a:custGeom>
          <a:blipFill>
            <a:blip r:embed="rId3"/>
            <a:stretch>
              <a:fillRect l="0" t="0" r="0" b="0"/>
            </a:stretch>
          </a:blipFill>
        </p:spPr>
      </p:sp>
      <p:sp>
        <p:nvSpPr>
          <p:cNvPr name="Freeform 6" id="6"/>
          <p:cNvSpPr/>
          <p:nvPr/>
        </p:nvSpPr>
        <p:spPr>
          <a:xfrm flipH="false" flipV="false" rot="0">
            <a:off x="423648" y="2410518"/>
            <a:ext cx="5309234" cy="5465964"/>
          </a:xfrm>
          <a:custGeom>
            <a:avLst/>
            <a:gdLst/>
            <a:ahLst/>
            <a:cxnLst/>
            <a:rect r="r" b="b" t="t" l="l"/>
            <a:pathLst>
              <a:path h="5465964" w="5309234">
                <a:moveTo>
                  <a:pt x="0" y="0"/>
                </a:moveTo>
                <a:lnTo>
                  <a:pt x="5309234" y="0"/>
                </a:lnTo>
                <a:lnTo>
                  <a:pt x="5309234" y="5465964"/>
                </a:lnTo>
                <a:lnTo>
                  <a:pt x="0" y="5465964"/>
                </a:lnTo>
                <a:lnTo>
                  <a:pt x="0" y="0"/>
                </a:lnTo>
                <a:close/>
              </a:path>
            </a:pathLst>
          </a:custGeom>
          <a:blipFill>
            <a:blip r:embed="rId4"/>
            <a:stretch>
              <a:fillRect l="0" t="0" r="0" b="0"/>
            </a:stretch>
          </a:blipFill>
        </p:spPr>
      </p:sp>
      <p:sp>
        <p:nvSpPr>
          <p:cNvPr name="Freeform 7" id="7"/>
          <p:cNvSpPr/>
          <p:nvPr/>
        </p:nvSpPr>
        <p:spPr>
          <a:xfrm flipH="false" flipV="false" rot="0">
            <a:off x="-317430" y="7660946"/>
            <a:ext cx="18613297" cy="3022078"/>
          </a:xfrm>
          <a:custGeom>
            <a:avLst/>
            <a:gdLst/>
            <a:ahLst/>
            <a:cxnLst/>
            <a:rect r="r" b="b" t="t" l="l"/>
            <a:pathLst>
              <a:path h="3022078" w="18613297">
                <a:moveTo>
                  <a:pt x="0" y="0"/>
                </a:moveTo>
                <a:lnTo>
                  <a:pt x="18613297" y="0"/>
                </a:lnTo>
                <a:lnTo>
                  <a:pt x="18613297" y="3022077"/>
                </a:lnTo>
                <a:lnTo>
                  <a:pt x="0" y="3022077"/>
                </a:lnTo>
                <a:lnTo>
                  <a:pt x="0" y="0"/>
                </a:lnTo>
                <a:close/>
              </a:path>
            </a:pathLst>
          </a:custGeom>
          <a:blipFill>
            <a:blip r:embed="rId5"/>
            <a:stretch>
              <a:fillRect l="-158" t="0" r="-158" b="-6838"/>
            </a:stretch>
          </a:blipFill>
        </p:spPr>
      </p:sp>
      <p:sp>
        <p:nvSpPr>
          <p:cNvPr name="Freeform 11" id="11"/>
          <p:cNvSpPr/>
          <p:nvPr/>
        </p:nvSpPr>
        <p:spPr>
          <a:xfrm flipH="false" flipV="false" rot="0">
            <a:off x="681269" y="7470446"/>
            <a:ext cx="6083710" cy="4114800"/>
          </a:xfrm>
          <a:custGeom>
            <a:avLst/>
            <a:gdLst/>
            <a:ahLst/>
            <a:cxnLst/>
            <a:rect r="r" b="b" t="t" l="l"/>
            <a:pathLst>
              <a:path h="4114800" w="6083710">
                <a:moveTo>
                  <a:pt x="0" y="0"/>
                </a:moveTo>
                <a:lnTo>
                  <a:pt x="6083709" y="0"/>
                </a:lnTo>
                <a:lnTo>
                  <a:pt x="6083709" y="4114800"/>
                </a:lnTo>
                <a:lnTo>
                  <a:pt x="0" y="4114800"/>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name="Freeform 13" id="13"/>
          <p:cNvSpPr/>
          <p:nvPr/>
        </p:nvSpPr>
        <p:spPr>
          <a:xfrm flipH="false" flipV="false" rot="0">
            <a:off x="9549673" y="7660946"/>
            <a:ext cx="6083710" cy="4114800"/>
          </a:xfrm>
          <a:custGeom>
            <a:avLst/>
            <a:gdLst/>
            <a:ahLst/>
            <a:cxnLst/>
            <a:rect r="r" b="b" t="t" l="l"/>
            <a:pathLst>
              <a:path h="4114800" w="6083710">
                <a:moveTo>
                  <a:pt x="0" y="0"/>
                </a:moveTo>
                <a:lnTo>
                  <a:pt x="6083710" y="0"/>
                </a:lnTo>
                <a:lnTo>
                  <a:pt x="6083710" y="4114800"/>
                </a:lnTo>
                <a:lnTo>
                  <a:pt x="0" y="4114800"/>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id="14" name="Panel"/>
          <p:cNvSpPr/>
          <p:nvPr/>
        </p:nvSpPr>
        <p:spPr>
          <a:xfrm>
            <a:off x="914400" y="731520"/>
            <a:ext cx="16459200" cy="6675120"/>
          </a:xfrm>
          <a:prstGeom prst="roundRect">
            <a:avLst>
              <a:gd name="adj" fmla="val 5000"/>
            </a:avLst>
          </a:prstGeom>
          <a:solidFill>
            <a:srgbClr val="0A2540">
              <a:alpha val="8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Judul"/>
          <p:cNvSpPr txBox="1"/>
          <p:nvPr/>
        </p:nvSpPr>
        <p:spPr>
          <a:xfrm>
            <a:off x="1508760" y="914400"/>
            <a:ext cx="15270480" cy="1097280"/>
          </a:xfrm>
          <a:prstGeom prst="rect">
            <a:avLst/>
          </a:prstGeom>
          <a:noFill/>
        </p:spPr>
        <p:txBody>
          <a:bodyPr wrap="square" lIns="0" rIns="0" tIns="0" bIns="0" anchor="t">
            <a:spAutoFit/>
          </a:bodyPr>
          <a:lstStyle/>
          <a:p>
            <a:pPr algn="l">
              <a:spcAft>
                <a:spcPts val="0"/>
              </a:spcAft>
            </a:pPr>
            <a:r>
              <a:rPr sz="6000">
                <a:solidFill>
                  <a:srgbClr val="F7B125"/>
                </a:solidFill>
                <a:latin typeface="Playpen Sans Bold"/>
              </a:rPr>
              <a:t>Tiga Kata, Satu Peta</a:t>
            </a:r>
          </a:p>
        </p:txBody>
      </p:sp>
      <p:sp>
        <p:nvSpPr>
          <p:cNvPr id="16" name="Kartu 1"/>
          <p:cNvSpPr/>
          <p:nvPr/>
        </p:nvSpPr>
        <p:spPr>
          <a:xfrm>
            <a:off x="1508760" y="2148840"/>
            <a:ext cx="4876800" cy="4892040"/>
          </a:xfrm>
          <a:prstGeom prst="roundRect">
            <a:avLst>
              <a:gd name="adj" fmla="val 5000"/>
            </a:avLst>
          </a:prstGeom>
          <a:solidFill>
            <a:srgbClr val="14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ag AI"/>
          <p:cNvSpPr/>
          <p:nvPr/>
        </p:nvSpPr>
        <p:spPr>
          <a:xfrm>
            <a:off x="1737360" y="2331720"/>
            <a:ext cx="4419600" cy="640080"/>
          </a:xfrm>
          <a:prstGeom prst="roundRect">
            <a:avLst>
              <a:gd name="adj" fmla="val 50000"/>
            </a:avLst>
          </a:prstGeom>
          <a:solidFill>
            <a:srgbClr val="FF8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ks tag AI"/>
          <p:cNvSpPr txBox="1"/>
          <p:nvPr/>
        </p:nvSpPr>
        <p:spPr>
          <a:xfrm>
            <a:off x="1737360" y="2395728"/>
            <a:ext cx="4419600" cy="548640"/>
          </a:xfrm>
          <a:prstGeom prst="rect">
            <a:avLst/>
          </a:prstGeom>
          <a:noFill/>
        </p:spPr>
        <p:txBody>
          <a:bodyPr wrap="square" lIns="0" rIns="0" tIns="0" bIns="0" anchor="t">
            <a:spAutoFit/>
          </a:bodyPr>
          <a:lstStyle/>
          <a:p>
            <a:pPr algn="ctr">
              <a:spcAft>
                <a:spcPts val="0"/>
              </a:spcAft>
            </a:pPr>
            <a:r>
              <a:rPr sz="2200">
                <a:solidFill>
                  <a:srgbClr val="0A2540"/>
                </a:solidFill>
                <a:latin typeface="Playpen Sans Bold"/>
              </a:rPr>
              <a:t>AI</a:t>
            </a:r>
          </a:p>
        </p:txBody>
      </p:sp>
      <p:sp>
        <p:nvSpPr>
          <p:cNvPr id="19" name="Isi kartu 1"/>
          <p:cNvSpPr txBox="1"/>
          <p:nvPr/>
        </p:nvSpPr>
        <p:spPr>
          <a:xfrm>
            <a:off x="1783080" y="3154680"/>
            <a:ext cx="4328160" cy="3749039"/>
          </a:xfrm>
          <a:prstGeom prst="rect">
            <a:avLst/>
          </a:prstGeom>
          <a:noFill/>
        </p:spPr>
        <p:txBody>
          <a:bodyPr wrap="square" lIns="0" rIns="0" tIns="0" bIns="0" anchor="t">
            <a:spAutoFit/>
          </a:bodyPr>
          <a:lstStyle/>
          <a:p>
            <a:pPr algn="l">
              <a:spcAft>
                <a:spcPts val="800"/>
              </a:spcAft>
            </a:pPr>
            <a:r>
              <a:rPr sz="2800">
                <a:solidFill>
                  <a:srgbClr val="FFFFFF"/>
                </a:solidFill>
                <a:latin typeface="Playpen Sans Bold"/>
              </a:rPr>
              <a:t>Payung besarnya</a:t>
            </a:r>
          </a:p>
          <a:p>
            <a:pPr algn="l">
              <a:spcAft>
                <a:spcPts val="1400"/>
              </a:spcAft>
            </a:pPr>
            <a:r>
              <a:rPr sz="2600">
                <a:solidFill>
                  <a:srgbClr val="FFFFFF"/>
                </a:solidFill>
                <a:latin typeface="Playpen Sans"/>
              </a:rPr>
              <a:t>Komputer mengerjakan tugas yang biasanya butuh kecerdasan.</a:t>
            </a:r>
          </a:p>
          <a:p>
            <a:pPr algn="l">
              <a:spcAft>
                <a:spcPts val="0"/>
              </a:spcAft>
            </a:pPr>
            <a:r>
              <a:rPr sz="2400">
                <a:solidFill>
                  <a:srgbClr val="F7B125"/>
                </a:solidFill>
                <a:latin typeface="Playpen Sans"/>
              </a:rPr>
              <a:t>Catur, terjemahan, mobil swakemudi</a:t>
            </a:r>
          </a:p>
        </p:txBody>
      </p:sp>
      <p:sp>
        <p:nvSpPr>
          <p:cNvPr id="20" name="Kartu 2"/>
          <p:cNvSpPr/>
          <p:nvPr/>
        </p:nvSpPr>
        <p:spPr>
          <a:xfrm>
            <a:off x="6705599" y="2148840"/>
            <a:ext cx="4876800" cy="4892040"/>
          </a:xfrm>
          <a:prstGeom prst="roundRect">
            <a:avLst>
              <a:gd name="adj" fmla="val 5000"/>
            </a:avLst>
          </a:prstGeom>
          <a:solidFill>
            <a:srgbClr val="14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ag Machine Learning"/>
          <p:cNvSpPr/>
          <p:nvPr/>
        </p:nvSpPr>
        <p:spPr>
          <a:xfrm>
            <a:off x="6934199" y="2331720"/>
            <a:ext cx="4419600" cy="640080"/>
          </a:xfrm>
          <a:prstGeom prst="roundRect">
            <a:avLst>
              <a:gd name="adj" fmla="val 50000"/>
            </a:avLst>
          </a:prstGeom>
          <a:solidFill>
            <a:srgbClr val="F7B1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ks tag Machine Learning"/>
          <p:cNvSpPr txBox="1"/>
          <p:nvPr/>
        </p:nvSpPr>
        <p:spPr>
          <a:xfrm>
            <a:off x="6934199" y="2395728"/>
            <a:ext cx="4419600" cy="548640"/>
          </a:xfrm>
          <a:prstGeom prst="rect">
            <a:avLst/>
          </a:prstGeom>
          <a:noFill/>
        </p:spPr>
        <p:txBody>
          <a:bodyPr wrap="square" lIns="0" rIns="0" tIns="0" bIns="0" anchor="t">
            <a:spAutoFit/>
          </a:bodyPr>
          <a:lstStyle/>
          <a:p>
            <a:pPr algn="ctr">
              <a:spcAft>
                <a:spcPts val="0"/>
              </a:spcAft>
            </a:pPr>
            <a:r>
              <a:rPr sz="2200">
                <a:solidFill>
                  <a:srgbClr val="0A2540"/>
                </a:solidFill>
                <a:latin typeface="Playpen Sans Bold"/>
              </a:rPr>
              <a:t>Machine Learning</a:t>
            </a:r>
          </a:p>
        </p:txBody>
      </p:sp>
      <p:sp>
        <p:nvSpPr>
          <p:cNvPr id="23" name="Isi kartu 2"/>
          <p:cNvSpPr txBox="1"/>
          <p:nvPr/>
        </p:nvSpPr>
        <p:spPr>
          <a:xfrm>
            <a:off x="6979919" y="3154680"/>
            <a:ext cx="4328160" cy="3749039"/>
          </a:xfrm>
          <a:prstGeom prst="rect">
            <a:avLst/>
          </a:prstGeom>
          <a:noFill/>
        </p:spPr>
        <p:txBody>
          <a:bodyPr wrap="square" lIns="0" rIns="0" tIns="0" bIns="0" anchor="t">
            <a:spAutoFit/>
          </a:bodyPr>
          <a:lstStyle/>
          <a:p>
            <a:pPr algn="l">
              <a:spcAft>
                <a:spcPts val="800"/>
              </a:spcAft>
            </a:pPr>
            <a:r>
              <a:rPr sz="2800">
                <a:solidFill>
                  <a:srgbClr val="FFFFFF"/>
                </a:solidFill>
                <a:latin typeface="Playpen Sans Bold"/>
              </a:rPr>
              <a:t>Bagian dari AI</a:t>
            </a:r>
          </a:p>
          <a:p>
            <a:pPr algn="l">
              <a:spcAft>
                <a:spcPts val="1400"/>
              </a:spcAft>
            </a:pPr>
            <a:r>
              <a:rPr sz="2600">
                <a:solidFill>
                  <a:srgbClr val="FFFFFF"/>
                </a:solidFill>
                <a:latin typeface="Playpen Sans"/>
              </a:rPr>
              <a:t>Aturannya dipelajari dari contoh, tidak ditulis tangan.</a:t>
            </a:r>
          </a:p>
          <a:p>
            <a:pPr algn="l">
              <a:spcAft>
                <a:spcPts val="0"/>
              </a:spcAft>
            </a:pPr>
            <a:r>
              <a:rPr sz="2400">
                <a:solidFill>
                  <a:srgbClr val="F7B125"/>
                </a:solidFill>
                <a:latin typeface="Playpen Sans"/>
              </a:rPr>
              <a:t>Filter spam, rekomendasi video, pengenal wajah</a:t>
            </a:r>
          </a:p>
        </p:txBody>
      </p:sp>
      <p:sp>
        <p:nvSpPr>
          <p:cNvPr id="24" name="Kartu 3"/>
          <p:cNvSpPr/>
          <p:nvPr/>
        </p:nvSpPr>
        <p:spPr>
          <a:xfrm>
            <a:off x="11902440" y="2148840"/>
            <a:ext cx="4876800" cy="4892040"/>
          </a:xfrm>
          <a:prstGeom prst="roundRect">
            <a:avLst>
              <a:gd name="adj" fmla="val 5000"/>
            </a:avLst>
          </a:prstGeom>
          <a:solidFill>
            <a:srgbClr val="14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ag Optimasi"/>
          <p:cNvSpPr/>
          <p:nvPr/>
        </p:nvSpPr>
        <p:spPr>
          <a:xfrm>
            <a:off x="12131040" y="2331720"/>
            <a:ext cx="4419600" cy="640080"/>
          </a:xfrm>
          <a:prstGeom prst="roundRect">
            <a:avLst>
              <a:gd name="adj" fmla="val 50000"/>
            </a:avLst>
          </a:prstGeom>
          <a:solidFill>
            <a:srgbClr val="3DD6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ks tag Optimasi"/>
          <p:cNvSpPr txBox="1"/>
          <p:nvPr/>
        </p:nvSpPr>
        <p:spPr>
          <a:xfrm>
            <a:off x="12131040" y="2395728"/>
            <a:ext cx="4419600" cy="548640"/>
          </a:xfrm>
          <a:prstGeom prst="rect">
            <a:avLst/>
          </a:prstGeom>
          <a:noFill/>
        </p:spPr>
        <p:txBody>
          <a:bodyPr wrap="square" lIns="0" rIns="0" tIns="0" bIns="0" anchor="t">
            <a:spAutoFit/>
          </a:bodyPr>
          <a:lstStyle/>
          <a:p>
            <a:pPr algn="ctr">
              <a:spcAft>
                <a:spcPts val="0"/>
              </a:spcAft>
            </a:pPr>
            <a:r>
              <a:rPr sz="2200">
                <a:solidFill>
                  <a:srgbClr val="0A2540"/>
                </a:solidFill>
                <a:latin typeface="Playpen Sans Bold"/>
              </a:rPr>
              <a:t>Optimasi</a:t>
            </a:r>
          </a:p>
        </p:txBody>
      </p:sp>
      <p:sp>
        <p:nvSpPr>
          <p:cNvPr id="27" name="Isi kartu 3"/>
          <p:cNvSpPr txBox="1"/>
          <p:nvPr/>
        </p:nvSpPr>
        <p:spPr>
          <a:xfrm>
            <a:off x="12176760" y="3154680"/>
            <a:ext cx="4328160" cy="3749039"/>
          </a:xfrm>
          <a:prstGeom prst="rect">
            <a:avLst/>
          </a:prstGeom>
          <a:noFill/>
        </p:spPr>
        <p:txBody>
          <a:bodyPr wrap="square" lIns="0" rIns="0" tIns="0" bIns="0" anchor="t">
            <a:spAutoFit/>
          </a:bodyPr>
          <a:lstStyle/>
          <a:p>
            <a:pPr algn="l">
              <a:spcAft>
                <a:spcPts val="800"/>
              </a:spcAft>
            </a:pPr>
            <a:r>
              <a:rPr sz="2800">
                <a:solidFill>
                  <a:srgbClr val="FFFFFF"/>
                </a:solidFill>
                <a:latin typeface="Playpen Sans Bold"/>
              </a:rPr>
              <a:t>Mesin di balik keduanya</a:t>
            </a:r>
          </a:p>
          <a:p>
            <a:pPr algn="l">
              <a:spcAft>
                <a:spcPts val="1400"/>
              </a:spcAft>
            </a:pPr>
            <a:r>
              <a:rPr sz="2600">
                <a:solidFill>
                  <a:srgbClr val="FFFFFF"/>
                </a:solidFill>
                <a:latin typeface="Playpen Sans"/>
              </a:rPr>
              <a:t>Mencari pilihan terbaik dari sangat banyak kemungkinan.</a:t>
            </a:r>
          </a:p>
          <a:p>
            <a:pPr algn="l">
              <a:spcAft>
                <a:spcPts val="0"/>
              </a:spcAft>
            </a:pPr>
            <a:r>
              <a:rPr sz="2400">
                <a:solidFill>
                  <a:srgbClr val="F7B125"/>
                </a:solidFill>
                <a:latin typeface="Playpen Sans"/>
              </a:rPr>
              <a:t>Rute pengiriman, jadwal kuliah, melatih model</a:t>
            </a:r>
          </a:p>
        </p:txBody>
      </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67928" r="0" b="-67928"/>
            </a:stretch>
          </a:blipFill>
        </p:spPr>
      </p:sp>
      <p:sp>
        <p:nvSpPr>
          <p:cNvPr name="Freeform 3" id="3"/>
          <p:cNvSpPr/>
          <p:nvPr/>
        </p:nvSpPr>
        <p:spPr>
          <a:xfrm flipH="false" flipV="false" rot="0">
            <a:off x="12533569" y="-21055"/>
            <a:ext cx="5762298" cy="6532600"/>
          </a:xfrm>
          <a:custGeom>
            <a:avLst/>
            <a:gdLst/>
            <a:ahLst/>
            <a:cxnLst/>
            <a:rect r="r" b="b" t="t" l="l"/>
            <a:pathLst>
              <a:path h="6532600" w="5762298">
                <a:moveTo>
                  <a:pt x="0" y="0"/>
                </a:moveTo>
                <a:lnTo>
                  <a:pt x="5762298" y="0"/>
                </a:lnTo>
                <a:lnTo>
                  <a:pt x="5762298" y="6532600"/>
                </a:lnTo>
                <a:lnTo>
                  <a:pt x="0" y="6532600"/>
                </a:lnTo>
                <a:lnTo>
                  <a:pt x="0" y="0"/>
                </a:lnTo>
                <a:close/>
              </a:path>
            </a:pathLst>
          </a:custGeom>
          <a:blipFill>
            <a:blip r:embed="rId3"/>
            <a:stretch>
              <a:fillRect l="0" t="0" r="0" b="0"/>
            </a:stretch>
          </a:blipFill>
        </p:spPr>
      </p:sp>
      <p:sp>
        <p:nvSpPr>
          <p:cNvPr name="Freeform 4" id="4"/>
          <p:cNvSpPr/>
          <p:nvPr/>
        </p:nvSpPr>
        <p:spPr>
          <a:xfrm flipH="false" flipV="false" rot="0">
            <a:off x="12978766" y="2004481"/>
            <a:ext cx="5309234" cy="5465964"/>
          </a:xfrm>
          <a:custGeom>
            <a:avLst/>
            <a:gdLst/>
            <a:ahLst/>
            <a:cxnLst/>
            <a:rect r="r" b="b" t="t" l="l"/>
            <a:pathLst>
              <a:path h="5465964" w="5309234">
                <a:moveTo>
                  <a:pt x="0" y="0"/>
                </a:moveTo>
                <a:lnTo>
                  <a:pt x="5309234" y="0"/>
                </a:lnTo>
                <a:lnTo>
                  <a:pt x="5309234" y="5465965"/>
                </a:lnTo>
                <a:lnTo>
                  <a:pt x="0" y="5465965"/>
                </a:lnTo>
                <a:lnTo>
                  <a:pt x="0" y="0"/>
                </a:lnTo>
                <a:close/>
              </a:path>
            </a:pathLst>
          </a:custGeom>
          <a:blipFill>
            <a:blip r:embed="rId4"/>
            <a:stretch>
              <a:fillRect l="0" t="0" r="0" b="0"/>
            </a:stretch>
          </a:blipFill>
        </p:spPr>
      </p:sp>
      <p:sp>
        <p:nvSpPr>
          <p:cNvPr name="Freeform 5" id="5"/>
          <p:cNvSpPr/>
          <p:nvPr/>
        </p:nvSpPr>
        <p:spPr>
          <a:xfrm flipH="true" flipV="false" rot="0">
            <a:off x="-29416" y="0"/>
            <a:ext cx="5762298" cy="6532600"/>
          </a:xfrm>
          <a:custGeom>
            <a:avLst/>
            <a:gdLst/>
            <a:ahLst/>
            <a:cxnLst/>
            <a:rect r="r" b="b" t="t" l="l"/>
            <a:pathLst>
              <a:path h="6532600" w="5762298">
                <a:moveTo>
                  <a:pt x="5762298" y="0"/>
                </a:moveTo>
                <a:lnTo>
                  <a:pt x="0" y="0"/>
                </a:lnTo>
                <a:lnTo>
                  <a:pt x="0" y="6532600"/>
                </a:lnTo>
                <a:lnTo>
                  <a:pt x="5762298" y="6532600"/>
                </a:lnTo>
                <a:lnTo>
                  <a:pt x="5762298" y="0"/>
                </a:lnTo>
                <a:close/>
              </a:path>
            </a:pathLst>
          </a:custGeom>
          <a:blipFill>
            <a:blip r:embed="rId3"/>
            <a:stretch>
              <a:fillRect l="0" t="0" r="0" b="0"/>
            </a:stretch>
          </a:blipFill>
        </p:spPr>
      </p:sp>
      <p:sp>
        <p:nvSpPr>
          <p:cNvPr name="Freeform 6" id="6"/>
          <p:cNvSpPr/>
          <p:nvPr/>
        </p:nvSpPr>
        <p:spPr>
          <a:xfrm flipH="false" flipV="false" rot="0">
            <a:off x="423648" y="2410518"/>
            <a:ext cx="5309234" cy="5465964"/>
          </a:xfrm>
          <a:custGeom>
            <a:avLst/>
            <a:gdLst/>
            <a:ahLst/>
            <a:cxnLst/>
            <a:rect r="r" b="b" t="t" l="l"/>
            <a:pathLst>
              <a:path h="5465964" w="5309234">
                <a:moveTo>
                  <a:pt x="0" y="0"/>
                </a:moveTo>
                <a:lnTo>
                  <a:pt x="5309234" y="0"/>
                </a:lnTo>
                <a:lnTo>
                  <a:pt x="5309234" y="5465964"/>
                </a:lnTo>
                <a:lnTo>
                  <a:pt x="0" y="5465964"/>
                </a:lnTo>
                <a:lnTo>
                  <a:pt x="0" y="0"/>
                </a:lnTo>
                <a:close/>
              </a:path>
            </a:pathLst>
          </a:custGeom>
          <a:blipFill>
            <a:blip r:embed="rId4"/>
            <a:stretch>
              <a:fillRect l="0" t="0" r="0" b="0"/>
            </a:stretch>
          </a:blipFill>
        </p:spPr>
      </p:sp>
      <p:sp>
        <p:nvSpPr>
          <p:cNvPr name="Freeform 7" id="7"/>
          <p:cNvSpPr/>
          <p:nvPr/>
        </p:nvSpPr>
        <p:spPr>
          <a:xfrm flipH="false" flipV="false" rot="0">
            <a:off x="-317430" y="7660946"/>
            <a:ext cx="18613297" cy="3022078"/>
          </a:xfrm>
          <a:custGeom>
            <a:avLst/>
            <a:gdLst/>
            <a:ahLst/>
            <a:cxnLst/>
            <a:rect r="r" b="b" t="t" l="l"/>
            <a:pathLst>
              <a:path h="3022078" w="18613297">
                <a:moveTo>
                  <a:pt x="0" y="0"/>
                </a:moveTo>
                <a:lnTo>
                  <a:pt x="18613297" y="0"/>
                </a:lnTo>
                <a:lnTo>
                  <a:pt x="18613297" y="3022077"/>
                </a:lnTo>
                <a:lnTo>
                  <a:pt x="0" y="3022077"/>
                </a:lnTo>
                <a:lnTo>
                  <a:pt x="0" y="0"/>
                </a:lnTo>
                <a:close/>
              </a:path>
            </a:pathLst>
          </a:custGeom>
          <a:blipFill>
            <a:blip r:embed="rId5"/>
            <a:stretch>
              <a:fillRect l="-158" t="0" r="-158" b="-6838"/>
            </a:stretch>
          </a:blipFill>
        </p:spPr>
      </p:sp>
      <p:sp>
        <p:nvSpPr>
          <p:cNvPr name="Freeform 11" id="11"/>
          <p:cNvSpPr/>
          <p:nvPr/>
        </p:nvSpPr>
        <p:spPr>
          <a:xfrm flipH="false" flipV="false" rot="0">
            <a:off x="681269" y="7470446"/>
            <a:ext cx="6083710" cy="4114800"/>
          </a:xfrm>
          <a:custGeom>
            <a:avLst/>
            <a:gdLst/>
            <a:ahLst/>
            <a:cxnLst/>
            <a:rect r="r" b="b" t="t" l="l"/>
            <a:pathLst>
              <a:path h="4114800" w="6083710">
                <a:moveTo>
                  <a:pt x="0" y="0"/>
                </a:moveTo>
                <a:lnTo>
                  <a:pt x="6083709" y="0"/>
                </a:lnTo>
                <a:lnTo>
                  <a:pt x="6083709" y="4114800"/>
                </a:lnTo>
                <a:lnTo>
                  <a:pt x="0" y="4114800"/>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name="Freeform 13" id="13"/>
          <p:cNvSpPr/>
          <p:nvPr/>
        </p:nvSpPr>
        <p:spPr>
          <a:xfrm flipH="false" flipV="false" rot="0">
            <a:off x="9549673" y="7660946"/>
            <a:ext cx="6083710" cy="4114800"/>
          </a:xfrm>
          <a:custGeom>
            <a:avLst/>
            <a:gdLst/>
            <a:ahLst/>
            <a:cxnLst/>
            <a:rect r="r" b="b" t="t" l="l"/>
            <a:pathLst>
              <a:path h="4114800" w="6083710">
                <a:moveTo>
                  <a:pt x="0" y="0"/>
                </a:moveTo>
                <a:lnTo>
                  <a:pt x="6083710" y="0"/>
                </a:lnTo>
                <a:lnTo>
                  <a:pt x="6083710" y="4114800"/>
                </a:lnTo>
                <a:lnTo>
                  <a:pt x="0" y="4114800"/>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id="14" name="Panel"/>
          <p:cNvSpPr/>
          <p:nvPr/>
        </p:nvSpPr>
        <p:spPr>
          <a:xfrm>
            <a:off x="914400" y="731520"/>
            <a:ext cx="16459200" cy="6675120"/>
          </a:xfrm>
          <a:prstGeom prst="roundRect">
            <a:avLst>
              <a:gd name="adj" fmla="val 5000"/>
            </a:avLst>
          </a:prstGeom>
          <a:solidFill>
            <a:srgbClr val="0A2540">
              <a:alpha val="8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Judul"/>
          <p:cNvSpPr txBox="1"/>
          <p:nvPr/>
        </p:nvSpPr>
        <p:spPr>
          <a:xfrm>
            <a:off x="1508760" y="914400"/>
            <a:ext cx="15270480" cy="1097280"/>
          </a:xfrm>
          <a:prstGeom prst="rect">
            <a:avLst/>
          </a:prstGeom>
          <a:noFill/>
        </p:spPr>
        <p:txBody>
          <a:bodyPr wrap="square" lIns="0" rIns="0" tIns="0" bIns="0" anchor="t">
            <a:spAutoFit/>
          </a:bodyPr>
          <a:lstStyle/>
          <a:p>
            <a:pPr algn="l">
              <a:spcAft>
                <a:spcPts val="0"/>
              </a:spcAft>
            </a:pPr>
            <a:r>
              <a:rPr sz="5600">
                <a:solidFill>
                  <a:srgbClr val="F7B125"/>
                </a:solidFill>
                <a:latin typeface="Playpen Sans Bold"/>
              </a:rPr>
              <a:t>Menulis Aturan atau Belajar Aturan</a:t>
            </a:r>
          </a:p>
        </p:txBody>
      </p:sp>
      <p:sp>
        <p:nvSpPr>
          <p:cNvPr id="16" name="Label alur"/>
          <p:cNvSpPr txBox="1"/>
          <p:nvPr/>
        </p:nvSpPr>
        <p:spPr>
          <a:xfrm>
            <a:off x="1508760" y="2286000"/>
            <a:ext cx="3291840" cy="914400"/>
          </a:xfrm>
          <a:prstGeom prst="rect">
            <a:avLst/>
          </a:prstGeom>
          <a:noFill/>
        </p:spPr>
        <p:txBody>
          <a:bodyPr wrap="square" lIns="0" rIns="0" tIns="0" bIns="0" anchor="ctr">
            <a:spAutoFit/>
          </a:bodyPr>
          <a:lstStyle/>
          <a:p>
            <a:pPr algn="l">
              <a:spcAft>
                <a:spcPts val="0"/>
              </a:spcAft>
            </a:pPr>
            <a:r>
              <a:rPr sz="2800">
                <a:solidFill>
                  <a:srgbClr val="FFFFFF"/>
                </a:solidFill>
                <a:latin typeface="Playpen Sans Bold"/>
              </a:rPr>
              <a:t>Program biasa</a:t>
            </a:r>
          </a:p>
        </p:txBody>
      </p:sp>
      <p:sp>
        <p:nvSpPr>
          <p:cNvPr id="17" name="Masukan"/>
          <p:cNvSpPr/>
          <p:nvPr/>
        </p:nvSpPr>
        <p:spPr>
          <a:xfrm>
            <a:off x="4983479" y="2194560"/>
            <a:ext cx="3017520" cy="1097280"/>
          </a:xfrm>
          <a:prstGeom prst="roundRect">
            <a:avLst>
              <a:gd name="adj" fmla="val 15000"/>
            </a:avLst>
          </a:prstGeom>
          <a:solidFill>
            <a:srgbClr val="14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ks masukan"/>
          <p:cNvSpPr txBox="1"/>
          <p:nvPr/>
        </p:nvSpPr>
        <p:spPr>
          <a:xfrm>
            <a:off x="4983479" y="2286000"/>
            <a:ext cx="3017520" cy="914400"/>
          </a:xfrm>
          <a:prstGeom prst="rect">
            <a:avLst/>
          </a:prstGeom>
          <a:noFill/>
        </p:spPr>
        <p:txBody>
          <a:bodyPr wrap="square" lIns="0" rIns="0" tIns="0" bIns="0" anchor="ctr">
            <a:spAutoFit/>
          </a:bodyPr>
          <a:lstStyle/>
          <a:p>
            <a:pPr algn="ctr">
              <a:spcAft>
                <a:spcPts val="0"/>
              </a:spcAft>
            </a:pPr>
            <a:r>
              <a:rPr sz="2800">
                <a:solidFill>
                  <a:srgbClr val="FFFFFF"/>
                </a:solidFill>
                <a:latin typeface="Playpen Sans Bold"/>
              </a:rPr>
              <a:t>Aturan</a:t>
            </a:r>
          </a:p>
        </p:txBody>
      </p:sp>
      <p:sp>
        <p:nvSpPr>
          <p:cNvPr id="19" name="Masukan"/>
          <p:cNvSpPr/>
          <p:nvPr/>
        </p:nvSpPr>
        <p:spPr>
          <a:xfrm>
            <a:off x="8275319" y="2194560"/>
            <a:ext cx="3017520" cy="1097280"/>
          </a:xfrm>
          <a:prstGeom prst="roundRect">
            <a:avLst>
              <a:gd name="adj" fmla="val 15000"/>
            </a:avLst>
          </a:prstGeom>
          <a:solidFill>
            <a:srgbClr val="14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ks masukan"/>
          <p:cNvSpPr txBox="1"/>
          <p:nvPr/>
        </p:nvSpPr>
        <p:spPr>
          <a:xfrm>
            <a:off x="8275319" y="2286000"/>
            <a:ext cx="3017520" cy="914400"/>
          </a:xfrm>
          <a:prstGeom prst="rect">
            <a:avLst/>
          </a:prstGeom>
          <a:noFill/>
        </p:spPr>
        <p:txBody>
          <a:bodyPr wrap="square" lIns="0" rIns="0" tIns="0" bIns="0" anchor="ctr">
            <a:spAutoFit/>
          </a:bodyPr>
          <a:lstStyle/>
          <a:p>
            <a:pPr algn="ctr">
              <a:spcAft>
                <a:spcPts val="0"/>
              </a:spcAft>
            </a:pPr>
            <a:r>
              <a:rPr sz="2800">
                <a:solidFill>
                  <a:srgbClr val="FFFFFF"/>
                </a:solidFill>
                <a:latin typeface="Playpen Sans Bold"/>
              </a:rPr>
              <a:t>Data</a:t>
            </a:r>
          </a:p>
        </p:txBody>
      </p:sp>
      <p:sp>
        <p:nvSpPr>
          <p:cNvPr id="21" name="Panah"/>
          <p:cNvSpPr/>
          <p:nvPr/>
        </p:nvSpPr>
        <p:spPr>
          <a:xfrm>
            <a:off x="11658600" y="2423160"/>
            <a:ext cx="1097280" cy="640080"/>
          </a:xfrm>
          <a:prstGeom prst="rightArrow">
            <a:avLst/>
          </a:prstGeom>
          <a:solidFill>
            <a:srgbClr val="F7B1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Keluaran"/>
          <p:cNvSpPr/>
          <p:nvPr/>
        </p:nvSpPr>
        <p:spPr>
          <a:xfrm>
            <a:off x="13030200" y="2194560"/>
            <a:ext cx="3749039" cy="1097280"/>
          </a:xfrm>
          <a:prstGeom prst="roundRect">
            <a:avLst>
              <a:gd name="adj" fmla="val 1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ks keluaran"/>
          <p:cNvSpPr txBox="1"/>
          <p:nvPr/>
        </p:nvSpPr>
        <p:spPr>
          <a:xfrm>
            <a:off x="13030200" y="2286000"/>
            <a:ext cx="3749039" cy="914400"/>
          </a:xfrm>
          <a:prstGeom prst="rect">
            <a:avLst/>
          </a:prstGeom>
          <a:noFill/>
        </p:spPr>
        <p:txBody>
          <a:bodyPr wrap="square" lIns="0" rIns="0" tIns="0" bIns="0" anchor="ctr">
            <a:spAutoFit/>
          </a:bodyPr>
          <a:lstStyle/>
          <a:p>
            <a:pPr algn="ctr">
              <a:spcAft>
                <a:spcPts val="0"/>
              </a:spcAft>
            </a:pPr>
            <a:r>
              <a:rPr sz="3000">
                <a:solidFill>
                  <a:srgbClr val="0A2540"/>
                </a:solidFill>
                <a:latin typeface="Playpen Sans Bold"/>
              </a:rPr>
              <a:t>Jawaban</a:t>
            </a:r>
          </a:p>
        </p:txBody>
      </p:sp>
      <p:sp>
        <p:nvSpPr>
          <p:cNvPr id="24" name="Label alur"/>
          <p:cNvSpPr txBox="1"/>
          <p:nvPr/>
        </p:nvSpPr>
        <p:spPr>
          <a:xfrm>
            <a:off x="1508760" y="3703320"/>
            <a:ext cx="3291840" cy="914400"/>
          </a:xfrm>
          <a:prstGeom prst="rect">
            <a:avLst/>
          </a:prstGeom>
          <a:noFill/>
        </p:spPr>
        <p:txBody>
          <a:bodyPr wrap="square" lIns="0" rIns="0" tIns="0" bIns="0" anchor="ctr">
            <a:spAutoFit/>
          </a:bodyPr>
          <a:lstStyle/>
          <a:p>
            <a:pPr algn="l">
              <a:spcAft>
                <a:spcPts val="0"/>
              </a:spcAft>
            </a:pPr>
            <a:r>
              <a:rPr sz="2800">
                <a:solidFill>
                  <a:srgbClr val="F7B125"/>
                </a:solidFill>
                <a:latin typeface="Playpen Sans Bold"/>
              </a:rPr>
              <a:t>Machine learning</a:t>
            </a:r>
          </a:p>
        </p:txBody>
      </p:sp>
      <p:sp>
        <p:nvSpPr>
          <p:cNvPr id="25" name="Masukan"/>
          <p:cNvSpPr/>
          <p:nvPr/>
        </p:nvSpPr>
        <p:spPr>
          <a:xfrm>
            <a:off x="4983479" y="3611880"/>
            <a:ext cx="3017520" cy="1097280"/>
          </a:xfrm>
          <a:prstGeom prst="roundRect">
            <a:avLst>
              <a:gd name="adj" fmla="val 15000"/>
            </a:avLst>
          </a:prstGeom>
          <a:solidFill>
            <a:srgbClr val="14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ks masukan"/>
          <p:cNvSpPr txBox="1"/>
          <p:nvPr/>
        </p:nvSpPr>
        <p:spPr>
          <a:xfrm>
            <a:off x="4983479" y="3703320"/>
            <a:ext cx="3017520" cy="914400"/>
          </a:xfrm>
          <a:prstGeom prst="rect">
            <a:avLst/>
          </a:prstGeom>
          <a:noFill/>
        </p:spPr>
        <p:txBody>
          <a:bodyPr wrap="square" lIns="0" rIns="0" tIns="0" bIns="0" anchor="ctr">
            <a:spAutoFit/>
          </a:bodyPr>
          <a:lstStyle/>
          <a:p>
            <a:pPr algn="ctr">
              <a:spcAft>
                <a:spcPts val="0"/>
              </a:spcAft>
            </a:pPr>
            <a:r>
              <a:rPr sz="2800">
                <a:solidFill>
                  <a:srgbClr val="FFFFFF"/>
                </a:solidFill>
                <a:latin typeface="Playpen Sans Bold"/>
              </a:rPr>
              <a:t>Data</a:t>
            </a:r>
          </a:p>
        </p:txBody>
      </p:sp>
      <p:sp>
        <p:nvSpPr>
          <p:cNvPr id="27" name="Masukan"/>
          <p:cNvSpPr/>
          <p:nvPr/>
        </p:nvSpPr>
        <p:spPr>
          <a:xfrm>
            <a:off x="8275319" y="3611880"/>
            <a:ext cx="3017520" cy="1097280"/>
          </a:xfrm>
          <a:prstGeom prst="roundRect">
            <a:avLst>
              <a:gd name="adj" fmla="val 15000"/>
            </a:avLst>
          </a:prstGeom>
          <a:solidFill>
            <a:srgbClr val="14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ks masukan"/>
          <p:cNvSpPr txBox="1"/>
          <p:nvPr/>
        </p:nvSpPr>
        <p:spPr>
          <a:xfrm>
            <a:off x="8275319" y="3703320"/>
            <a:ext cx="3017520" cy="914400"/>
          </a:xfrm>
          <a:prstGeom prst="rect">
            <a:avLst/>
          </a:prstGeom>
          <a:noFill/>
        </p:spPr>
        <p:txBody>
          <a:bodyPr wrap="square" lIns="0" rIns="0" tIns="0" bIns="0" anchor="ctr">
            <a:spAutoFit/>
          </a:bodyPr>
          <a:lstStyle/>
          <a:p>
            <a:pPr algn="ctr">
              <a:spcAft>
                <a:spcPts val="0"/>
              </a:spcAft>
            </a:pPr>
            <a:r>
              <a:rPr sz="2800">
                <a:solidFill>
                  <a:srgbClr val="FFFFFF"/>
                </a:solidFill>
                <a:latin typeface="Playpen Sans Bold"/>
              </a:rPr>
              <a:t>Jawaban</a:t>
            </a:r>
          </a:p>
        </p:txBody>
      </p:sp>
      <p:sp>
        <p:nvSpPr>
          <p:cNvPr id="29" name="Panah"/>
          <p:cNvSpPr/>
          <p:nvPr/>
        </p:nvSpPr>
        <p:spPr>
          <a:xfrm>
            <a:off x="11658600" y="3840480"/>
            <a:ext cx="1097280" cy="640080"/>
          </a:xfrm>
          <a:prstGeom prst="rightArrow">
            <a:avLst/>
          </a:prstGeom>
          <a:solidFill>
            <a:srgbClr val="F7B1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Keluaran"/>
          <p:cNvSpPr/>
          <p:nvPr/>
        </p:nvSpPr>
        <p:spPr>
          <a:xfrm>
            <a:off x="13030200" y="3611880"/>
            <a:ext cx="3749039" cy="1097280"/>
          </a:xfrm>
          <a:prstGeom prst="roundRect">
            <a:avLst>
              <a:gd name="adj" fmla="val 15000"/>
            </a:avLst>
          </a:prstGeom>
          <a:solidFill>
            <a:srgbClr val="F7B1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ks keluaran"/>
          <p:cNvSpPr txBox="1"/>
          <p:nvPr/>
        </p:nvSpPr>
        <p:spPr>
          <a:xfrm>
            <a:off x="13030200" y="3703320"/>
            <a:ext cx="3749039" cy="914400"/>
          </a:xfrm>
          <a:prstGeom prst="rect">
            <a:avLst/>
          </a:prstGeom>
          <a:noFill/>
        </p:spPr>
        <p:txBody>
          <a:bodyPr wrap="square" lIns="0" rIns="0" tIns="0" bIns="0" anchor="ctr">
            <a:spAutoFit/>
          </a:bodyPr>
          <a:lstStyle/>
          <a:p>
            <a:pPr algn="ctr">
              <a:spcAft>
                <a:spcPts val="0"/>
              </a:spcAft>
            </a:pPr>
            <a:r>
              <a:rPr sz="3000">
                <a:solidFill>
                  <a:srgbClr val="0A2540"/>
                </a:solidFill>
                <a:latin typeface="Playpen Sans Bold"/>
              </a:rPr>
              <a:t>Aturan</a:t>
            </a:r>
          </a:p>
        </p:txBody>
      </p:sp>
      <p:sp>
        <p:nvSpPr>
          <p:cNvPr id="32" name="Contoh Go"/>
          <p:cNvSpPr txBox="1"/>
          <p:nvPr/>
        </p:nvSpPr>
        <p:spPr>
          <a:xfrm>
            <a:off x="1508760" y="5166360"/>
            <a:ext cx="15270480" cy="2103120"/>
          </a:xfrm>
          <a:prstGeom prst="rect">
            <a:avLst/>
          </a:prstGeom>
          <a:noFill/>
        </p:spPr>
        <p:txBody>
          <a:bodyPr wrap="square" lIns="0" rIns="0" tIns="0" bIns="0" anchor="t">
            <a:spAutoFit/>
          </a:bodyPr>
          <a:lstStyle/>
          <a:p>
            <a:pPr algn="l" marL="502920" indent="-502920">
              <a:spcAft>
                <a:spcPts val="800"/>
              </a:spcAft>
              <a:buClr>
                <a:srgbClr val="F7B125"/>
              </a:buClr>
              <a:buFont typeface="Arial"/>
              <a:buChar char="•"/>
            </a:pPr>
            <a:r>
              <a:rPr sz="2600">
                <a:solidFill>
                  <a:srgbClr val="FFFFFF"/>
                </a:solidFill>
                <a:latin typeface="Playpen Sans"/>
              </a:rPr>
              <a:t>Di Go kamu menulis: if jarak &gt; 5 { tarif += ... }</a:t>
            </a:r>
          </a:p>
          <a:p>
            <a:pPr algn="l" marL="502920" indent="-502920">
              <a:spcAft>
                <a:spcPts val="0"/>
              </a:spcAft>
              <a:buClr>
                <a:srgbClr val="F7B125"/>
              </a:buClr>
              <a:buFont typeface="Arial"/>
              <a:buChar char="•"/>
            </a:pPr>
            <a:r>
              <a:rPr sz="2600">
                <a:solidFill>
                  <a:srgbClr val="FFFFFF"/>
                </a:solidFill>
                <a:latin typeface="Playpen Sans"/>
              </a:rPr>
              <a:t>Di ML kamu memberi ribuan contoh perjalanan, lalu komputer mencari sendiri rumus tarifnya</a:t>
            </a:r>
          </a:p>
        </p:txBody>
      </p:sp>
    </p:spTree>
  </p:cSld>
  <p:clrMapOvr>
    <a:masterClrMapping/>
  </p:clrMapOvr>
</p:sld>
</file>

<file path=ppt/slides/slide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67928" r="0" b="-67928"/>
            </a:stretch>
          </a:blipFill>
        </p:spPr>
      </p:sp>
      <p:sp>
        <p:nvSpPr>
          <p:cNvPr name="Freeform 3" id="3"/>
          <p:cNvSpPr/>
          <p:nvPr/>
        </p:nvSpPr>
        <p:spPr>
          <a:xfrm flipH="false" flipV="false" rot="0">
            <a:off x="12533569" y="-21055"/>
            <a:ext cx="5762298" cy="6532600"/>
          </a:xfrm>
          <a:custGeom>
            <a:avLst/>
            <a:gdLst/>
            <a:ahLst/>
            <a:cxnLst/>
            <a:rect r="r" b="b" t="t" l="l"/>
            <a:pathLst>
              <a:path h="6532600" w="5762298">
                <a:moveTo>
                  <a:pt x="0" y="0"/>
                </a:moveTo>
                <a:lnTo>
                  <a:pt x="5762298" y="0"/>
                </a:lnTo>
                <a:lnTo>
                  <a:pt x="5762298" y="6532600"/>
                </a:lnTo>
                <a:lnTo>
                  <a:pt x="0" y="6532600"/>
                </a:lnTo>
                <a:lnTo>
                  <a:pt x="0" y="0"/>
                </a:lnTo>
                <a:close/>
              </a:path>
            </a:pathLst>
          </a:custGeom>
          <a:blipFill>
            <a:blip r:embed="rId3"/>
            <a:stretch>
              <a:fillRect l="0" t="0" r="0" b="0"/>
            </a:stretch>
          </a:blipFill>
        </p:spPr>
      </p:sp>
      <p:sp>
        <p:nvSpPr>
          <p:cNvPr name="Freeform 4" id="4"/>
          <p:cNvSpPr/>
          <p:nvPr/>
        </p:nvSpPr>
        <p:spPr>
          <a:xfrm flipH="false" flipV="false" rot="0">
            <a:off x="12978766" y="2004481"/>
            <a:ext cx="5309234" cy="5465964"/>
          </a:xfrm>
          <a:custGeom>
            <a:avLst/>
            <a:gdLst/>
            <a:ahLst/>
            <a:cxnLst/>
            <a:rect r="r" b="b" t="t" l="l"/>
            <a:pathLst>
              <a:path h="5465964" w="5309234">
                <a:moveTo>
                  <a:pt x="0" y="0"/>
                </a:moveTo>
                <a:lnTo>
                  <a:pt x="5309234" y="0"/>
                </a:lnTo>
                <a:lnTo>
                  <a:pt x="5309234" y="5465965"/>
                </a:lnTo>
                <a:lnTo>
                  <a:pt x="0" y="5465965"/>
                </a:lnTo>
                <a:lnTo>
                  <a:pt x="0" y="0"/>
                </a:lnTo>
                <a:close/>
              </a:path>
            </a:pathLst>
          </a:custGeom>
          <a:blipFill>
            <a:blip r:embed="rId4"/>
            <a:stretch>
              <a:fillRect l="0" t="0" r="0" b="0"/>
            </a:stretch>
          </a:blipFill>
        </p:spPr>
      </p:sp>
      <p:sp>
        <p:nvSpPr>
          <p:cNvPr name="Freeform 5" id="5"/>
          <p:cNvSpPr/>
          <p:nvPr/>
        </p:nvSpPr>
        <p:spPr>
          <a:xfrm flipH="true" flipV="false" rot="0">
            <a:off x="-29416" y="0"/>
            <a:ext cx="5762298" cy="6532600"/>
          </a:xfrm>
          <a:custGeom>
            <a:avLst/>
            <a:gdLst/>
            <a:ahLst/>
            <a:cxnLst/>
            <a:rect r="r" b="b" t="t" l="l"/>
            <a:pathLst>
              <a:path h="6532600" w="5762298">
                <a:moveTo>
                  <a:pt x="5762298" y="0"/>
                </a:moveTo>
                <a:lnTo>
                  <a:pt x="0" y="0"/>
                </a:lnTo>
                <a:lnTo>
                  <a:pt x="0" y="6532600"/>
                </a:lnTo>
                <a:lnTo>
                  <a:pt x="5762298" y="6532600"/>
                </a:lnTo>
                <a:lnTo>
                  <a:pt x="5762298" y="0"/>
                </a:lnTo>
                <a:close/>
              </a:path>
            </a:pathLst>
          </a:custGeom>
          <a:blipFill>
            <a:blip r:embed="rId3"/>
            <a:stretch>
              <a:fillRect l="0" t="0" r="0" b="0"/>
            </a:stretch>
          </a:blipFill>
        </p:spPr>
      </p:sp>
      <p:sp>
        <p:nvSpPr>
          <p:cNvPr name="Freeform 6" id="6"/>
          <p:cNvSpPr/>
          <p:nvPr/>
        </p:nvSpPr>
        <p:spPr>
          <a:xfrm flipH="false" flipV="false" rot="0">
            <a:off x="423648" y="2410518"/>
            <a:ext cx="5309234" cy="5465964"/>
          </a:xfrm>
          <a:custGeom>
            <a:avLst/>
            <a:gdLst/>
            <a:ahLst/>
            <a:cxnLst/>
            <a:rect r="r" b="b" t="t" l="l"/>
            <a:pathLst>
              <a:path h="5465964" w="5309234">
                <a:moveTo>
                  <a:pt x="0" y="0"/>
                </a:moveTo>
                <a:lnTo>
                  <a:pt x="5309234" y="0"/>
                </a:lnTo>
                <a:lnTo>
                  <a:pt x="5309234" y="5465964"/>
                </a:lnTo>
                <a:lnTo>
                  <a:pt x="0" y="5465964"/>
                </a:lnTo>
                <a:lnTo>
                  <a:pt x="0" y="0"/>
                </a:lnTo>
                <a:close/>
              </a:path>
            </a:pathLst>
          </a:custGeom>
          <a:blipFill>
            <a:blip r:embed="rId4"/>
            <a:stretch>
              <a:fillRect l="0" t="0" r="0" b="0"/>
            </a:stretch>
          </a:blipFill>
        </p:spPr>
      </p:sp>
      <p:sp>
        <p:nvSpPr>
          <p:cNvPr name="Freeform 7" id="7"/>
          <p:cNvSpPr/>
          <p:nvPr/>
        </p:nvSpPr>
        <p:spPr>
          <a:xfrm flipH="false" flipV="false" rot="0">
            <a:off x="-317430" y="7660946"/>
            <a:ext cx="18613297" cy="3022078"/>
          </a:xfrm>
          <a:custGeom>
            <a:avLst/>
            <a:gdLst/>
            <a:ahLst/>
            <a:cxnLst/>
            <a:rect r="r" b="b" t="t" l="l"/>
            <a:pathLst>
              <a:path h="3022078" w="18613297">
                <a:moveTo>
                  <a:pt x="0" y="0"/>
                </a:moveTo>
                <a:lnTo>
                  <a:pt x="18613297" y="0"/>
                </a:lnTo>
                <a:lnTo>
                  <a:pt x="18613297" y="3022077"/>
                </a:lnTo>
                <a:lnTo>
                  <a:pt x="0" y="3022077"/>
                </a:lnTo>
                <a:lnTo>
                  <a:pt x="0" y="0"/>
                </a:lnTo>
                <a:close/>
              </a:path>
            </a:pathLst>
          </a:custGeom>
          <a:blipFill>
            <a:blip r:embed="rId5"/>
            <a:stretch>
              <a:fillRect l="-158" t="0" r="-158" b="-6838"/>
            </a:stretch>
          </a:blipFill>
        </p:spPr>
      </p:sp>
      <p:sp>
        <p:nvSpPr>
          <p:cNvPr name="Freeform 11" id="11"/>
          <p:cNvSpPr/>
          <p:nvPr/>
        </p:nvSpPr>
        <p:spPr>
          <a:xfrm flipH="false" flipV="false" rot="0">
            <a:off x="681269" y="7470446"/>
            <a:ext cx="6083710" cy="4114800"/>
          </a:xfrm>
          <a:custGeom>
            <a:avLst/>
            <a:gdLst/>
            <a:ahLst/>
            <a:cxnLst/>
            <a:rect r="r" b="b" t="t" l="l"/>
            <a:pathLst>
              <a:path h="4114800" w="6083710">
                <a:moveTo>
                  <a:pt x="0" y="0"/>
                </a:moveTo>
                <a:lnTo>
                  <a:pt x="6083709" y="0"/>
                </a:lnTo>
                <a:lnTo>
                  <a:pt x="6083709" y="4114800"/>
                </a:lnTo>
                <a:lnTo>
                  <a:pt x="0" y="4114800"/>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name="Freeform 13" id="13"/>
          <p:cNvSpPr/>
          <p:nvPr/>
        </p:nvSpPr>
        <p:spPr>
          <a:xfrm flipH="false" flipV="false" rot="0">
            <a:off x="9549673" y="7660946"/>
            <a:ext cx="6083710" cy="4114800"/>
          </a:xfrm>
          <a:custGeom>
            <a:avLst/>
            <a:gdLst/>
            <a:ahLst/>
            <a:cxnLst/>
            <a:rect r="r" b="b" t="t" l="l"/>
            <a:pathLst>
              <a:path h="4114800" w="6083710">
                <a:moveTo>
                  <a:pt x="0" y="0"/>
                </a:moveTo>
                <a:lnTo>
                  <a:pt x="6083710" y="0"/>
                </a:lnTo>
                <a:lnTo>
                  <a:pt x="6083710" y="4114800"/>
                </a:lnTo>
                <a:lnTo>
                  <a:pt x="0" y="4114800"/>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id="14" name="Panel"/>
          <p:cNvSpPr/>
          <p:nvPr/>
        </p:nvSpPr>
        <p:spPr>
          <a:xfrm>
            <a:off x="914400" y="731520"/>
            <a:ext cx="16459200" cy="6675120"/>
          </a:xfrm>
          <a:prstGeom prst="roundRect">
            <a:avLst>
              <a:gd name="adj" fmla="val 5000"/>
            </a:avLst>
          </a:prstGeom>
          <a:solidFill>
            <a:srgbClr val="0A2540">
              <a:alpha val="8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ag AKTIVITAS"/>
          <p:cNvSpPr/>
          <p:nvPr/>
        </p:nvSpPr>
        <p:spPr>
          <a:xfrm>
            <a:off x="1508760" y="960120"/>
            <a:ext cx="2592324" cy="640080"/>
          </a:xfrm>
          <a:prstGeom prst="roundRect">
            <a:avLst>
              <a:gd name="adj" fmla="val 50000"/>
            </a:avLst>
          </a:prstGeom>
          <a:solidFill>
            <a:srgbClr val="FF8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ks tag AKTIVITAS"/>
          <p:cNvSpPr txBox="1"/>
          <p:nvPr/>
        </p:nvSpPr>
        <p:spPr>
          <a:xfrm>
            <a:off x="1508760" y="1024128"/>
            <a:ext cx="2592324" cy="548640"/>
          </a:xfrm>
          <a:prstGeom prst="rect">
            <a:avLst/>
          </a:prstGeom>
          <a:noFill/>
        </p:spPr>
        <p:txBody>
          <a:bodyPr wrap="square" lIns="0" rIns="0" tIns="0" bIns="0" anchor="t">
            <a:spAutoFit/>
          </a:bodyPr>
          <a:lstStyle/>
          <a:p>
            <a:pPr algn="ctr">
              <a:spcAft>
                <a:spcPts val="0"/>
              </a:spcAft>
            </a:pPr>
            <a:r>
              <a:rPr sz="2200">
                <a:solidFill>
                  <a:srgbClr val="0A2540"/>
                </a:solidFill>
                <a:latin typeface="Playpen Sans Bold"/>
              </a:rPr>
              <a:t>AKTIVITAS</a:t>
            </a:r>
          </a:p>
        </p:txBody>
      </p:sp>
      <p:sp>
        <p:nvSpPr>
          <p:cNvPr id="17" name="Judul"/>
          <p:cNvSpPr txBox="1"/>
          <p:nvPr/>
        </p:nvSpPr>
        <p:spPr>
          <a:xfrm>
            <a:off x="4466844" y="960120"/>
            <a:ext cx="12312395" cy="731520"/>
          </a:xfrm>
          <a:prstGeom prst="rect">
            <a:avLst/>
          </a:prstGeom>
          <a:noFill/>
        </p:spPr>
        <p:txBody>
          <a:bodyPr wrap="square" lIns="0" rIns="0" tIns="0" bIns="0" anchor="ctr">
            <a:spAutoFit/>
          </a:bodyPr>
          <a:lstStyle/>
          <a:p>
            <a:pPr algn="l">
              <a:spcAft>
                <a:spcPts val="0"/>
              </a:spcAft>
            </a:pPr>
            <a:r>
              <a:rPr sz="4400">
                <a:solidFill>
                  <a:srgbClr val="F7B125"/>
                </a:solidFill>
                <a:latin typeface="Playpen Sans Bold"/>
              </a:rPr>
              <a:t>Garis mana yang paling cocok?</a:t>
            </a:r>
          </a:p>
        </p:txBody>
      </p:sp>
      <p:pic>
        <p:nvPicPr>
          <p:cNvPr id="18" name="Paper vote" descr="Sepuluh titik data tarif ojek terhadap jarak dengan tiga garis kandidat A, B, dan C"/>
          <p:cNvPicPr>
            <a:picLocks noChangeAspect="1"/>
          </p:cNvPicPr>
          <p:nvPr/>
        </p:nvPicPr>
        <p:blipFill>
          <a:blip r:embed="rId13"/>
          <a:stretch>
            <a:fillRect/>
          </a:stretch>
        </p:blipFill>
        <p:spPr>
          <a:xfrm>
            <a:off x="1508760" y="2057400"/>
            <a:ext cx="8480322" cy="5257800"/>
          </a:xfrm>
          <a:prstGeom prst="rect">
            <a:avLst/>
          </a:prstGeom>
        </p:spPr>
      </p:pic>
      <p:sp>
        <p:nvSpPr>
          <p:cNvPr id="19" name="Penjelasan"/>
          <p:cNvSpPr txBox="1"/>
          <p:nvPr/>
        </p:nvSpPr>
        <p:spPr>
          <a:xfrm>
            <a:off x="10287000" y="2240280"/>
            <a:ext cx="6537959" cy="5029200"/>
          </a:xfrm>
          <a:prstGeom prst="rect">
            <a:avLst/>
          </a:prstGeom>
          <a:noFill/>
        </p:spPr>
        <p:txBody>
          <a:bodyPr wrap="square" lIns="0" rIns="0" tIns="0" bIns="0" anchor="t">
            <a:spAutoFit/>
          </a:bodyPr>
          <a:lstStyle/>
          <a:p>
            <a:pPr algn="l">
              <a:spcAft>
                <a:spcPts val="200"/>
              </a:spcAft>
            </a:pPr>
            <a:r>
              <a:rPr sz="2800">
                <a:solidFill>
                  <a:srgbClr val="F7B125"/>
                </a:solidFill>
                <a:latin typeface="Playpen Sans Bold"/>
              </a:rPr>
              <a:t>Data</a:t>
            </a:r>
          </a:p>
          <a:p>
            <a:pPr algn="l">
              <a:spcAft>
                <a:spcPts val="1400"/>
              </a:spcAft>
            </a:pPr>
            <a:r>
              <a:rPr sz="2600">
                <a:solidFill>
                  <a:srgbClr val="FFFFFF"/>
                </a:solidFill>
                <a:latin typeface="Playpen Sans"/>
              </a:rPr>
              <a:t>10 perjalanan ojek: jarak dan tarif</a:t>
            </a:r>
          </a:p>
          <a:p>
            <a:pPr algn="l">
              <a:spcAft>
                <a:spcPts val="200"/>
              </a:spcAft>
            </a:pPr>
            <a:r>
              <a:rPr sz="2800">
                <a:solidFill>
                  <a:srgbClr val="F7B125"/>
                </a:solidFill>
                <a:latin typeface="Playpen Sans Bold"/>
              </a:rPr>
              <a:t>Model</a:t>
            </a:r>
          </a:p>
          <a:p>
            <a:pPr algn="l">
              <a:spcAft>
                <a:spcPts val="200"/>
              </a:spcAft>
            </a:pPr>
            <a:r>
              <a:rPr sz="2800">
                <a:solidFill>
                  <a:srgbClr val="FFFFFF"/>
                </a:solidFill>
                <a:latin typeface="Playpen Sans Bold"/>
              </a:rPr>
              <a:t>tarif = a × jarak + b</a:t>
            </a:r>
          </a:p>
          <a:p>
            <a:pPr algn="l">
              <a:spcAft>
                <a:spcPts val="1400"/>
              </a:spcAft>
            </a:pPr>
            <a:r>
              <a:rPr sz="2600">
                <a:solidFill>
                  <a:srgbClr val="FFFFFF"/>
                </a:solidFill>
                <a:latin typeface="Playpen Sans"/>
              </a:rPr>
              <a:t>a dan b adalah kenopnya</a:t>
            </a:r>
          </a:p>
          <a:p>
            <a:pPr algn="l">
              <a:spcAft>
                <a:spcPts val="200"/>
              </a:spcAft>
            </a:pPr>
            <a:r>
              <a:rPr sz="2800">
                <a:solidFill>
                  <a:srgbClr val="F7B125"/>
                </a:solidFill>
                <a:latin typeface="Playpen Sans Bold"/>
              </a:rPr>
              <a:t>Angkat tangan</a:t>
            </a:r>
          </a:p>
          <a:p>
            <a:pPr algn="l">
              <a:spcAft>
                <a:spcPts val="0"/>
              </a:spcAft>
            </a:pPr>
            <a:r>
              <a:rPr sz="2600">
                <a:solidFill>
                  <a:srgbClr val="FFFFFF"/>
                </a:solidFill>
                <a:latin typeface="Playpen Sans"/>
              </a:rPr>
              <a:t>A, B, atau C? Apa alasanmu?</a:t>
            </a:r>
          </a:p>
        </p:txBody>
      </p:sp>
    </p:spTree>
  </p:cSld>
  <p:clrMapOvr>
    <a:masterClrMapping/>
  </p:clrMapOvr>
</p:sld>
</file>

<file path=ppt/slides/slide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67928" r="0" b="-67928"/>
            </a:stretch>
          </a:blipFill>
        </p:spPr>
      </p:sp>
      <p:sp>
        <p:nvSpPr>
          <p:cNvPr name="Freeform 3" id="3"/>
          <p:cNvSpPr/>
          <p:nvPr/>
        </p:nvSpPr>
        <p:spPr>
          <a:xfrm flipH="false" flipV="false" rot="0">
            <a:off x="12533569" y="-21055"/>
            <a:ext cx="5762298" cy="6532600"/>
          </a:xfrm>
          <a:custGeom>
            <a:avLst/>
            <a:gdLst/>
            <a:ahLst/>
            <a:cxnLst/>
            <a:rect r="r" b="b" t="t" l="l"/>
            <a:pathLst>
              <a:path h="6532600" w="5762298">
                <a:moveTo>
                  <a:pt x="0" y="0"/>
                </a:moveTo>
                <a:lnTo>
                  <a:pt x="5762298" y="0"/>
                </a:lnTo>
                <a:lnTo>
                  <a:pt x="5762298" y="6532600"/>
                </a:lnTo>
                <a:lnTo>
                  <a:pt x="0" y="6532600"/>
                </a:lnTo>
                <a:lnTo>
                  <a:pt x="0" y="0"/>
                </a:lnTo>
                <a:close/>
              </a:path>
            </a:pathLst>
          </a:custGeom>
          <a:blipFill>
            <a:blip r:embed="rId3"/>
            <a:stretch>
              <a:fillRect l="0" t="0" r="0" b="0"/>
            </a:stretch>
          </a:blipFill>
        </p:spPr>
      </p:sp>
      <p:sp>
        <p:nvSpPr>
          <p:cNvPr name="Freeform 4" id="4"/>
          <p:cNvSpPr/>
          <p:nvPr/>
        </p:nvSpPr>
        <p:spPr>
          <a:xfrm flipH="false" flipV="false" rot="0">
            <a:off x="12978766" y="2004481"/>
            <a:ext cx="5309234" cy="5465964"/>
          </a:xfrm>
          <a:custGeom>
            <a:avLst/>
            <a:gdLst/>
            <a:ahLst/>
            <a:cxnLst/>
            <a:rect r="r" b="b" t="t" l="l"/>
            <a:pathLst>
              <a:path h="5465964" w="5309234">
                <a:moveTo>
                  <a:pt x="0" y="0"/>
                </a:moveTo>
                <a:lnTo>
                  <a:pt x="5309234" y="0"/>
                </a:lnTo>
                <a:lnTo>
                  <a:pt x="5309234" y="5465965"/>
                </a:lnTo>
                <a:lnTo>
                  <a:pt x="0" y="5465965"/>
                </a:lnTo>
                <a:lnTo>
                  <a:pt x="0" y="0"/>
                </a:lnTo>
                <a:close/>
              </a:path>
            </a:pathLst>
          </a:custGeom>
          <a:blipFill>
            <a:blip r:embed="rId4"/>
            <a:stretch>
              <a:fillRect l="0" t="0" r="0" b="0"/>
            </a:stretch>
          </a:blipFill>
        </p:spPr>
      </p:sp>
      <p:sp>
        <p:nvSpPr>
          <p:cNvPr name="Freeform 5" id="5"/>
          <p:cNvSpPr/>
          <p:nvPr/>
        </p:nvSpPr>
        <p:spPr>
          <a:xfrm flipH="true" flipV="false" rot="0">
            <a:off x="-29416" y="0"/>
            <a:ext cx="5762298" cy="6532600"/>
          </a:xfrm>
          <a:custGeom>
            <a:avLst/>
            <a:gdLst/>
            <a:ahLst/>
            <a:cxnLst/>
            <a:rect r="r" b="b" t="t" l="l"/>
            <a:pathLst>
              <a:path h="6532600" w="5762298">
                <a:moveTo>
                  <a:pt x="5762298" y="0"/>
                </a:moveTo>
                <a:lnTo>
                  <a:pt x="0" y="0"/>
                </a:lnTo>
                <a:lnTo>
                  <a:pt x="0" y="6532600"/>
                </a:lnTo>
                <a:lnTo>
                  <a:pt x="5762298" y="6532600"/>
                </a:lnTo>
                <a:lnTo>
                  <a:pt x="5762298" y="0"/>
                </a:lnTo>
                <a:close/>
              </a:path>
            </a:pathLst>
          </a:custGeom>
          <a:blipFill>
            <a:blip r:embed="rId3"/>
            <a:stretch>
              <a:fillRect l="0" t="0" r="0" b="0"/>
            </a:stretch>
          </a:blipFill>
        </p:spPr>
      </p:sp>
      <p:sp>
        <p:nvSpPr>
          <p:cNvPr name="Freeform 6" id="6"/>
          <p:cNvSpPr/>
          <p:nvPr/>
        </p:nvSpPr>
        <p:spPr>
          <a:xfrm flipH="false" flipV="false" rot="0">
            <a:off x="423648" y="2410518"/>
            <a:ext cx="5309234" cy="5465964"/>
          </a:xfrm>
          <a:custGeom>
            <a:avLst/>
            <a:gdLst/>
            <a:ahLst/>
            <a:cxnLst/>
            <a:rect r="r" b="b" t="t" l="l"/>
            <a:pathLst>
              <a:path h="5465964" w="5309234">
                <a:moveTo>
                  <a:pt x="0" y="0"/>
                </a:moveTo>
                <a:lnTo>
                  <a:pt x="5309234" y="0"/>
                </a:lnTo>
                <a:lnTo>
                  <a:pt x="5309234" y="5465964"/>
                </a:lnTo>
                <a:lnTo>
                  <a:pt x="0" y="5465964"/>
                </a:lnTo>
                <a:lnTo>
                  <a:pt x="0" y="0"/>
                </a:lnTo>
                <a:close/>
              </a:path>
            </a:pathLst>
          </a:custGeom>
          <a:blipFill>
            <a:blip r:embed="rId4"/>
            <a:stretch>
              <a:fillRect l="0" t="0" r="0" b="0"/>
            </a:stretch>
          </a:blipFill>
        </p:spPr>
      </p:sp>
      <p:sp>
        <p:nvSpPr>
          <p:cNvPr name="Freeform 7" id="7"/>
          <p:cNvSpPr/>
          <p:nvPr/>
        </p:nvSpPr>
        <p:spPr>
          <a:xfrm flipH="false" flipV="false" rot="0">
            <a:off x="-317430" y="7660946"/>
            <a:ext cx="18613297" cy="3022078"/>
          </a:xfrm>
          <a:custGeom>
            <a:avLst/>
            <a:gdLst/>
            <a:ahLst/>
            <a:cxnLst/>
            <a:rect r="r" b="b" t="t" l="l"/>
            <a:pathLst>
              <a:path h="3022078" w="18613297">
                <a:moveTo>
                  <a:pt x="0" y="0"/>
                </a:moveTo>
                <a:lnTo>
                  <a:pt x="18613297" y="0"/>
                </a:lnTo>
                <a:lnTo>
                  <a:pt x="18613297" y="3022077"/>
                </a:lnTo>
                <a:lnTo>
                  <a:pt x="0" y="3022077"/>
                </a:lnTo>
                <a:lnTo>
                  <a:pt x="0" y="0"/>
                </a:lnTo>
                <a:close/>
              </a:path>
            </a:pathLst>
          </a:custGeom>
          <a:blipFill>
            <a:blip r:embed="rId5"/>
            <a:stretch>
              <a:fillRect l="-158" t="0" r="-158" b="-6838"/>
            </a:stretch>
          </a:blipFill>
        </p:spPr>
      </p:sp>
      <p:sp>
        <p:nvSpPr>
          <p:cNvPr name="Freeform 11" id="11"/>
          <p:cNvSpPr/>
          <p:nvPr/>
        </p:nvSpPr>
        <p:spPr>
          <a:xfrm flipH="false" flipV="false" rot="0">
            <a:off x="681269" y="7470446"/>
            <a:ext cx="6083710" cy="4114800"/>
          </a:xfrm>
          <a:custGeom>
            <a:avLst/>
            <a:gdLst/>
            <a:ahLst/>
            <a:cxnLst/>
            <a:rect r="r" b="b" t="t" l="l"/>
            <a:pathLst>
              <a:path h="4114800" w="6083710">
                <a:moveTo>
                  <a:pt x="0" y="0"/>
                </a:moveTo>
                <a:lnTo>
                  <a:pt x="6083709" y="0"/>
                </a:lnTo>
                <a:lnTo>
                  <a:pt x="6083709" y="4114800"/>
                </a:lnTo>
                <a:lnTo>
                  <a:pt x="0" y="4114800"/>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name="Freeform 13" id="13"/>
          <p:cNvSpPr/>
          <p:nvPr/>
        </p:nvSpPr>
        <p:spPr>
          <a:xfrm flipH="false" flipV="false" rot="0">
            <a:off x="9549673" y="7660946"/>
            <a:ext cx="6083710" cy="4114800"/>
          </a:xfrm>
          <a:custGeom>
            <a:avLst/>
            <a:gdLst/>
            <a:ahLst/>
            <a:cxnLst/>
            <a:rect r="r" b="b" t="t" l="l"/>
            <a:pathLst>
              <a:path h="4114800" w="6083710">
                <a:moveTo>
                  <a:pt x="0" y="0"/>
                </a:moveTo>
                <a:lnTo>
                  <a:pt x="6083710" y="0"/>
                </a:lnTo>
                <a:lnTo>
                  <a:pt x="6083710" y="4114800"/>
                </a:lnTo>
                <a:lnTo>
                  <a:pt x="0" y="4114800"/>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id="14" name="Panel"/>
          <p:cNvSpPr/>
          <p:nvPr/>
        </p:nvSpPr>
        <p:spPr>
          <a:xfrm>
            <a:off x="914400" y="731520"/>
            <a:ext cx="16459200" cy="6675120"/>
          </a:xfrm>
          <a:prstGeom prst="roundRect">
            <a:avLst>
              <a:gd name="adj" fmla="val 5000"/>
            </a:avLst>
          </a:prstGeom>
          <a:solidFill>
            <a:srgbClr val="0A2540">
              <a:alpha val="8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ag AKTIVITAS"/>
          <p:cNvSpPr/>
          <p:nvPr/>
        </p:nvSpPr>
        <p:spPr>
          <a:xfrm>
            <a:off x="1508760" y="960120"/>
            <a:ext cx="2592324" cy="640080"/>
          </a:xfrm>
          <a:prstGeom prst="roundRect">
            <a:avLst>
              <a:gd name="adj" fmla="val 50000"/>
            </a:avLst>
          </a:prstGeom>
          <a:solidFill>
            <a:srgbClr val="FF8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ks tag AKTIVITAS"/>
          <p:cNvSpPr txBox="1"/>
          <p:nvPr/>
        </p:nvSpPr>
        <p:spPr>
          <a:xfrm>
            <a:off x="1508760" y="1024128"/>
            <a:ext cx="2592324" cy="548640"/>
          </a:xfrm>
          <a:prstGeom prst="rect">
            <a:avLst/>
          </a:prstGeom>
          <a:noFill/>
        </p:spPr>
        <p:txBody>
          <a:bodyPr wrap="square" lIns="0" rIns="0" tIns="0" bIns="0" anchor="t">
            <a:spAutoFit/>
          </a:bodyPr>
          <a:lstStyle/>
          <a:p>
            <a:pPr algn="ctr">
              <a:spcAft>
                <a:spcPts val="0"/>
              </a:spcAft>
            </a:pPr>
            <a:r>
              <a:rPr sz="2200">
                <a:solidFill>
                  <a:srgbClr val="0A2540"/>
                </a:solidFill>
                <a:latin typeface="Playpen Sans Bold"/>
              </a:rPr>
              <a:t>AKTIVITAS</a:t>
            </a:r>
          </a:p>
        </p:txBody>
      </p:sp>
      <p:sp>
        <p:nvSpPr>
          <p:cNvPr id="17" name="Judul"/>
          <p:cNvSpPr txBox="1"/>
          <p:nvPr/>
        </p:nvSpPr>
        <p:spPr>
          <a:xfrm>
            <a:off x="4466844" y="960120"/>
            <a:ext cx="12312395" cy="731520"/>
          </a:xfrm>
          <a:prstGeom prst="rect">
            <a:avLst/>
          </a:prstGeom>
          <a:noFill/>
        </p:spPr>
        <p:txBody>
          <a:bodyPr wrap="square" lIns="0" rIns="0" tIns="0" bIns="0" anchor="ctr">
            <a:spAutoFit/>
          </a:bodyPr>
          <a:lstStyle/>
          <a:p>
            <a:pPr algn="l">
              <a:spcAft>
                <a:spcPts val="0"/>
              </a:spcAft>
            </a:pPr>
            <a:r>
              <a:rPr sz="4200">
                <a:solidFill>
                  <a:srgbClr val="F7B125"/>
                </a:solidFill>
                <a:latin typeface="Playpen Sans Bold"/>
              </a:rPr>
              <a:t>Ubah "kelihatannya pas" menjadi angka</a:t>
            </a:r>
          </a:p>
        </p:txBody>
      </p:sp>
      <p:pic>
        <p:nvPicPr>
          <p:cNvPr id="18" name="Paper loss" descr="Tiga panel. Garis A galat 7, garis B galat 1, garis C galat 9. Garis putus-putus menunjukkan selisih tiap titik ke garis."/>
          <p:cNvPicPr>
            <a:picLocks noChangeAspect="1"/>
          </p:cNvPicPr>
          <p:nvPr/>
        </p:nvPicPr>
        <p:blipFill>
          <a:blip r:embed="rId13"/>
          <a:stretch>
            <a:fillRect/>
          </a:stretch>
        </p:blipFill>
        <p:spPr>
          <a:xfrm>
            <a:off x="2651760" y="1965960"/>
            <a:ext cx="12984480" cy="4328160"/>
          </a:xfrm>
          <a:prstGeom prst="rect">
            <a:avLst/>
          </a:prstGeom>
        </p:spPr>
      </p:pic>
      <p:sp>
        <p:nvSpPr>
          <p:cNvPr id="19" name="Inti"/>
          <p:cNvSpPr txBox="1"/>
          <p:nvPr/>
        </p:nvSpPr>
        <p:spPr>
          <a:xfrm>
            <a:off x="1508760" y="6400800"/>
            <a:ext cx="15270480" cy="914400"/>
          </a:xfrm>
          <a:prstGeom prst="rect">
            <a:avLst/>
          </a:prstGeom>
          <a:noFill/>
        </p:spPr>
        <p:txBody>
          <a:bodyPr wrap="square" lIns="0" rIns="0" tIns="0" bIns="0" anchor="t">
            <a:spAutoFit/>
          </a:bodyPr>
          <a:lstStyle/>
          <a:p>
            <a:pPr algn="ctr">
              <a:spcAft>
                <a:spcPts val="0"/>
              </a:spcAft>
            </a:pPr>
            <a:r>
              <a:rPr sz="2600">
                <a:solidFill>
                  <a:srgbClr val="FFFFFF"/>
                </a:solidFill>
                <a:latin typeface="Playpen Sans"/>
              </a:rPr>
              <a:t>Galat = rata-rata kuadrat selisih.  </a:t>
            </a:r>
            <a:r>
              <a:rPr sz="2600">
                <a:solidFill>
                  <a:srgbClr val="F7B125"/>
                </a:solidFill>
                <a:latin typeface="Playpen Sans Bold"/>
              </a:rPr>
              <a:t>Belajar = memutar kenop sampai galat terkecil.</a:t>
            </a:r>
          </a:p>
        </p:txBody>
      </p:sp>
    </p:spTree>
  </p:cSld>
  <p:clrMapOvr>
    <a:masterClrMapping/>
  </p:clrMapOvr>
</p:sld>
</file>

<file path=ppt/slides/slide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67928" r="0" b="-67928"/>
            </a:stretch>
          </a:blipFill>
        </p:spPr>
      </p:sp>
      <p:sp>
        <p:nvSpPr>
          <p:cNvPr name="Freeform 3" id="3"/>
          <p:cNvSpPr/>
          <p:nvPr/>
        </p:nvSpPr>
        <p:spPr>
          <a:xfrm flipH="false" flipV="false" rot="0">
            <a:off x="12533569" y="-21055"/>
            <a:ext cx="5762298" cy="6532600"/>
          </a:xfrm>
          <a:custGeom>
            <a:avLst/>
            <a:gdLst/>
            <a:ahLst/>
            <a:cxnLst/>
            <a:rect r="r" b="b" t="t" l="l"/>
            <a:pathLst>
              <a:path h="6532600" w="5762298">
                <a:moveTo>
                  <a:pt x="0" y="0"/>
                </a:moveTo>
                <a:lnTo>
                  <a:pt x="5762298" y="0"/>
                </a:lnTo>
                <a:lnTo>
                  <a:pt x="5762298" y="6532600"/>
                </a:lnTo>
                <a:lnTo>
                  <a:pt x="0" y="6532600"/>
                </a:lnTo>
                <a:lnTo>
                  <a:pt x="0" y="0"/>
                </a:lnTo>
                <a:close/>
              </a:path>
            </a:pathLst>
          </a:custGeom>
          <a:blipFill>
            <a:blip r:embed="rId3"/>
            <a:stretch>
              <a:fillRect l="0" t="0" r="0" b="0"/>
            </a:stretch>
          </a:blipFill>
        </p:spPr>
      </p:sp>
      <p:sp>
        <p:nvSpPr>
          <p:cNvPr name="Freeform 4" id="4"/>
          <p:cNvSpPr/>
          <p:nvPr/>
        </p:nvSpPr>
        <p:spPr>
          <a:xfrm flipH="false" flipV="false" rot="0">
            <a:off x="12978766" y="2004481"/>
            <a:ext cx="5309234" cy="5465964"/>
          </a:xfrm>
          <a:custGeom>
            <a:avLst/>
            <a:gdLst/>
            <a:ahLst/>
            <a:cxnLst/>
            <a:rect r="r" b="b" t="t" l="l"/>
            <a:pathLst>
              <a:path h="5465964" w="5309234">
                <a:moveTo>
                  <a:pt x="0" y="0"/>
                </a:moveTo>
                <a:lnTo>
                  <a:pt x="5309234" y="0"/>
                </a:lnTo>
                <a:lnTo>
                  <a:pt x="5309234" y="5465965"/>
                </a:lnTo>
                <a:lnTo>
                  <a:pt x="0" y="5465965"/>
                </a:lnTo>
                <a:lnTo>
                  <a:pt x="0" y="0"/>
                </a:lnTo>
                <a:close/>
              </a:path>
            </a:pathLst>
          </a:custGeom>
          <a:blipFill>
            <a:blip r:embed="rId4"/>
            <a:stretch>
              <a:fillRect l="0" t="0" r="0" b="0"/>
            </a:stretch>
          </a:blipFill>
        </p:spPr>
      </p:sp>
      <p:sp>
        <p:nvSpPr>
          <p:cNvPr name="Freeform 5" id="5"/>
          <p:cNvSpPr/>
          <p:nvPr/>
        </p:nvSpPr>
        <p:spPr>
          <a:xfrm flipH="true" flipV="false" rot="0">
            <a:off x="-29416" y="0"/>
            <a:ext cx="5762298" cy="6532600"/>
          </a:xfrm>
          <a:custGeom>
            <a:avLst/>
            <a:gdLst/>
            <a:ahLst/>
            <a:cxnLst/>
            <a:rect r="r" b="b" t="t" l="l"/>
            <a:pathLst>
              <a:path h="6532600" w="5762298">
                <a:moveTo>
                  <a:pt x="5762298" y="0"/>
                </a:moveTo>
                <a:lnTo>
                  <a:pt x="0" y="0"/>
                </a:lnTo>
                <a:lnTo>
                  <a:pt x="0" y="6532600"/>
                </a:lnTo>
                <a:lnTo>
                  <a:pt x="5762298" y="6532600"/>
                </a:lnTo>
                <a:lnTo>
                  <a:pt x="5762298" y="0"/>
                </a:lnTo>
                <a:close/>
              </a:path>
            </a:pathLst>
          </a:custGeom>
          <a:blipFill>
            <a:blip r:embed="rId3"/>
            <a:stretch>
              <a:fillRect l="0" t="0" r="0" b="0"/>
            </a:stretch>
          </a:blipFill>
        </p:spPr>
      </p:sp>
      <p:sp>
        <p:nvSpPr>
          <p:cNvPr name="Freeform 6" id="6"/>
          <p:cNvSpPr/>
          <p:nvPr/>
        </p:nvSpPr>
        <p:spPr>
          <a:xfrm flipH="false" flipV="false" rot="0">
            <a:off x="423648" y="2410518"/>
            <a:ext cx="5309234" cy="5465964"/>
          </a:xfrm>
          <a:custGeom>
            <a:avLst/>
            <a:gdLst/>
            <a:ahLst/>
            <a:cxnLst/>
            <a:rect r="r" b="b" t="t" l="l"/>
            <a:pathLst>
              <a:path h="5465964" w="5309234">
                <a:moveTo>
                  <a:pt x="0" y="0"/>
                </a:moveTo>
                <a:lnTo>
                  <a:pt x="5309234" y="0"/>
                </a:lnTo>
                <a:lnTo>
                  <a:pt x="5309234" y="5465964"/>
                </a:lnTo>
                <a:lnTo>
                  <a:pt x="0" y="5465964"/>
                </a:lnTo>
                <a:lnTo>
                  <a:pt x="0" y="0"/>
                </a:lnTo>
                <a:close/>
              </a:path>
            </a:pathLst>
          </a:custGeom>
          <a:blipFill>
            <a:blip r:embed="rId4"/>
            <a:stretch>
              <a:fillRect l="0" t="0" r="0" b="0"/>
            </a:stretch>
          </a:blipFill>
        </p:spPr>
      </p:sp>
      <p:sp>
        <p:nvSpPr>
          <p:cNvPr name="Freeform 7" id="7"/>
          <p:cNvSpPr/>
          <p:nvPr/>
        </p:nvSpPr>
        <p:spPr>
          <a:xfrm flipH="false" flipV="false" rot="0">
            <a:off x="-317430" y="7660946"/>
            <a:ext cx="18613297" cy="3022078"/>
          </a:xfrm>
          <a:custGeom>
            <a:avLst/>
            <a:gdLst/>
            <a:ahLst/>
            <a:cxnLst/>
            <a:rect r="r" b="b" t="t" l="l"/>
            <a:pathLst>
              <a:path h="3022078" w="18613297">
                <a:moveTo>
                  <a:pt x="0" y="0"/>
                </a:moveTo>
                <a:lnTo>
                  <a:pt x="18613297" y="0"/>
                </a:lnTo>
                <a:lnTo>
                  <a:pt x="18613297" y="3022077"/>
                </a:lnTo>
                <a:lnTo>
                  <a:pt x="0" y="3022077"/>
                </a:lnTo>
                <a:lnTo>
                  <a:pt x="0" y="0"/>
                </a:lnTo>
                <a:close/>
              </a:path>
            </a:pathLst>
          </a:custGeom>
          <a:blipFill>
            <a:blip r:embed="rId5"/>
            <a:stretch>
              <a:fillRect l="-158" t="0" r="-158" b="-6838"/>
            </a:stretch>
          </a:blipFill>
        </p:spPr>
      </p:sp>
      <p:sp>
        <p:nvSpPr>
          <p:cNvPr name="Freeform 11" id="11"/>
          <p:cNvSpPr/>
          <p:nvPr/>
        </p:nvSpPr>
        <p:spPr>
          <a:xfrm flipH="false" flipV="false" rot="0">
            <a:off x="681269" y="7470446"/>
            <a:ext cx="6083710" cy="4114800"/>
          </a:xfrm>
          <a:custGeom>
            <a:avLst/>
            <a:gdLst/>
            <a:ahLst/>
            <a:cxnLst/>
            <a:rect r="r" b="b" t="t" l="l"/>
            <a:pathLst>
              <a:path h="4114800" w="6083710">
                <a:moveTo>
                  <a:pt x="0" y="0"/>
                </a:moveTo>
                <a:lnTo>
                  <a:pt x="6083709" y="0"/>
                </a:lnTo>
                <a:lnTo>
                  <a:pt x="6083709" y="4114800"/>
                </a:lnTo>
                <a:lnTo>
                  <a:pt x="0" y="4114800"/>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name="Freeform 13" id="13"/>
          <p:cNvSpPr/>
          <p:nvPr/>
        </p:nvSpPr>
        <p:spPr>
          <a:xfrm flipH="false" flipV="false" rot="0">
            <a:off x="9549673" y="7660946"/>
            <a:ext cx="6083710" cy="4114800"/>
          </a:xfrm>
          <a:custGeom>
            <a:avLst/>
            <a:gdLst/>
            <a:ahLst/>
            <a:cxnLst/>
            <a:rect r="r" b="b" t="t" l="l"/>
            <a:pathLst>
              <a:path h="4114800" w="6083710">
                <a:moveTo>
                  <a:pt x="0" y="0"/>
                </a:moveTo>
                <a:lnTo>
                  <a:pt x="6083710" y="0"/>
                </a:lnTo>
                <a:lnTo>
                  <a:pt x="6083710" y="4114800"/>
                </a:lnTo>
                <a:lnTo>
                  <a:pt x="0" y="4114800"/>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id="14" name="Panel"/>
          <p:cNvSpPr/>
          <p:nvPr/>
        </p:nvSpPr>
        <p:spPr>
          <a:xfrm>
            <a:off x="914400" y="731520"/>
            <a:ext cx="16459200" cy="6675120"/>
          </a:xfrm>
          <a:prstGeom prst="roundRect">
            <a:avLst>
              <a:gd name="adj" fmla="val 5000"/>
            </a:avLst>
          </a:prstGeom>
          <a:solidFill>
            <a:srgbClr val="0A2540">
              <a:alpha val="8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ag INTUISI"/>
          <p:cNvSpPr/>
          <p:nvPr/>
        </p:nvSpPr>
        <p:spPr>
          <a:xfrm>
            <a:off x="1508760" y="960120"/>
            <a:ext cx="2178812" cy="640080"/>
          </a:xfrm>
          <a:prstGeom prst="roundRect">
            <a:avLst>
              <a:gd name="adj" fmla="val 50000"/>
            </a:avLst>
          </a:prstGeom>
          <a:solidFill>
            <a:srgbClr val="3DD6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ks tag INTUISI"/>
          <p:cNvSpPr txBox="1"/>
          <p:nvPr/>
        </p:nvSpPr>
        <p:spPr>
          <a:xfrm>
            <a:off x="1508760" y="1024128"/>
            <a:ext cx="2178812" cy="548640"/>
          </a:xfrm>
          <a:prstGeom prst="rect">
            <a:avLst/>
          </a:prstGeom>
          <a:noFill/>
        </p:spPr>
        <p:txBody>
          <a:bodyPr wrap="square" lIns="0" rIns="0" tIns="0" bIns="0" anchor="t">
            <a:spAutoFit/>
          </a:bodyPr>
          <a:lstStyle/>
          <a:p>
            <a:pPr algn="ctr">
              <a:spcAft>
                <a:spcPts val="0"/>
              </a:spcAft>
            </a:pPr>
            <a:r>
              <a:rPr sz="2200">
                <a:solidFill>
                  <a:srgbClr val="0A2540"/>
                </a:solidFill>
                <a:latin typeface="Playpen Sans Bold"/>
              </a:rPr>
              <a:t>INTUISI</a:t>
            </a:r>
          </a:p>
        </p:txBody>
      </p:sp>
      <p:sp>
        <p:nvSpPr>
          <p:cNvPr id="17" name="Judul"/>
          <p:cNvSpPr txBox="1"/>
          <p:nvPr/>
        </p:nvSpPr>
        <p:spPr>
          <a:xfrm>
            <a:off x="4053332" y="960120"/>
            <a:ext cx="12725907" cy="731520"/>
          </a:xfrm>
          <a:prstGeom prst="rect">
            <a:avLst/>
          </a:prstGeom>
          <a:noFill/>
        </p:spPr>
        <p:txBody>
          <a:bodyPr wrap="square" lIns="0" rIns="0" tIns="0" bIns="0" anchor="ctr">
            <a:spAutoFit/>
          </a:bodyPr>
          <a:lstStyle/>
          <a:p>
            <a:pPr algn="l">
              <a:spcAft>
                <a:spcPts val="0"/>
              </a:spcAft>
            </a:pPr>
            <a:r>
              <a:rPr sz="4400">
                <a:solidFill>
                  <a:srgbClr val="F7B125"/>
                </a:solidFill>
                <a:latin typeface="Playpen Sans Bold"/>
              </a:rPr>
              <a:t>Dua cara memutar kenop</a:t>
            </a:r>
          </a:p>
        </p:txBody>
      </p:sp>
      <p:pic>
        <p:nvPicPr>
          <p:cNvPr id="18" name="Paper search" descr="Kiri: bola menuruni lembah mengikuti kemiringan. Kanan: titik-titik coba acak pada permukaan bergelombang, yang terbaik ditandai bintang."/>
          <p:cNvPicPr>
            <a:picLocks noChangeAspect="1"/>
          </p:cNvPicPr>
          <p:nvPr/>
        </p:nvPicPr>
        <p:blipFill>
          <a:blip r:embed="rId13"/>
          <a:stretch>
            <a:fillRect/>
          </a:stretch>
        </p:blipFill>
        <p:spPr>
          <a:xfrm>
            <a:off x="2926079" y="1920240"/>
            <a:ext cx="12435840" cy="4283456"/>
          </a:xfrm>
          <a:prstGeom prst="rect">
            <a:avLst/>
          </a:prstGeom>
        </p:spPr>
      </p:pic>
      <p:sp>
        <p:nvSpPr>
          <p:cNvPr id="19" name="Kiri"/>
          <p:cNvSpPr txBox="1"/>
          <p:nvPr/>
        </p:nvSpPr>
        <p:spPr>
          <a:xfrm>
            <a:off x="1508760" y="6537960"/>
            <a:ext cx="7360919" cy="731520"/>
          </a:xfrm>
          <a:prstGeom prst="rect">
            <a:avLst/>
          </a:prstGeom>
          <a:noFill/>
        </p:spPr>
        <p:txBody>
          <a:bodyPr wrap="square" lIns="0" rIns="0" tIns="0" bIns="0" anchor="t">
            <a:spAutoFit/>
          </a:bodyPr>
          <a:lstStyle/>
          <a:p>
            <a:pPr algn="ctr">
              <a:spcAft>
                <a:spcPts val="0"/>
              </a:spcAft>
            </a:pPr>
            <a:r>
              <a:rPr sz="2400">
                <a:solidFill>
                  <a:srgbClr val="F7B125"/>
                </a:solidFill>
                <a:latin typeface="Playpen Sans Bold"/>
              </a:rPr>
              <a:t>Gradient descent. Pekan 2 sampai 7, buku UDL</a:t>
            </a:r>
          </a:p>
        </p:txBody>
      </p:sp>
      <p:sp>
        <p:nvSpPr>
          <p:cNvPr id="20" name="Kanan"/>
          <p:cNvSpPr txBox="1"/>
          <p:nvPr/>
        </p:nvSpPr>
        <p:spPr>
          <a:xfrm>
            <a:off x="9418319" y="6537960"/>
            <a:ext cx="7360919" cy="731520"/>
          </a:xfrm>
          <a:prstGeom prst="rect">
            <a:avLst/>
          </a:prstGeom>
          <a:noFill/>
        </p:spPr>
        <p:txBody>
          <a:bodyPr wrap="square" lIns="0" rIns="0" tIns="0" bIns="0" anchor="t">
            <a:spAutoFit/>
          </a:bodyPr>
          <a:lstStyle/>
          <a:p>
            <a:pPr algn="ctr">
              <a:spcAft>
                <a:spcPts val="0"/>
              </a:spcAft>
            </a:pPr>
            <a:r>
              <a:rPr sz="2400">
                <a:solidFill>
                  <a:srgbClr val="3DD6C6"/>
                </a:solidFill>
                <a:latin typeface="Playpen Sans Bold"/>
              </a:rPr>
              <a:t>Metaheuristik. Pekan 9 sampai 12, buku Luke</a:t>
            </a:r>
          </a:p>
        </p:txBody>
      </p:sp>
    </p:spTree>
  </p:cSld>
  <p:clrMapOvr>
    <a:masterClrMapping/>
  </p:clrMapOvr>
</p:sld>
</file>

<file path=ppt/slides/slide10.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67928" r="0" b="-67928"/>
            </a:stretch>
          </a:blipFill>
        </p:spPr>
      </p:sp>
      <p:sp>
        <p:nvSpPr>
          <p:cNvPr name="Freeform 3" id="3"/>
          <p:cNvSpPr/>
          <p:nvPr/>
        </p:nvSpPr>
        <p:spPr>
          <a:xfrm flipH="false" flipV="false" rot="0">
            <a:off x="14148474" y="-5929"/>
            <a:ext cx="4139526" cy="4692896"/>
          </a:xfrm>
          <a:custGeom>
            <a:avLst/>
            <a:gdLst/>
            <a:ahLst/>
            <a:cxnLst/>
            <a:rect r="r" b="b" t="t" l="l"/>
            <a:pathLst>
              <a:path h="4692896" w="4139526">
                <a:moveTo>
                  <a:pt x="0" y="0"/>
                </a:moveTo>
                <a:lnTo>
                  <a:pt x="4139526" y="0"/>
                </a:lnTo>
                <a:lnTo>
                  <a:pt x="4139526" y="4692896"/>
                </a:lnTo>
                <a:lnTo>
                  <a:pt x="0" y="4692896"/>
                </a:lnTo>
                <a:lnTo>
                  <a:pt x="0" y="0"/>
                </a:lnTo>
                <a:close/>
              </a:path>
            </a:pathLst>
          </a:custGeom>
          <a:blipFill>
            <a:blip r:embed="rId3"/>
            <a:stretch>
              <a:fillRect l="0" t="0" r="0" b="0"/>
            </a:stretch>
          </a:blipFill>
        </p:spPr>
      </p:sp>
      <p:sp>
        <p:nvSpPr>
          <p:cNvPr name="Freeform 4" id="4"/>
          <p:cNvSpPr/>
          <p:nvPr/>
        </p:nvSpPr>
        <p:spPr>
          <a:xfrm flipH="false" flipV="false" rot="0">
            <a:off x="12978766" y="2004481"/>
            <a:ext cx="5309234" cy="5465964"/>
          </a:xfrm>
          <a:custGeom>
            <a:avLst/>
            <a:gdLst/>
            <a:ahLst/>
            <a:cxnLst/>
            <a:rect r="r" b="b" t="t" l="l"/>
            <a:pathLst>
              <a:path h="5465964" w="5309234">
                <a:moveTo>
                  <a:pt x="0" y="0"/>
                </a:moveTo>
                <a:lnTo>
                  <a:pt x="5309234" y="0"/>
                </a:lnTo>
                <a:lnTo>
                  <a:pt x="5309234" y="5465965"/>
                </a:lnTo>
                <a:lnTo>
                  <a:pt x="0" y="5465965"/>
                </a:lnTo>
                <a:lnTo>
                  <a:pt x="0" y="0"/>
                </a:lnTo>
                <a:close/>
              </a:path>
            </a:pathLst>
          </a:custGeom>
          <a:blipFill>
            <a:blip r:embed="rId4"/>
            <a:stretch>
              <a:fillRect l="0" t="0" r="0" b="0"/>
            </a:stretch>
          </a:blipFill>
        </p:spPr>
      </p:sp>
      <p:sp>
        <p:nvSpPr>
          <p:cNvPr name="Freeform 5" id="5"/>
          <p:cNvSpPr/>
          <p:nvPr/>
        </p:nvSpPr>
        <p:spPr>
          <a:xfrm flipH="true" flipV="false" rot="0">
            <a:off x="-29416" y="-5929"/>
            <a:ext cx="4139526" cy="4692896"/>
          </a:xfrm>
          <a:custGeom>
            <a:avLst/>
            <a:gdLst/>
            <a:ahLst/>
            <a:cxnLst/>
            <a:rect r="r" b="b" t="t" l="l"/>
            <a:pathLst>
              <a:path h="4692896" w="4139526">
                <a:moveTo>
                  <a:pt x="4139526" y="0"/>
                </a:moveTo>
                <a:lnTo>
                  <a:pt x="0" y="0"/>
                </a:lnTo>
                <a:lnTo>
                  <a:pt x="0" y="4692896"/>
                </a:lnTo>
                <a:lnTo>
                  <a:pt x="4139526" y="4692896"/>
                </a:lnTo>
                <a:lnTo>
                  <a:pt x="4139526" y="0"/>
                </a:lnTo>
                <a:close/>
              </a:path>
            </a:pathLst>
          </a:custGeom>
          <a:blipFill>
            <a:blip r:embed="rId3"/>
            <a:stretch>
              <a:fillRect l="0" t="0" r="0" b="0"/>
            </a:stretch>
          </a:blipFill>
        </p:spPr>
      </p:sp>
      <p:sp>
        <p:nvSpPr>
          <p:cNvPr name="Freeform 6" id="6"/>
          <p:cNvSpPr/>
          <p:nvPr/>
        </p:nvSpPr>
        <p:spPr>
          <a:xfrm flipH="false" flipV="false" rot="0">
            <a:off x="423648" y="2410518"/>
            <a:ext cx="5309234" cy="5465964"/>
          </a:xfrm>
          <a:custGeom>
            <a:avLst/>
            <a:gdLst/>
            <a:ahLst/>
            <a:cxnLst/>
            <a:rect r="r" b="b" t="t" l="l"/>
            <a:pathLst>
              <a:path h="5465964" w="5309234">
                <a:moveTo>
                  <a:pt x="0" y="0"/>
                </a:moveTo>
                <a:lnTo>
                  <a:pt x="5309234" y="0"/>
                </a:lnTo>
                <a:lnTo>
                  <a:pt x="5309234" y="5465964"/>
                </a:lnTo>
                <a:lnTo>
                  <a:pt x="0" y="5465964"/>
                </a:lnTo>
                <a:lnTo>
                  <a:pt x="0" y="0"/>
                </a:lnTo>
                <a:close/>
              </a:path>
            </a:pathLst>
          </a:custGeom>
          <a:blipFill>
            <a:blip r:embed="rId4"/>
            <a:stretch>
              <a:fillRect l="0" t="0" r="0" b="0"/>
            </a:stretch>
          </a:blipFill>
        </p:spPr>
      </p:sp>
      <p:sp>
        <p:nvSpPr>
          <p:cNvPr name="Freeform 7" id="7"/>
          <p:cNvSpPr/>
          <p:nvPr/>
        </p:nvSpPr>
        <p:spPr>
          <a:xfrm flipH="false" flipV="false" rot="0">
            <a:off x="-206717" y="7682290"/>
            <a:ext cx="19413624" cy="3152020"/>
          </a:xfrm>
          <a:custGeom>
            <a:avLst/>
            <a:gdLst/>
            <a:ahLst/>
            <a:cxnLst/>
            <a:rect r="r" b="b" t="t" l="l"/>
            <a:pathLst>
              <a:path h="3152020" w="19413624">
                <a:moveTo>
                  <a:pt x="0" y="0"/>
                </a:moveTo>
                <a:lnTo>
                  <a:pt x="19413624" y="0"/>
                </a:lnTo>
                <a:lnTo>
                  <a:pt x="19413624" y="3152020"/>
                </a:lnTo>
                <a:lnTo>
                  <a:pt x="0" y="3152020"/>
                </a:lnTo>
                <a:lnTo>
                  <a:pt x="0" y="0"/>
                </a:lnTo>
                <a:close/>
              </a:path>
            </a:pathLst>
          </a:custGeom>
          <a:blipFill>
            <a:blip r:embed="rId5"/>
            <a:stretch>
              <a:fillRect l="-158" t="0" r="-158" b="-6838"/>
            </a:stretch>
          </a:blipFill>
        </p:spPr>
      </p:sp>
      <p:sp>
        <p:nvSpPr>
          <p:cNvPr name="Freeform 8" id="8"/>
          <p:cNvSpPr/>
          <p:nvPr/>
        </p:nvSpPr>
        <p:spPr>
          <a:xfrm flipH="false" flipV="false" rot="0">
            <a:off x="-258115" y="7725117"/>
            <a:ext cx="4596925" cy="3109193"/>
          </a:xfrm>
          <a:custGeom>
            <a:avLst/>
            <a:gdLst/>
            <a:ahLst/>
            <a:cxnLst/>
            <a:rect r="r" b="b" t="t" l="l"/>
            <a:pathLst>
              <a:path h="3109193" w="4596925">
                <a:moveTo>
                  <a:pt x="0" y="0"/>
                </a:moveTo>
                <a:lnTo>
                  <a:pt x="4596925" y="0"/>
                </a:lnTo>
                <a:lnTo>
                  <a:pt x="4596925" y="3109193"/>
                </a:lnTo>
                <a:lnTo>
                  <a:pt x="0" y="3109193"/>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9" id="9"/>
          <p:cNvSpPr/>
          <p:nvPr/>
        </p:nvSpPr>
        <p:spPr>
          <a:xfrm flipH="false" flipV="false" rot="0">
            <a:off x="12581823" y="4915567"/>
            <a:ext cx="4573747" cy="4677031"/>
          </a:xfrm>
          <a:custGeom>
            <a:avLst/>
            <a:gdLst/>
            <a:ahLst/>
            <a:cxnLst/>
            <a:rect r="r" b="b" t="t" l="l"/>
            <a:pathLst>
              <a:path h="4677031" w="4573747">
                <a:moveTo>
                  <a:pt x="0" y="0"/>
                </a:moveTo>
                <a:lnTo>
                  <a:pt x="4573747" y="0"/>
                </a:lnTo>
                <a:lnTo>
                  <a:pt x="4573747" y="4677031"/>
                </a:lnTo>
                <a:lnTo>
                  <a:pt x="0" y="4677031"/>
                </a:lnTo>
                <a:lnTo>
                  <a:pt x="0" y="0"/>
                </a:lnTo>
                <a:close/>
              </a:path>
            </a:pathLst>
          </a:custGeom>
          <a:blipFill>
            <a:blip r:embed="rId8"/>
            <a:stretch>
              <a:fillRect l="0" t="0" r="0" b="0"/>
            </a:stretch>
          </a:blipFill>
        </p:spPr>
      </p:sp>
      <p:sp>
        <p:nvSpPr>
          <p:cNvPr name="Freeform 13" id="13"/>
          <p:cNvSpPr/>
          <p:nvPr/>
        </p:nvSpPr>
        <p:spPr>
          <a:xfrm flipH="false" flipV="false" rot="840828">
            <a:off x="6648215" y="2562979"/>
            <a:ext cx="4390913" cy="2405854"/>
          </a:xfrm>
          <a:custGeom>
            <a:avLst/>
            <a:gdLst/>
            <a:ahLst/>
            <a:cxnLst/>
            <a:rect r="r" b="b" t="t" l="l"/>
            <a:pathLst>
              <a:path h="2405854" w="4390913">
                <a:moveTo>
                  <a:pt x="0" y="0"/>
                </a:moveTo>
                <a:lnTo>
                  <a:pt x="4390913" y="0"/>
                </a:lnTo>
                <a:lnTo>
                  <a:pt x="4390913" y="2405854"/>
                </a:lnTo>
                <a:lnTo>
                  <a:pt x="0" y="2405854"/>
                </a:lnTo>
                <a:lnTo>
                  <a:pt x="0" y="0"/>
                </a:lnTo>
                <a:close/>
              </a:path>
            </a:pathLst>
          </a:custGeom>
          <a:blipFill>
            <a:blip r:embed="rId9"/>
            <a:stretch>
              <a:fillRect l="0" t="0" r="0" b="0"/>
            </a:stretch>
          </a:blipFill>
        </p:spPr>
      </p:sp>
      <p:sp>
        <p:nvSpPr>
          <p:cNvPr name="Freeform 14" id="14"/>
          <p:cNvSpPr/>
          <p:nvPr/>
        </p:nvSpPr>
        <p:spPr>
          <a:xfrm flipH="true" flipV="false" rot="0">
            <a:off x="1028700" y="4395916"/>
            <a:ext cx="4385538" cy="3141142"/>
          </a:xfrm>
          <a:custGeom>
            <a:avLst/>
            <a:gdLst/>
            <a:ahLst/>
            <a:cxnLst/>
            <a:rect r="r" b="b" t="t" l="l"/>
            <a:pathLst>
              <a:path h="3141142" w="4385538">
                <a:moveTo>
                  <a:pt x="4385538" y="0"/>
                </a:moveTo>
                <a:lnTo>
                  <a:pt x="0" y="0"/>
                </a:lnTo>
                <a:lnTo>
                  <a:pt x="0" y="3141142"/>
                </a:lnTo>
                <a:lnTo>
                  <a:pt x="4385538" y="3141142"/>
                </a:lnTo>
                <a:lnTo>
                  <a:pt x="4385538" y="0"/>
                </a:lnTo>
                <a:close/>
              </a:path>
            </a:pathLst>
          </a:custGeom>
          <a:blipFill>
            <a:blip r:embed="rId10"/>
            <a:stretch>
              <a:fillRect l="0" t="0" r="0" b="0"/>
            </a:stretch>
          </a:blipFill>
        </p:spPr>
      </p:sp>
      <p:sp>
        <p:nvSpPr>
          <p:cNvPr name="TextBox 15" id="15"/>
          <p:cNvSpPr txBox="true"/>
          <p:nvPr/>
        </p:nvSpPr>
        <p:spPr>
          <a:xfrm rot="0">
            <a:off x="1606326" y="1798776"/>
            <a:ext cx="5137808" cy="2597140"/>
          </a:xfrm>
          <a:prstGeom prst="rect">
            <a:avLst/>
          </a:prstGeom>
        </p:spPr>
        <p:txBody>
          <a:bodyPr anchor="t" rtlCol="false" tIns="0" lIns="0" bIns="0" rIns="0">
            <a:spAutoFit/>
          </a:bodyPr>
          <a:lstStyle/>
          <a:p>
            <a:pPr algn="l">
              <a:lnSpc>
                <a:spcPct val="100000"/>
              </a:lnSpc>
            </a:pPr>
            <a:r>
              <a:rPr lang="en-US" sz="7200" b="true">
                <a:solidFill>
                  <a:srgbClr val="FFFFFF"/>
                </a:solidFill>
                <a:latin typeface="Playpen Sans Bold"/>
                <a:ea typeface="Playpen Sans Bold"/>
                <a:cs typeface="Playpen Sans Bold"/>
                <a:sym typeface="Playpen Sans Bold"/>
              </a:rPr>
              <a:t>Evolusi Gambar</a:t>
            </a:r>
          </a:p>
        </p:txBody>
      </p:sp>
      <p:sp>
        <p:nvSpPr>
          <p:cNvPr name="TextBox 16" id="16"/>
          <p:cNvSpPr txBox="true"/>
          <p:nvPr/>
        </p:nvSpPr>
        <p:spPr>
          <a:xfrm rot="0">
            <a:off x="11391420" y="2298321"/>
            <a:ext cx="3502641" cy="400059"/>
          </a:xfrm>
          <a:prstGeom prst="rect">
            <a:avLst/>
          </a:prstGeom>
        </p:spPr>
        <p:txBody>
          <a:bodyPr anchor="t" rtlCol="false" tIns="0" lIns="0" bIns="0" rIns="0">
            <a:spAutoFit/>
          </a:bodyPr>
          <a:lstStyle/>
          <a:p>
            <a:pPr algn="l">
              <a:lnSpc>
                <a:spcPct val="100000"/>
              </a:lnSpc>
            </a:pPr>
            <a:r>
              <a:rPr lang="en-US" b="true" sz="3600">
                <a:solidFill>
                  <a:srgbClr val="EAC24B"/>
                </a:solidFill>
                <a:latin typeface="Playpen Sans Bold"/>
                <a:ea typeface="Playpen Sans Bold"/>
                <a:cs typeface="Playpen Sans Bold"/>
                <a:sym typeface="Playpen Sans Bold"/>
              </a:rPr>
              <a:t>Satu aturan</a:t>
            </a:r>
          </a:p>
        </p:txBody>
      </p:sp>
      <p:sp>
        <p:nvSpPr>
          <p:cNvPr name="TextBox 18" id="18"/>
          <p:cNvSpPr txBox="true"/>
          <p:nvPr/>
        </p:nvSpPr>
        <p:spPr>
          <a:xfrm rot="0">
            <a:off x="11391420" y="2970332"/>
            <a:ext cx="4647286" cy="958859"/>
          </a:xfrm>
          <a:prstGeom prst="rect">
            <a:avLst/>
          </a:prstGeom>
        </p:spPr>
        <p:txBody>
          <a:bodyPr anchor="t" rtlCol="false" tIns="0" lIns="0" bIns="0" rIns="0">
            <a:spAutoFit/>
          </a:bodyPr>
          <a:lstStyle/>
          <a:p>
            <a:pPr algn="l">
              <a:lnSpc>
                <a:spcPct val="100000"/>
              </a:lnSpc>
            </a:pPr>
            <a:r>
              <a:rPr lang="en-US" sz="3000">
                <a:solidFill>
                  <a:srgbClr val="FFFFFF"/>
                </a:solidFill>
                <a:latin typeface="Playpen Sans"/>
                <a:ea typeface="Playpen Sans"/>
                <a:cs typeface="Playpen Sans"/>
                <a:sym typeface="Playpen Sans"/>
              </a:rPr>
              <a:t>Ubah sedikit. Simpan jika lebih mirip target, buang jika tidak.</a:t>
            </a:r>
          </a:p>
        </p:txBody>
      </p:sp>
      <p:sp>
        <p:nvSpPr>
          <p:cNvPr name="TextBox 19" id="19"/>
          <p:cNvSpPr txBox="true"/>
          <p:nvPr/>
        </p:nvSpPr>
        <p:spPr>
          <a:xfrm rot="0">
            <a:off x="6744134" y="5548525"/>
            <a:ext cx="3502641" cy="400059"/>
          </a:xfrm>
          <a:prstGeom prst="rect">
            <a:avLst/>
          </a:prstGeom>
        </p:spPr>
        <p:txBody>
          <a:bodyPr anchor="t" rtlCol="false" tIns="0" lIns="0" bIns="0" rIns="0">
            <a:spAutoFit/>
          </a:bodyPr>
          <a:lstStyle/>
          <a:p>
            <a:pPr algn="l">
              <a:lnSpc>
                <a:spcPct val="100000"/>
              </a:lnSpc>
            </a:pPr>
            <a:r>
              <a:rPr lang="en-US" sz="3600" b="true">
                <a:solidFill>
                  <a:srgbClr val="EAC24B"/>
                </a:solidFill>
                <a:latin typeface="Playpen Sans Bold"/>
                <a:ea typeface="Playpen Sans Bold"/>
                <a:cs typeface="Playpen Sans Bold"/>
                <a:sym typeface="Playpen Sans Bold"/>
              </a:rPr>
              <a:t>Perhatikan</a:t>
            </a:r>
          </a:p>
        </p:txBody>
      </p:sp>
      <p:sp>
        <p:nvSpPr>
          <p:cNvPr name="TextBox 20" id="20"/>
          <p:cNvSpPr txBox="true"/>
          <p:nvPr/>
        </p:nvSpPr>
        <p:spPr>
          <a:xfrm rot="0">
            <a:off x="6744134" y="6220536"/>
            <a:ext cx="5008179" cy="958859"/>
          </a:xfrm>
          <a:prstGeom prst="rect">
            <a:avLst/>
          </a:prstGeom>
        </p:spPr>
        <p:txBody>
          <a:bodyPr anchor="t" rtlCol="false" tIns="0" lIns="0" bIns="0" rIns="0">
            <a:spAutoFit/>
          </a:bodyPr>
          <a:lstStyle/>
          <a:p>
            <a:pPr algn="l">
              <a:lnSpc>
                <a:spcPct val="100000"/>
              </a:lnSpc>
            </a:pPr>
            <a:r>
              <a:rPr lang="en-US" sz="3200">
                <a:solidFill>
                  <a:srgbClr val="FFFFFF"/>
                </a:solidFill>
                <a:latin typeface="Playpen Sans"/>
                <a:ea typeface="Playpen Sans"/>
                <a:cs typeface="Playpen Sans"/>
                <a:sym typeface="Playpen Sans"/>
              </a:rPr>
              <a:t>Kapan kurva turun cepat? Kapan melambat?</a:t>
            </a:r>
          </a:p>
        </p:txBody>
      </p:sp>
      <p:sp>
        <p:nvSpPr>
          <p:cNvPr name="Freeform 21" id="21"/>
          <p:cNvSpPr/>
          <p:nvPr/>
        </p:nvSpPr>
        <p:spPr>
          <a:xfrm flipH="false" flipV="false" rot="0">
            <a:off x="6422262" y="7876482"/>
            <a:ext cx="4596925" cy="3109193"/>
          </a:xfrm>
          <a:custGeom>
            <a:avLst/>
            <a:gdLst/>
            <a:ahLst/>
            <a:cxnLst/>
            <a:rect r="r" b="b" t="t" l="l"/>
            <a:pathLst>
              <a:path h="3109193" w="4596925">
                <a:moveTo>
                  <a:pt x="0" y="0"/>
                </a:moveTo>
                <a:lnTo>
                  <a:pt x="4596925" y="0"/>
                </a:lnTo>
                <a:lnTo>
                  <a:pt x="4596925" y="3109193"/>
                </a:lnTo>
                <a:lnTo>
                  <a:pt x="0" y="3109193"/>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Tree>
  </p:cSld>
  <p:clrMapOvr>
    <a:masterClrMapping/>
  </p:clrMapOvr>
</p:sld>
</file>

<file path=ppt/slides/slide1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67928" r="0" b="-67928"/>
            </a:stretch>
          </a:blipFill>
        </p:spPr>
      </p:sp>
      <p:sp>
        <p:nvSpPr>
          <p:cNvPr name="Freeform 3" id="3"/>
          <p:cNvSpPr/>
          <p:nvPr/>
        </p:nvSpPr>
        <p:spPr>
          <a:xfrm flipH="false" flipV="false" rot="0">
            <a:off x="12533569" y="-21055"/>
            <a:ext cx="5762298" cy="6532600"/>
          </a:xfrm>
          <a:custGeom>
            <a:avLst/>
            <a:gdLst/>
            <a:ahLst/>
            <a:cxnLst/>
            <a:rect r="r" b="b" t="t" l="l"/>
            <a:pathLst>
              <a:path h="6532600" w="5762298">
                <a:moveTo>
                  <a:pt x="0" y="0"/>
                </a:moveTo>
                <a:lnTo>
                  <a:pt x="5762298" y="0"/>
                </a:lnTo>
                <a:lnTo>
                  <a:pt x="5762298" y="6532600"/>
                </a:lnTo>
                <a:lnTo>
                  <a:pt x="0" y="6532600"/>
                </a:lnTo>
                <a:lnTo>
                  <a:pt x="0" y="0"/>
                </a:lnTo>
                <a:close/>
              </a:path>
            </a:pathLst>
          </a:custGeom>
          <a:blipFill>
            <a:blip r:embed="rId3"/>
            <a:stretch>
              <a:fillRect l="0" t="0" r="0" b="0"/>
            </a:stretch>
          </a:blipFill>
        </p:spPr>
      </p:sp>
      <p:sp>
        <p:nvSpPr>
          <p:cNvPr name="Freeform 4" id="4"/>
          <p:cNvSpPr/>
          <p:nvPr/>
        </p:nvSpPr>
        <p:spPr>
          <a:xfrm flipH="false" flipV="false" rot="0">
            <a:off x="12978766" y="2004481"/>
            <a:ext cx="5309234" cy="5465964"/>
          </a:xfrm>
          <a:custGeom>
            <a:avLst/>
            <a:gdLst/>
            <a:ahLst/>
            <a:cxnLst/>
            <a:rect r="r" b="b" t="t" l="l"/>
            <a:pathLst>
              <a:path h="5465964" w="5309234">
                <a:moveTo>
                  <a:pt x="0" y="0"/>
                </a:moveTo>
                <a:lnTo>
                  <a:pt x="5309234" y="0"/>
                </a:lnTo>
                <a:lnTo>
                  <a:pt x="5309234" y="5465965"/>
                </a:lnTo>
                <a:lnTo>
                  <a:pt x="0" y="5465965"/>
                </a:lnTo>
                <a:lnTo>
                  <a:pt x="0" y="0"/>
                </a:lnTo>
                <a:close/>
              </a:path>
            </a:pathLst>
          </a:custGeom>
          <a:blipFill>
            <a:blip r:embed="rId4"/>
            <a:stretch>
              <a:fillRect l="0" t="0" r="0" b="0"/>
            </a:stretch>
          </a:blipFill>
        </p:spPr>
      </p:sp>
      <p:sp>
        <p:nvSpPr>
          <p:cNvPr name="Freeform 5" id="5"/>
          <p:cNvSpPr/>
          <p:nvPr/>
        </p:nvSpPr>
        <p:spPr>
          <a:xfrm flipH="true" flipV="false" rot="0">
            <a:off x="-29416" y="0"/>
            <a:ext cx="5762298" cy="6532600"/>
          </a:xfrm>
          <a:custGeom>
            <a:avLst/>
            <a:gdLst/>
            <a:ahLst/>
            <a:cxnLst/>
            <a:rect r="r" b="b" t="t" l="l"/>
            <a:pathLst>
              <a:path h="6532600" w="5762298">
                <a:moveTo>
                  <a:pt x="5762298" y="0"/>
                </a:moveTo>
                <a:lnTo>
                  <a:pt x="0" y="0"/>
                </a:lnTo>
                <a:lnTo>
                  <a:pt x="0" y="6532600"/>
                </a:lnTo>
                <a:lnTo>
                  <a:pt x="5762298" y="6532600"/>
                </a:lnTo>
                <a:lnTo>
                  <a:pt x="5762298" y="0"/>
                </a:lnTo>
                <a:close/>
              </a:path>
            </a:pathLst>
          </a:custGeom>
          <a:blipFill>
            <a:blip r:embed="rId3"/>
            <a:stretch>
              <a:fillRect l="0" t="0" r="0" b="0"/>
            </a:stretch>
          </a:blipFill>
        </p:spPr>
      </p:sp>
      <p:sp>
        <p:nvSpPr>
          <p:cNvPr name="Freeform 6" id="6"/>
          <p:cNvSpPr/>
          <p:nvPr/>
        </p:nvSpPr>
        <p:spPr>
          <a:xfrm flipH="false" flipV="false" rot="0">
            <a:off x="423648" y="2410518"/>
            <a:ext cx="5309234" cy="5465964"/>
          </a:xfrm>
          <a:custGeom>
            <a:avLst/>
            <a:gdLst/>
            <a:ahLst/>
            <a:cxnLst/>
            <a:rect r="r" b="b" t="t" l="l"/>
            <a:pathLst>
              <a:path h="5465964" w="5309234">
                <a:moveTo>
                  <a:pt x="0" y="0"/>
                </a:moveTo>
                <a:lnTo>
                  <a:pt x="5309234" y="0"/>
                </a:lnTo>
                <a:lnTo>
                  <a:pt x="5309234" y="5465964"/>
                </a:lnTo>
                <a:lnTo>
                  <a:pt x="0" y="5465964"/>
                </a:lnTo>
                <a:lnTo>
                  <a:pt x="0" y="0"/>
                </a:lnTo>
                <a:close/>
              </a:path>
            </a:pathLst>
          </a:custGeom>
          <a:blipFill>
            <a:blip r:embed="rId4"/>
            <a:stretch>
              <a:fillRect l="0" t="0" r="0" b="0"/>
            </a:stretch>
          </a:blipFill>
        </p:spPr>
      </p:sp>
      <p:sp>
        <p:nvSpPr>
          <p:cNvPr name="Freeform 7" id="7"/>
          <p:cNvSpPr/>
          <p:nvPr/>
        </p:nvSpPr>
        <p:spPr>
          <a:xfrm flipH="false" flipV="false" rot="0">
            <a:off x="-317430" y="7660946"/>
            <a:ext cx="18613297" cy="3022078"/>
          </a:xfrm>
          <a:custGeom>
            <a:avLst/>
            <a:gdLst/>
            <a:ahLst/>
            <a:cxnLst/>
            <a:rect r="r" b="b" t="t" l="l"/>
            <a:pathLst>
              <a:path h="3022078" w="18613297">
                <a:moveTo>
                  <a:pt x="0" y="0"/>
                </a:moveTo>
                <a:lnTo>
                  <a:pt x="18613297" y="0"/>
                </a:lnTo>
                <a:lnTo>
                  <a:pt x="18613297" y="3022077"/>
                </a:lnTo>
                <a:lnTo>
                  <a:pt x="0" y="3022077"/>
                </a:lnTo>
                <a:lnTo>
                  <a:pt x="0" y="0"/>
                </a:lnTo>
                <a:close/>
              </a:path>
            </a:pathLst>
          </a:custGeom>
          <a:blipFill>
            <a:blip r:embed="rId5"/>
            <a:stretch>
              <a:fillRect l="-158" t="0" r="-158" b="-6838"/>
            </a:stretch>
          </a:blipFill>
        </p:spPr>
      </p:sp>
      <p:sp>
        <p:nvSpPr>
          <p:cNvPr name="Freeform 11" id="11"/>
          <p:cNvSpPr/>
          <p:nvPr/>
        </p:nvSpPr>
        <p:spPr>
          <a:xfrm flipH="false" flipV="false" rot="0">
            <a:off x="681269" y="7470446"/>
            <a:ext cx="6083710" cy="4114800"/>
          </a:xfrm>
          <a:custGeom>
            <a:avLst/>
            <a:gdLst/>
            <a:ahLst/>
            <a:cxnLst/>
            <a:rect r="r" b="b" t="t" l="l"/>
            <a:pathLst>
              <a:path h="4114800" w="6083710">
                <a:moveTo>
                  <a:pt x="0" y="0"/>
                </a:moveTo>
                <a:lnTo>
                  <a:pt x="6083709" y="0"/>
                </a:lnTo>
                <a:lnTo>
                  <a:pt x="6083709" y="4114800"/>
                </a:lnTo>
                <a:lnTo>
                  <a:pt x="0" y="4114800"/>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name="Freeform 13" id="13"/>
          <p:cNvSpPr/>
          <p:nvPr/>
        </p:nvSpPr>
        <p:spPr>
          <a:xfrm flipH="false" flipV="false" rot="0">
            <a:off x="9549673" y="7660946"/>
            <a:ext cx="6083710" cy="4114800"/>
          </a:xfrm>
          <a:custGeom>
            <a:avLst/>
            <a:gdLst/>
            <a:ahLst/>
            <a:cxnLst/>
            <a:rect r="r" b="b" t="t" l="l"/>
            <a:pathLst>
              <a:path h="4114800" w="6083710">
                <a:moveTo>
                  <a:pt x="0" y="0"/>
                </a:moveTo>
                <a:lnTo>
                  <a:pt x="6083710" y="0"/>
                </a:lnTo>
                <a:lnTo>
                  <a:pt x="6083710" y="4114800"/>
                </a:lnTo>
                <a:lnTo>
                  <a:pt x="0" y="4114800"/>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id="14" name="Panel"/>
          <p:cNvSpPr/>
          <p:nvPr/>
        </p:nvSpPr>
        <p:spPr>
          <a:xfrm>
            <a:off x="914400" y="731520"/>
            <a:ext cx="16459200" cy="6675120"/>
          </a:xfrm>
          <a:prstGeom prst="roundRect">
            <a:avLst>
              <a:gd name="adj" fmla="val 5000"/>
            </a:avLst>
          </a:prstGeom>
          <a:solidFill>
            <a:srgbClr val="0A2540">
              <a:alpha val="8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Judul"/>
          <p:cNvSpPr txBox="1"/>
          <p:nvPr/>
        </p:nvSpPr>
        <p:spPr>
          <a:xfrm>
            <a:off x="1508760" y="914400"/>
            <a:ext cx="15270480" cy="1097280"/>
          </a:xfrm>
          <a:prstGeom prst="rect">
            <a:avLst/>
          </a:prstGeom>
          <a:noFill/>
        </p:spPr>
        <p:txBody>
          <a:bodyPr wrap="square" lIns="0" rIns="0" tIns="0" bIns="0" anchor="t">
            <a:spAutoFit/>
          </a:bodyPr>
          <a:lstStyle/>
          <a:p>
            <a:pPr algn="l">
              <a:spcAft>
                <a:spcPts val="0"/>
              </a:spcAft>
            </a:pPr>
            <a:r>
              <a:rPr sz="5400">
                <a:solidFill>
                  <a:srgbClr val="F7B125"/>
                </a:solidFill>
                <a:latin typeface="Playpen Sans Bold"/>
              </a:rPr>
              <a:t>Empat Kata yang Muncul Setiap Pekan</a:t>
            </a:r>
          </a:p>
        </p:txBody>
      </p:sp>
      <p:sp>
        <p:nvSpPr>
          <p:cNvPr id="16" name="Kartu 1"/>
          <p:cNvSpPr/>
          <p:nvPr/>
        </p:nvSpPr>
        <p:spPr>
          <a:xfrm>
            <a:off x="1508760" y="2148840"/>
            <a:ext cx="3577589" cy="4114800"/>
          </a:xfrm>
          <a:prstGeom prst="roundRect">
            <a:avLst>
              <a:gd name="adj" fmla="val 5000"/>
            </a:avLst>
          </a:prstGeom>
          <a:solidFill>
            <a:srgbClr val="14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ag Model"/>
          <p:cNvSpPr/>
          <p:nvPr/>
        </p:nvSpPr>
        <p:spPr>
          <a:xfrm>
            <a:off x="1737360" y="2331720"/>
            <a:ext cx="3120389" cy="640080"/>
          </a:xfrm>
          <a:prstGeom prst="roundRect">
            <a:avLst>
              <a:gd name="adj" fmla="val 50000"/>
            </a:avLst>
          </a:prstGeom>
          <a:solidFill>
            <a:srgbClr val="FF8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ks tag Model"/>
          <p:cNvSpPr txBox="1"/>
          <p:nvPr/>
        </p:nvSpPr>
        <p:spPr>
          <a:xfrm>
            <a:off x="1737360" y="2395728"/>
            <a:ext cx="3120389" cy="548640"/>
          </a:xfrm>
          <a:prstGeom prst="rect">
            <a:avLst/>
          </a:prstGeom>
          <a:noFill/>
        </p:spPr>
        <p:txBody>
          <a:bodyPr wrap="square" lIns="0" rIns="0" tIns="0" bIns="0" anchor="t">
            <a:spAutoFit/>
          </a:bodyPr>
          <a:lstStyle/>
          <a:p>
            <a:pPr algn="ctr">
              <a:spcAft>
                <a:spcPts val="0"/>
              </a:spcAft>
            </a:pPr>
            <a:r>
              <a:rPr sz="2200">
                <a:solidFill>
                  <a:srgbClr val="0A2540"/>
                </a:solidFill>
                <a:latin typeface="Playpen Sans Bold"/>
              </a:rPr>
              <a:t>Model</a:t>
            </a:r>
          </a:p>
        </p:txBody>
      </p:sp>
      <p:sp>
        <p:nvSpPr>
          <p:cNvPr id="19" name="Isi kartu 1"/>
          <p:cNvSpPr txBox="1"/>
          <p:nvPr/>
        </p:nvSpPr>
        <p:spPr>
          <a:xfrm>
            <a:off x="1783080" y="3154680"/>
            <a:ext cx="3028949" cy="2971800"/>
          </a:xfrm>
          <a:prstGeom prst="rect">
            <a:avLst/>
          </a:prstGeom>
          <a:noFill/>
        </p:spPr>
        <p:txBody>
          <a:bodyPr wrap="square" lIns="0" rIns="0" tIns="0" bIns="0" anchor="t">
            <a:spAutoFit/>
          </a:bodyPr>
          <a:lstStyle/>
          <a:p>
            <a:pPr algn="l">
              <a:spcAft>
                <a:spcPts val="1200"/>
              </a:spcAft>
            </a:pPr>
            <a:r>
              <a:rPr sz="3000">
                <a:solidFill>
                  <a:srgbClr val="FFFFFF"/>
                </a:solidFill>
                <a:latin typeface="Playpen Sans Bold"/>
              </a:rPr>
              <a:t>Rumus dengan kenop</a:t>
            </a:r>
          </a:p>
          <a:p>
            <a:pPr algn="l">
              <a:spcAft>
                <a:spcPts val="0"/>
              </a:spcAft>
            </a:pPr>
            <a:r>
              <a:rPr sz="2700">
                <a:solidFill>
                  <a:srgbClr val="F7B125"/>
                </a:solidFill>
                <a:latin typeface="Playpen Sans"/>
              </a:rPr>
              <a:t>tarif = a × jarak + b</a:t>
            </a:r>
          </a:p>
        </p:txBody>
      </p:sp>
      <p:sp>
        <p:nvSpPr>
          <p:cNvPr id="20" name="Kartu 2"/>
          <p:cNvSpPr/>
          <p:nvPr/>
        </p:nvSpPr>
        <p:spPr>
          <a:xfrm>
            <a:off x="5406390" y="2148840"/>
            <a:ext cx="3577589" cy="4114800"/>
          </a:xfrm>
          <a:prstGeom prst="roundRect">
            <a:avLst>
              <a:gd name="adj" fmla="val 5000"/>
            </a:avLst>
          </a:prstGeom>
          <a:solidFill>
            <a:srgbClr val="14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ag Galat"/>
          <p:cNvSpPr/>
          <p:nvPr/>
        </p:nvSpPr>
        <p:spPr>
          <a:xfrm>
            <a:off x="5634990" y="2331720"/>
            <a:ext cx="3120389" cy="640080"/>
          </a:xfrm>
          <a:prstGeom prst="roundRect">
            <a:avLst>
              <a:gd name="adj" fmla="val 50000"/>
            </a:avLst>
          </a:prstGeom>
          <a:solidFill>
            <a:srgbClr val="F7B1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ks tag Galat"/>
          <p:cNvSpPr txBox="1"/>
          <p:nvPr/>
        </p:nvSpPr>
        <p:spPr>
          <a:xfrm>
            <a:off x="5634990" y="2395728"/>
            <a:ext cx="3120389" cy="548640"/>
          </a:xfrm>
          <a:prstGeom prst="rect">
            <a:avLst/>
          </a:prstGeom>
          <a:noFill/>
        </p:spPr>
        <p:txBody>
          <a:bodyPr wrap="square" lIns="0" rIns="0" tIns="0" bIns="0" anchor="t">
            <a:spAutoFit/>
          </a:bodyPr>
          <a:lstStyle/>
          <a:p>
            <a:pPr algn="ctr">
              <a:spcAft>
                <a:spcPts val="0"/>
              </a:spcAft>
            </a:pPr>
            <a:r>
              <a:rPr sz="2200">
                <a:solidFill>
                  <a:srgbClr val="0A2540"/>
                </a:solidFill>
                <a:latin typeface="Playpen Sans Bold"/>
              </a:rPr>
              <a:t>Galat</a:t>
            </a:r>
          </a:p>
        </p:txBody>
      </p:sp>
      <p:sp>
        <p:nvSpPr>
          <p:cNvPr id="23" name="Isi kartu 2"/>
          <p:cNvSpPr txBox="1"/>
          <p:nvPr/>
        </p:nvSpPr>
        <p:spPr>
          <a:xfrm>
            <a:off x="5680709" y="3154680"/>
            <a:ext cx="3028949" cy="2971800"/>
          </a:xfrm>
          <a:prstGeom prst="rect">
            <a:avLst/>
          </a:prstGeom>
          <a:noFill/>
        </p:spPr>
        <p:txBody>
          <a:bodyPr wrap="square" lIns="0" rIns="0" tIns="0" bIns="0" anchor="t">
            <a:spAutoFit/>
          </a:bodyPr>
          <a:lstStyle/>
          <a:p>
            <a:pPr algn="l">
              <a:spcAft>
                <a:spcPts val="1200"/>
              </a:spcAft>
            </a:pPr>
            <a:r>
              <a:rPr sz="3000">
                <a:solidFill>
                  <a:srgbClr val="FFFFFF"/>
                </a:solidFill>
                <a:latin typeface="Playpen Sans Bold"/>
              </a:rPr>
              <a:t>Seberapa salah modelnya</a:t>
            </a:r>
          </a:p>
          <a:p>
            <a:pPr algn="l">
              <a:spcAft>
                <a:spcPts val="0"/>
              </a:spcAft>
            </a:pPr>
            <a:r>
              <a:rPr sz="2700">
                <a:solidFill>
                  <a:srgbClr val="F7B125"/>
                </a:solidFill>
                <a:latin typeface="Playpen Sans"/>
              </a:rPr>
              <a:t>Aplikasi bilang tiba 10 menit, nyatanya 25</a:t>
            </a:r>
          </a:p>
        </p:txBody>
      </p:sp>
      <p:sp>
        <p:nvSpPr>
          <p:cNvPr id="24" name="Kartu 3"/>
          <p:cNvSpPr/>
          <p:nvPr/>
        </p:nvSpPr>
        <p:spPr>
          <a:xfrm>
            <a:off x="9304019" y="2148840"/>
            <a:ext cx="3577589" cy="4114800"/>
          </a:xfrm>
          <a:prstGeom prst="roundRect">
            <a:avLst>
              <a:gd name="adj" fmla="val 5000"/>
            </a:avLst>
          </a:prstGeom>
          <a:solidFill>
            <a:srgbClr val="14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ag Pencarian"/>
          <p:cNvSpPr/>
          <p:nvPr/>
        </p:nvSpPr>
        <p:spPr>
          <a:xfrm>
            <a:off x="9532619" y="2331720"/>
            <a:ext cx="3120389" cy="640080"/>
          </a:xfrm>
          <a:prstGeom prst="roundRect">
            <a:avLst>
              <a:gd name="adj" fmla="val 50000"/>
            </a:avLst>
          </a:prstGeom>
          <a:solidFill>
            <a:srgbClr val="3DD6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ks tag Pencarian"/>
          <p:cNvSpPr txBox="1"/>
          <p:nvPr/>
        </p:nvSpPr>
        <p:spPr>
          <a:xfrm>
            <a:off x="9532619" y="2395728"/>
            <a:ext cx="3120389" cy="548640"/>
          </a:xfrm>
          <a:prstGeom prst="rect">
            <a:avLst/>
          </a:prstGeom>
          <a:noFill/>
        </p:spPr>
        <p:txBody>
          <a:bodyPr wrap="square" lIns="0" rIns="0" tIns="0" bIns="0" anchor="t">
            <a:spAutoFit/>
          </a:bodyPr>
          <a:lstStyle/>
          <a:p>
            <a:pPr algn="ctr">
              <a:spcAft>
                <a:spcPts val="0"/>
              </a:spcAft>
            </a:pPr>
            <a:r>
              <a:rPr sz="2200">
                <a:solidFill>
                  <a:srgbClr val="0A2540"/>
                </a:solidFill>
                <a:latin typeface="Playpen Sans Bold"/>
              </a:rPr>
              <a:t>Pencarian</a:t>
            </a:r>
          </a:p>
        </p:txBody>
      </p:sp>
      <p:sp>
        <p:nvSpPr>
          <p:cNvPr id="27" name="Isi kartu 3"/>
          <p:cNvSpPr txBox="1"/>
          <p:nvPr/>
        </p:nvSpPr>
        <p:spPr>
          <a:xfrm>
            <a:off x="9578340" y="3154680"/>
            <a:ext cx="3028949" cy="2971800"/>
          </a:xfrm>
          <a:prstGeom prst="rect">
            <a:avLst/>
          </a:prstGeom>
          <a:noFill/>
        </p:spPr>
        <p:txBody>
          <a:bodyPr wrap="square" lIns="0" rIns="0" tIns="0" bIns="0" anchor="t">
            <a:spAutoFit/>
          </a:bodyPr>
          <a:lstStyle/>
          <a:p>
            <a:pPr algn="l">
              <a:spcAft>
                <a:spcPts val="1200"/>
              </a:spcAft>
            </a:pPr>
            <a:r>
              <a:rPr sz="3000">
                <a:solidFill>
                  <a:srgbClr val="FFFFFF"/>
                </a:solidFill>
                <a:latin typeface="Playpen Sans Bold"/>
              </a:rPr>
              <a:t>Cara memutar kenop</a:t>
            </a:r>
          </a:p>
          <a:p>
            <a:pPr algn="l">
              <a:spcAft>
                <a:spcPts val="0"/>
              </a:spcAft>
            </a:pPr>
            <a:r>
              <a:rPr sz="2700">
                <a:solidFill>
                  <a:srgbClr val="F7B125"/>
                </a:solidFill>
                <a:latin typeface="Playpen Sans"/>
              </a:rPr>
              <a:t>Tambah gula sedikit demi sedikit sampai kopinya pas</a:t>
            </a:r>
          </a:p>
        </p:txBody>
      </p:sp>
      <p:sp>
        <p:nvSpPr>
          <p:cNvPr id="28" name="Kartu 4"/>
          <p:cNvSpPr/>
          <p:nvPr/>
        </p:nvSpPr>
        <p:spPr>
          <a:xfrm>
            <a:off x="13201649" y="2148840"/>
            <a:ext cx="3577589" cy="4114800"/>
          </a:xfrm>
          <a:prstGeom prst="roundRect">
            <a:avLst>
              <a:gd name="adj" fmla="val 5000"/>
            </a:avLst>
          </a:prstGeom>
          <a:solidFill>
            <a:srgbClr val="14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ag Anggaran"/>
          <p:cNvSpPr/>
          <p:nvPr/>
        </p:nvSpPr>
        <p:spPr>
          <a:xfrm>
            <a:off x="13430249" y="2331720"/>
            <a:ext cx="3120389" cy="640080"/>
          </a:xfrm>
          <a:prstGeom prst="roundRect">
            <a:avLst>
              <a:gd name="adj" fmla="val 50000"/>
            </a:avLst>
          </a:prstGeom>
          <a:solidFill>
            <a:srgbClr val="B8A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ks tag Anggaran"/>
          <p:cNvSpPr txBox="1"/>
          <p:nvPr/>
        </p:nvSpPr>
        <p:spPr>
          <a:xfrm>
            <a:off x="13430249" y="2395728"/>
            <a:ext cx="3120389" cy="548640"/>
          </a:xfrm>
          <a:prstGeom prst="rect">
            <a:avLst/>
          </a:prstGeom>
          <a:noFill/>
        </p:spPr>
        <p:txBody>
          <a:bodyPr wrap="square" lIns="0" rIns="0" tIns="0" bIns="0" anchor="t">
            <a:spAutoFit/>
          </a:bodyPr>
          <a:lstStyle/>
          <a:p>
            <a:pPr algn="ctr">
              <a:spcAft>
                <a:spcPts val="0"/>
              </a:spcAft>
            </a:pPr>
            <a:r>
              <a:rPr sz="2200">
                <a:solidFill>
                  <a:srgbClr val="0A2540"/>
                </a:solidFill>
                <a:latin typeface="Playpen Sans Bold"/>
              </a:rPr>
              <a:t>Anggaran</a:t>
            </a:r>
          </a:p>
        </p:txBody>
      </p:sp>
      <p:sp>
        <p:nvSpPr>
          <p:cNvPr id="31" name="Isi kartu 4"/>
          <p:cNvSpPr txBox="1"/>
          <p:nvPr/>
        </p:nvSpPr>
        <p:spPr>
          <a:xfrm>
            <a:off x="13475969" y="3154680"/>
            <a:ext cx="3028949" cy="2971800"/>
          </a:xfrm>
          <a:prstGeom prst="rect">
            <a:avLst/>
          </a:prstGeom>
          <a:noFill/>
        </p:spPr>
        <p:txBody>
          <a:bodyPr wrap="square" lIns="0" rIns="0" tIns="0" bIns="0" anchor="t">
            <a:spAutoFit/>
          </a:bodyPr>
          <a:lstStyle/>
          <a:p>
            <a:pPr algn="l">
              <a:spcAft>
                <a:spcPts val="1200"/>
              </a:spcAft>
            </a:pPr>
            <a:r>
              <a:rPr sz="3000">
                <a:solidFill>
                  <a:srgbClr val="FFFFFF"/>
                </a:solidFill>
                <a:latin typeface="Playpen Sans Bold"/>
              </a:rPr>
              <a:t>Berapa kali boleh mencoba</a:t>
            </a:r>
          </a:p>
          <a:p>
            <a:pPr algn="l">
              <a:spcAft>
                <a:spcPts val="0"/>
              </a:spcAft>
            </a:pPr>
            <a:r>
              <a:rPr sz="2700">
                <a:solidFill>
                  <a:srgbClr val="F7B125"/>
                </a:solidFill>
                <a:latin typeface="Playpen Sans"/>
              </a:rPr>
              <a:t>Hanya tiga kali cicip sebelum tamu datang</a:t>
            </a:r>
          </a:p>
        </p:txBody>
      </p:sp>
      <p:sp>
        <p:nvSpPr>
          <p:cNvPr id="32" name="Penutup"/>
          <p:cNvSpPr txBox="1"/>
          <p:nvPr/>
        </p:nvSpPr>
        <p:spPr>
          <a:xfrm>
            <a:off x="1508760" y="6446520"/>
            <a:ext cx="15270480" cy="731520"/>
          </a:xfrm>
          <a:prstGeom prst="rect">
            <a:avLst/>
          </a:prstGeom>
          <a:noFill/>
        </p:spPr>
        <p:txBody>
          <a:bodyPr wrap="square" lIns="0" rIns="0" tIns="0" bIns="0" anchor="t">
            <a:spAutoFit/>
          </a:bodyPr>
          <a:lstStyle/>
          <a:p>
            <a:pPr algn="ctr">
              <a:spcAft>
                <a:spcPts val="0"/>
              </a:spcAft>
            </a:pPr>
            <a:r>
              <a:rPr sz="3000">
                <a:solidFill>
                  <a:srgbClr val="FFFFFF"/>
                </a:solidFill>
                <a:latin typeface="Playpen Sans Bold"/>
              </a:rPr>
              <a:t>Keempatnya akan kamu pakai di game penutup hari ini</a:t>
            </a:r>
          </a:p>
        </p:txBody>
      </p:sp>
    </p:spTree>
  </p:cSld>
  <p:clrMapOvr>
    <a:masterClrMapping/>
  </p:clrMapOvr>
</p:sld>
</file>

<file path=ppt/slides/slide1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67928" r="0" b="-67928"/>
            </a:stretch>
          </a:blipFill>
        </p:spPr>
      </p:sp>
      <p:sp>
        <p:nvSpPr>
          <p:cNvPr name="Freeform 3" id="3"/>
          <p:cNvSpPr/>
          <p:nvPr/>
        </p:nvSpPr>
        <p:spPr>
          <a:xfrm flipH="false" flipV="false" rot="0">
            <a:off x="12533569" y="-21055"/>
            <a:ext cx="5762298" cy="6532600"/>
          </a:xfrm>
          <a:custGeom>
            <a:avLst/>
            <a:gdLst/>
            <a:ahLst/>
            <a:cxnLst/>
            <a:rect r="r" b="b" t="t" l="l"/>
            <a:pathLst>
              <a:path h="6532600" w="5762298">
                <a:moveTo>
                  <a:pt x="0" y="0"/>
                </a:moveTo>
                <a:lnTo>
                  <a:pt x="5762298" y="0"/>
                </a:lnTo>
                <a:lnTo>
                  <a:pt x="5762298" y="6532600"/>
                </a:lnTo>
                <a:lnTo>
                  <a:pt x="0" y="6532600"/>
                </a:lnTo>
                <a:lnTo>
                  <a:pt x="0" y="0"/>
                </a:lnTo>
                <a:close/>
              </a:path>
            </a:pathLst>
          </a:custGeom>
          <a:blipFill>
            <a:blip r:embed="rId3"/>
            <a:stretch>
              <a:fillRect l="0" t="0" r="0" b="0"/>
            </a:stretch>
          </a:blipFill>
        </p:spPr>
      </p:sp>
      <p:sp>
        <p:nvSpPr>
          <p:cNvPr name="Freeform 4" id="4"/>
          <p:cNvSpPr/>
          <p:nvPr/>
        </p:nvSpPr>
        <p:spPr>
          <a:xfrm flipH="false" flipV="false" rot="0">
            <a:off x="12978766" y="2004481"/>
            <a:ext cx="5309234" cy="5465964"/>
          </a:xfrm>
          <a:custGeom>
            <a:avLst/>
            <a:gdLst/>
            <a:ahLst/>
            <a:cxnLst/>
            <a:rect r="r" b="b" t="t" l="l"/>
            <a:pathLst>
              <a:path h="5465964" w="5309234">
                <a:moveTo>
                  <a:pt x="0" y="0"/>
                </a:moveTo>
                <a:lnTo>
                  <a:pt x="5309234" y="0"/>
                </a:lnTo>
                <a:lnTo>
                  <a:pt x="5309234" y="5465965"/>
                </a:lnTo>
                <a:lnTo>
                  <a:pt x="0" y="5465965"/>
                </a:lnTo>
                <a:lnTo>
                  <a:pt x="0" y="0"/>
                </a:lnTo>
                <a:close/>
              </a:path>
            </a:pathLst>
          </a:custGeom>
          <a:blipFill>
            <a:blip r:embed="rId4"/>
            <a:stretch>
              <a:fillRect l="0" t="0" r="0" b="0"/>
            </a:stretch>
          </a:blipFill>
        </p:spPr>
      </p:sp>
      <p:sp>
        <p:nvSpPr>
          <p:cNvPr name="Freeform 5" id="5"/>
          <p:cNvSpPr/>
          <p:nvPr/>
        </p:nvSpPr>
        <p:spPr>
          <a:xfrm flipH="true" flipV="false" rot="0">
            <a:off x="-29416" y="0"/>
            <a:ext cx="5762298" cy="6532600"/>
          </a:xfrm>
          <a:custGeom>
            <a:avLst/>
            <a:gdLst/>
            <a:ahLst/>
            <a:cxnLst/>
            <a:rect r="r" b="b" t="t" l="l"/>
            <a:pathLst>
              <a:path h="6532600" w="5762298">
                <a:moveTo>
                  <a:pt x="5762298" y="0"/>
                </a:moveTo>
                <a:lnTo>
                  <a:pt x="0" y="0"/>
                </a:lnTo>
                <a:lnTo>
                  <a:pt x="0" y="6532600"/>
                </a:lnTo>
                <a:lnTo>
                  <a:pt x="5762298" y="6532600"/>
                </a:lnTo>
                <a:lnTo>
                  <a:pt x="5762298" y="0"/>
                </a:lnTo>
                <a:close/>
              </a:path>
            </a:pathLst>
          </a:custGeom>
          <a:blipFill>
            <a:blip r:embed="rId3"/>
            <a:stretch>
              <a:fillRect l="0" t="0" r="0" b="0"/>
            </a:stretch>
          </a:blipFill>
        </p:spPr>
      </p:sp>
      <p:sp>
        <p:nvSpPr>
          <p:cNvPr name="Freeform 6" id="6"/>
          <p:cNvSpPr/>
          <p:nvPr/>
        </p:nvSpPr>
        <p:spPr>
          <a:xfrm flipH="false" flipV="false" rot="0">
            <a:off x="423648" y="2410518"/>
            <a:ext cx="5309234" cy="5465964"/>
          </a:xfrm>
          <a:custGeom>
            <a:avLst/>
            <a:gdLst/>
            <a:ahLst/>
            <a:cxnLst/>
            <a:rect r="r" b="b" t="t" l="l"/>
            <a:pathLst>
              <a:path h="5465964" w="5309234">
                <a:moveTo>
                  <a:pt x="0" y="0"/>
                </a:moveTo>
                <a:lnTo>
                  <a:pt x="5309234" y="0"/>
                </a:lnTo>
                <a:lnTo>
                  <a:pt x="5309234" y="5465964"/>
                </a:lnTo>
                <a:lnTo>
                  <a:pt x="0" y="5465964"/>
                </a:lnTo>
                <a:lnTo>
                  <a:pt x="0" y="0"/>
                </a:lnTo>
                <a:close/>
              </a:path>
            </a:pathLst>
          </a:custGeom>
          <a:blipFill>
            <a:blip r:embed="rId4"/>
            <a:stretch>
              <a:fillRect l="0" t="0" r="0" b="0"/>
            </a:stretch>
          </a:blipFill>
        </p:spPr>
      </p:sp>
      <p:sp>
        <p:nvSpPr>
          <p:cNvPr name="Freeform 7" id="7"/>
          <p:cNvSpPr/>
          <p:nvPr/>
        </p:nvSpPr>
        <p:spPr>
          <a:xfrm flipH="false" flipV="false" rot="0">
            <a:off x="-317430" y="7660946"/>
            <a:ext cx="18613297" cy="3022078"/>
          </a:xfrm>
          <a:custGeom>
            <a:avLst/>
            <a:gdLst/>
            <a:ahLst/>
            <a:cxnLst/>
            <a:rect r="r" b="b" t="t" l="l"/>
            <a:pathLst>
              <a:path h="3022078" w="18613297">
                <a:moveTo>
                  <a:pt x="0" y="0"/>
                </a:moveTo>
                <a:lnTo>
                  <a:pt x="18613297" y="0"/>
                </a:lnTo>
                <a:lnTo>
                  <a:pt x="18613297" y="3022077"/>
                </a:lnTo>
                <a:lnTo>
                  <a:pt x="0" y="3022077"/>
                </a:lnTo>
                <a:lnTo>
                  <a:pt x="0" y="0"/>
                </a:lnTo>
                <a:close/>
              </a:path>
            </a:pathLst>
          </a:custGeom>
          <a:blipFill>
            <a:blip r:embed="rId5"/>
            <a:stretch>
              <a:fillRect l="-158" t="0" r="-158" b="-6838"/>
            </a:stretch>
          </a:blipFill>
        </p:spPr>
      </p:sp>
      <p:sp>
        <p:nvSpPr>
          <p:cNvPr name="Freeform 9" id="9"/>
          <p:cNvSpPr/>
          <p:nvPr/>
        </p:nvSpPr>
        <p:spPr>
          <a:xfrm flipH="false" flipV="false" rot="0">
            <a:off x="12978766" y="2453423"/>
            <a:ext cx="7524206" cy="8229600"/>
          </a:xfrm>
          <a:custGeom>
            <a:avLst/>
            <a:gdLst/>
            <a:ahLst/>
            <a:cxnLst/>
            <a:rect r="r" b="b" t="t" l="l"/>
            <a:pathLst>
              <a:path h="8229600" w="7524206">
                <a:moveTo>
                  <a:pt x="0" y="0"/>
                </a:moveTo>
                <a:lnTo>
                  <a:pt x="7524205" y="0"/>
                </a:lnTo>
                <a:lnTo>
                  <a:pt x="7524205" y="8229600"/>
                </a:lnTo>
                <a:lnTo>
                  <a:pt x="0" y="8229600"/>
                </a:lnTo>
                <a:lnTo>
                  <a:pt x="0" y="0"/>
                </a:lnTo>
                <a:close/>
              </a:path>
            </a:pathLst>
          </a:custGeom>
          <a:blipFill>
            <a:blip r:embed="rId7"/>
            <a:stretch>
              <a:fillRect l="0" t="0" r="0" b="0"/>
            </a:stretch>
          </a:blipFill>
        </p:spPr>
      </p:sp>
      <p:sp>
        <p:nvSpPr>
          <p:cNvPr name="Freeform 13" id="13"/>
          <p:cNvSpPr/>
          <p:nvPr/>
        </p:nvSpPr>
        <p:spPr>
          <a:xfrm flipH="false" flipV="false" rot="0">
            <a:off x="9549673" y="7660946"/>
            <a:ext cx="6083710" cy="4114800"/>
          </a:xfrm>
          <a:custGeom>
            <a:avLst/>
            <a:gdLst/>
            <a:ahLst/>
            <a:cxnLst/>
            <a:rect r="r" b="b" t="t" l="l"/>
            <a:pathLst>
              <a:path h="4114800" w="6083710">
                <a:moveTo>
                  <a:pt x="0" y="0"/>
                </a:moveTo>
                <a:lnTo>
                  <a:pt x="6083710" y="0"/>
                </a:lnTo>
                <a:lnTo>
                  <a:pt x="6083710" y="4114800"/>
                </a:lnTo>
                <a:lnTo>
                  <a:pt x="0" y="4114800"/>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id="14" name="Panel"/>
          <p:cNvSpPr/>
          <p:nvPr/>
        </p:nvSpPr>
        <p:spPr>
          <a:xfrm>
            <a:off x="914400" y="731520"/>
            <a:ext cx="11612880" cy="6675120"/>
          </a:xfrm>
          <a:prstGeom prst="roundRect">
            <a:avLst>
              <a:gd name="adj" fmla="val 5000"/>
            </a:avLst>
          </a:prstGeom>
          <a:solidFill>
            <a:srgbClr val="0A2540">
              <a:alpha val="8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Judul"/>
          <p:cNvSpPr txBox="1"/>
          <p:nvPr/>
        </p:nvSpPr>
        <p:spPr>
          <a:xfrm>
            <a:off x="1508760" y="1005840"/>
            <a:ext cx="10424159" cy="1188720"/>
          </a:xfrm>
          <a:prstGeom prst="rect">
            <a:avLst/>
          </a:prstGeom>
          <a:noFill/>
        </p:spPr>
        <p:txBody>
          <a:bodyPr wrap="square" lIns="0" rIns="0" tIns="0" bIns="0" anchor="t">
            <a:spAutoFit/>
          </a:bodyPr>
          <a:lstStyle/>
          <a:p>
            <a:pPr algn="l">
              <a:spcAft>
                <a:spcPts val="0"/>
              </a:spcAft>
            </a:pPr>
            <a:r>
              <a:rPr sz="6400">
                <a:solidFill>
                  <a:srgbClr val="F7B125"/>
                </a:solidFill>
                <a:latin typeface="Playpen Sans Bold"/>
              </a:rPr>
              <a:t>Di Akhir Pekan 16</a:t>
            </a:r>
          </a:p>
        </p:txBody>
      </p:sp>
      <p:sp>
        <p:nvSpPr>
          <p:cNvPr id="16" name="Capaian"/>
          <p:cNvSpPr txBox="1"/>
          <p:nvPr/>
        </p:nvSpPr>
        <p:spPr>
          <a:xfrm>
            <a:off x="1508760" y="2240280"/>
            <a:ext cx="10424159" cy="4937760"/>
          </a:xfrm>
          <a:prstGeom prst="rect">
            <a:avLst/>
          </a:prstGeom>
          <a:noFill/>
        </p:spPr>
        <p:txBody>
          <a:bodyPr wrap="square" lIns="0" rIns="0" tIns="0" bIns="0" anchor="t">
            <a:spAutoFit/>
          </a:bodyPr>
          <a:lstStyle/>
          <a:p>
            <a:pPr algn="l" marL="502920" indent="-502920">
              <a:spcAft>
                <a:spcPts val="1200"/>
              </a:spcAft>
              <a:buClr>
                <a:srgbClr val="F7B125"/>
              </a:buClr>
              <a:buFont typeface="Arial"/>
              <a:buChar char="•"/>
            </a:pPr>
            <a:r>
              <a:rPr sz="2800">
                <a:solidFill>
                  <a:srgbClr val="FFFFFF"/>
                </a:solidFill>
                <a:latin typeface="Playpen Sans"/>
              </a:rPr>
              <a:t>Melatih jaringan saraf yang kamu tulis sendiri, lalu dengan PyTorch</a:t>
            </a:r>
          </a:p>
          <a:p>
            <a:pPr algn="l" marL="502920" indent="-502920">
              <a:spcAft>
                <a:spcPts val="1200"/>
              </a:spcAft>
              <a:buClr>
                <a:srgbClr val="F7B125"/>
              </a:buClr>
              <a:buFont typeface="Arial"/>
              <a:buChar char="•"/>
            </a:pPr>
            <a:r>
              <a:rPr sz="2800">
                <a:solidFill>
                  <a:srgbClr val="FFFFFF"/>
                </a:solidFill>
                <a:latin typeface="Playpen Sans"/>
              </a:rPr>
              <a:t>Menjelaskan mengapa model belajar: galat, gradien, backpropagation</a:t>
            </a:r>
          </a:p>
          <a:p>
            <a:pPr algn="l" marL="502920" indent="-502920">
              <a:spcAft>
                <a:spcPts val="1200"/>
              </a:spcAft>
              <a:buClr>
                <a:srgbClr val="F7B125"/>
              </a:buClr>
              <a:buFont typeface="Arial"/>
              <a:buChar char="•"/>
            </a:pPr>
            <a:r>
              <a:rPr sz="2800">
                <a:solidFill>
                  <a:srgbClr val="FFFFFF"/>
                </a:solidFill>
                <a:latin typeface="Playpen Sans"/>
              </a:rPr>
              <a:t>Menilai model dengan jujur: data uji, kebocoran data</a:t>
            </a:r>
          </a:p>
          <a:p>
            <a:pPr algn="l" marL="502920" indent="-502920">
              <a:spcAft>
                <a:spcPts val="1200"/>
              </a:spcAft>
              <a:buClr>
                <a:srgbClr val="F7B125"/>
              </a:buClr>
              <a:buFont typeface="Arial"/>
              <a:buChar char="•"/>
            </a:pPr>
            <a:r>
              <a:rPr sz="2800">
                <a:solidFill>
                  <a:srgbClr val="FFFFFF"/>
                </a:solidFill>
                <a:latin typeface="Playpen Sans"/>
              </a:rPr>
              <a:t>Menulis dan membandingkan metaheuristik: SA, GA, PSO</a:t>
            </a:r>
          </a:p>
          <a:p>
            <a:pPr algn="l" marL="502920" indent="-502920">
              <a:spcAft>
                <a:spcPts val="0"/>
              </a:spcAft>
              <a:buClr>
                <a:srgbClr val="F7B125"/>
              </a:buClr>
              <a:buFont typeface="Arial"/>
              <a:buChar char="•"/>
            </a:pPr>
            <a:r>
              <a:rPr sz="2800">
                <a:solidFill>
                  <a:srgbClr val="F7B125"/>
                </a:solidFill>
                <a:latin typeface="Playpen Sans Bold"/>
              </a:rPr>
              <a:t>Proyek tim dengan demo yang bisa dibuka orang lain</a:t>
            </a:r>
          </a:p>
        </p:txBody>
      </p:sp>
    </p:spTree>
  </p:cSld>
  <p:clrMapOvr>
    <a:masterClrMapping/>
  </p:clrMapOvr>
</p:sld>
</file>

<file path=ppt/slides/slide1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67928" r="0" b="-67928"/>
            </a:stretch>
          </a:blipFill>
        </p:spPr>
      </p:sp>
      <p:sp>
        <p:nvSpPr>
          <p:cNvPr name="Freeform 3" id="3"/>
          <p:cNvSpPr/>
          <p:nvPr/>
        </p:nvSpPr>
        <p:spPr>
          <a:xfrm flipH="false" flipV="false" rot="0">
            <a:off x="12533569" y="-21055"/>
            <a:ext cx="5762298" cy="6532600"/>
          </a:xfrm>
          <a:custGeom>
            <a:avLst/>
            <a:gdLst/>
            <a:ahLst/>
            <a:cxnLst/>
            <a:rect r="r" b="b" t="t" l="l"/>
            <a:pathLst>
              <a:path h="6532600" w="5762298">
                <a:moveTo>
                  <a:pt x="0" y="0"/>
                </a:moveTo>
                <a:lnTo>
                  <a:pt x="5762298" y="0"/>
                </a:lnTo>
                <a:lnTo>
                  <a:pt x="5762298" y="6532600"/>
                </a:lnTo>
                <a:lnTo>
                  <a:pt x="0" y="6532600"/>
                </a:lnTo>
                <a:lnTo>
                  <a:pt x="0" y="0"/>
                </a:lnTo>
                <a:close/>
              </a:path>
            </a:pathLst>
          </a:custGeom>
          <a:blipFill>
            <a:blip r:embed="rId3"/>
            <a:stretch>
              <a:fillRect l="0" t="0" r="0" b="0"/>
            </a:stretch>
          </a:blipFill>
        </p:spPr>
      </p:sp>
      <p:sp>
        <p:nvSpPr>
          <p:cNvPr name="Freeform 4" id="4"/>
          <p:cNvSpPr/>
          <p:nvPr/>
        </p:nvSpPr>
        <p:spPr>
          <a:xfrm flipH="false" flipV="false" rot="0">
            <a:off x="12978766" y="2004481"/>
            <a:ext cx="5309234" cy="5465964"/>
          </a:xfrm>
          <a:custGeom>
            <a:avLst/>
            <a:gdLst/>
            <a:ahLst/>
            <a:cxnLst/>
            <a:rect r="r" b="b" t="t" l="l"/>
            <a:pathLst>
              <a:path h="5465964" w="5309234">
                <a:moveTo>
                  <a:pt x="0" y="0"/>
                </a:moveTo>
                <a:lnTo>
                  <a:pt x="5309234" y="0"/>
                </a:lnTo>
                <a:lnTo>
                  <a:pt x="5309234" y="5465965"/>
                </a:lnTo>
                <a:lnTo>
                  <a:pt x="0" y="5465965"/>
                </a:lnTo>
                <a:lnTo>
                  <a:pt x="0" y="0"/>
                </a:lnTo>
                <a:close/>
              </a:path>
            </a:pathLst>
          </a:custGeom>
          <a:blipFill>
            <a:blip r:embed="rId4"/>
            <a:stretch>
              <a:fillRect l="0" t="0" r="0" b="0"/>
            </a:stretch>
          </a:blipFill>
        </p:spPr>
      </p:sp>
      <p:sp>
        <p:nvSpPr>
          <p:cNvPr name="Freeform 5" id="5"/>
          <p:cNvSpPr/>
          <p:nvPr/>
        </p:nvSpPr>
        <p:spPr>
          <a:xfrm flipH="true" flipV="false" rot="0">
            <a:off x="-29416" y="0"/>
            <a:ext cx="5762298" cy="6532600"/>
          </a:xfrm>
          <a:custGeom>
            <a:avLst/>
            <a:gdLst/>
            <a:ahLst/>
            <a:cxnLst/>
            <a:rect r="r" b="b" t="t" l="l"/>
            <a:pathLst>
              <a:path h="6532600" w="5762298">
                <a:moveTo>
                  <a:pt x="5762298" y="0"/>
                </a:moveTo>
                <a:lnTo>
                  <a:pt x="0" y="0"/>
                </a:lnTo>
                <a:lnTo>
                  <a:pt x="0" y="6532600"/>
                </a:lnTo>
                <a:lnTo>
                  <a:pt x="5762298" y="6532600"/>
                </a:lnTo>
                <a:lnTo>
                  <a:pt x="5762298" y="0"/>
                </a:lnTo>
                <a:close/>
              </a:path>
            </a:pathLst>
          </a:custGeom>
          <a:blipFill>
            <a:blip r:embed="rId3"/>
            <a:stretch>
              <a:fillRect l="0" t="0" r="0" b="0"/>
            </a:stretch>
          </a:blipFill>
        </p:spPr>
      </p:sp>
      <p:sp>
        <p:nvSpPr>
          <p:cNvPr name="Freeform 6" id="6"/>
          <p:cNvSpPr/>
          <p:nvPr/>
        </p:nvSpPr>
        <p:spPr>
          <a:xfrm flipH="false" flipV="false" rot="0">
            <a:off x="423648" y="2410518"/>
            <a:ext cx="5309234" cy="5465964"/>
          </a:xfrm>
          <a:custGeom>
            <a:avLst/>
            <a:gdLst/>
            <a:ahLst/>
            <a:cxnLst/>
            <a:rect r="r" b="b" t="t" l="l"/>
            <a:pathLst>
              <a:path h="5465964" w="5309234">
                <a:moveTo>
                  <a:pt x="0" y="0"/>
                </a:moveTo>
                <a:lnTo>
                  <a:pt x="5309234" y="0"/>
                </a:lnTo>
                <a:lnTo>
                  <a:pt x="5309234" y="5465964"/>
                </a:lnTo>
                <a:lnTo>
                  <a:pt x="0" y="5465964"/>
                </a:lnTo>
                <a:lnTo>
                  <a:pt x="0" y="0"/>
                </a:lnTo>
                <a:close/>
              </a:path>
            </a:pathLst>
          </a:custGeom>
          <a:blipFill>
            <a:blip r:embed="rId4"/>
            <a:stretch>
              <a:fillRect l="0" t="0" r="0" b="0"/>
            </a:stretch>
          </a:blipFill>
        </p:spPr>
      </p:sp>
      <p:sp>
        <p:nvSpPr>
          <p:cNvPr name="Freeform 7" id="7"/>
          <p:cNvSpPr/>
          <p:nvPr/>
        </p:nvSpPr>
        <p:spPr>
          <a:xfrm flipH="false" flipV="false" rot="0">
            <a:off x="-317430" y="7660946"/>
            <a:ext cx="18613297" cy="3022078"/>
          </a:xfrm>
          <a:custGeom>
            <a:avLst/>
            <a:gdLst/>
            <a:ahLst/>
            <a:cxnLst/>
            <a:rect r="r" b="b" t="t" l="l"/>
            <a:pathLst>
              <a:path h="3022078" w="18613297">
                <a:moveTo>
                  <a:pt x="0" y="0"/>
                </a:moveTo>
                <a:lnTo>
                  <a:pt x="18613297" y="0"/>
                </a:lnTo>
                <a:lnTo>
                  <a:pt x="18613297" y="3022077"/>
                </a:lnTo>
                <a:lnTo>
                  <a:pt x="0" y="3022077"/>
                </a:lnTo>
                <a:lnTo>
                  <a:pt x="0" y="0"/>
                </a:lnTo>
                <a:close/>
              </a:path>
            </a:pathLst>
          </a:custGeom>
          <a:blipFill>
            <a:blip r:embed="rId5"/>
            <a:stretch>
              <a:fillRect l="-158" t="0" r="-158" b="-6838"/>
            </a:stretch>
          </a:blipFill>
        </p:spPr>
      </p:sp>
      <p:sp>
        <p:nvSpPr>
          <p:cNvPr name="Freeform 11" id="11"/>
          <p:cNvSpPr/>
          <p:nvPr/>
        </p:nvSpPr>
        <p:spPr>
          <a:xfrm flipH="false" flipV="false" rot="0">
            <a:off x="681269" y="7470446"/>
            <a:ext cx="6083710" cy="4114800"/>
          </a:xfrm>
          <a:custGeom>
            <a:avLst/>
            <a:gdLst/>
            <a:ahLst/>
            <a:cxnLst/>
            <a:rect r="r" b="b" t="t" l="l"/>
            <a:pathLst>
              <a:path h="4114800" w="6083710">
                <a:moveTo>
                  <a:pt x="0" y="0"/>
                </a:moveTo>
                <a:lnTo>
                  <a:pt x="6083709" y="0"/>
                </a:lnTo>
                <a:lnTo>
                  <a:pt x="6083709" y="4114800"/>
                </a:lnTo>
                <a:lnTo>
                  <a:pt x="0" y="4114800"/>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name="Freeform 13" id="13"/>
          <p:cNvSpPr/>
          <p:nvPr/>
        </p:nvSpPr>
        <p:spPr>
          <a:xfrm flipH="false" flipV="false" rot="0">
            <a:off x="9549673" y="7660946"/>
            <a:ext cx="6083710" cy="4114800"/>
          </a:xfrm>
          <a:custGeom>
            <a:avLst/>
            <a:gdLst/>
            <a:ahLst/>
            <a:cxnLst/>
            <a:rect r="r" b="b" t="t" l="l"/>
            <a:pathLst>
              <a:path h="4114800" w="6083710">
                <a:moveTo>
                  <a:pt x="0" y="0"/>
                </a:moveTo>
                <a:lnTo>
                  <a:pt x="6083710" y="0"/>
                </a:lnTo>
                <a:lnTo>
                  <a:pt x="6083710" y="4114800"/>
                </a:lnTo>
                <a:lnTo>
                  <a:pt x="0" y="4114800"/>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id="14" name="Panel"/>
          <p:cNvSpPr/>
          <p:nvPr/>
        </p:nvSpPr>
        <p:spPr>
          <a:xfrm>
            <a:off x="914400" y="731520"/>
            <a:ext cx="16459200" cy="6675120"/>
          </a:xfrm>
          <a:prstGeom prst="roundRect">
            <a:avLst>
              <a:gd name="adj" fmla="val 5000"/>
            </a:avLst>
          </a:prstGeom>
          <a:solidFill>
            <a:srgbClr val="0A2540">
              <a:alpha val="8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Judul"/>
          <p:cNvSpPr txBox="1"/>
          <p:nvPr/>
        </p:nvSpPr>
        <p:spPr>
          <a:xfrm>
            <a:off x="1508760" y="914400"/>
            <a:ext cx="15270480" cy="1097280"/>
          </a:xfrm>
          <a:prstGeom prst="rect">
            <a:avLst/>
          </a:prstGeom>
          <a:noFill/>
        </p:spPr>
        <p:txBody>
          <a:bodyPr wrap="square" lIns="0" rIns="0" tIns="0" bIns="0" anchor="t">
            <a:spAutoFit/>
          </a:bodyPr>
          <a:lstStyle/>
          <a:p>
            <a:pPr algn="l">
              <a:spcAft>
                <a:spcPts val="0"/>
              </a:spcAft>
            </a:pPr>
            <a:r>
              <a:rPr sz="6000">
                <a:solidFill>
                  <a:srgbClr val="F7B125"/>
                </a:solidFill>
                <a:latin typeface="Playpen Sans Bold"/>
              </a:rPr>
              <a:t>Peta 16 Pekan</a:t>
            </a:r>
          </a:p>
        </p:txBody>
      </p:sp>
      <p:sp>
        <p:nvSpPr>
          <p:cNvPr id="16" name="Kartu 1"/>
          <p:cNvSpPr/>
          <p:nvPr/>
        </p:nvSpPr>
        <p:spPr>
          <a:xfrm>
            <a:off x="1508760" y="2148840"/>
            <a:ext cx="3577589" cy="4892040"/>
          </a:xfrm>
          <a:prstGeom prst="roundRect">
            <a:avLst>
              <a:gd name="adj" fmla="val 5000"/>
            </a:avLst>
          </a:prstGeom>
          <a:solidFill>
            <a:srgbClr val="14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ag Pekan 1 sampai 7"/>
          <p:cNvSpPr/>
          <p:nvPr/>
        </p:nvSpPr>
        <p:spPr>
          <a:xfrm>
            <a:off x="1737360" y="2331720"/>
            <a:ext cx="3120389" cy="640080"/>
          </a:xfrm>
          <a:prstGeom prst="roundRect">
            <a:avLst>
              <a:gd name="adj" fmla="val 50000"/>
            </a:avLst>
          </a:prstGeom>
          <a:solidFill>
            <a:srgbClr val="FF8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ks tag Pekan 1 sampai 7"/>
          <p:cNvSpPr txBox="1"/>
          <p:nvPr/>
        </p:nvSpPr>
        <p:spPr>
          <a:xfrm>
            <a:off x="1737360" y="2395728"/>
            <a:ext cx="3120389" cy="548640"/>
          </a:xfrm>
          <a:prstGeom prst="rect">
            <a:avLst/>
          </a:prstGeom>
          <a:noFill/>
        </p:spPr>
        <p:txBody>
          <a:bodyPr wrap="square" lIns="0" rIns="0" tIns="0" bIns="0" anchor="t">
            <a:spAutoFit/>
          </a:bodyPr>
          <a:lstStyle/>
          <a:p>
            <a:pPr algn="ctr">
              <a:spcAft>
                <a:spcPts val="0"/>
              </a:spcAft>
            </a:pPr>
            <a:r>
              <a:rPr sz="2200">
                <a:solidFill>
                  <a:srgbClr val="0A2540"/>
                </a:solidFill>
                <a:latin typeface="Playpen Sans Bold"/>
              </a:rPr>
              <a:t>Pekan 1 sampai 7</a:t>
            </a:r>
          </a:p>
        </p:txBody>
      </p:sp>
      <p:sp>
        <p:nvSpPr>
          <p:cNvPr id="19" name="Isi kartu 1"/>
          <p:cNvSpPr txBox="1"/>
          <p:nvPr/>
        </p:nvSpPr>
        <p:spPr>
          <a:xfrm>
            <a:off x="1783080" y="3154680"/>
            <a:ext cx="3028949" cy="3749039"/>
          </a:xfrm>
          <a:prstGeom prst="rect">
            <a:avLst/>
          </a:prstGeom>
          <a:noFill/>
        </p:spPr>
        <p:txBody>
          <a:bodyPr wrap="square" lIns="0" rIns="0" tIns="0" bIns="0" anchor="t">
            <a:spAutoFit/>
          </a:bodyPr>
          <a:lstStyle/>
          <a:p>
            <a:pPr algn="l">
              <a:spcAft>
                <a:spcPts val="800"/>
              </a:spcAft>
            </a:pPr>
            <a:r>
              <a:rPr sz="2800">
                <a:solidFill>
                  <a:srgbClr val="FFFFFF"/>
                </a:solidFill>
                <a:latin typeface="Playpen Sans Bold"/>
              </a:rPr>
              <a:t>Dasar ML</a:t>
            </a:r>
          </a:p>
          <a:p>
            <a:pPr algn="l">
              <a:spcAft>
                <a:spcPts val="0"/>
              </a:spcAft>
            </a:pPr>
            <a:r>
              <a:rPr sz="2600">
                <a:solidFill>
                  <a:srgbClr val="FFFFFF"/>
                </a:solidFill>
                <a:latin typeface="Playpen Sans"/>
              </a:rPr>
              <a:t>Galat, gradient descent, klasifikasi, jaringan saraf, backprop, PyTorch, evaluasi jujur</a:t>
            </a:r>
          </a:p>
        </p:txBody>
      </p:sp>
      <p:sp>
        <p:nvSpPr>
          <p:cNvPr id="20" name="Kartu 2"/>
          <p:cNvSpPr/>
          <p:nvPr/>
        </p:nvSpPr>
        <p:spPr>
          <a:xfrm>
            <a:off x="5406390" y="2148840"/>
            <a:ext cx="3577589" cy="4892040"/>
          </a:xfrm>
          <a:prstGeom prst="roundRect">
            <a:avLst>
              <a:gd name="adj" fmla="val 5000"/>
            </a:avLst>
          </a:prstGeom>
          <a:solidFill>
            <a:srgbClr val="14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ag Pekan 8"/>
          <p:cNvSpPr/>
          <p:nvPr/>
        </p:nvSpPr>
        <p:spPr>
          <a:xfrm>
            <a:off x="5634990" y="2331720"/>
            <a:ext cx="3120389" cy="640080"/>
          </a:xfrm>
          <a:prstGeom prst="roundRect">
            <a:avLst>
              <a:gd name="adj" fmla="val 50000"/>
            </a:avLst>
          </a:prstGeom>
          <a:solidFill>
            <a:srgbClr val="F7B1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ks tag Pekan 8"/>
          <p:cNvSpPr txBox="1"/>
          <p:nvPr/>
        </p:nvSpPr>
        <p:spPr>
          <a:xfrm>
            <a:off x="5634990" y="2395728"/>
            <a:ext cx="3120389" cy="548640"/>
          </a:xfrm>
          <a:prstGeom prst="rect">
            <a:avLst/>
          </a:prstGeom>
          <a:noFill/>
        </p:spPr>
        <p:txBody>
          <a:bodyPr wrap="square" lIns="0" rIns="0" tIns="0" bIns="0" anchor="t">
            <a:spAutoFit/>
          </a:bodyPr>
          <a:lstStyle/>
          <a:p>
            <a:pPr algn="ctr">
              <a:spcAft>
                <a:spcPts val="0"/>
              </a:spcAft>
            </a:pPr>
            <a:r>
              <a:rPr sz="2200">
                <a:solidFill>
                  <a:srgbClr val="0A2540"/>
                </a:solidFill>
                <a:latin typeface="Playpen Sans Bold"/>
              </a:rPr>
              <a:t>Pekan 8</a:t>
            </a:r>
          </a:p>
        </p:txBody>
      </p:sp>
      <p:sp>
        <p:nvSpPr>
          <p:cNvPr id="23" name="Isi kartu 2"/>
          <p:cNvSpPr txBox="1"/>
          <p:nvPr/>
        </p:nvSpPr>
        <p:spPr>
          <a:xfrm>
            <a:off x="5680709" y="3154680"/>
            <a:ext cx="3028949" cy="3749039"/>
          </a:xfrm>
          <a:prstGeom prst="rect">
            <a:avLst/>
          </a:prstGeom>
          <a:noFill/>
        </p:spPr>
        <p:txBody>
          <a:bodyPr wrap="square" lIns="0" rIns="0" tIns="0" bIns="0" anchor="t">
            <a:spAutoFit/>
          </a:bodyPr>
          <a:lstStyle/>
          <a:p>
            <a:pPr algn="l">
              <a:spcAft>
                <a:spcPts val="800"/>
              </a:spcAft>
            </a:pPr>
            <a:r>
              <a:rPr sz="2800">
                <a:solidFill>
                  <a:srgbClr val="FFFFFF"/>
                </a:solidFill>
                <a:latin typeface="Playpen Sans Bold"/>
              </a:rPr>
              <a:t>Checkpoint 1</a:t>
            </a:r>
          </a:p>
          <a:p>
            <a:pPr algn="l">
              <a:spcAft>
                <a:spcPts val="0"/>
              </a:spcAft>
            </a:pPr>
            <a:r>
              <a:rPr sz="2600">
                <a:solidFill>
                  <a:srgbClr val="FFFFFF"/>
                </a:solidFill>
                <a:latin typeface="Playpen Sans"/>
              </a:rPr>
              <a:t>Cek lisan individu. Tim proyek dibentuk</a:t>
            </a:r>
          </a:p>
        </p:txBody>
      </p:sp>
      <p:sp>
        <p:nvSpPr>
          <p:cNvPr id="24" name="Kartu 3"/>
          <p:cNvSpPr/>
          <p:nvPr/>
        </p:nvSpPr>
        <p:spPr>
          <a:xfrm>
            <a:off x="9304019" y="2148840"/>
            <a:ext cx="3577589" cy="4892040"/>
          </a:xfrm>
          <a:prstGeom prst="roundRect">
            <a:avLst>
              <a:gd name="adj" fmla="val 5000"/>
            </a:avLst>
          </a:prstGeom>
          <a:solidFill>
            <a:srgbClr val="14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ag Pekan 9 sampai 12"/>
          <p:cNvSpPr/>
          <p:nvPr/>
        </p:nvSpPr>
        <p:spPr>
          <a:xfrm>
            <a:off x="9532619" y="2331720"/>
            <a:ext cx="3120389" cy="640080"/>
          </a:xfrm>
          <a:prstGeom prst="roundRect">
            <a:avLst>
              <a:gd name="adj" fmla="val 50000"/>
            </a:avLst>
          </a:prstGeom>
          <a:solidFill>
            <a:srgbClr val="3DD6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ks tag Pekan 9 sampai 12"/>
          <p:cNvSpPr txBox="1"/>
          <p:nvPr/>
        </p:nvSpPr>
        <p:spPr>
          <a:xfrm>
            <a:off x="9532619" y="2395728"/>
            <a:ext cx="3120389" cy="548640"/>
          </a:xfrm>
          <a:prstGeom prst="rect">
            <a:avLst/>
          </a:prstGeom>
          <a:noFill/>
        </p:spPr>
        <p:txBody>
          <a:bodyPr wrap="square" lIns="0" rIns="0" tIns="0" bIns="0" anchor="t">
            <a:spAutoFit/>
          </a:bodyPr>
          <a:lstStyle/>
          <a:p>
            <a:pPr algn="ctr">
              <a:spcAft>
                <a:spcPts val="0"/>
              </a:spcAft>
            </a:pPr>
            <a:r>
              <a:rPr sz="2200">
                <a:solidFill>
                  <a:srgbClr val="0A2540"/>
                </a:solidFill>
                <a:latin typeface="Playpen Sans Bold"/>
              </a:rPr>
              <a:t>Pekan 9 sampai 12</a:t>
            </a:r>
          </a:p>
        </p:txBody>
      </p:sp>
      <p:sp>
        <p:nvSpPr>
          <p:cNvPr id="27" name="Isi kartu 3"/>
          <p:cNvSpPr txBox="1"/>
          <p:nvPr/>
        </p:nvSpPr>
        <p:spPr>
          <a:xfrm>
            <a:off x="9578340" y="3154680"/>
            <a:ext cx="3028949" cy="3749039"/>
          </a:xfrm>
          <a:prstGeom prst="rect">
            <a:avLst/>
          </a:prstGeom>
          <a:noFill/>
        </p:spPr>
        <p:txBody>
          <a:bodyPr wrap="square" lIns="0" rIns="0" tIns="0" bIns="0" anchor="t">
            <a:spAutoFit/>
          </a:bodyPr>
          <a:lstStyle/>
          <a:p>
            <a:pPr algn="l">
              <a:spcAft>
                <a:spcPts val="800"/>
              </a:spcAft>
            </a:pPr>
            <a:r>
              <a:rPr sz="2800">
                <a:solidFill>
                  <a:srgbClr val="FFFFFF"/>
                </a:solidFill>
                <a:latin typeface="Playpen Sans Bold"/>
              </a:rPr>
              <a:t>Metaheuristik</a:t>
            </a:r>
          </a:p>
          <a:p>
            <a:pPr algn="l">
              <a:spcAft>
                <a:spcPts val="0"/>
              </a:spcAft>
            </a:pPr>
            <a:r>
              <a:rPr sz="2600">
                <a:solidFill>
                  <a:srgbClr val="FFFFFF"/>
                </a:solidFill>
                <a:latin typeface="Playpen Sans"/>
              </a:rPr>
              <a:t>Simulated annealing, GA, PSO, representasi, optimasi di dalam ML</a:t>
            </a:r>
          </a:p>
        </p:txBody>
      </p:sp>
      <p:sp>
        <p:nvSpPr>
          <p:cNvPr id="28" name="Kartu 4"/>
          <p:cNvSpPr/>
          <p:nvPr/>
        </p:nvSpPr>
        <p:spPr>
          <a:xfrm>
            <a:off x="13201649" y="2148840"/>
            <a:ext cx="3577589" cy="4892040"/>
          </a:xfrm>
          <a:prstGeom prst="roundRect">
            <a:avLst>
              <a:gd name="adj" fmla="val 5000"/>
            </a:avLst>
          </a:prstGeom>
          <a:solidFill>
            <a:srgbClr val="14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ag Pekan 13 sampai 16"/>
          <p:cNvSpPr/>
          <p:nvPr/>
        </p:nvSpPr>
        <p:spPr>
          <a:xfrm>
            <a:off x="13430249" y="2331720"/>
            <a:ext cx="3120389" cy="640080"/>
          </a:xfrm>
          <a:prstGeom prst="roundRect">
            <a:avLst>
              <a:gd name="adj" fmla="val 50000"/>
            </a:avLst>
          </a:prstGeom>
          <a:solidFill>
            <a:srgbClr val="B8A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ks tag Pekan 13 sampai 16"/>
          <p:cNvSpPr txBox="1"/>
          <p:nvPr/>
        </p:nvSpPr>
        <p:spPr>
          <a:xfrm>
            <a:off x="13430249" y="2395728"/>
            <a:ext cx="3120389" cy="548640"/>
          </a:xfrm>
          <a:prstGeom prst="rect">
            <a:avLst/>
          </a:prstGeom>
          <a:noFill/>
        </p:spPr>
        <p:txBody>
          <a:bodyPr wrap="square" lIns="0" rIns="0" tIns="0" bIns="0" anchor="t">
            <a:spAutoFit/>
          </a:bodyPr>
          <a:lstStyle/>
          <a:p>
            <a:pPr algn="ctr">
              <a:spcAft>
                <a:spcPts val="0"/>
              </a:spcAft>
            </a:pPr>
            <a:r>
              <a:rPr sz="2200">
                <a:solidFill>
                  <a:srgbClr val="0A2540"/>
                </a:solidFill>
                <a:latin typeface="Playpen Sans Bold"/>
              </a:rPr>
              <a:t>Pekan 13 sampai 16</a:t>
            </a:r>
          </a:p>
        </p:txBody>
      </p:sp>
      <p:sp>
        <p:nvSpPr>
          <p:cNvPr id="31" name="Isi kartu 4"/>
          <p:cNvSpPr txBox="1"/>
          <p:nvPr/>
        </p:nvSpPr>
        <p:spPr>
          <a:xfrm>
            <a:off x="13475969" y="3154680"/>
            <a:ext cx="3028949" cy="3749039"/>
          </a:xfrm>
          <a:prstGeom prst="rect">
            <a:avLst/>
          </a:prstGeom>
          <a:noFill/>
        </p:spPr>
        <p:txBody>
          <a:bodyPr wrap="square" lIns="0" rIns="0" tIns="0" bIns="0" anchor="t">
            <a:spAutoFit/>
          </a:bodyPr>
          <a:lstStyle/>
          <a:p>
            <a:pPr algn="l">
              <a:spcAft>
                <a:spcPts val="800"/>
              </a:spcAft>
            </a:pPr>
            <a:r>
              <a:rPr sz="2800">
                <a:solidFill>
                  <a:srgbClr val="FFFFFF"/>
                </a:solidFill>
                <a:latin typeface="Playpen Sans Bold"/>
              </a:rPr>
              <a:t>Modern dan proyek</a:t>
            </a:r>
          </a:p>
          <a:p>
            <a:pPr algn="l">
              <a:spcAft>
                <a:spcPts val="0"/>
              </a:spcAft>
            </a:pPr>
            <a:r>
              <a:rPr sz="2600">
                <a:solidFill>
                  <a:srgbClr val="FFFFFF"/>
                </a:solidFill>
                <a:latin typeface="Playpen Sans"/>
              </a:rPr>
              <a:t>Transfer learning, Transformer dan LLM, deploy, Hari Demo</a:t>
            </a:r>
          </a:p>
        </p:txBody>
      </p:sp>
    </p:spTree>
  </p:cSld>
  <p:clrMapOvr>
    <a:masterClrMapping/>
  </p:clrMapOvr>
</p:sld>
</file>

<file path=ppt/slides/slide1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67928" r="0" b="-67928"/>
            </a:stretch>
          </a:blipFill>
        </p:spPr>
      </p:sp>
      <p:sp>
        <p:nvSpPr>
          <p:cNvPr name="Freeform 3" id="3"/>
          <p:cNvSpPr/>
          <p:nvPr/>
        </p:nvSpPr>
        <p:spPr>
          <a:xfrm flipH="false" flipV="false" rot="0">
            <a:off x="14148474" y="-5929"/>
            <a:ext cx="4139526" cy="4692896"/>
          </a:xfrm>
          <a:custGeom>
            <a:avLst/>
            <a:gdLst/>
            <a:ahLst/>
            <a:cxnLst/>
            <a:rect r="r" b="b" t="t" l="l"/>
            <a:pathLst>
              <a:path h="4692896" w="4139526">
                <a:moveTo>
                  <a:pt x="0" y="0"/>
                </a:moveTo>
                <a:lnTo>
                  <a:pt x="4139526" y="0"/>
                </a:lnTo>
                <a:lnTo>
                  <a:pt x="4139526" y="4692896"/>
                </a:lnTo>
                <a:lnTo>
                  <a:pt x="0" y="4692896"/>
                </a:lnTo>
                <a:lnTo>
                  <a:pt x="0" y="0"/>
                </a:lnTo>
                <a:close/>
              </a:path>
            </a:pathLst>
          </a:custGeom>
          <a:blipFill>
            <a:blip r:embed="rId3"/>
            <a:stretch>
              <a:fillRect l="0" t="0" r="0" b="0"/>
            </a:stretch>
          </a:blipFill>
        </p:spPr>
      </p:sp>
      <p:sp>
        <p:nvSpPr>
          <p:cNvPr name="Freeform 4" id="4"/>
          <p:cNvSpPr/>
          <p:nvPr/>
        </p:nvSpPr>
        <p:spPr>
          <a:xfrm flipH="false" flipV="false" rot="0">
            <a:off x="12916772" y="1953985"/>
            <a:ext cx="5309234" cy="5465964"/>
          </a:xfrm>
          <a:custGeom>
            <a:avLst/>
            <a:gdLst/>
            <a:ahLst/>
            <a:cxnLst/>
            <a:rect r="r" b="b" t="t" l="l"/>
            <a:pathLst>
              <a:path h="5465964" w="5309234">
                <a:moveTo>
                  <a:pt x="0" y="0"/>
                </a:moveTo>
                <a:lnTo>
                  <a:pt x="5309235" y="0"/>
                </a:lnTo>
                <a:lnTo>
                  <a:pt x="5309235" y="5465964"/>
                </a:lnTo>
                <a:lnTo>
                  <a:pt x="0" y="5465964"/>
                </a:lnTo>
                <a:lnTo>
                  <a:pt x="0" y="0"/>
                </a:lnTo>
                <a:close/>
              </a:path>
            </a:pathLst>
          </a:custGeom>
          <a:blipFill>
            <a:blip r:embed="rId4"/>
            <a:stretch>
              <a:fillRect l="0" t="0" r="0" b="0"/>
            </a:stretch>
          </a:blipFill>
        </p:spPr>
      </p:sp>
      <p:sp>
        <p:nvSpPr>
          <p:cNvPr name="Freeform 5" id="5"/>
          <p:cNvSpPr/>
          <p:nvPr/>
        </p:nvSpPr>
        <p:spPr>
          <a:xfrm flipH="true" flipV="false" rot="0">
            <a:off x="-29416" y="-5929"/>
            <a:ext cx="4139526" cy="4692896"/>
          </a:xfrm>
          <a:custGeom>
            <a:avLst/>
            <a:gdLst/>
            <a:ahLst/>
            <a:cxnLst/>
            <a:rect r="r" b="b" t="t" l="l"/>
            <a:pathLst>
              <a:path h="4692896" w="4139526">
                <a:moveTo>
                  <a:pt x="4139526" y="0"/>
                </a:moveTo>
                <a:lnTo>
                  <a:pt x="0" y="0"/>
                </a:lnTo>
                <a:lnTo>
                  <a:pt x="0" y="4692896"/>
                </a:lnTo>
                <a:lnTo>
                  <a:pt x="4139526" y="4692896"/>
                </a:lnTo>
                <a:lnTo>
                  <a:pt x="4139526" y="0"/>
                </a:lnTo>
                <a:close/>
              </a:path>
            </a:pathLst>
          </a:custGeom>
          <a:blipFill>
            <a:blip r:embed="rId3"/>
            <a:stretch>
              <a:fillRect l="0" t="0" r="0" b="0"/>
            </a:stretch>
          </a:blipFill>
        </p:spPr>
      </p:sp>
      <p:sp>
        <p:nvSpPr>
          <p:cNvPr name="Freeform 6" id="6"/>
          <p:cNvSpPr/>
          <p:nvPr/>
        </p:nvSpPr>
        <p:spPr>
          <a:xfrm flipH="false" flipV="false" rot="0">
            <a:off x="81044" y="2340519"/>
            <a:ext cx="5309234" cy="5465964"/>
          </a:xfrm>
          <a:custGeom>
            <a:avLst/>
            <a:gdLst/>
            <a:ahLst/>
            <a:cxnLst/>
            <a:rect r="r" b="b" t="t" l="l"/>
            <a:pathLst>
              <a:path h="5465964" w="5309234">
                <a:moveTo>
                  <a:pt x="0" y="0"/>
                </a:moveTo>
                <a:lnTo>
                  <a:pt x="5309234" y="0"/>
                </a:lnTo>
                <a:lnTo>
                  <a:pt x="5309234" y="5465964"/>
                </a:lnTo>
                <a:lnTo>
                  <a:pt x="0" y="5465964"/>
                </a:lnTo>
                <a:lnTo>
                  <a:pt x="0" y="0"/>
                </a:lnTo>
                <a:close/>
              </a:path>
            </a:pathLst>
          </a:custGeom>
          <a:blipFill>
            <a:blip r:embed="rId4"/>
            <a:stretch>
              <a:fillRect l="0" t="0" r="0" b="0"/>
            </a:stretch>
          </a:blipFill>
        </p:spPr>
      </p:sp>
      <p:sp>
        <p:nvSpPr>
          <p:cNvPr name="Freeform 7" id="7"/>
          <p:cNvSpPr/>
          <p:nvPr/>
        </p:nvSpPr>
        <p:spPr>
          <a:xfrm flipH="false" flipV="false" rot="0">
            <a:off x="4740492" y="3555740"/>
            <a:ext cx="5848879" cy="5973006"/>
          </a:xfrm>
          <a:custGeom>
            <a:avLst/>
            <a:gdLst/>
            <a:ahLst/>
            <a:cxnLst/>
            <a:rect r="r" b="b" t="t" l="l"/>
            <a:pathLst>
              <a:path h="5973006" w="5848879">
                <a:moveTo>
                  <a:pt x="0" y="0"/>
                </a:moveTo>
                <a:lnTo>
                  <a:pt x="5848879" y="0"/>
                </a:lnTo>
                <a:lnTo>
                  <a:pt x="5848879" y="5973006"/>
                </a:lnTo>
                <a:lnTo>
                  <a:pt x="0" y="5973006"/>
                </a:lnTo>
                <a:lnTo>
                  <a:pt x="0" y="0"/>
                </a:lnTo>
                <a:close/>
              </a:path>
            </a:pathLst>
          </a:custGeom>
          <a:blipFill>
            <a:blip r:embed="rId5"/>
            <a:stretch>
              <a:fillRect l="0" t="0" r="0" b="0"/>
            </a:stretch>
          </a:blipFill>
        </p:spPr>
      </p:sp>
      <p:sp>
        <p:nvSpPr>
          <p:cNvPr name="Freeform 8" id="8"/>
          <p:cNvSpPr/>
          <p:nvPr/>
        </p:nvSpPr>
        <p:spPr>
          <a:xfrm flipH="false" flipV="false" rot="0">
            <a:off x="-206717" y="7362431"/>
            <a:ext cx="19413624" cy="3152020"/>
          </a:xfrm>
          <a:custGeom>
            <a:avLst/>
            <a:gdLst/>
            <a:ahLst/>
            <a:cxnLst/>
            <a:rect r="r" b="b" t="t" l="l"/>
            <a:pathLst>
              <a:path h="3152020" w="19413624">
                <a:moveTo>
                  <a:pt x="0" y="0"/>
                </a:moveTo>
                <a:lnTo>
                  <a:pt x="19413624" y="0"/>
                </a:lnTo>
                <a:lnTo>
                  <a:pt x="19413624" y="3152020"/>
                </a:lnTo>
                <a:lnTo>
                  <a:pt x="0" y="3152020"/>
                </a:lnTo>
                <a:lnTo>
                  <a:pt x="0" y="0"/>
                </a:lnTo>
                <a:close/>
              </a:path>
            </a:pathLst>
          </a:custGeom>
          <a:blipFill>
            <a:blip r:embed="rId6"/>
            <a:stretch>
              <a:fillRect l="-158" t="0" r="-158" b="-6838"/>
            </a:stretch>
          </a:blipFill>
        </p:spPr>
      </p:sp>
      <p:sp>
        <p:nvSpPr>
          <p:cNvPr name="Freeform 9" id="9"/>
          <p:cNvSpPr/>
          <p:nvPr/>
        </p:nvSpPr>
        <p:spPr>
          <a:xfrm flipH="false" flipV="false" rot="0">
            <a:off x="437199" y="8202750"/>
            <a:ext cx="4596925" cy="3109193"/>
          </a:xfrm>
          <a:custGeom>
            <a:avLst/>
            <a:gdLst/>
            <a:ahLst/>
            <a:cxnLst/>
            <a:rect r="r" b="b" t="t" l="l"/>
            <a:pathLst>
              <a:path h="3109193" w="4596925">
                <a:moveTo>
                  <a:pt x="0" y="0"/>
                </a:moveTo>
                <a:lnTo>
                  <a:pt x="4596925" y="0"/>
                </a:lnTo>
                <a:lnTo>
                  <a:pt x="4596925" y="3109193"/>
                </a:lnTo>
                <a:lnTo>
                  <a:pt x="0" y="3109193"/>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sp>
        <p:nvSpPr>
          <p:cNvPr name="Freeform 13" id="13"/>
          <p:cNvSpPr/>
          <p:nvPr/>
        </p:nvSpPr>
        <p:spPr>
          <a:xfrm flipH="false" flipV="false" rot="0">
            <a:off x="-671387" y="5495651"/>
            <a:ext cx="4781497" cy="5229762"/>
          </a:xfrm>
          <a:custGeom>
            <a:avLst/>
            <a:gdLst/>
            <a:ahLst/>
            <a:cxnLst/>
            <a:rect r="r" b="b" t="t" l="l"/>
            <a:pathLst>
              <a:path h="5229762" w="4781497">
                <a:moveTo>
                  <a:pt x="0" y="0"/>
                </a:moveTo>
                <a:lnTo>
                  <a:pt x="4781497" y="0"/>
                </a:lnTo>
                <a:lnTo>
                  <a:pt x="4781497" y="5229762"/>
                </a:lnTo>
                <a:lnTo>
                  <a:pt x="0" y="5229762"/>
                </a:lnTo>
                <a:lnTo>
                  <a:pt x="0" y="0"/>
                </a:lnTo>
                <a:close/>
              </a:path>
            </a:pathLst>
          </a:custGeom>
          <a:blipFill>
            <a:blip r:embed="rId9"/>
            <a:stretch>
              <a:fillRect l="0" t="0" r="0" b="0"/>
            </a:stretch>
          </a:blipFill>
        </p:spPr>
      </p:sp>
      <p:sp>
        <p:nvSpPr>
          <p:cNvPr name="TextBox 14" id="14"/>
          <p:cNvSpPr txBox="true"/>
          <p:nvPr/>
        </p:nvSpPr>
        <p:spPr>
          <a:xfrm rot="0">
            <a:off x="2085875" y="1188720"/>
            <a:ext cx="7987091" cy="1330315"/>
          </a:xfrm>
          <a:prstGeom prst="rect">
            <a:avLst/>
          </a:prstGeom>
        </p:spPr>
        <p:txBody>
          <a:bodyPr anchor="t" rtlCol="false" tIns="0" lIns="0" bIns="0" rIns="0">
            <a:spAutoFit/>
          </a:bodyPr>
          <a:lstStyle/>
          <a:p>
            <a:pPr algn="l">
              <a:lnSpc>
                <a:spcPct val="100000"/>
              </a:lnSpc>
            </a:pPr>
            <a:r>
              <a:rPr lang="en-US" b="true" sz="6800">
                <a:solidFill>
                  <a:srgbClr val="EAC24B"/>
                </a:solidFill>
                <a:latin typeface="Playpen Sans Bold"/>
                <a:ea typeface="Playpen Sans Bold"/>
                <a:cs typeface="Playpen Sans Bold"/>
                <a:sym typeface="Playpen Sans Bold"/>
              </a:rPr>
              <a:t>Ritme Mingguan</a:t>
            </a:r>
          </a:p>
        </p:txBody>
      </p:sp>
      <p:sp>
        <p:nvSpPr>
          <p:cNvPr name="TextBox 15" id="15"/>
          <p:cNvSpPr txBox="true"/>
          <p:nvPr/>
        </p:nvSpPr>
        <p:spPr>
          <a:xfrm rot="0">
            <a:off x="10515666" y="1648940"/>
            <a:ext cx="3502641" cy="400059"/>
          </a:xfrm>
          <a:prstGeom prst="rect">
            <a:avLst/>
          </a:prstGeom>
        </p:spPr>
        <p:txBody>
          <a:bodyPr anchor="t" rtlCol="false" tIns="0" lIns="0" bIns="0" rIns="0">
            <a:spAutoFit/>
          </a:bodyPr>
          <a:lstStyle/>
          <a:p>
            <a:pPr algn="l">
              <a:lnSpc>
                <a:spcPct val="100000"/>
              </a:lnSpc>
            </a:pPr>
            <a:r>
              <a:rPr lang="en-US" b="true" sz="3600">
                <a:solidFill>
                  <a:srgbClr val="EAC24B"/>
                </a:solidFill>
                <a:latin typeface="Playpen Sans Bold"/>
                <a:ea typeface="Playpen Sans Bold"/>
                <a:cs typeface="Playpen Sans Bold"/>
                <a:sym typeface="Playpen Sans Bold"/>
              </a:rPr>
              <a:t>2. Kelas</a:t>
            </a:r>
          </a:p>
        </p:txBody>
      </p:sp>
      <p:sp>
        <p:nvSpPr>
          <p:cNvPr name="TextBox 17" id="17"/>
          <p:cNvSpPr txBox="true"/>
          <p:nvPr/>
        </p:nvSpPr>
        <p:spPr>
          <a:xfrm rot="0">
            <a:off x="10515666" y="2311425"/>
            <a:ext cx="5514110" cy="958859"/>
          </a:xfrm>
          <a:prstGeom prst="rect">
            <a:avLst/>
          </a:prstGeom>
        </p:spPr>
        <p:txBody>
          <a:bodyPr anchor="t" rtlCol="false" tIns="0" lIns="0" bIns="0" rIns="0">
            <a:spAutoFit/>
          </a:bodyPr>
          <a:lstStyle/>
          <a:p>
            <a:pPr algn="l">
              <a:lnSpc>
                <a:spcPct val="100000"/>
              </a:lnSpc>
            </a:pPr>
            <a:r>
              <a:rPr lang="en-US" sz="3000">
                <a:solidFill>
                  <a:srgbClr val="FFFFFF"/>
                </a:solidFill>
                <a:latin typeface="Playpen Sans"/>
                <a:ea typeface="Playpen Sans"/>
                <a:cs typeface="Playpen Sans"/>
                <a:sym typeface="Playpen Sans"/>
              </a:rPr>
              <a:t>2 jam: kuis pembuka tanpa perangkat, contoh, latihan berpasangan.</a:t>
            </a:r>
          </a:p>
        </p:txBody>
      </p:sp>
      <p:sp>
        <p:nvSpPr>
          <p:cNvPr name="TextBox 18" id="18"/>
          <p:cNvSpPr txBox="true"/>
          <p:nvPr/>
        </p:nvSpPr>
        <p:spPr>
          <a:xfrm rot="0">
            <a:off x="2085875" y="3520440"/>
            <a:ext cx="3502641" cy="400059"/>
          </a:xfrm>
          <a:prstGeom prst="rect">
            <a:avLst/>
          </a:prstGeom>
        </p:spPr>
        <p:txBody>
          <a:bodyPr anchor="t" rtlCol="false" tIns="0" lIns="0" bIns="0" rIns="0">
            <a:spAutoFit/>
          </a:bodyPr>
          <a:lstStyle/>
          <a:p>
            <a:pPr algn="l">
              <a:lnSpc>
                <a:spcPct val="100000"/>
              </a:lnSpc>
            </a:pPr>
            <a:r>
              <a:rPr lang="en-US" b="true" sz="3600">
                <a:solidFill>
                  <a:srgbClr val="EAC24B"/>
                </a:solidFill>
                <a:latin typeface="Playpen Sans Bold"/>
                <a:ea typeface="Playpen Sans Bold"/>
                <a:cs typeface="Playpen Sans Bold"/>
                <a:sym typeface="Playpen Sans Bold"/>
              </a:rPr>
              <a:t>1. Baca</a:t>
            </a:r>
          </a:p>
        </p:txBody>
      </p:sp>
      <p:sp>
        <p:nvSpPr>
          <p:cNvPr name="TextBox 19" id="19"/>
          <p:cNvSpPr txBox="true"/>
          <p:nvPr/>
        </p:nvSpPr>
        <p:spPr>
          <a:xfrm rot="0">
            <a:off x="2085875" y="4206240"/>
            <a:ext cx="4194044" cy="958859"/>
          </a:xfrm>
          <a:prstGeom prst="rect">
            <a:avLst/>
          </a:prstGeom>
        </p:spPr>
        <p:txBody>
          <a:bodyPr anchor="t" rtlCol="false" tIns="0" lIns="0" bIns="0" rIns="0">
            <a:spAutoFit/>
          </a:bodyPr>
          <a:lstStyle/>
          <a:p>
            <a:pPr algn="l">
              <a:lnSpc>
                <a:spcPct val="100000"/>
              </a:lnSpc>
            </a:pPr>
            <a:r>
              <a:rPr lang="en-US" sz="2800">
                <a:solidFill>
                  <a:srgbClr val="FFFFFF"/>
                </a:solidFill>
                <a:latin typeface="Playpen Sans"/>
                <a:ea typeface="Playpen Sans"/>
                <a:cs typeface="Playpen Sans"/>
                <a:sym typeface="Playpen Sans"/>
              </a:rPr>
              <a:t>Bab buku dengan panduan baca berbahasa Indonesia.</a:t>
            </a:r>
          </a:p>
        </p:txBody>
      </p:sp>
      <p:sp>
        <p:nvSpPr>
          <p:cNvPr name="TextBox 20" id="20"/>
          <p:cNvSpPr txBox="true"/>
          <p:nvPr/>
        </p:nvSpPr>
        <p:spPr>
          <a:xfrm rot="0">
            <a:off x="11095404" y="4442396"/>
            <a:ext cx="3502641" cy="400059"/>
          </a:xfrm>
          <a:prstGeom prst="rect">
            <a:avLst/>
          </a:prstGeom>
        </p:spPr>
        <p:txBody>
          <a:bodyPr anchor="t" rtlCol="false" tIns="0" lIns="0" bIns="0" rIns="0">
            <a:spAutoFit/>
          </a:bodyPr>
          <a:lstStyle/>
          <a:p>
            <a:pPr algn="l">
              <a:lnSpc>
                <a:spcPct val="100000"/>
              </a:lnSpc>
            </a:pPr>
            <a:r>
              <a:rPr lang="en-US" b="true" sz="3600">
                <a:solidFill>
                  <a:srgbClr val="EAC24B"/>
                </a:solidFill>
                <a:latin typeface="Playpen Sans Bold"/>
                <a:ea typeface="Playpen Sans Bold"/>
                <a:cs typeface="Playpen Sans Bold"/>
                <a:sym typeface="Playpen Sans Bold"/>
              </a:rPr>
              <a:t>3. Latihan</a:t>
            </a:r>
          </a:p>
        </p:txBody>
      </p:sp>
      <p:sp>
        <p:nvSpPr>
          <p:cNvPr name="TextBox 21" id="21"/>
          <p:cNvSpPr txBox="true"/>
          <p:nvPr/>
        </p:nvSpPr>
        <p:spPr>
          <a:xfrm rot="0">
            <a:off x="11095404" y="5104882"/>
            <a:ext cx="5514110" cy="958859"/>
          </a:xfrm>
          <a:prstGeom prst="rect">
            <a:avLst/>
          </a:prstGeom>
        </p:spPr>
        <p:txBody>
          <a:bodyPr anchor="t" rtlCol="false" tIns="0" lIns="0" bIns="0" rIns="0">
            <a:spAutoFit/>
          </a:bodyPr>
          <a:lstStyle/>
          <a:p>
            <a:pPr algn="l">
              <a:lnSpc>
                <a:spcPct val="100000"/>
              </a:lnSpc>
            </a:pPr>
            <a:r>
              <a:rPr lang="en-US" sz="3000">
                <a:solidFill>
                  <a:srgbClr val="FFFFFF"/>
                </a:solidFill>
                <a:latin typeface="Playpen Sans"/>
                <a:ea typeface="Playpen Sans"/>
                <a:cs typeface="Playpen Sans"/>
                <a:sym typeface="Playpen Sans"/>
              </a:rPr>
              <a:t>Notebook Colab dan satu pertanyaan pemahaman.</a:t>
            </a:r>
          </a:p>
        </p:txBody>
      </p:sp>
      <p:sp>
        <p:nvSpPr>
          <p:cNvPr id="22" name="Beban"/>
          <p:cNvSpPr txBox="1"/>
          <p:nvPr/>
        </p:nvSpPr>
        <p:spPr>
          <a:xfrm>
            <a:off x="2103120" y="2606040"/>
            <a:ext cx="8046720" cy="548640"/>
          </a:xfrm>
          <a:prstGeom prst="rect">
            <a:avLst/>
          </a:prstGeom>
          <a:noFill/>
        </p:spPr>
        <p:txBody>
          <a:bodyPr wrap="square" lIns="0" rIns="0" tIns="0" bIns="0" anchor="t">
            <a:spAutoFit/>
          </a:bodyPr>
          <a:lstStyle/>
          <a:p>
            <a:pPr algn="l">
              <a:spcAft>
                <a:spcPts val="0"/>
              </a:spcAft>
            </a:pPr>
            <a:r>
              <a:rPr sz="3000">
                <a:solidFill>
                  <a:srgbClr val="F7B125"/>
                </a:solidFill>
                <a:latin typeface="Playpen Sans Bold"/>
              </a:rPr>
              <a:t>Sekitar 5 sampai 6 jam per pekan</a:t>
            </a:r>
          </a:p>
        </p:txBody>
      </p:sp>
    </p:spTree>
  </p:cSld>
  <p:clrMapOvr>
    <a:masterClrMapping/>
  </p:clrMapOvr>
</p:sld>
</file>

<file path=ppt/slides/slide1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67928" r="0" b="-67928"/>
            </a:stretch>
          </a:blipFill>
        </p:spPr>
      </p:sp>
      <p:sp>
        <p:nvSpPr>
          <p:cNvPr name="Freeform 3" id="3"/>
          <p:cNvSpPr/>
          <p:nvPr/>
        </p:nvSpPr>
        <p:spPr>
          <a:xfrm flipH="false" flipV="false" rot="0">
            <a:off x="12533569" y="-21055"/>
            <a:ext cx="5762298" cy="6532600"/>
          </a:xfrm>
          <a:custGeom>
            <a:avLst/>
            <a:gdLst/>
            <a:ahLst/>
            <a:cxnLst/>
            <a:rect r="r" b="b" t="t" l="l"/>
            <a:pathLst>
              <a:path h="6532600" w="5762298">
                <a:moveTo>
                  <a:pt x="0" y="0"/>
                </a:moveTo>
                <a:lnTo>
                  <a:pt x="5762298" y="0"/>
                </a:lnTo>
                <a:lnTo>
                  <a:pt x="5762298" y="6532600"/>
                </a:lnTo>
                <a:lnTo>
                  <a:pt x="0" y="6532600"/>
                </a:lnTo>
                <a:lnTo>
                  <a:pt x="0" y="0"/>
                </a:lnTo>
                <a:close/>
              </a:path>
            </a:pathLst>
          </a:custGeom>
          <a:blipFill>
            <a:blip r:embed="rId3"/>
            <a:stretch>
              <a:fillRect l="0" t="0" r="0" b="0"/>
            </a:stretch>
          </a:blipFill>
        </p:spPr>
      </p:sp>
      <p:sp>
        <p:nvSpPr>
          <p:cNvPr name="Freeform 4" id="4"/>
          <p:cNvSpPr/>
          <p:nvPr/>
        </p:nvSpPr>
        <p:spPr>
          <a:xfrm flipH="false" flipV="false" rot="0">
            <a:off x="12978766" y="2004481"/>
            <a:ext cx="5309234" cy="5465964"/>
          </a:xfrm>
          <a:custGeom>
            <a:avLst/>
            <a:gdLst/>
            <a:ahLst/>
            <a:cxnLst/>
            <a:rect r="r" b="b" t="t" l="l"/>
            <a:pathLst>
              <a:path h="5465964" w="5309234">
                <a:moveTo>
                  <a:pt x="0" y="0"/>
                </a:moveTo>
                <a:lnTo>
                  <a:pt x="5309234" y="0"/>
                </a:lnTo>
                <a:lnTo>
                  <a:pt x="5309234" y="5465965"/>
                </a:lnTo>
                <a:lnTo>
                  <a:pt x="0" y="5465965"/>
                </a:lnTo>
                <a:lnTo>
                  <a:pt x="0" y="0"/>
                </a:lnTo>
                <a:close/>
              </a:path>
            </a:pathLst>
          </a:custGeom>
          <a:blipFill>
            <a:blip r:embed="rId4"/>
            <a:stretch>
              <a:fillRect l="0" t="0" r="0" b="0"/>
            </a:stretch>
          </a:blipFill>
        </p:spPr>
      </p:sp>
      <p:sp>
        <p:nvSpPr>
          <p:cNvPr name="Freeform 5" id="5"/>
          <p:cNvSpPr/>
          <p:nvPr/>
        </p:nvSpPr>
        <p:spPr>
          <a:xfrm flipH="true" flipV="false" rot="0">
            <a:off x="-29416" y="0"/>
            <a:ext cx="5762298" cy="6532600"/>
          </a:xfrm>
          <a:custGeom>
            <a:avLst/>
            <a:gdLst/>
            <a:ahLst/>
            <a:cxnLst/>
            <a:rect r="r" b="b" t="t" l="l"/>
            <a:pathLst>
              <a:path h="6532600" w="5762298">
                <a:moveTo>
                  <a:pt x="5762298" y="0"/>
                </a:moveTo>
                <a:lnTo>
                  <a:pt x="0" y="0"/>
                </a:lnTo>
                <a:lnTo>
                  <a:pt x="0" y="6532600"/>
                </a:lnTo>
                <a:lnTo>
                  <a:pt x="5762298" y="6532600"/>
                </a:lnTo>
                <a:lnTo>
                  <a:pt x="5762298" y="0"/>
                </a:lnTo>
                <a:close/>
              </a:path>
            </a:pathLst>
          </a:custGeom>
          <a:blipFill>
            <a:blip r:embed="rId3"/>
            <a:stretch>
              <a:fillRect l="0" t="0" r="0" b="0"/>
            </a:stretch>
          </a:blipFill>
        </p:spPr>
      </p:sp>
      <p:sp>
        <p:nvSpPr>
          <p:cNvPr name="Freeform 6" id="6"/>
          <p:cNvSpPr/>
          <p:nvPr/>
        </p:nvSpPr>
        <p:spPr>
          <a:xfrm flipH="false" flipV="false" rot="0">
            <a:off x="423648" y="2410518"/>
            <a:ext cx="5309234" cy="5465964"/>
          </a:xfrm>
          <a:custGeom>
            <a:avLst/>
            <a:gdLst/>
            <a:ahLst/>
            <a:cxnLst/>
            <a:rect r="r" b="b" t="t" l="l"/>
            <a:pathLst>
              <a:path h="5465964" w="5309234">
                <a:moveTo>
                  <a:pt x="0" y="0"/>
                </a:moveTo>
                <a:lnTo>
                  <a:pt x="5309234" y="0"/>
                </a:lnTo>
                <a:lnTo>
                  <a:pt x="5309234" y="5465964"/>
                </a:lnTo>
                <a:lnTo>
                  <a:pt x="0" y="5465964"/>
                </a:lnTo>
                <a:lnTo>
                  <a:pt x="0" y="0"/>
                </a:lnTo>
                <a:close/>
              </a:path>
            </a:pathLst>
          </a:custGeom>
          <a:blipFill>
            <a:blip r:embed="rId4"/>
            <a:stretch>
              <a:fillRect l="0" t="0" r="0" b="0"/>
            </a:stretch>
          </a:blipFill>
        </p:spPr>
      </p:sp>
      <p:sp>
        <p:nvSpPr>
          <p:cNvPr name="Freeform 7" id="7"/>
          <p:cNvSpPr/>
          <p:nvPr/>
        </p:nvSpPr>
        <p:spPr>
          <a:xfrm flipH="false" flipV="false" rot="0">
            <a:off x="-317430" y="7660946"/>
            <a:ext cx="18613297" cy="3022078"/>
          </a:xfrm>
          <a:custGeom>
            <a:avLst/>
            <a:gdLst/>
            <a:ahLst/>
            <a:cxnLst/>
            <a:rect r="r" b="b" t="t" l="l"/>
            <a:pathLst>
              <a:path h="3022078" w="18613297">
                <a:moveTo>
                  <a:pt x="0" y="0"/>
                </a:moveTo>
                <a:lnTo>
                  <a:pt x="18613297" y="0"/>
                </a:lnTo>
                <a:lnTo>
                  <a:pt x="18613297" y="3022077"/>
                </a:lnTo>
                <a:lnTo>
                  <a:pt x="0" y="3022077"/>
                </a:lnTo>
                <a:lnTo>
                  <a:pt x="0" y="0"/>
                </a:lnTo>
                <a:close/>
              </a:path>
            </a:pathLst>
          </a:custGeom>
          <a:blipFill>
            <a:blip r:embed="rId5"/>
            <a:stretch>
              <a:fillRect l="-158" t="0" r="-158" b="-6838"/>
            </a:stretch>
          </a:blipFill>
        </p:spPr>
      </p:sp>
      <p:sp>
        <p:nvSpPr>
          <p:cNvPr name="Freeform 11" id="11"/>
          <p:cNvSpPr/>
          <p:nvPr/>
        </p:nvSpPr>
        <p:spPr>
          <a:xfrm flipH="false" flipV="false" rot="0">
            <a:off x="681269" y="7470446"/>
            <a:ext cx="6083710" cy="4114800"/>
          </a:xfrm>
          <a:custGeom>
            <a:avLst/>
            <a:gdLst/>
            <a:ahLst/>
            <a:cxnLst/>
            <a:rect r="r" b="b" t="t" l="l"/>
            <a:pathLst>
              <a:path h="4114800" w="6083710">
                <a:moveTo>
                  <a:pt x="0" y="0"/>
                </a:moveTo>
                <a:lnTo>
                  <a:pt x="6083709" y="0"/>
                </a:lnTo>
                <a:lnTo>
                  <a:pt x="6083709" y="4114800"/>
                </a:lnTo>
                <a:lnTo>
                  <a:pt x="0" y="4114800"/>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name="Freeform 13" id="13"/>
          <p:cNvSpPr/>
          <p:nvPr/>
        </p:nvSpPr>
        <p:spPr>
          <a:xfrm flipH="false" flipV="false" rot="0">
            <a:off x="9549673" y="7660946"/>
            <a:ext cx="6083710" cy="4114800"/>
          </a:xfrm>
          <a:custGeom>
            <a:avLst/>
            <a:gdLst/>
            <a:ahLst/>
            <a:cxnLst/>
            <a:rect r="r" b="b" t="t" l="l"/>
            <a:pathLst>
              <a:path h="4114800" w="6083710">
                <a:moveTo>
                  <a:pt x="0" y="0"/>
                </a:moveTo>
                <a:lnTo>
                  <a:pt x="6083710" y="0"/>
                </a:lnTo>
                <a:lnTo>
                  <a:pt x="6083710" y="4114800"/>
                </a:lnTo>
                <a:lnTo>
                  <a:pt x="0" y="4114800"/>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id="14" name="Panel"/>
          <p:cNvSpPr/>
          <p:nvPr/>
        </p:nvSpPr>
        <p:spPr>
          <a:xfrm>
            <a:off x="914400" y="731520"/>
            <a:ext cx="16459200" cy="6675120"/>
          </a:xfrm>
          <a:prstGeom prst="roundRect">
            <a:avLst>
              <a:gd name="adj" fmla="val 5000"/>
            </a:avLst>
          </a:prstGeom>
          <a:solidFill>
            <a:srgbClr val="0A2540">
              <a:alpha val="8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Judul"/>
          <p:cNvSpPr txBox="1"/>
          <p:nvPr/>
        </p:nvSpPr>
        <p:spPr>
          <a:xfrm>
            <a:off x="1508760" y="1005840"/>
            <a:ext cx="15270480" cy="1188720"/>
          </a:xfrm>
          <a:prstGeom prst="rect">
            <a:avLst/>
          </a:prstGeom>
          <a:noFill/>
        </p:spPr>
        <p:txBody>
          <a:bodyPr wrap="square" lIns="0" rIns="0" tIns="0" bIns="0" anchor="t">
            <a:spAutoFit/>
          </a:bodyPr>
          <a:lstStyle/>
          <a:p>
            <a:pPr algn="l">
              <a:spcAft>
                <a:spcPts val="0"/>
              </a:spcAft>
            </a:pPr>
            <a:r>
              <a:rPr sz="5600">
                <a:solidFill>
                  <a:srgbClr val="F7B125"/>
                </a:solidFill>
                <a:latin typeface="Playpen Sans Bold"/>
              </a:rPr>
              <a:t>Dua Buku, Gratis dan Sah</a:t>
            </a:r>
          </a:p>
        </p:txBody>
      </p:sp>
      <p:sp>
        <p:nvSpPr>
          <p:cNvPr id="16" name="Buku 1"/>
          <p:cNvSpPr/>
          <p:nvPr/>
        </p:nvSpPr>
        <p:spPr>
          <a:xfrm>
            <a:off x="1508760" y="2103120"/>
            <a:ext cx="7360919" cy="3657600"/>
          </a:xfrm>
          <a:prstGeom prst="roundRect">
            <a:avLst>
              <a:gd name="adj" fmla="val 4000"/>
            </a:avLst>
          </a:prstGeom>
          <a:solidFill>
            <a:srgbClr val="14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Isi buku 1"/>
          <p:cNvSpPr txBox="1"/>
          <p:nvPr/>
        </p:nvSpPr>
        <p:spPr>
          <a:xfrm>
            <a:off x="1874519" y="2331720"/>
            <a:ext cx="6629399" cy="3474720"/>
          </a:xfrm>
          <a:prstGeom prst="rect">
            <a:avLst/>
          </a:prstGeom>
          <a:noFill/>
        </p:spPr>
        <p:txBody>
          <a:bodyPr wrap="square" lIns="0" rIns="0" tIns="0" bIns="0" anchor="t">
            <a:spAutoFit/>
          </a:bodyPr>
          <a:lstStyle/>
          <a:p>
            <a:pPr algn="l">
              <a:spcAft>
                <a:spcPts val="1200"/>
              </a:spcAft>
            </a:pPr>
            <a:r>
              <a:rPr sz="3800">
                <a:solidFill>
                  <a:srgbClr val="FFFFFF"/>
                </a:solidFill>
                <a:latin typeface="Playpen Sans Bold"/>
              </a:rPr>
              <a:t>Understanding Deep Learning</a:t>
            </a:r>
          </a:p>
          <a:p>
            <a:pPr algn="l">
              <a:spcAft>
                <a:spcPts val="2000"/>
              </a:spcAft>
            </a:pPr>
            <a:r>
              <a:rPr sz="3000">
                <a:solidFill>
                  <a:srgbClr val="FFFFFF"/>
                </a:solidFill>
                <a:latin typeface="Playpen Sans"/>
              </a:rPr>
              <a:t>Simon J. D. Prince, MIT Press 2023</a:t>
            </a:r>
          </a:p>
          <a:p>
            <a:pPr algn="l">
              <a:spcAft>
                <a:spcPts val="0"/>
              </a:spcAft>
            </a:pPr>
            <a:r>
              <a:rPr sz="3000">
                <a:solidFill>
                  <a:srgbClr val="F7B125"/>
                </a:solidFill>
                <a:latin typeface="Playpen Sans"/>
              </a:rPr>
              <a:t>Untuk Pekan 1 sampai 7 dan 13 sampai 15</a:t>
            </a:r>
          </a:p>
        </p:txBody>
      </p:sp>
      <p:sp>
        <p:nvSpPr>
          <p:cNvPr id="18" name="Buku 2"/>
          <p:cNvSpPr/>
          <p:nvPr/>
        </p:nvSpPr>
        <p:spPr>
          <a:xfrm>
            <a:off x="9418319" y="2103120"/>
            <a:ext cx="7360919" cy="3657600"/>
          </a:xfrm>
          <a:prstGeom prst="roundRect">
            <a:avLst>
              <a:gd name="adj" fmla="val 4000"/>
            </a:avLst>
          </a:prstGeom>
          <a:solidFill>
            <a:srgbClr val="14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Isi buku 2"/>
          <p:cNvSpPr txBox="1"/>
          <p:nvPr/>
        </p:nvSpPr>
        <p:spPr>
          <a:xfrm>
            <a:off x="9784080" y="2331720"/>
            <a:ext cx="6629399" cy="3474720"/>
          </a:xfrm>
          <a:prstGeom prst="rect">
            <a:avLst/>
          </a:prstGeom>
          <a:noFill/>
        </p:spPr>
        <p:txBody>
          <a:bodyPr wrap="square" lIns="0" rIns="0" tIns="0" bIns="0" anchor="t">
            <a:spAutoFit/>
          </a:bodyPr>
          <a:lstStyle/>
          <a:p>
            <a:pPr algn="l">
              <a:spcAft>
                <a:spcPts val="1200"/>
              </a:spcAft>
            </a:pPr>
            <a:r>
              <a:rPr sz="3800">
                <a:solidFill>
                  <a:srgbClr val="FFFFFF"/>
                </a:solidFill>
                <a:latin typeface="Playpen Sans Bold"/>
              </a:rPr>
              <a:t>Essentials of Metaheuristics</a:t>
            </a:r>
          </a:p>
          <a:p>
            <a:pPr algn="l">
              <a:spcAft>
                <a:spcPts val="2000"/>
              </a:spcAft>
            </a:pPr>
            <a:r>
              <a:rPr sz="3000">
                <a:solidFill>
                  <a:srgbClr val="FFFFFF"/>
                </a:solidFill>
                <a:latin typeface="Playpen Sans"/>
              </a:rPr>
              <a:t>Sean Luke, edisi kedua, versi 2.4</a:t>
            </a:r>
          </a:p>
          <a:p>
            <a:pPr algn="l">
              <a:spcAft>
                <a:spcPts val="0"/>
              </a:spcAft>
            </a:pPr>
            <a:r>
              <a:rPr sz="3000">
                <a:solidFill>
                  <a:srgbClr val="F7B125"/>
                </a:solidFill>
                <a:latin typeface="Playpen Sans"/>
              </a:rPr>
              <a:t>Untuk Pekan 9 sampai 12</a:t>
            </a:r>
          </a:p>
        </p:txBody>
      </p:sp>
      <p:sp>
        <p:nvSpPr>
          <p:cNvPr id="20" name="Unduh"/>
          <p:cNvSpPr txBox="1"/>
          <p:nvPr/>
        </p:nvSpPr>
        <p:spPr>
          <a:xfrm>
            <a:off x="1508760" y="6172200"/>
            <a:ext cx="15270480" cy="914400"/>
          </a:xfrm>
          <a:prstGeom prst="rect">
            <a:avLst/>
          </a:prstGeom>
          <a:noFill/>
        </p:spPr>
        <p:txBody>
          <a:bodyPr wrap="square" lIns="0" rIns="0" tIns="0" bIns="0" anchor="t">
            <a:spAutoFit/>
          </a:bodyPr>
          <a:lstStyle/>
          <a:p>
            <a:pPr algn="l">
              <a:spcAft>
                <a:spcPts val="0"/>
              </a:spcAft>
            </a:pPr>
            <a:r>
              <a:rPr sz="2800">
                <a:solidFill>
                  <a:srgbClr val="F7B125"/>
                </a:solidFill>
                <a:latin typeface="Playpen Sans Bold"/>
              </a:rPr>
              <a:t>Unduh dari situs penulis. Tautannya ada di Panduan Peserta.</a:t>
            </a:r>
          </a:p>
        </p:txBody>
      </p:sp>
    </p:spTree>
  </p:cSld>
  <p:clrMapOvr>
    <a:masterClrMapping/>
  </p:clrMapOvr>
</p:sld>
</file>

<file path=ppt/slides/slide1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67928" r="0" b="-67928"/>
            </a:stretch>
          </a:blipFill>
        </p:spPr>
      </p:sp>
      <p:sp>
        <p:nvSpPr>
          <p:cNvPr name="Freeform 3" id="3"/>
          <p:cNvSpPr/>
          <p:nvPr/>
        </p:nvSpPr>
        <p:spPr>
          <a:xfrm flipH="false" flipV="false" rot="0">
            <a:off x="12533569" y="-21055"/>
            <a:ext cx="5762298" cy="6532600"/>
          </a:xfrm>
          <a:custGeom>
            <a:avLst/>
            <a:gdLst/>
            <a:ahLst/>
            <a:cxnLst/>
            <a:rect r="r" b="b" t="t" l="l"/>
            <a:pathLst>
              <a:path h="6532600" w="5762298">
                <a:moveTo>
                  <a:pt x="0" y="0"/>
                </a:moveTo>
                <a:lnTo>
                  <a:pt x="5762298" y="0"/>
                </a:lnTo>
                <a:lnTo>
                  <a:pt x="5762298" y="6532600"/>
                </a:lnTo>
                <a:lnTo>
                  <a:pt x="0" y="6532600"/>
                </a:lnTo>
                <a:lnTo>
                  <a:pt x="0" y="0"/>
                </a:lnTo>
                <a:close/>
              </a:path>
            </a:pathLst>
          </a:custGeom>
          <a:blipFill>
            <a:blip r:embed="rId3"/>
            <a:stretch>
              <a:fillRect l="0" t="0" r="0" b="0"/>
            </a:stretch>
          </a:blipFill>
        </p:spPr>
      </p:sp>
      <p:sp>
        <p:nvSpPr>
          <p:cNvPr name="Freeform 4" id="4"/>
          <p:cNvSpPr/>
          <p:nvPr/>
        </p:nvSpPr>
        <p:spPr>
          <a:xfrm flipH="false" flipV="false" rot="0">
            <a:off x="12978766" y="2004481"/>
            <a:ext cx="5309234" cy="5465964"/>
          </a:xfrm>
          <a:custGeom>
            <a:avLst/>
            <a:gdLst/>
            <a:ahLst/>
            <a:cxnLst/>
            <a:rect r="r" b="b" t="t" l="l"/>
            <a:pathLst>
              <a:path h="5465964" w="5309234">
                <a:moveTo>
                  <a:pt x="0" y="0"/>
                </a:moveTo>
                <a:lnTo>
                  <a:pt x="5309234" y="0"/>
                </a:lnTo>
                <a:lnTo>
                  <a:pt x="5309234" y="5465965"/>
                </a:lnTo>
                <a:lnTo>
                  <a:pt x="0" y="5465965"/>
                </a:lnTo>
                <a:lnTo>
                  <a:pt x="0" y="0"/>
                </a:lnTo>
                <a:close/>
              </a:path>
            </a:pathLst>
          </a:custGeom>
          <a:blipFill>
            <a:blip r:embed="rId4"/>
            <a:stretch>
              <a:fillRect l="0" t="0" r="0" b="0"/>
            </a:stretch>
          </a:blipFill>
        </p:spPr>
      </p:sp>
      <p:sp>
        <p:nvSpPr>
          <p:cNvPr name="Freeform 5" id="5"/>
          <p:cNvSpPr/>
          <p:nvPr/>
        </p:nvSpPr>
        <p:spPr>
          <a:xfrm flipH="true" flipV="false" rot="0">
            <a:off x="-29416" y="0"/>
            <a:ext cx="5762298" cy="6532600"/>
          </a:xfrm>
          <a:custGeom>
            <a:avLst/>
            <a:gdLst/>
            <a:ahLst/>
            <a:cxnLst/>
            <a:rect r="r" b="b" t="t" l="l"/>
            <a:pathLst>
              <a:path h="6532600" w="5762298">
                <a:moveTo>
                  <a:pt x="5762298" y="0"/>
                </a:moveTo>
                <a:lnTo>
                  <a:pt x="0" y="0"/>
                </a:lnTo>
                <a:lnTo>
                  <a:pt x="0" y="6532600"/>
                </a:lnTo>
                <a:lnTo>
                  <a:pt x="5762298" y="6532600"/>
                </a:lnTo>
                <a:lnTo>
                  <a:pt x="5762298" y="0"/>
                </a:lnTo>
                <a:close/>
              </a:path>
            </a:pathLst>
          </a:custGeom>
          <a:blipFill>
            <a:blip r:embed="rId3"/>
            <a:stretch>
              <a:fillRect l="0" t="0" r="0" b="0"/>
            </a:stretch>
          </a:blipFill>
        </p:spPr>
      </p:sp>
      <p:sp>
        <p:nvSpPr>
          <p:cNvPr name="Freeform 6" id="6"/>
          <p:cNvSpPr/>
          <p:nvPr/>
        </p:nvSpPr>
        <p:spPr>
          <a:xfrm flipH="false" flipV="false" rot="0">
            <a:off x="423648" y="2410518"/>
            <a:ext cx="5309234" cy="5465964"/>
          </a:xfrm>
          <a:custGeom>
            <a:avLst/>
            <a:gdLst/>
            <a:ahLst/>
            <a:cxnLst/>
            <a:rect r="r" b="b" t="t" l="l"/>
            <a:pathLst>
              <a:path h="5465964" w="5309234">
                <a:moveTo>
                  <a:pt x="0" y="0"/>
                </a:moveTo>
                <a:lnTo>
                  <a:pt x="5309234" y="0"/>
                </a:lnTo>
                <a:lnTo>
                  <a:pt x="5309234" y="5465964"/>
                </a:lnTo>
                <a:lnTo>
                  <a:pt x="0" y="5465964"/>
                </a:lnTo>
                <a:lnTo>
                  <a:pt x="0" y="0"/>
                </a:lnTo>
                <a:close/>
              </a:path>
            </a:pathLst>
          </a:custGeom>
          <a:blipFill>
            <a:blip r:embed="rId4"/>
            <a:stretch>
              <a:fillRect l="0" t="0" r="0" b="0"/>
            </a:stretch>
          </a:blipFill>
        </p:spPr>
      </p:sp>
      <p:sp>
        <p:nvSpPr>
          <p:cNvPr name="Freeform 7" id="7"/>
          <p:cNvSpPr/>
          <p:nvPr/>
        </p:nvSpPr>
        <p:spPr>
          <a:xfrm flipH="false" flipV="false" rot="0">
            <a:off x="-317430" y="7660946"/>
            <a:ext cx="18613297" cy="3022078"/>
          </a:xfrm>
          <a:custGeom>
            <a:avLst/>
            <a:gdLst/>
            <a:ahLst/>
            <a:cxnLst/>
            <a:rect r="r" b="b" t="t" l="l"/>
            <a:pathLst>
              <a:path h="3022078" w="18613297">
                <a:moveTo>
                  <a:pt x="0" y="0"/>
                </a:moveTo>
                <a:lnTo>
                  <a:pt x="18613297" y="0"/>
                </a:lnTo>
                <a:lnTo>
                  <a:pt x="18613297" y="3022077"/>
                </a:lnTo>
                <a:lnTo>
                  <a:pt x="0" y="3022077"/>
                </a:lnTo>
                <a:lnTo>
                  <a:pt x="0" y="0"/>
                </a:lnTo>
                <a:close/>
              </a:path>
            </a:pathLst>
          </a:custGeom>
          <a:blipFill>
            <a:blip r:embed="rId5"/>
            <a:stretch>
              <a:fillRect l="-158" t="0" r="-158" b="-6838"/>
            </a:stretch>
          </a:blipFill>
        </p:spPr>
      </p:sp>
      <p:sp>
        <p:nvSpPr>
          <p:cNvPr name="Freeform 10" id="10"/>
          <p:cNvSpPr/>
          <p:nvPr/>
        </p:nvSpPr>
        <p:spPr>
          <a:xfrm flipH="false" flipV="false" rot="0">
            <a:off x="-29416" y="2396745"/>
            <a:ext cx="4040554" cy="8229600"/>
          </a:xfrm>
          <a:custGeom>
            <a:avLst/>
            <a:gdLst/>
            <a:ahLst/>
            <a:cxnLst/>
            <a:rect r="r" b="b" t="t" l="l"/>
            <a:pathLst>
              <a:path h="8229600" w="4040554">
                <a:moveTo>
                  <a:pt x="0" y="0"/>
                </a:moveTo>
                <a:lnTo>
                  <a:pt x="4040554" y="0"/>
                </a:lnTo>
                <a:lnTo>
                  <a:pt x="4040554" y="8229600"/>
                </a:lnTo>
                <a:lnTo>
                  <a:pt x="0" y="8229600"/>
                </a:lnTo>
                <a:lnTo>
                  <a:pt x="0" y="0"/>
                </a:lnTo>
                <a:close/>
              </a:path>
            </a:pathLst>
          </a:custGeom>
          <a:blipFill>
            <a:blip r:embed="rId8"/>
            <a:stretch>
              <a:fillRect l="0" t="0" r="0" b="0"/>
            </a:stretch>
          </a:blipFill>
        </p:spPr>
      </p:sp>
      <p:sp>
        <p:nvSpPr>
          <p:cNvPr name="Freeform 11" id="11"/>
          <p:cNvSpPr/>
          <p:nvPr/>
        </p:nvSpPr>
        <p:spPr>
          <a:xfrm flipH="false" flipV="false" rot="0">
            <a:off x="681269" y="7470446"/>
            <a:ext cx="6083710" cy="4114800"/>
          </a:xfrm>
          <a:custGeom>
            <a:avLst/>
            <a:gdLst/>
            <a:ahLst/>
            <a:cxnLst/>
            <a:rect r="r" b="b" t="t" l="l"/>
            <a:pathLst>
              <a:path h="4114800" w="6083710">
                <a:moveTo>
                  <a:pt x="0" y="0"/>
                </a:moveTo>
                <a:lnTo>
                  <a:pt x="6083709" y="0"/>
                </a:lnTo>
                <a:lnTo>
                  <a:pt x="6083709" y="4114800"/>
                </a:lnTo>
                <a:lnTo>
                  <a:pt x="0" y="4114800"/>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id="12" name="Panel"/>
          <p:cNvSpPr/>
          <p:nvPr/>
        </p:nvSpPr>
        <p:spPr>
          <a:xfrm>
            <a:off x="4480560" y="731520"/>
            <a:ext cx="12893040" cy="6217920"/>
          </a:xfrm>
          <a:prstGeom prst="roundRect">
            <a:avLst>
              <a:gd name="adj" fmla="val 5000"/>
            </a:avLst>
          </a:prstGeom>
          <a:solidFill>
            <a:srgbClr val="0A2540">
              <a:alpha val="8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Judul"/>
          <p:cNvSpPr txBox="1"/>
          <p:nvPr/>
        </p:nvSpPr>
        <p:spPr>
          <a:xfrm>
            <a:off x="5074920" y="1005840"/>
            <a:ext cx="11704319" cy="1188720"/>
          </a:xfrm>
          <a:prstGeom prst="rect">
            <a:avLst/>
          </a:prstGeom>
          <a:noFill/>
        </p:spPr>
        <p:txBody>
          <a:bodyPr wrap="square" lIns="0" rIns="0" tIns="0" bIns="0" anchor="t">
            <a:spAutoFit/>
          </a:bodyPr>
          <a:lstStyle/>
          <a:p>
            <a:pPr algn="l">
              <a:spcAft>
                <a:spcPts val="0"/>
              </a:spcAft>
            </a:pPr>
            <a:r>
              <a:rPr sz="6800">
                <a:solidFill>
                  <a:srgbClr val="F7B125"/>
                </a:solidFill>
                <a:latin typeface="Playpen Sans Bold"/>
              </a:rPr>
              <a:t>Penilaian</a:t>
            </a:r>
          </a:p>
        </p:txBody>
      </p:sp>
      <p:sp>
        <p:nvSpPr>
          <p:cNvPr id="14" name="Angka 1"/>
          <p:cNvSpPr txBox="1"/>
          <p:nvPr/>
        </p:nvSpPr>
        <p:spPr>
          <a:xfrm>
            <a:off x="5074920" y="2240280"/>
            <a:ext cx="3627120" cy="1463040"/>
          </a:xfrm>
          <a:prstGeom prst="rect">
            <a:avLst/>
          </a:prstGeom>
          <a:noFill/>
        </p:spPr>
        <p:txBody>
          <a:bodyPr wrap="square" lIns="0" rIns="0" tIns="0" bIns="0" anchor="t">
            <a:spAutoFit/>
          </a:bodyPr>
          <a:lstStyle/>
          <a:p>
            <a:pPr algn="l">
              <a:spcAft>
                <a:spcPts val="0"/>
              </a:spcAft>
            </a:pPr>
            <a:r>
              <a:rPr sz="9600">
                <a:solidFill>
                  <a:srgbClr val="F7B125"/>
                </a:solidFill>
                <a:latin typeface="Playpen Sans Bold"/>
              </a:rPr>
              <a:t>40%</a:t>
            </a:r>
          </a:p>
        </p:txBody>
      </p:sp>
      <p:sp>
        <p:nvSpPr>
          <p:cNvPr id="15" name="Label 1"/>
          <p:cNvSpPr txBox="1"/>
          <p:nvPr/>
        </p:nvSpPr>
        <p:spPr>
          <a:xfrm>
            <a:off x="5074920" y="3840480"/>
            <a:ext cx="3627120" cy="2286000"/>
          </a:xfrm>
          <a:prstGeom prst="rect">
            <a:avLst/>
          </a:prstGeom>
          <a:noFill/>
        </p:spPr>
        <p:txBody>
          <a:bodyPr wrap="square" lIns="0" rIns="0" tIns="0" bIns="0" anchor="t">
            <a:spAutoFit/>
          </a:bodyPr>
          <a:lstStyle/>
          <a:p>
            <a:pPr algn="l">
              <a:spcAft>
                <a:spcPts val="600"/>
              </a:spcAft>
            </a:pPr>
            <a:r>
              <a:rPr sz="3200">
                <a:solidFill>
                  <a:srgbClr val="FFFFFF"/>
                </a:solidFill>
                <a:latin typeface="Playpen Sans Bold"/>
              </a:rPr>
              <a:t>Latihan</a:t>
            </a:r>
          </a:p>
          <a:p>
            <a:pPr algn="l">
              <a:spcAft>
                <a:spcPts val="0"/>
              </a:spcAft>
            </a:pPr>
            <a:r>
              <a:rPr sz="2400">
                <a:solidFill>
                  <a:srgbClr val="FFFFFF"/>
                </a:solidFill>
                <a:latin typeface="Playpen Sans"/>
              </a:rPr>
              <a:t>mingguan: kelengkapan dan satu pertanyaan pemahaman</a:t>
            </a:r>
          </a:p>
        </p:txBody>
      </p:sp>
      <p:sp>
        <p:nvSpPr>
          <p:cNvPr id="16" name="Angka 2"/>
          <p:cNvSpPr txBox="1"/>
          <p:nvPr/>
        </p:nvSpPr>
        <p:spPr>
          <a:xfrm>
            <a:off x="8976360" y="2240280"/>
            <a:ext cx="3627120" cy="1463040"/>
          </a:xfrm>
          <a:prstGeom prst="rect">
            <a:avLst/>
          </a:prstGeom>
          <a:noFill/>
        </p:spPr>
        <p:txBody>
          <a:bodyPr wrap="square" lIns="0" rIns="0" tIns="0" bIns="0" anchor="t">
            <a:spAutoFit/>
          </a:bodyPr>
          <a:lstStyle/>
          <a:p>
            <a:pPr algn="l">
              <a:spcAft>
                <a:spcPts val="0"/>
              </a:spcAft>
            </a:pPr>
            <a:r>
              <a:rPr sz="9600">
                <a:solidFill>
                  <a:srgbClr val="F7B125"/>
                </a:solidFill>
                <a:latin typeface="Playpen Sans Bold"/>
              </a:rPr>
              <a:t>10%</a:t>
            </a:r>
          </a:p>
        </p:txBody>
      </p:sp>
      <p:sp>
        <p:nvSpPr>
          <p:cNvPr id="17" name="Label 2"/>
          <p:cNvSpPr txBox="1"/>
          <p:nvPr/>
        </p:nvSpPr>
        <p:spPr>
          <a:xfrm>
            <a:off x="8976360" y="3840480"/>
            <a:ext cx="3627120" cy="2286000"/>
          </a:xfrm>
          <a:prstGeom prst="rect">
            <a:avLst/>
          </a:prstGeom>
          <a:noFill/>
        </p:spPr>
        <p:txBody>
          <a:bodyPr wrap="square" lIns="0" rIns="0" tIns="0" bIns="0" anchor="t">
            <a:spAutoFit/>
          </a:bodyPr>
          <a:lstStyle/>
          <a:p>
            <a:pPr algn="l">
              <a:spcAft>
                <a:spcPts val="600"/>
              </a:spcAft>
            </a:pPr>
            <a:r>
              <a:rPr sz="3200">
                <a:solidFill>
                  <a:srgbClr val="FFFFFF"/>
                </a:solidFill>
                <a:latin typeface="Playpen Sans Bold"/>
              </a:rPr>
              <a:t>Cek lisan</a:t>
            </a:r>
          </a:p>
          <a:p>
            <a:pPr algn="l">
              <a:spcAft>
                <a:spcPts val="0"/>
              </a:spcAft>
            </a:pPr>
            <a:r>
              <a:rPr sz="2400">
                <a:solidFill>
                  <a:srgbClr val="FFFFFF"/>
                </a:solidFill>
                <a:latin typeface="Playpen Sans"/>
              </a:rPr>
              <a:t>Pekan 8 individu, Pekan 12 tim</a:t>
            </a:r>
          </a:p>
        </p:txBody>
      </p:sp>
      <p:sp>
        <p:nvSpPr>
          <p:cNvPr id="18" name="Angka 3"/>
          <p:cNvSpPr txBox="1"/>
          <p:nvPr/>
        </p:nvSpPr>
        <p:spPr>
          <a:xfrm>
            <a:off x="12877800" y="2240280"/>
            <a:ext cx="3627120" cy="1463040"/>
          </a:xfrm>
          <a:prstGeom prst="rect">
            <a:avLst/>
          </a:prstGeom>
          <a:noFill/>
        </p:spPr>
        <p:txBody>
          <a:bodyPr wrap="square" lIns="0" rIns="0" tIns="0" bIns="0" anchor="t">
            <a:spAutoFit/>
          </a:bodyPr>
          <a:lstStyle/>
          <a:p>
            <a:pPr algn="l">
              <a:spcAft>
                <a:spcPts val="0"/>
              </a:spcAft>
            </a:pPr>
            <a:r>
              <a:rPr sz="9600">
                <a:solidFill>
                  <a:srgbClr val="F7B125"/>
                </a:solidFill>
                <a:latin typeface="Playpen Sans Bold"/>
              </a:rPr>
              <a:t>50%</a:t>
            </a:r>
          </a:p>
        </p:txBody>
      </p:sp>
      <p:sp>
        <p:nvSpPr>
          <p:cNvPr id="19" name="Label 3"/>
          <p:cNvSpPr txBox="1"/>
          <p:nvPr/>
        </p:nvSpPr>
        <p:spPr>
          <a:xfrm>
            <a:off x="12877800" y="3840480"/>
            <a:ext cx="3627120" cy="2286000"/>
          </a:xfrm>
          <a:prstGeom prst="rect">
            <a:avLst/>
          </a:prstGeom>
          <a:noFill/>
        </p:spPr>
        <p:txBody>
          <a:bodyPr wrap="square" lIns="0" rIns="0" tIns="0" bIns="0" anchor="t">
            <a:spAutoFit/>
          </a:bodyPr>
          <a:lstStyle/>
          <a:p>
            <a:pPr algn="l">
              <a:spcAft>
                <a:spcPts val="600"/>
              </a:spcAft>
            </a:pPr>
            <a:r>
              <a:rPr sz="3200">
                <a:solidFill>
                  <a:srgbClr val="FFFFFF"/>
                </a:solidFill>
                <a:latin typeface="Playpen Sans Bold"/>
              </a:rPr>
              <a:t>Proyek akhir</a:t>
            </a:r>
          </a:p>
          <a:p>
            <a:pPr algn="l">
              <a:spcAft>
                <a:spcPts val="0"/>
              </a:spcAft>
            </a:pPr>
            <a:r>
              <a:rPr sz="2400">
                <a:solidFill>
                  <a:srgbClr val="FFFFFF"/>
                </a:solidFill>
                <a:latin typeface="Playpen Sans"/>
              </a:rPr>
              <a:t>tim 30%, cek lisan individu 20%</a:t>
            </a:r>
          </a:p>
        </p:txBody>
      </p:sp>
      <p:sp>
        <p:nvSpPr>
          <p:cNvPr id="20" name="Kehadiran"/>
          <p:cNvSpPr txBox="1"/>
          <p:nvPr/>
        </p:nvSpPr>
        <p:spPr>
          <a:xfrm>
            <a:off x="5074920" y="6217920"/>
            <a:ext cx="11704319" cy="914400"/>
          </a:xfrm>
          <a:prstGeom prst="rect">
            <a:avLst/>
          </a:prstGeom>
          <a:noFill/>
        </p:spPr>
        <p:txBody>
          <a:bodyPr wrap="square" lIns="0" rIns="0" tIns="0" bIns="0" anchor="t">
            <a:spAutoFit/>
          </a:bodyPr>
          <a:lstStyle/>
          <a:p>
            <a:pPr algn="l">
              <a:spcAft>
                <a:spcPts val="0"/>
              </a:spcAft>
            </a:pPr>
            <a:r>
              <a:rPr sz="3000">
                <a:solidFill>
                  <a:srgbClr val="F7B125"/>
                </a:solidFill>
                <a:latin typeface="Playpen Sans Bold"/>
              </a:rPr>
              <a:t>Kehadiran menjadi syarat: minimal 13 dari 16 pertemuan.</a:t>
            </a:r>
          </a:p>
        </p:txBody>
      </p:sp>
    </p:spTree>
  </p:cSld>
  <p:clrMapOvr>
    <a:masterClrMapping/>
  </p:clrMapOvr>
</p:sld>
</file>

<file path=ppt/slides/slide1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67928" r="0" b="-67928"/>
            </a:stretch>
          </a:blipFill>
        </p:spPr>
      </p:sp>
      <p:sp>
        <p:nvSpPr>
          <p:cNvPr name="Freeform 3" id="3"/>
          <p:cNvSpPr/>
          <p:nvPr/>
        </p:nvSpPr>
        <p:spPr>
          <a:xfrm flipH="false" flipV="false" rot="0">
            <a:off x="12533569" y="-21055"/>
            <a:ext cx="5762298" cy="6532600"/>
          </a:xfrm>
          <a:custGeom>
            <a:avLst/>
            <a:gdLst/>
            <a:ahLst/>
            <a:cxnLst/>
            <a:rect r="r" b="b" t="t" l="l"/>
            <a:pathLst>
              <a:path h="6532600" w="5762298">
                <a:moveTo>
                  <a:pt x="0" y="0"/>
                </a:moveTo>
                <a:lnTo>
                  <a:pt x="5762298" y="0"/>
                </a:lnTo>
                <a:lnTo>
                  <a:pt x="5762298" y="6532600"/>
                </a:lnTo>
                <a:lnTo>
                  <a:pt x="0" y="6532600"/>
                </a:lnTo>
                <a:lnTo>
                  <a:pt x="0" y="0"/>
                </a:lnTo>
                <a:close/>
              </a:path>
            </a:pathLst>
          </a:custGeom>
          <a:blipFill>
            <a:blip r:embed="rId3"/>
            <a:stretch>
              <a:fillRect l="0" t="0" r="0" b="0"/>
            </a:stretch>
          </a:blipFill>
        </p:spPr>
      </p:sp>
      <p:sp>
        <p:nvSpPr>
          <p:cNvPr name="Freeform 4" id="4"/>
          <p:cNvSpPr/>
          <p:nvPr/>
        </p:nvSpPr>
        <p:spPr>
          <a:xfrm flipH="false" flipV="false" rot="0">
            <a:off x="12978766" y="2004481"/>
            <a:ext cx="5309234" cy="5465964"/>
          </a:xfrm>
          <a:custGeom>
            <a:avLst/>
            <a:gdLst/>
            <a:ahLst/>
            <a:cxnLst/>
            <a:rect r="r" b="b" t="t" l="l"/>
            <a:pathLst>
              <a:path h="5465964" w="5309234">
                <a:moveTo>
                  <a:pt x="0" y="0"/>
                </a:moveTo>
                <a:lnTo>
                  <a:pt x="5309234" y="0"/>
                </a:lnTo>
                <a:lnTo>
                  <a:pt x="5309234" y="5465965"/>
                </a:lnTo>
                <a:lnTo>
                  <a:pt x="0" y="5465965"/>
                </a:lnTo>
                <a:lnTo>
                  <a:pt x="0" y="0"/>
                </a:lnTo>
                <a:close/>
              </a:path>
            </a:pathLst>
          </a:custGeom>
          <a:blipFill>
            <a:blip r:embed="rId4"/>
            <a:stretch>
              <a:fillRect l="0" t="0" r="0" b="0"/>
            </a:stretch>
          </a:blipFill>
        </p:spPr>
      </p:sp>
      <p:sp>
        <p:nvSpPr>
          <p:cNvPr name="Freeform 5" id="5"/>
          <p:cNvSpPr/>
          <p:nvPr/>
        </p:nvSpPr>
        <p:spPr>
          <a:xfrm flipH="true" flipV="false" rot="0">
            <a:off x="-29416" y="0"/>
            <a:ext cx="5762298" cy="6532600"/>
          </a:xfrm>
          <a:custGeom>
            <a:avLst/>
            <a:gdLst/>
            <a:ahLst/>
            <a:cxnLst/>
            <a:rect r="r" b="b" t="t" l="l"/>
            <a:pathLst>
              <a:path h="6532600" w="5762298">
                <a:moveTo>
                  <a:pt x="5762298" y="0"/>
                </a:moveTo>
                <a:lnTo>
                  <a:pt x="0" y="0"/>
                </a:lnTo>
                <a:lnTo>
                  <a:pt x="0" y="6532600"/>
                </a:lnTo>
                <a:lnTo>
                  <a:pt x="5762298" y="6532600"/>
                </a:lnTo>
                <a:lnTo>
                  <a:pt x="5762298" y="0"/>
                </a:lnTo>
                <a:close/>
              </a:path>
            </a:pathLst>
          </a:custGeom>
          <a:blipFill>
            <a:blip r:embed="rId3"/>
            <a:stretch>
              <a:fillRect l="0" t="0" r="0" b="0"/>
            </a:stretch>
          </a:blipFill>
        </p:spPr>
      </p:sp>
      <p:sp>
        <p:nvSpPr>
          <p:cNvPr name="Freeform 6" id="6"/>
          <p:cNvSpPr/>
          <p:nvPr/>
        </p:nvSpPr>
        <p:spPr>
          <a:xfrm flipH="false" flipV="false" rot="0">
            <a:off x="423648" y="2410518"/>
            <a:ext cx="5309234" cy="5465964"/>
          </a:xfrm>
          <a:custGeom>
            <a:avLst/>
            <a:gdLst/>
            <a:ahLst/>
            <a:cxnLst/>
            <a:rect r="r" b="b" t="t" l="l"/>
            <a:pathLst>
              <a:path h="5465964" w="5309234">
                <a:moveTo>
                  <a:pt x="0" y="0"/>
                </a:moveTo>
                <a:lnTo>
                  <a:pt x="5309234" y="0"/>
                </a:lnTo>
                <a:lnTo>
                  <a:pt x="5309234" y="5465964"/>
                </a:lnTo>
                <a:lnTo>
                  <a:pt x="0" y="5465964"/>
                </a:lnTo>
                <a:lnTo>
                  <a:pt x="0" y="0"/>
                </a:lnTo>
                <a:close/>
              </a:path>
            </a:pathLst>
          </a:custGeom>
          <a:blipFill>
            <a:blip r:embed="rId4"/>
            <a:stretch>
              <a:fillRect l="0" t="0" r="0" b="0"/>
            </a:stretch>
          </a:blipFill>
        </p:spPr>
      </p:sp>
      <p:sp>
        <p:nvSpPr>
          <p:cNvPr name="Freeform 7" id="7"/>
          <p:cNvSpPr/>
          <p:nvPr/>
        </p:nvSpPr>
        <p:spPr>
          <a:xfrm flipH="false" flipV="false" rot="0">
            <a:off x="-317430" y="7660946"/>
            <a:ext cx="18613297" cy="3022078"/>
          </a:xfrm>
          <a:custGeom>
            <a:avLst/>
            <a:gdLst/>
            <a:ahLst/>
            <a:cxnLst/>
            <a:rect r="r" b="b" t="t" l="l"/>
            <a:pathLst>
              <a:path h="3022078" w="18613297">
                <a:moveTo>
                  <a:pt x="0" y="0"/>
                </a:moveTo>
                <a:lnTo>
                  <a:pt x="18613297" y="0"/>
                </a:lnTo>
                <a:lnTo>
                  <a:pt x="18613297" y="3022077"/>
                </a:lnTo>
                <a:lnTo>
                  <a:pt x="0" y="3022077"/>
                </a:lnTo>
                <a:lnTo>
                  <a:pt x="0" y="0"/>
                </a:lnTo>
                <a:close/>
              </a:path>
            </a:pathLst>
          </a:custGeom>
          <a:blipFill>
            <a:blip r:embed="rId5"/>
            <a:stretch>
              <a:fillRect l="-158" t="0" r="-158" b="-6838"/>
            </a:stretch>
          </a:blipFill>
        </p:spPr>
      </p:sp>
      <p:sp>
        <p:nvSpPr>
          <p:cNvPr name="Freeform 9" id="9"/>
          <p:cNvSpPr/>
          <p:nvPr/>
        </p:nvSpPr>
        <p:spPr>
          <a:xfrm flipH="false" flipV="false" rot="0">
            <a:off x="12978766" y="2453423"/>
            <a:ext cx="7524206" cy="8229600"/>
          </a:xfrm>
          <a:custGeom>
            <a:avLst/>
            <a:gdLst/>
            <a:ahLst/>
            <a:cxnLst/>
            <a:rect r="r" b="b" t="t" l="l"/>
            <a:pathLst>
              <a:path h="8229600" w="7524206">
                <a:moveTo>
                  <a:pt x="0" y="0"/>
                </a:moveTo>
                <a:lnTo>
                  <a:pt x="7524205" y="0"/>
                </a:lnTo>
                <a:lnTo>
                  <a:pt x="7524205" y="8229600"/>
                </a:lnTo>
                <a:lnTo>
                  <a:pt x="0" y="8229600"/>
                </a:lnTo>
                <a:lnTo>
                  <a:pt x="0" y="0"/>
                </a:lnTo>
                <a:close/>
              </a:path>
            </a:pathLst>
          </a:custGeom>
          <a:blipFill>
            <a:blip r:embed="rId7"/>
            <a:stretch>
              <a:fillRect l="0" t="0" r="0" b="0"/>
            </a:stretch>
          </a:blipFill>
        </p:spPr>
      </p:sp>
      <p:sp>
        <p:nvSpPr>
          <p:cNvPr name="Freeform 13" id="13"/>
          <p:cNvSpPr/>
          <p:nvPr/>
        </p:nvSpPr>
        <p:spPr>
          <a:xfrm flipH="false" flipV="false" rot="0">
            <a:off x="9549673" y="7660946"/>
            <a:ext cx="6083710" cy="4114800"/>
          </a:xfrm>
          <a:custGeom>
            <a:avLst/>
            <a:gdLst/>
            <a:ahLst/>
            <a:cxnLst/>
            <a:rect r="r" b="b" t="t" l="l"/>
            <a:pathLst>
              <a:path h="4114800" w="6083710">
                <a:moveTo>
                  <a:pt x="0" y="0"/>
                </a:moveTo>
                <a:lnTo>
                  <a:pt x="6083710" y="0"/>
                </a:lnTo>
                <a:lnTo>
                  <a:pt x="6083710" y="4114800"/>
                </a:lnTo>
                <a:lnTo>
                  <a:pt x="0" y="4114800"/>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id="14" name="Panel"/>
          <p:cNvSpPr/>
          <p:nvPr/>
        </p:nvSpPr>
        <p:spPr>
          <a:xfrm>
            <a:off x="914400" y="731520"/>
            <a:ext cx="11612880" cy="6675120"/>
          </a:xfrm>
          <a:prstGeom prst="roundRect">
            <a:avLst>
              <a:gd name="adj" fmla="val 5000"/>
            </a:avLst>
          </a:prstGeom>
          <a:solidFill>
            <a:srgbClr val="0A2540">
              <a:alpha val="8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Judul"/>
          <p:cNvSpPr txBox="1"/>
          <p:nvPr/>
        </p:nvSpPr>
        <p:spPr>
          <a:xfrm>
            <a:off x="1508760" y="1005840"/>
            <a:ext cx="10424159" cy="1188720"/>
          </a:xfrm>
          <a:prstGeom prst="rect">
            <a:avLst/>
          </a:prstGeom>
          <a:noFill/>
        </p:spPr>
        <p:txBody>
          <a:bodyPr wrap="square" lIns="0" rIns="0" tIns="0" bIns="0" anchor="t">
            <a:spAutoFit/>
          </a:bodyPr>
          <a:lstStyle/>
          <a:p>
            <a:pPr algn="l">
              <a:spcAft>
                <a:spcPts val="0"/>
              </a:spcAft>
            </a:pPr>
            <a:r>
              <a:rPr sz="6800">
                <a:solidFill>
                  <a:srgbClr val="F7B125"/>
                </a:solidFill>
                <a:latin typeface="Playpen Sans Bold"/>
              </a:rPr>
              <a:t>Proyek Akhir</a:t>
            </a:r>
          </a:p>
        </p:txBody>
      </p:sp>
      <p:sp>
        <p:nvSpPr>
          <p:cNvPr id="16" name="Isi proyek"/>
          <p:cNvSpPr txBox="1"/>
          <p:nvPr/>
        </p:nvSpPr>
        <p:spPr>
          <a:xfrm>
            <a:off x="1508760" y="2194560"/>
            <a:ext cx="10424159" cy="4206240"/>
          </a:xfrm>
          <a:prstGeom prst="rect">
            <a:avLst/>
          </a:prstGeom>
          <a:noFill/>
        </p:spPr>
        <p:txBody>
          <a:bodyPr wrap="square" lIns="0" rIns="0" tIns="0" bIns="0" anchor="t">
            <a:spAutoFit/>
          </a:bodyPr>
          <a:lstStyle/>
          <a:p>
            <a:pPr algn="l" marL="502920" indent="-502920">
              <a:spcAft>
                <a:spcPts val="1200"/>
              </a:spcAft>
              <a:buClr>
                <a:srgbClr val="F7B125"/>
              </a:buClr>
              <a:buFont typeface="Arial"/>
              <a:buChar char="•"/>
            </a:pPr>
            <a:r>
              <a:rPr sz="2900">
                <a:solidFill>
                  <a:srgbClr val="FFFFFF"/>
                </a:solidFill>
                <a:latin typeface="Playpen Sans"/>
              </a:rPr>
              <a:t>Tim 3 orang: model ML dengan lapisan optimasi yang benar-benar menentukan hasil</a:t>
            </a:r>
          </a:p>
          <a:p>
            <a:pPr algn="l" marL="502920" indent="-502920">
              <a:spcAft>
                <a:spcPts val="1200"/>
              </a:spcAft>
              <a:buClr>
                <a:srgbClr val="F7B125"/>
              </a:buClr>
              <a:buFont typeface="Arial"/>
              <a:buChar char="•"/>
            </a:pPr>
            <a:r>
              <a:rPr sz="2900">
                <a:solidFill>
                  <a:srgbClr val="FFFFFF"/>
                </a:solidFill>
                <a:latin typeface="Playpen Sans"/>
              </a:rPr>
              <a:t>Dibandingkan dengan pembanding, anggaran sama, minimal 10 percobaan</a:t>
            </a:r>
          </a:p>
          <a:p>
            <a:pPr algn="l" marL="502920" indent="-502920">
              <a:spcAft>
                <a:spcPts val="1200"/>
              </a:spcAft>
              <a:buClr>
                <a:srgbClr val="F7B125"/>
              </a:buClr>
              <a:buFont typeface="Arial"/>
              <a:buChar char="•"/>
            </a:pPr>
            <a:r>
              <a:rPr sz="2900">
                <a:solidFill>
                  <a:srgbClr val="FFFFFF"/>
                </a:solidFill>
                <a:latin typeface="Playpen Sans"/>
              </a:rPr>
              <a:t>Demo yang bisa dibuka di peramban, plus catatan teknis 2 sampai 3 halaman</a:t>
            </a:r>
          </a:p>
          <a:p>
            <a:pPr algn="l" marL="502920" indent="-502920">
              <a:spcAft>
                <a:spcPts val="0"/>
              </a:spcAft>
              <a:buClr>
                <a:srgbClr val="F7B125"/>
              </a:buClr>
              <a:buFont typeface="Arial"/>
              <a:buChar char="•"/>
            </a:pPr>
            <a:r>
              <a:rPr sz="2900">
                <a:solidFill>
                  <a:srgbClr val="F7B125"/>
                </a:solidFill>
                <a:latin typeface="Playpen Sans Bold"/>
              </a:rPr>
              <a:t>Hari Demo di Pekan 16</a:t>
            </a:r>
          </a:p>
        </p:txBody>
      </p:sp>
      <p:sp>
        <p:nvSpPr>
          <p:cNvPr id="17" name="Jalur waktu"/>
          <p:cNvSpPr txBox="1"/>
          <p:nvPr/>
        </p:nvSpPr>
        <p:spPr>
          <a:xfrm>
            <a:off x="1508760" y="6446520"/>
            <a:ext cx="10424159" cy="731520"/>
          </a:xfrm>
          <a:prstGeom prst="rect">
            <a:avLst/>
          </a:prstGeom>
          <a:noFill/>
        </p:spPr>
        <p:txBody>
          <a:bodyPr wrap="square" lIns="0" rIns="0" tIns="0" bIns="0" anchor="t">
            <a:spAutoFit/>
          </a:bodyPr>
          <a:lstStyle/>
          <a:p>
            <a:pPr algn="l">
              <a:spcAft>
                <a:spcPts val="0"/>
              </a:spcAft>
            </a:pPr>
            <a:r>
              <a:rPr sz="2600">
                <a:solidFill>
                  <a:srgbClr val="FFFFFF"/>
                </a:solidFill>
                <a:latin typeface="Playpen Sans Bold"/>
              </a:rPr>
              <a:t>Proposal Pekan 9 · Baseline Pekan 11 · Demo Pekan 16</a:t>
            </a:r>
          </a:p>
        </p:txBody>
      </p:sp>
    </p:spTree>
  </p:cSld>
  <p:clrMapOvr>
    <a:masterClrMapping/>
  </p:clrMapOvr>
</p:sld>
</file>

<file path=ppt/slides/slide1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67928" r="0" b="-67928"/>
            </a:stretch>
          </a:blipFill>
        </p:spPr>
      </p:sp>
      <p:sp>
        <p:nvSpPr>
          <p:cNvPr name="Freeform 3" id="3"/>
          <p:cNvSpPr/>
          <p:nvPr/>
        </p:nvSpPr>
        <p:spPr>
          <a:xfrm flipH="false" flipV="false" rot="0">
            <a:off x="12533569" y="-21055"/>
            <a:ext cx="5762298" cy="6532600"/>
          </a:xfrm>
          <a:custGeom>
            <a:avLst/>
            <a:gdLst/>
            <a:ahLst/>
            <a:cxnLst/>
            <a:rect r="r" b="b" t="t" l="l"/>
            <a:pathLst>
              <a:path h="6532600" w="5762298">
                <a:moveTo>
                  <a:pt x="0" y="0"/>
                </a:moveTo>
                <a:lnTo>
                  <a:pt x="5762298" y="0"/>
                </a:lnTo>
                <a:lnTo>
                  <a:pt x="5762298" y="6532600"/>
                </a:lnTo>
                <a:lnTo>
                  <a:pt x="0" y="6532600"/>
                </a:lnTo>
                <a:lnTo>
                  <a:pt x="0" y="0"/>
                </a:lnTo>
                <a:close/>
              </a:path>
            </a:pathLst>
          </a:custGeom>
          <a:blipFill>
            <a:blip r:embed="rId3"/>
            <a:stretch>
              <a:fillRect l="0" t="0" r="0" b="0"/>
            </a:stretch>
          </a:blipFill>
        </p:spPr>
      </p:sp>
      <p:sp>
        <p:nvSpPr>
          <p:cNvPr name="Freeform 4" id="4"/>
          <p:cNvSpPr/>
          <p:nvPr/>
        </p:nvSpPr>
        <p:spPr>
          <a:xfrm flipH="false" flipV="false" rot="0">
            <a:off x="12978766" y="2004481"/>
            <a:ext cx="5309234" cy="5465964"/>
          </a:xfrm>
          <a:custGeom>
            <a:avLst/>
            <a:gdLst/>
            <a:ahLst/>
            <a:cxnLst/>
            <a:rect r="r" b="b" t="t" l="l"/>
            <a:pathLst>
              <a:path h="5465964" w="5309234">
                <a:moveTo>
                  <a:pt x="0" y="0"/>
                </a:moveTo>
                <a:lnTo>
                  <a:pt x="5309234" y="0"/>
                </a:lnTo>
                <a:lnTo>
                  <a:pt x="5309234" y="5465965"/>
                </a:lnTo>
                <a:lnTo>
                  <a:pt x="0" y="5465965"/>
                </a:lnTo>
                <a:lnTo>
                  <a:pt x="0" y="0"/>
                </a:lnTo>
                <a:close/>
              </a:path>
            </a:pathLst>
          </a:custGeom>
          <a:blipFill>
            <a:blip r:embed="rId4"/>
            <a:stretch>
              <a:fillRect l="0" t="0" r="0" b="0"/>
            </a:stretch>
          </a:blipFill>
        </p:spPr>
      </p:sp>
      <p:sp>
        <p:nvSpPr>
          <p:cNvPr name="Freeform 5" id="5"/>
          <p:cNvSpPr/>
          <p:nvPr/>
        </p:nvSpPr>
        <p:spPr>
          <a:xfrm flipH="true" flipV="false" rot="0">
            <a:off x="-29416" y="0"/>
            <a:ext cx="5762298" cy="6532600"/>
          </a:xfrm>
          <a:custGeom>
            <a:avLst/>
            <a:gdLst/>
            <a:ahLst/>
            <a:cxnLst/>
            <a:rect r="r" b="b" t="t" l="l"/>
            <a:pathLst>
              <a:path h="6532600" w="5762298">
                <a:moveTo>
                  <a:pt x="5762298" y="0"/>
                </a:moveTo>
                <a:lnTo>
                  <a:pt x="0" y="0"/>
                </a:lnTo>
                <a:lnTo>
                  <a:pt x="0" y="6532600"/>
                </a:lnTo>
                <a:lnTo>
                  <a:pt x="5762298" y="6532600"/>
                </a:lnTo>
                <a:lnTo>
                  <a:pt x="5762298" y="0"/>
                </a:lnTo>
                <a:close/>
              </a:path>
            </a:pathLst>
          </a:custGeom>
          <a:blipFill>
            <a:blip r:embed="rId3"/>
            <a:stretch>
              <a:fillRect l="0" t="0" r="0" b="0"/>
            </a:stretch>
          </a:blipFill>
        </p:spPr>
      </p:sp>
      <p:sp>
        <p:nvSpPr>
          <p:cNvPr name="Freeform 6" id="6"/>
          <p:cNvSpPr/>
          <p:nvPr/>
        </p:nvSpPr>
        <p:spPr>
          <a:xfrm flipH="false" flipV="false" rot="0">
            <a:off x="423648" y="2410518"/>
            <a:ext cx="5309234" cy="5465964"/>
          </a:xfrm>
          <a:custGeom>
            <a:avLst/>
            <a:gdLst/>
            <a:ahLst/>
            <a:cxnLst/>
            <a:rect r="r" b="b" t="t" l="l"/>
            <a:pathLst>
              <a:path h="5465964" w="5309234">
                <a:moveTo>
                  <a:pt x="0" y="0"/>
                </a:moveTo>
                <a:lnTo>
                  <a:pt x="5309234" y="0"/>
                </a:lnTo>
                <a:lnTo>
                  <a:pt x="5309234" y="5465964"/>
                </a:lnTo>
                <a:lnTo>
                  <a:pt x="0" y="5465964"/>
                </a:lnTo>
                <a:lnTo>
                  <a:pt x="0" y="0"/>
                </a:lnTo>
                <a:close/>
              </a:path>
            </a:pathLst>
          </a:custGeom>
          <a:blipFill>
            <a:blip r:embed="rId4"/>
            <a:stretch>
              <a:fillRect l="0" t="0" r="0" b="0"/>
            </a:stretch>
          </a:blipFill>
        </p:spPr>
      </p:sp>
      <p:sp>
        <p:nvSpPr>
          <p:cNvPr name="Freeform 7" id="7"/>
          <p:cNvSpPr/>
          <p:nvPr/>
        </p:nvSpPr>
        <p:spPr>
          <a:xfrm flipH="false" flipV="false" rot="0">
            <a:off x="-317430" y="7660946"/>
            <a:ext cx="18613297" cy="3022078"/>
          </a:xfrm>
          <a:custGeom>
            <a:avLst/>
            <a:gdLst/>
            <a:ahLst/>
            <a:cxnLst/>
            <a:rect r="r" b="b" t="t" l="l"/>
            <a:pathLst>
              <a:path h="3022078" w="18613297">
                <a:moveTo>
                  <a:pt x="0" y="0"/>
                </a:moveTo>
                <a:lnTo>
                  <a:pt x="18613297" y="0"/>
                </a:lnTo>
                <a:lnTo>
                  <a:pt x="18613297" y="3022077"/>
                </a:lnTo>
                <a:lnTo>
                  <a:pt x="0" y="3022077"/>
                </a:lnTo>
                <a:lnTo>
                  <a:pt x="0" y="0"/>
                </a:lnTo>
                <a:close/>
              </a:path>
            </a:pathLst>
          </a:custGeom>
          <a:blipFill>
            <a:blip r:embed="rId5"/>
            <a:stretch>
              <a:fillRect l="-158" t="0" r="-158" b="-6838"/>
            </a:stretch>
          </a:blipFill>
        </p:spPr>
      </p:sp>
      <p:sp>
        <p:nvSpPr>
          <p:cNvPr name="Freeform 10" id="10"/>
          <p:cNvSpPr/>
          <p:nvPr/>
        </p:nvSpPr>
        <p:spPr>
          <a:xfrm flipH="false" flipV="false" rot="0">
            <a:off x="-29416" y="2396745"/>
            <a:ext cx="4040554" cy="8229600"/>
          </a:xfrm>
          <a:custGeom>
            <a:avLst/>
            <a:gdLst/>
            <a:ahLst/>
            <a:cxnLst/>
            <a:rect r="r" b="b" t="t" l="l"/>
            <a:pathLst>
              <a:path h="8229600" w="4040554">
                <a:moveTo>
                  <a:pt x="0" y="0"/>
                </a:moveTo>
                <a:lnTo>
                  <a:pt x="4040554" y="0"/>
                </a:lnTo>
                <a:lnTo>
                  <a:pt x="4040554" y="8229600"/>
                </a:lnTo>
                <a:lnTo>
                  <a:pt x="0" y="8229600"/>
                </a:lnTo>
                <a:lnTo>
                  <a:pt x="0" y="0"/>
                </a:lnTo>
                <a:close/>
              </a:path>
            </a:pathLst>
          </a:custGeom>
          <a:blipFill>
            <a:blip r:embed="rId8"/>
            <a:stretch>
              <a:fillRect l="0" t="0" r="0" b="0"/>
            </a:stretch>
          </a:blipFill>
        </p:spPr>
      </p:sp>
      <p:sp>
        <p:nvSpPr>
          <p:cNvPr name="Freeform 11" id="11"/>
          <p:cNvSpPr/>
          <p:nvPr/>
        </p:nvSpPr>
        <p:spPr>
          <a:xfrm flipH="false" flipV="false" rot="0">
            <a:off x="681269" y="7470446"/>
            <a:ext cx="6083710" cy="4114800"/>
          </a:xfrm>
          <a:custGeom>
            <a:avLst/>
            <a:gdLst/>
            <a:ahLst/>
            <a:cxnLst/>
            <a:rect r="r" b="b" t="t" l="l"/>
            <a:pathLst>
              <a:path h="4114800" w="6083710">
                <a:moveTo>
                  <a:pt x="0" y="0"/>
                </a:moveTo>
                <a:lnTo>
                  <a:pt x="6083709" y="0"/>
                </a:lnTo>
                <a:lnTo>
                  <a:pt x="6083709" y="4114800"/>
                </a:lnTo>
                <a:lnTo>
                  <a:pt x="0" y="4114800"/>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id="12" name="Panel"/>
          <p:cNvSpPr/>
          <p:nvPr/>
        </p:nvSpPr>
        <p:spPr>
          <a:xfrm>
            <a:off x="4480560" y="731520"/>
            <a:ext cx="12893040" cy="6400800"/>
          </a:xfrm>
          <a:prstGeom prst="roundRect">
            <a:avLst>
              <a:gd name="adj" fmla="val 5000"/>
            </a:avLst>
          </a:prstGeom>
          <a:solidFill>
            <a:srgbClr val="0A2540">
              <a:alpha val="8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Judul"/>
          <p:cNvSpPr txBox="1"/>
          <p:nvPr/>
        </p:nvSpPr>
        <p:spPr>
          <a:xfrm>
            <a:off x="5074920" y="1005840"/>
            <a:ext cx="11704319" cy="1188720"/>
          </a:xfrm>
          <a:prstGeom prst="rect">
            <a:avLst/>
          </a:prstGeom>
          <a:noFill/>
        </p:spPr>
        <p:txBody>
          <a:bodyPr wrap="square" lIns="0" rIns="0" tIns="0" bIns="0" anchor="t">
            <a:spAutoFit/>
          </a:bodyPr>
          <a:lstStyle/>
          <a:p>
            <a:pPr algn="l">
              <a:spcAft>
                <a:spcPts val="0"/>
              </a:spcAft>
            </a:pPr>
            <a:r>
              <a:rPr sz="6800">
                <a:solidFill>
                  <a:srgbClr val="F7B125"/>
                </a:solidFill>
                <a:latin typeface="Playpen Sans Bold"/>
              </a:rPr>
              <a:t>Alat AI</a:t>
            </a:r>
          </a:p>
        </p:txBody>
      </p:sp>
      <p:sp>
        <p:nvSpPr>
          <p:cNvPr id="14" name="Teks"/>
          <p:cNvSpPr txBox="1"/>
          <p:nvPr/>
        </p:nvSpPr>
        <p:spPr>
          <a:xfrm>
            <a:off x="5074920" y="2194560"/>
            <a:ext cx="11704319" cy="4937760"/>
          </a:xfrm>
          <a:prstGeom prst="rect">
            <a:avLst/>
          </a:prstGeom>
          <a:noFill/>
        </p:spPr>
        <p:txBody>
          <a:bodyPr wrap="square" lIns="0" rIns="0" tIns="0" bIns="0" anchor="t">
            <a:spAutoFit/>
          </a:bodyPr>
          <a:lstStyle/>
          <a:p>
            <a:pPr algn="l">
              <a:spcAft>
                <a:spcPts val="1400"/>
              </a:spcAft>
            </a:pPr>
            <a:r>
              <a:rPr sz="3400">
                <a:solidFill>
                  <a:srgbClr val="FFFFFF"/>
                </a:solidFill>
                <a:latin typeface="Playpen Sans"/>
              </a:rPr>
              <a:t>Pakai AI apa pun, kapan pun. Tidak ada yang mencatatnya.</a:t>
            </a:r>
          </a:p>
          <a:p>
            <a:pPr algn="l">
              <a:spcAft>
                <a:spcPts val="1000"/>
              </a:spcAft>
            </a:pPr>
            <a:r>
              <a:rPr sz="3200">
                <a:solidFill>
                  <a:srgbClr val="F7B125"/>
                </a:solidFill>
                <a:latin typeface="Playpen Sans Bold"/>
              </a:rPr>
              <a:t>Tiga hal tetap berlaku:</a:t>
            </a:r>
          </a:p>
          <a:p>
            <a:pPr algn="l" marL="502920" indent="-502920">
              <a:spcAft>
                <a:spcPts val="1000"/>
              </a:spcAft>
              <a:buClr>
                <a:srgbClr val="F7B125"/>
              </a:buClr>
              <a:buFont typeface="Playpen Sans Bold"/>
              <a:buAutoNum type="arabicPeriod"/>
            </a:pPr>
            <a:r>
              <a:rPr sz="2900">
                <a:solidFill>
                  <a:srgbClr val="FFFFFF"/>
                </a:solidFill>
                <a:latin typeface="Playpen Sans"/>
              </a:rPr>
              <a:t>Kuis pembuka dan cek lisan: tanpa perangkat</a:t>
            </a:r>
          </a:p>
          <a:p>
            <a:pPr algn="l" marL="502920" indent="-502920">
              <a:spcAft>
                <a:spcPts val="1000"/>
              </a:spcAft>
              <a:buClr>
                <a:srgbClr val="F7B125"/>
              </a:buClr>
              <a:buFont typeface="Playpen Sans Bold"/>
              <a:buAutoNum type="arabicPeriod"/>
            </a:pPr>
            <a:r>
              <a:rPr sz="2900">
                <a:solidFill>
                  <a:srgbClr val="FFFFFF"/>
                </a:solidFill>
                <a:latin typeface="Playpen Sans"/>
              </a:rPr>
              <a:t>Cek dulu jawaban AI sebelum kamu pakai</a:t>
            </a:r>
          </a:p>
          <a:p>
            <a:pPr algn="l" marL="502920" indent="-502920">
              <a:spcAft>
                <a:spcPts val="0"/>
              </a:spcAft>
              <a:buClr>
                <a:srgbClr val="F7B125"/>
              </a:buClr>
              <a:buFont typeface="Playpen Sans Bold"/>
              <a:buAutoNum type="arabicPeriod"/>
            </a:pPr>
            <a:r>
              <a:rPr sz="2900">
                <a:solidFill>
                  <a:srgbClr val="FFFFFF"/>
                </a:solidFill>
                <a:latin typeface="Playpen Sans"/>
              </a:rPr>
              <a:t>Kamu yang bertanggung jawab dan harus bisa menjelaskannya</a:t>
            </a:r>
          </a:p>
        </p:txBody>
      </p:sp>
    </p:spTree>
  </p:cSld>
  <p:clrMapOvr>
    <a:masterClrMapping/>
  </p:clrMapOvr>
</p:sld>
</file>

<file path=ppt/slides/slide1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67928" r="0" b="-67928"/>
            </a:stretch>
          </a:blipFill>
        </p:spPr>
      </p:sp>
      <p:sp>
        <p:nvSpPr>
          <p:cNvPr name="Freeform 3" id="3"/>
          <p:cNvSpPr/>
          <p:nvPr/>
        </p:nvSpPr>
        <p:spPr>
          <a:xfrm flipH="false" flipV="false" rot="0">
            <a:off x="12533569" y="-21055"/>
            <a:ext cx="5762298" cy="6532600"/>
          </a:xfrm>
          <a:custGeom>
            <a:avLst/>
            <a:gdLst/>
            <a:ahLst/>
            <a:cxnLst/>
            <a:rect r="r" b="b" t="t" l="l"/>
            <a:pathLst>
              <a:path h="6532600" w="5762298">
                <a:moveTo>
                  <a:pt x="0" y="0"/>
                </a:moveTo>
                <a:lnTo>
                  <a:pt x="5762298" y="0"/>
                </a:lnTo>
                <a:lnTo>
                  <a:pt x="5762298" y="6532600"/>
                </a:lnTo>
                <a:lnTo>
                  <a:pt x="0" y="6532600"/>
                </a:lnTo>
                <a:lnTo>
                  <a:pt x="0" y="0"/>
                </a:lnTo>
                <a:close/>
              </a:path>
            </a:pathLst>
          </a:custGeom>
          <a:blipFill>
            <a:blip r:embed="rId3"/>
            <a:stretch>
              <a:fillRect l="0" t="0" r="0" b="0"/>
            </a:stretch>
          </a:blipFill>
        </p:spPr>
      </p:sp>
      <p:sp>
        <p:nvSpPr>
          <p:cNvPr name="Freeform 4" id="4"/>
          <p:cNvSpPr/>
          <p:nvPr/>
        </p:nvSpPr>
        <p:spPr>
          <a:xfrm flipH="false" flipV="false" rot="0">
            <a:off x="12978766" y="2004481"/>
            <a:ext cx="5309234" cy="5465964"/>
          </a:xfrm>
          <a:custGeom>
            <a:avLst/>
            <a:gdLst/>
            <a:ahLst/>
            <a:cxnLst/>
            <a:rect r="r" b="b" t="t" l="l"/>
            <a:pathLst>
              <a:path h="5465964" w="5309234">
                <a:moveTo>
                  <a:pt x="0" y="0"/>
                </a:moveTo>
                <a:lnTo>
                  <a:pt x="5309234" y="0"/>
                </a:lnTo>
                <a:lnTo>
                  <a:pt x="5309234" y="5465965"/>
                </a:lnTo>
                <a:lnTo>
                  <a:pt x="0" y="5465965"/>
                </a:lnTo>
                <a:lnTo>
                  <a:pt x="0" y="0"/>
                </a:lnTo>
                <a:close/>
              </a:path>
            </a:pathLst>
          </a:custGeom>
          <a:blipFill>
            <a:blip r:embed="rId4"/>
            <a:stretch>
              <a:fillRect l="0" t="0" r="0" b="0"/>
            </a:stretch>
          </a:blipFill>
        </p:spPr>
      </p:sp>
      <p:sp>
        <p:nvSpPr>
          <p:cNvPr name="Freeform 5" id="5"/>
          <p:cNvSpPr/>
          <p:nvPr/>
        </p:nvSpPr>
        <p:spPr>
          <a:xfrm flipH="true" flipV="false" rot="0">
            <a:off x="-29416" y="0"/>
            <a:ext cx="5762298" cy="6532600"/>
          </a:xfrm>
          <a:custGeom>
            <a:avLst/>
            <a:gdLst/>
            <a:ahLst/>
            <a:cxnLst/>
            <a:rect r="r" b="b" t="t" l="l"/>
            <a:pathLst>
              <a:path h="6532600" w="5762298">
                <a:moveTo>
                  <a:pt x="5762298" y="0"/>
                </a:moveTo>
                <a:lnTo>
                  <a:pt x="0" y="0"/>
                </a:lnTo>
                <a:lnTo>
                  <a:pt x="0" y="6532600"/>
                </a:lnTo>
                <a:lnTo>
                  <a:pt x="5762298" y="6532600"/>
                </a:lnTo>
                <a:lnTo>
                  <a:pt x="5762298" y="0"/>
                </a:lnTo>
                <a:close/>
              </a:path>
            </a:pathLst>
          </a:custGeom>
          <a:blipFill>
            <a:blip r:embed="rId3"/>
            <a:stretch>
              <a:fillRect l="0" t="0" r="0" b="0"/>
            </a:stretch>
          </a:blipFill>
        </p:spPr>
      </p:sp>
      <p:sp>
        <p:nvSpPr>
          <p:cNvPr name="Freeform 6" id="6"/>
          <p:cNvSpPr/>
          <p:nvPr/>
        </p:nvSpPr>
        <p:spPr>
          <a:xfrm flipH="false" flipV="false" rot="0">
            <a:off x="423648" y="2410518"/>
            <a:ext cx="5309234" cy="5465964"/>
          </a:xfrm>
          <a:custGeom>
            <a:avLst/>
            <a:gdLst/>
            <a:ahLst/>
            <a:cxnLst/>
            <a:rect r="r" b="b" t="t" l="l"/>
            <a:pathLst>
              <a:path h="5465964" w="5309234">
                <a:moveTo>
                  <a:pt x="0" y="0"/>
                </a:moveTo>
                <a:lnTo>
                  <a:pt x="5309234" y="0"/>
                </a:lnTo>
                <a:lnTo>
                  <a:pt x="5309234" y="5465964"/>
                </a:lnTo>
                <a:lnTo>
                  <a:pt x="0" y="5465964"/>
                </a:lnTo>
                <a:lnTo>
                  <a:pt x="0" y="0"/>
                </a:lnTo>
                <a:close/>
              </a:path>
            </a:pathLst>
          </a:custGeom>
          <a:blipFill>
            <a:blip r:embed="rId4"/>
            <a:stretch>
              <a:fillRect l="0" t="0" r="0" b="0"/>
            </a:stretch>
          </a:blipFill>
        </p:spPr>
      </p:sp>
      <p:sp>
        <p:nvSpPr>
          <p:cNvPr name="Freeform 7" id="7"/>
          <p:cNvSpPr/>
          <p:nvPr/>
        </p:nvSpPr>
        <p:spPr>
          <a:xfrm flipH="false" flipV="false" rot="0">
            <a:off x="-317430" y="7660946"/>
            <a:ext cx="18613297" cy="3022078"/>
          </a:xfrm>
          <a:custGeom>
            <a:avLst/>
            <a:gdLst/>
            <a:ahLst/>
            <a:cxnLst/>
            <a:rect r="r" b="b" t="t" l="l"/>
            <a:pathLst>
              <a:path h="3022078" w="18613297">
                <a:moveTo>
                  <a:pt x="0" y="0"/>
                </a:moveTo>
                <a:lnTo>
                  <a:pt x="18613297" y="0"/>
                </a:lnTo>
                <a:lnTo>
                  <a:pt x="18613297" y="3022077"/>
                </a:lnTo>
                <a:lnTo>
                  <a:pt x="0" y="3022077"/>
                </a:lnTo>
                <a:lnTo>
                  <a:pt x="0" y="0"/>
                </a:lnTo>
                <a:close/>
              </a:path>
            </a:pathLst>
          </a:custGeom>
          <a:blipFill>
            <a:blip r:embed="rId5"/>
            <a:stretch>
              <a:fillRect l="-158" t="0" r="-158" b="-6838"/>
            </a:stretch>
          </a:blipFill>
        </p:spPr>
      </p:sp>
      <p:sp>
        <p:nvSpPr>
          <p:cNvPr name="Freeform 11" id="11"/>
          <p:cNvSpPr/>
          <p:nvPr/>
        </p:nvSpPr>
        <p:spPr>
          <a:xfrm flipH="false" flipV="false" rot="0">
            <a:off x="681269" y="7470446"/>
            <a:ext cx="6083710" cy="4114800"/>
          </a:xfrm>
          <a:custGeom>
            <a:avLst/>
            <a:gdLst/>
            <a:ahLst/>
            <a:cxnLst/>
            <a:rect r="r" b="b" t="t" l="l"/>
            <a:pathLst>
              <a:path h="4114800" w="6083710">
                <a:moveTo>
                  <a:pt x="0" y="0"/>
                </a:moveTo>
                <a:lnTo>
                  <a:pt x="6083709" y="0"/>
                </a:lnTo>
                <a:lnTo>
                  <a:pt x="6083709" y="4114800"/>
                </a:lnTo>
                <a:lnTo>
                  <a:pt x="0" y="4114800"/>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name="Freeform 13" id="13"/>
          <p:cNvSpPr/>
          <p:nvPr/>
        </p:nvSpPr>
        <p:spPr>
          <a:xfrm flipH="false" flipV="false" rot="0">
            <a:off x="9549673" y="7660946"/>
            <a:ext cx="6083710" cy="4114800"/>
          </a:xfrm>
          <a:custGeom>
            <a:avLst/>
            <a:gdLst/>
            <a:ahLst/>
            <a:cxnLst/>
            <a:rect r="r" b="b" t="t" l="l"/>
            <a:pathLst>
              <a:path h="4114800" w="6083710">
                <a:moveTo>
                  <a:pt x="0" y="0"/>
                </a:moveTo>
                <a:lnTo>
                  <a:pt x="6083710" y="0"/>
                </a:lnTo>
                <a:lnTo>
                  <a:pt x="6083710" y="4114800"/>
                </a:lnTo>
                <a:lnTo>
                  <a:pt x="0" y="4114800"/>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id="14" name="Panel"/>
          <p:cNvSpPr/>
          <p:nvPr/>
        </p:nvSpPr>
        <p:spPr>
          <a:xfrm>
            <a:off x="914400" y="731520"/>
            <a:ext cx="16459200" cy="6675120"/>
          </a:xfrm>
          <a:prstGeom prst="roundRect">
            <a:avLst>
              <a:gd name="adj" fmla="val 5000"/>
            </a:avLst>
          </a:prstGeom>
          <a:solidFill>
            <a:srgbClr val="0A2540">
              <a:alpha val="8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Judul"/>
          <p:cNvSpPr txBox="1"/>
          <p:nvPr/>
        </p:nvSpPr>
        <p:spPr>
          <a:xfrm>
            <a:off x="1508760" y="1005840"/>
            <a:ext cx="15270480" cy="1188720"/>
          </a:xfrm>
          <a:prstGeom prst="rect">
            <a:avLst/>
          </a:prstGeom>
          <a:noFill/>
        </p:spPr>
        <p:txBody>
          <a:bodyPr wrap="square" lIns="0" rIns="0" tIns="0" bIns="0" anchor="t">
            <a:spAutoFit/>
          </a:bodyPr>
          <a:lstStyle/>
          <a:p>
            <a:pPr algn="l">
              <a:spcAft>
                <a:spcPts val="0"/>
              </a:spcAft>
            </a:pPr>
            <a:r>
              <a:rPr sz="6000">
                <a:solidFill>
                  <a:srgbClr val="F7B125"/>
                </a:solidFill>
                <a:latin typeface="Playpen Sans Bold"/>
              </a:rPr>
              <a:t>Harapan Dua Arah</a:t>
            </a:r>
          </a:p>
        </p:txBody>
      </p:sp>
      <p:sp>
        <p:nvSpPr>
          <p:cNvPr id="16" name="Kolom 1"/>
          <p:cNvSpPr/>
          <p:nvPr/>
        </p:nvSpPr>
        <p:spPr>
          <a:xfrm>
            <a:off x="1508760" y="2103120"/>
            <a:ext cx="7360919" cy="5029200"/>
          </a:xfrm>
          <a:prstGeom prst="roundRect">
            <a:avLst>
              <a:gd name="adj" fmla="val 4000"/>
            </a:avLst>
          </a:prstGeom>
          <a:solidFill>
            <a:srgbClr val="14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ag Dari kamu"/>
          <p:cNvSpPr/>
          <p:nvPr/>
        </p:nvSpPr>
        <p:spPr>
          <a:xfrm>
            <a:off x="1828800" y="2286000"/>
            <a:ext cx="2761487" cy="640080"/>
          </a:xfrm>
          <a:prstGeom prst="roundRect">
            <a:avLst>
              <a:gd name="adj" fmla="val 50000"/>
            </a:avLst>
          </a:prstGeom>
          <a:solidFill>
            <a:srgbClr val="FF8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ks tag Dari kamu"/>
          <p:cNvSpPr txBox="1"/>
          <p:nvPr/>
        </p:nvSpPr>
        <p:spPr>
          <a:xfrm>
            <a:off x="1828800" y="2350008"/>
            <a:ext cx="2761487" cy="548640"/>
          </a:xfrm>
          <a:prstGeom prst="rect">
            <a:avLst/>
          </a:prstGeom>
          <a:noFill/>
        </p:spPr>
        <p:txBody>
          <a:bodyPr wrap="square" lIns="0" rIns="0" tIns="0" bIns="0" anchor="t">
            <a:spAutoFit/>
          </a:bodyPr>
          <a:lstStyle/>
          <a:p>
            <a:pPr algn="ctr">
              <a:spcAft>
                <a:spcPts val="0"/>
              </a:spcAft>
            </a:pPr>
            <a:r>
              <a:rPr sz="2400">
                <a:solidFill>
                  <a:srgbClr val="0A2540"/>
                </a:solidFill>
                <a:latin typeface="Playpen Sans Bold"/>
              </a:rPr>
              <a:t>Dari kamu</a:t>
            </a:r>
          </a:p>
        </p:txBody>
      </p:sp>
      <p:sp>
        <p:nvSpPr>
          <p:cNvPr id="19" name="Isi kolom 1"/>
          <p:cNvSpPr txBox="1"/>
          <p:nvPr/>
        </p:nvSpPr>
        <p:spPr>
          <a:xfrm>
            <a:off x="1874519" y="3200400"/>
            <a:ext cx="6629399" cy="3840480"/>
          </a:xfrm>
          <a:prstGeom prst="rect">
            <a:avLst/>
          </a:prstGeom>
          <a:noFill/>
        </p:spPr>
        <p:txBody>
          <a:bodyPr wrap="square" lIns="0" rIns="0" tIns="0" bIns="0" anchor="t">
            <a:spAutoFit/>
          </a:bodyPr>
          <a:lstStyle/>
          <a:p>
            <a:pPr algn="l" marL="502920" indent="-502920">
              <a:spcAft>
                <a:spcPts val="1600"/>
              </a:spcAft>
              <a:buClr>
                <a:srgbClr val="F7B125"/>
              </a:buClr>
              <a:buFont typeface="Arial"/>
              <a:buChar char="•"/>
            </a:pPr>
            <a:r>
              <a:rPr sz="3100">
                <a:solidFill>
                  <a:srgbClr val="FFFFFF"/>
                </a:solidFill>
                <a:latin typeface="Playpen Sans"/>
              </a:rPr>
              <a:t>Hadir dan bawa laptop</a:t>
            </a:r>
          </a:p>
          <a:p>
            <a:pPr algn="l" marL="502920" indent="-502920">
              <a:spcAft>
                <a:spcPts val="1600"/>
              </a:spcAft>
              <a:buClr>
                <a:srgbClr val="F7B125"/>
              </a:buClr>
              <a:buFont typeface="Arial"/>
              <a:buChar char="•"/>
            </a:pPr>
            <a:r>
              <a:rPr sz="3100">
                <a:solidFill>
                  <a:srgbClr val="FFFFFF"/>
                </a:solidFill>
                <a:latin typeface="Playpen Sans"/>
              </a:rPr>
              <a:t>Baca sebelum kelas</a:t>
            </a:r>
          </a:p>
          <a:p>
            <a:pPr algn="l" marL="502920" indent="-502920">
              <a:spcAft>
                <a:spcPts val="1600"/>
              </a:spcAft>
              <a:buClr>
                <a:srgbClr val="F7B125"/>
              </a:buClr>
              <a:buFont typeface="Arial"/>
              <a:buChar char="•"/>
            </a:pPr>
            <a:r>
              <a:rPr sz="3100">
                <a:solidFill>
                  <a:srgbClr val="FFFFFF"/>
                </a:solidFill>
                <a:latin typeface="Playpen Sans"/>
              </a:rPr>
              <a:t>Bertanya saat bingung. Bingung itu normal</a:t>
            </a:r>
          </a:p>
          <a:p>
            <a:pPr algn="l" marL="502920" indent="-502920">
              <a:spcAft>
                <a:spcPts val="0"/>
              </a:spcAft>
              <a:buClr>
                <a:srgbClr val="F7B125"/>
              </a:buClr>
              <a:buFont typeface="Arial"/>
              <a:buChar char="•"/>
            </a:pPr>
            <a:r>
              <a:rPr sz="3100">
                <a:solidFill>
                  <a:srgbClr val="FFFFFF"/>
                </a:solidFill>
                <a:latin typeface="Playpen Sans"/>
              </a:rPr>
              <a:t>Kumpulkan latihan tepat waktu</a:t>
            </a:r>
          </a:p>
        </p:txBody>
      </p:sp>
      <p:sp>
        <p:nvSpPr>
          <p:cNvPr id="20" name="Kolom 2"/>
          <p:cNvSpPr/>
          <p:nvPr/>
        </p:nvSpPr>
        <p:spPr>
          <a:xfrm>
            <a:off x="9418319" y="2103120"/>
            <a:ext cx="7360919" cy="5029200"/>
          </a:xfrm>
          <a:prstGeom prst="roundRect">
            <a:avLst>
              <a:gd name="adj" fmla="val 4000"/>
            </a:avLst>
          </a:prstGeom>
          <a:solidFill>
            <a:srgbClr val="14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ag Dari mentor"/>
          <p:cNvSpPr/>
          <p:nvPr/>
        </p:nvSpPr>
        <p:spPr>
          <a:xfrm>
            <a:off x="9738359" y="2286000"/>
            <a:ext cx="3212591" cy="640080"/>
          </a:xfrm>
          <a:prstGeom prst="roundRect">
            <a:avLst>
              <a:gd name="adj" fmla="val 50000"/>
            </a:avLst>
          </a:prstGeom>
          <a:solidFill>
            <a:srgbClr val="3DD6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ks tag Dari mentor"/>
          <p:cNvSpPr txBox="1"/>
          <p:nvPr/>
        </p:nvSpPr>
        <p:spPr>
          <a:xfrm>
            <a:off x="9738359" y="2350008"/>
            <a:ext cx="3212591" cy="548640"/>
          </a:xfrm>
          <a:prstGeom prst="rect">
            <a:avLst/>
          </a:prstGeom>
          <a:noFill/>
        </p:spPr>
        <p:txBody>
          <a:bodyPr wrap="square" lIns="0" rIns="0" tIns="0" bIns="0" anchor="t">
            <a:spAutoFit/>
          </a:bodyPr>
          <a:lstStyle/>
          <a:p>
            <a:pPr algn="ctr">
              <a:spcAft>
                <a:spcPts val="0"/>
              </a:spcAft>
            </a:pPr>
            <a:r>
              <a:rPr sz="2400">
                <a:solidFill>
                  <a:srgbClr val="0A2540"/>
                </a:solidFill>
                <a:latin typeface="Playpen Sans Bold"/>
              </a:rPr>
              <a:t>Dari mentor</a:t>
            </a:r>
          </a:p>
        </p:txBody>
      </p:sp>
      <p:sp>
        <p:nvSpPr>
          <p:cNvPr id="23" name="Isi kolom 2"/>
          <p:cNvSpPr txBox="1"/>
          <p:nvPr/>
        </p:nvSpPr>
        <p:spPr>
          <a:xfrm>
            <a:off x="9784080" y="3200400"/>
            <a:ext cx="6629399" cy="3840480"/>
          </a:xfrm>
          <a:prstGeom prst="rect">
            <a:avLst/>
          </a:prstGeom>
          <a:noFill/>
        </p:spPr>
        <p:txBody>
          <a:bodyPr wrap="square" lIns="0" rIns="0" tIns="0" bIns="0" anchor="t">
            <a:spAutoFit/>
          </a:bodyPr>
          <a:lstStyle/>
          <a:p>
            <a:pPr algn="l" marL="502920" indent="-502920">
              <a:spcAft>
                <a:spcPts val="1600"/>
              </a:spcAft>
              <a:buClr>
                <a:srgbClr val="F7B125"/>
              </a:buClr>
              <a:buFont typeface="Arial"/>
              <a:buChar char="•"/>
            </a:pPr>
            <a:r>
              <a:rPr sz="3100">
                <a:solidFill>
                  <a:srgbClr val="FFFFFF"/>
                </a:solidFill>
                <a:latin typeface="Playpen Sans"/>
              </a:rPr>
              <a:t>Panduan baca dan notebook setiap pekan</a:t>
            </a:r>
          </a:p>
          <a:p>
            <a:pPr algn="l" marL="502920" indent="-502920">
              <a:spcAft>
                <a:spcPts val="1600"/>
              </a:spcAft>
              <a:buClr>
                <a:srgbClr val="F7B125"/>
              </a:buClr>
              <a:buFont typeface="Arial"/>
              <a:buChar char="•"/>
            </a:pPr>
            <a:r>
              <a:rPr sz="3100">
                <a:solidFill>
                  <a:srgbClr val="FFFFFF"/>
                </a:solidFill>
                <a:latin typeface="Playpen Sans"/>
              </a:rPr>
              <a:t>Contoh sebelum rumus</a:t>
            </a:r>
          </a:p>
          <a:p>
            <a:pPr algn="l" marL="502920" indent="-502920">
              <a:spcAft>
                <a:spcPts val="1600"/>
              </a:spcAft>
              <a:buClr>
                <a:srgbClr val="F7B125"/>
              </a:buClr>
              <a:buFont typeface="Arial"/>
              <a:buChar char="•"/>
            </a:pPr>
            <a:r>
              <a:rPr sz="3100">
                <a:solidFill>
                  <a:srgbClr val="FFFFFF"/>
                </a:solidFill>
                <a:latin typeface="Playpen Sans"/>
              </a:rPr>
              <a:t>Bantuan saat latihan di kelas</a:t>
            </a:r>
          </a:p>
          <a:p>
            <a:pPr algn="l" marL="502920" indent="-502920">
              <a:spcAft>
                <a:spcPts val="0"/>
              </a:spcAft>
              <a:buClr>
                <a:srgbClr val="F7B125"/>
              </a:buClr>
              <a:buFont typeface="Arial"/>
              <a:buChar char="•"/>
            </a:pPr>
            <a:r>
              <a:rPr sz="3100">
                <a:solidFill>
                  <a:srgbClr val="FFFFFF"/>
                </a:solidFill>
                <a:latin typeface="Playpen Sans"/>
              </a:rPr>
              <a:t>Umpan balik pada latihanmu</a:t>
            </a:r>
          </a:p>
        </p:txBody>
      </p:sp>
    </p:spTree>
  </p:cSld>
  <p:clrMapOvr>
    <a:masterClrMapping/>
  </p:clrMapOvr>
</p:sld>
</file>

<file path=ppt/slides/slide20.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67928" r="0" b="-67928"/>
            </a:stretch>
          </a:blipFill>
        </p:spPr>
      </p:sp>
      <p:sp>
        <p:nvSpPr>
          <p:cNvPr name="Freeform 3" id="3"/>
          <p:cNvSpPr/>
          <p:nvPr/>
        </p:nvSpPr>
        <p:spPr>
          <a:xfrm flipH="false" flipV="false" rot="0">
            <a:off x="9577136" y="3199705"/>
            <a:ext cx="5309234" cy="5465964"/>
          </a:xfrm>
          <a:custGeom>
            <a:avLst/>
            <a:gdLst/>
            <a:ahLst/>
            <a:cxnLst/>
            <a:rect r="r" b="b" t="t" l="l"/>
            <a:pathLst>
              <a:path h="5465964" w="5309234">
                <a:moveTo>
                  <a:pt x="0" y="0"/>
                </a:moveTo>
                <a:lnTo>
                  <a:pt x="5309234" y="0"/>
                </a:lnTo>
                <a:lnTo>
                  <a:pt x="5309234" y="5465965"/>
                </a:lnTo>
                <a:lnTo>
                  <a:pt x="0" y="5465965"/>
                </a:lnTo>
                <a:lnTo>
                  <a:pt x="0" y="0"/>
                </a:lnTo>
                <a:close/>
              </a:path>
            </a:pathLst>
          </a:custGeom>
          <a:blipFill>
            <a:blip r:embed="rId3"/>
            <a:stretch>
              <a:fillRect l="0" t="0" r="0" b="0"/>
            </a:stretch>
          </a:blipFill>
        </p:spPr>
      </p:sp>
      <p:sp>
        <p:nvSpPr>
          <p:cNvPr name="Freeform 4" id="4"/>
          <p:cNvSpPr/>
          <p:nvPr/>
        </p:nvSpPr>
        <p:spPr>
          <a:xfrm flipH="false" flipV="false" rot="0">
            <a:off x="12533569" y="-21055"/>
            <a:ext cx="5762298" cy="6532600"/>
          </a:xfrm>
          <a:custGeom>
            <a:avLst/>
            <a:gdLst/>
            <a:ahLst/>
            <a:cxnLst/>
            <a:rect r="r" b="b" t="t" l="l"/>
            <a:pathLst>
              <a:path h="6532600" w="5762298">
                <a:moveTo>
                  <a:pt x="0" y="0"/>
                </a:moveTo>
                <a:lnTo>
                  <a:pt x="5762298" y="0"/>
                </a:lnTo>
                <a:lnTo>
                  <a:pt x="5762298" y="6532600"/>
                </a:lnTo>
                <a:lnTo>
                  <a:pt x="0" y="6532600"/>
                </a:lnTo>
                <a:lnTo>
                  <a:pt x="0" y="0"/>
                </a:lnTo>
                <a:close/>
              </a:path>
            </a:pathLst>
          </a:custGeom>
          <a:blipFill>
            <a:blip r:embed="rId4"/>
            <a:stretch>
              <a:fillRect l="0" t="0" r="0" b="0"/>
            </a:stretch>
          </a:blipFill>
        </p:spPr>
      </p:sp>
      <p:sp>
        <p:nvSpPr>
          <p:cNvPr name="Freeform 5" id="5"/>
          <p:cNvSpPr/>
          <p:nvPr/>
        </p:nvSpPr>
        <p:spPr>
          <a:xfrm flipH="true" flipV="false" rot="0">
            <a:off x="-29416" y="0"/>
            <a:ext cx="5762298" cy="6532600"/>
          </a:xfrm>
          <a:custGeom>
            <a:avLst/>
            <a:gdLst/>
            <a:ahLst/>
            <a:cxnLst/>
            <a:rect r="r" b="b" t="t" l="l"/>
            <a:pathLst>
              <a:path h="6532600" w="5762298">
                <a:moveTo>
                  <a:pt x="5762298" y="0"/>
                </a:moveTo>
                <a:lnTo>
                  <a:pt x="0" y="0"/>
                </a:lnTo>
                <a:lnTo>
                  <a:pt x="0" y="6532600"/>
                </a:lnTo>
                <a:lnTo>
                  <a:pt x="5762298" y="6532600"/>
                </a:lnTo>
                <a:lnTo>
                  <a:pt x="5762298" y="0"/>
                </a:lnTo>
                <a:close/>
              </a:path>
            </a:pathLst>
          </a:custGeom>
          <a:blipFill>
            <a:blip r:embed="rId4"/>
            <a:stretch>
              <a:fillRect l="0" t="0" r="0" b="0"/>
            </a:stretch>
          </a:blipFill>
        </p:spPr>
      </p:sp>
      <p:sp>
        <p:nvSpPr>
          <p:cNvPr name="Freeform 6" id="6"/>
          <p:cNvSpPr/>
          <p:nvPr/>
        </p:nvSpPr>
        <p:spPr>
          <a:xfrm flipH="false" flipV="false" rot="0">
            <a:off x="2244885" y="1988036"/>
            <a:ext cx="5309234" cy="5465964"/>
          </a:xfrm>
          <a:custGeom>
            <a:avLst/>
            <a:gdLst/>
            <a:ahLst/>
            <a:cxnLst/>
            <a:rect r="r" b="b" t="t" l="l"/>
            <a:pathLst>
              <a:path h="5465964" w="5309234">
                <a:moveTo>
                  <a:pt x="0" y="0"/>
                </a:moveTo>
                <a:lnTo>
                  <a:pt x="5309235" y="0"/>
                </a:lnTo>
                <a:lnTo>
                  <a:pt x="5309235" y="5465964"/>
                </a:lnTo>
                <a:lnTo>
                  <a:pt x="0" y="5465964"/>
                </a:lnTo>
                <a:lnTo>
                  <a:pt x="0" y="0"/>
                </a:lnTo>
                <a:close/>
              </a:path>
            </a:pathLst>
          </a:custGeom>
          <a:blipFill>
            <a:blip r:embed="rId3"/>
            <a:stretch>
              <a:fillRect l="0" t="0" r="0" b="0"/>
            </a:stretch>
          </a:blipFill>
        </p:spPr>
      </p:sp>
      <p:sp>
        <p:nvSpPr>
          <p:cNvPr name="Freeform 7" id="7"/>
          <p:cNvSpPr/>
          <p:nvPr/>
        </p:nvSpPr>
        <p:spPr>
          <a:xfrm flipH="false" flipV="false" rot="0">
            <a:off x="-317430" y="7660946"/>
            <a:ext cx="18613297" cy="3022078"/>
          </a:xfrm>
          <a:custGeom>
            <a:avLst/>
            <a:gdLst/>
            <a:ahLst/>
            <a:cxnLst/>
            <a:rect r="r" b="b" t="t" l="l"/>
            <a:pathLst>
              <a:path h="3022078" w="18613297">
                <a:moveTo>
                  <a:pt x="0" y="0"/>
                </a:moveTo>
                <a:lnTo>
                  <a:pt x="18613297" y="0"/>
                </a:lnTo>
                <a:lnTo>
                  <a:pt x="18613297" y="3022077"/>
                </a:lnTo>
                <a:lnTo>
                  <a:pt x="0" y="3022077"/>
                </a:lnTo>
                <a:lnTo>
                  <a:pt x="0" y="0"/>
                </a:lnTo>
                <a:close/>
              </a:path>
            </a:pathLst>
          </a:custGeom>
          <a:blipFill>
            <a:blip r:embed="rId5"/>
            <a:stretch>
              <a:fillRect l="-158" t="0" r="-158" b="-6838"/>
            </a:stretch>
          </a:blipFill>
        </p:spPr>
      </p:sp>
      <p:sp>
        <p:nvSpPr>
          <p:cNvPr name="Freeform 8" id="8"/>
          <p:cNvSpPr/>
          <p:nvPr/>
        </p:nvSpPr>
        <p:spPr>
          <a:xfrm flipH="true" flipV="false" rot="0">
            <a:off x="13751443" y="1408594"/>
            <a:ext cx="5427899" cy="1816870"/>
          </a:xfrm>
          <a:custGeom>
            <a:avLst/>
            <a:gdLst/>
            <a:ahLst/>
            <a:cxnLst/>
            <a:rect r="r" b="b" t="t" l="l"/>
            <a:pathLst>
              <a:path h="1816870" w="5427899">
                <a:moveTo>
                  <a:pt x="5427899" y="0"/>
                </a:moveTo>
                <a:lnTo>
                  <a:pt x="0" y="0"/>
                </a:lnTo>
                <a:lnTo>
                  <a:pt x="0" y="1816870"/>
                </a:lnTo>
                <a:lnTo>
                  <a:pt x="5427899" y="1816870"/>
                </a:lnTo>
                <a:lnTo>
                  <a:pt x="5427899" y="0"/>
                </a:lnTo>
                <a:close/>
              </a:path>
            </a:pathLst>
          </a:custGeom>
          <a:blipFill>
            <a:blip r:embed="rId6">
              <a:alphaModFix amt="65000"/>
            </a:blip>
            <a:stretch>
              <a:fillRect l="0" t="0" r="0" b="0"/>
            </a:stretch>
          </a:blipFill>
        </p:spPr>
      </p:sp>
      <p:sp>
        <p:nvSpPr>
          <p:cNvPr name="Freeform 9" id="9"/>
          <p:cNvSpPr/>
          <p:nvPr/>
        </p:nvSpPr>
        <p:spPr>
          <a:xfrm flipH="false" flipV="false" rot="0">
            <a:off x="13240358" y="2417800"/>
            <a:ext cx="7524206" cy="8229600"/>
          </a:xfrm>
          <a:custGeom>
            <a:avLst/>
            <a:gdLst/>
            <a:ahLst/>
            <a:cxnLst/>
            <a:rect r="r" b="b" t="t" l="l"/>
            <a:pathLst>
              <a:path h="8229600" w="7524206">
                <a:moveTo>
                  <a:pt x="0" y="0"/>
                </a:moveTo>
                <a:lnTo>
                  <a:pt x="7524206" y="0"/>
                </a:lnTo>
                <a:lnTo>
                  <a:pt x="7524206" y="8229600"/>
                </a:lnTo>
                <a:lnTo>
                  <a:pt x="0" y="8229600"/>
                </a:lnTo>
                <a:lnTo>
                  <a:pt x="0" y="0"/>
                </a:lnTo>
                <a:close/>
              </a:path>
            </a:pathLst>
          </a:custGeom>
          <a:blipFill>
            <a:blip r:embed="rId7"/>
            <a:stretch>
              <a:fillRect l="0" t="0" r="0" b="0"/>
            </a:stretch>
          </a:blipFill>
        </p:spPr>
      </p:sp>
      <p:sp>
        <p:nvSpPr>
          <p:cNvPr name="Freeform 10" id="10"/>
          <p:cNvSpPr/>
          <p:nvPr/>
        </p:nvSpPr>
        <p:spPr>
          <a:xfrm flipH="false" flipV="false" rot="0">
            <a:off x="-940574" y="2396745"/>
            <a:ext cx="4040554" cy="8229600"/>
          </a:xfrm>
          <a:custGeom>
            <a:avLst/>
            <a:gdLst/>
            <a:ahLst/>
            <a:cxnLst/>
            <a:rect r="r" b="b" t="t" l="l"/>
            <a:pathLst>
              <a:path h="8229600" w="4040554">
                <a:moveTo>
                  <a:pt x="0" y="0"/>
                </a:moveTo>
                <a:lnTo>
                  <a:pt x="4040554" y="0"/>
                </a:lnTo>
                <a:lnTo>
                  <a:pt x="4040554" y="8229600"/>
                </a:lnTo>
                <a:lnTo>
                  <a:pt x="0" y="8229600"/>
                </a:lnTo>
                <a:lnTo>
                  <a:pt x="0" y="0"/>
                </a:lnTo>
                <a:close/>
              </a:path>
            </a:pathLst>
          </a:custGeom>
          <a:blipFill>
            <a:blip r:embed="rId8"/>
            <a:stretch>
              <a:fillRect l="0" t="0" r="0" b="0"/>
            </a:stretch>
          </a:blipFill>
        </p:spPr>
      </p:sp>
      <p:sp>
        <p:nvSpPr>
          <p:cNvPr name="Freeform 11" id="11"/>
          <p:cNvSpPr/>
          <p:nvPr/>
        </p:nvSpPr>
        <p:spPr>
          <a:xfrm flipH="false" flipV="false" rot="0">
            <a:off x="-190122" y="7454000"/>
            <a:ext cx="6083710" cy="4114800"/>
          </a:xfrm>
          <a:custGeom>
            <a:avLst/>
            <a:gdLst/>
            <a:ahLst/>
            <a:cxnLst/>
            <a:rect r="r" b="b" t="t" l="l"/>
            <a:pathLst>
              <a:path h="4114800" w="6083710">
                <a:moveTo>
                  <a:pt x="0" y="0"/>
                </a:moveTo>
                <a:lnTo>
                  <a:pt x="6083710" y="0"/>
                </a:lnTo>
                <a:lnTo>
                  <a:pt x="6083710" y="4114800"/>
                </a:lnTo>
                <a:lnTo>
                  <a:pt x="0" y="4114800"/>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name="Freeform 12" id="12"/>
          <p:cNvSpPr/>
          <p:nvPr/>
        </p:nvSpPr>
        <p:spPr>
          <a:xfrm flipH="false" flipV="false" rot="0">
            <a:off x="9549673" y="7660946"/>
            <a:ext cx="6083710" cy="4114800"/>
          </a:xfrm>
          <a:custGeom>
            <a:avLst/>
            <a:gdLst/>
            <a:ahLst/>
            <a:cxnLst/>
            <a:rect r="r" b="b" t="t" l="l"/>
            <a:pathLst>
              <a:path h="4114800" w="6083710">
                <a:moveTo>
                  <a:pt x="0" y="0"/>
                </a:moveTo>
                <a:lnTo>
                  <a:pt x="6083710" y="0"/>
                </a:lnTo>
                <a:lnTo>
                  <a:pt x="6083710" y="4114800"/>
                </a:lnTo>
                <a:lnTo>
                  <a:pt x="0" y="4114800"/>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name="Freeform 13" id="13"/>
          <p:cNvSpPr/>
          <p:nvPr/>
        </p:nvSpPr>
        <p:spPr>
          <a:xfrm flipH="false" flipV="false" rot="0">
            <a:off x="423648" y="576981"/>
            <a:ext cx="5790657" cy="1938295"/>
          </a:xfrm>
          <a:custGeom>
            <a:avLst/>
            <a:gdLst/>
            <a:ahLst/>
            <a:cxnLst/>
            <a:rect r="r" b="b" t="t" l="l"/>
            <a:pathLst>
              <a:path h="1938295" w="5790657">
                <a:moveTo>
                  <a:pt x="0" y="0"/>
                </a:moveTo>
                <a:lnTo>
                  <a:pt x="5790656" y="0"/>
                </a:lnTo>
                <a:lnTo>
                  <a:pt x="5790656" y="1938296"/>
                </a:lnTo>
                <a:lnTo>
                  <a:pt x="0" y="1938296"/>
                </a:lnTo>
                <a:lnTo>
                  <a:pt x="0" y="0"/>
                </a:lnTo>
                <a:close/>
              </a:path>
            </a:pathLst>
          </a:custGeom>
          <a:blipFill>
            <a:blip r:embed="rId6">
              <a:alphaModFix amt="65000"/>
            </a:blip>
            <a:stretch>
              <a:fillRect l="0" t="0" r="0" b="0"/>
            </a:stretch>
          </a:blipFill>
        </p:spPr>
      </p:sp>
      <p:grpSp>
        <p:nvGrpSpPr>
          <p:cNvPr name="Group 14" id="14"/>
          <p:cNvGrpSpPr/>
          <p:nvPr/>
        </p:nvGrpSpPr>
        <p:grpSpPr>
          <a:xfrm rot="0">
            <a:off x="4061996" y="2829602"/>
            <a:ext cx="4927222" cy="791725"/>
            <a:chOff x="0" y="0"/>
            <a:chExt cx="1297705" cy="208520"/>
          </a:xfrm>
        </p:grpSpPr>
        <p:sp>
          <p:nvSpPr>
            <p:cNvPr name="Freeform 15" id="15"/>
            <p:cNvSpPr/>
            <p:nvPr/>
          </p:nvSpPr>
          <p:spPr>
            <a:xfrm flipH="false" flipV="false" rot="0">
              <a:off x="0" y="0"/>
              <a:ext cx="1297705" cy="208520"/>
            </a:xfrm>
            <a:custGeom>
              <a:avLst/>
              <a:gdLst/>
              <a:ahLst/>
              <a:cxnLst/>
              <a:rect r="r" b="b" t="t" l="l"/>
              <a:pathLst>
                <a:path h="208520" w="1297705">
                  <a:moveTo>
                    <a:pt x="104260" y="0"/>
                  </a:moveTo>
                  <a:lnTo>
                    <a:pt x="1193444" y="0"/>
                  </a:lnTo>
                  <a:cubicBezTo>
                    <a:pt x="1251026" y="0"/>
                    <a:pt x="1297705" y="46679"/>
                    <a:pt x="1297705" y="104260"/>
                  </a:cubicBezTo>
                  <a:lnTo>
                    <a:pt x="1297705" y="104260"/>
                  </a:lnTo>
                  <a:cubicBezTo>
                    <a:pt x="1297705" y="161841"/>
                    <a:pt x="1251026" y="208520"/>
                    <a:pt x="1193444" y="208520"/>
                  </a:cubicBezTo>
                  <a:lnTo>
                    <a:pt x="104260" y="208520"/>
                  </a:lnTo>
                  <a:cubicBezTo>
                    <a:pt x="46679" y="208520"/>
                    <a:pt x="0" y="161841"/>
                    <a:pt x="0" y="104260"/>
                  </a:cubicBezTo>
                  <a:lnTo>
                    <a:pt x="0" y="104260"/>
                  </a:lnTo>
                  <a:cubicBezTo>
                    <a:pt x="0" y="46679"/>
                    <a:pt x="46679" y="0"/>
                    <a:pt x="104260" y="0"/>
                  </a:cubicBezTo>
                  <a:close/>
                </a:path>
              </a:pathLst>
            </a:custGeom>
            <a:ln w="19050" cap="rnd">
              <a:solidFill>
                <a:srgbClr val="FFFFFF"/>
              </a:solidFill>
              <a:prstDash val="solid"/>
              <a:round/>
            </a:ln>
          </p:spPr>
        </p:sp>
        <p:sp>
          <p:nvSpPr>
            <p:cNvPr name="TextBox 16" id="16"/>
            <p:cNvSpPr txBox="true"/>
            <p:nvPr/>
          </p:nvSpPr>
          <p:spPr>
            <a:xfrm>
              <a:off x="0" y="-38100"/>
              <a:ext cx="1297705" cy="246620"/>
            </a:xfrm>
            <a:prstGeom prst="rect">
              <a:avLst/>
            </a:prstGeom>
          </p:spPr>
          <p:txBody>
            <a:bodyPr anchor="ctr" rtlCol="false" tIns="50800" lIns="50800" bIns="50800" rIns="50800"/>
            <a:lstStyle/>
            <a:p>
              <a:pPr algn="ctr">
                <a:lnSpc>
                  <a:spcPts val="2659"/>
                </a:lnSpc>
                <a:spcBef>
                  <a:spcPct val="0"/>
                </a:spcBef>
              </a:pPr>
            </a:p>
          </p:txBody>
        </p:sp>
      </p:grpSp>
      <p:sp>
        <p:nvSpPr>
          <p:cNvPr name="Freeform 20" id="20"/>
          <p:cNvSpPr/>
          <p:nvPr/>
        </p:nvSpPr>
        <p:spPr>
          <a:xfrm flipH="false" flipV="false" rot="0">
            <a:off x="3107461" y="6036889"/>
            <a:ext cx="6890564" cy="3775455"/>
          </a:xfrm>
          <a:custGeom>
            <a:avLst/>
            <a:gdLst/>
            <a:ahLst/>
            <a:cxnLst/>
            <a:rect r="r" b="b" t="t" l="l"/>
            <a:pathLst>
              <a:path h="3775455" w="6890564">
                <a:moveTo>
                  <a:pt x="0" y="0"/>
                </a:moveTo>
                <a:lnTo>
                  <a:pt x="6890563" y="0"/>
                </a:lnTo>
                <a:lnTo>
                  <a:pt x="6890563" y="3775454"/>
                </a:lnTo>
                <a:lnTo>
                  <a:pt x="0" y="3775454"/>
                </a:lnTo>
                <a:lnTo>
                  <a:pt x="0" y="0"/>
                </a:lnTo>
                <a:close/>
              </a:path>
            </a:pathLst>
          </a:custGeom>
          <a:blipFill>
            <a:blip r:embed="rId11"/>
            <a:stretch>
              <a:fillRect l="0" t="0" r="0" b="0"/>
            </a:stretch>
          </a:blipFill>
        </p:spPr>
      </p:sp>
      <p:sp>
        <p:nvSpPr>
          <p:cNvPr name="Freeform 21" id="21"/>
          <p:cNvSpPr/>
          <p:nvPr/>
        </p:nvSpPr>
        <p:spPr>
          <a:xfrm flipH="true" flipV="false" rot="0">
            <a:off x="12007845" y="1772904"/>
            <a:ext cx="3857149" cy="2113396"/>
          </a:xfrm>
          <a:custGeom>
            <a:avLst/>
            <a:gdLst/>
            <a:ahLst/>
            <a:cxnLst/>
            <a:rect r="r" b="b" t="t" l="l"/>
            <a:pathLst>
              <a:path h="2113396" w="3857149">
                <a:moveTo>
                  <a:pt x="3857149" y="0"/>
                </a:moveTo>
                <a:lnTo>
                  <a:pt x="0" y="0"/>
                </a:lnTo>
                <a:lnTo>
                  <a:pt x="0" y="2113396"/>
                </a:lnTo>
                <a:lnTo>
                  <a:pt x="3857149" y="2113396"/>
                </a:lnTo>
                <a:lnTo>
                  <a:pt x="3857149" y="0"/>
                </a:lnTo>
                <a:close/>
              </a:path>
            </a:pathLst>
          </a:custGeom>
          <a:blipFill>
            <a:blip r:embed="rId11"/>
            <a:stretch>
              <a:fillRect l="0" t="0" r="0" b="0"/>
            </a:stretch>
          </a:blipFill>
        </p:spPr>
      </p:sp>
      <p:sp>
        <p:nvSpPr>
          <p:cNvPr name="TextBox 22" id="22"/>
          <p:cNvSpPr txBox="true"/>
          <p:nvPr/>
        </p:nvSpPr>
        <p:spPr>
          <a:xfrm rot="0">
            <a:off x="3709994" y="4011851"/>
            <a:ext cx="7688251" cy="1920836"/>
          </a:xfrm>
          <a:prstGeom prst="rect">
            <a:avLst/>
          </a:prstGeom>
        </p:spPr>
        <p:txBody>
          <a:bodyPr anchor="t" rtlCol="false" tIns="0" lIns="0" bIns="0" rIns="0">
            <a:spAutoFit/>
          </a:bodyPr>
          <a:lstStyle/>
          <a:p>
            <a:pPr algn="l">
              <a:lnSpc>
                <a:spcPct val="100000"/>
              </a:lnSpc>
            </a:pPr>
            <a:r>
              <a:rPr lang="en-US" sz="8000" b="true">
                <a:solidFill>
                  <a:srgbClr val="EAC24B"/>
                </a:solidFill>
                <a:latin typeface="Playpen Sans Bold"/>
                <a:ea typeface="Playpen Sans Bold"/>
                <a:cs typeface="Playpen Sans Bold"/>
                <a:sym typeface="Playpen Sans Bold"/>
              </a:rPr>
              <a:t>Istirahat</a:t>
            </a:r>
          </a:p>
        </p:txBody>
      </p:sp>
      <p:sp>
        <p:nvSpPr>
          <p:cNvPr name="TextBox 23" id="23"/>
          <p:cNvSpPr txBox="true"/>
          <p:nvPr/>
        </p:nvSpPr>
        <p:spPr>
          <a:xfrm rot="0">
            <a:off x="4271362" y="3084172"/>
            <a:ext cx="4508490" cy="330209"/>
          </a:xfrm>
          <a:prstGeom prst="rect">
            <a:avLst/>
          </a:prstGeom>
        </p:spPr>
        <p:txBody>
          <a:bodyPr anchor="t" rtlCol="false" tIns="0" lIns="0" bIns="0" rIns="0">
            <a:spAutoFit/>
          </a:bodyPr>
          <a:lstStyle/>
          <a:p>
            <a:pPr algn="ctr">
              <a:lnSpc>
                <a:spcPct val="100000"/>
              </a:lnSpc>
            </a:pPr>
            <a:r>
              <a:rPr lang="en-US" b="true" sz="2200">
                <a:solidFill>
                  <a:srgbClr val="FFFFFF"/>
                </a:solidFill>
                <a:latin typeface="Playpen Sans Bold"/>
                <a:ea typeface="Playpen Sans Bold"/>
                <a:cs typeface="Playpen Sans Bold"/>
                <a:sym typeface="Playpen Sans Bold"/>
              </a:rPr>
              <a:t>Lalu: persiapan dan game</a:t>
            </a:r>
          </a:p>
        </p:txBody>
      </p:sp>
      <p:sp>
        <p:nvSpPr>
          <p:cNvPr name="TextBox 25" id="25"/>
          <p:cNvSpPr txBox="true"/>
          <p:nvPr/>
        </p:nvSpPr>
        <p:spPr>
          <a:xfrm rot="0">
            <a:off x="10391035" y="4011851"/>
            <a:ext cx="4914443" cy="1920836"/>
          </a:xfrm>
          <a:prstGeom prst="rect">
            <a:avLst/>
          </a:prstGeom>
        </p:spPr>
        <p:txBody>
          <a:bodyPr anchor="t" rtlCol="false" tIns="0" lIns="0" bIns="0" rIns="0">
            <a:spAutoFit/>
          </a:bodyPr>
          <a:lstStyle/>
          <a:p>
            <a:pPr algn="l">
              <a:lnSpc>
                <a:spcPct val="100000"/>
              </a:lnSpc>
            </a:pPr>
            <a:r>
              <a:rPr lang="en-US" sz="8000" b="true">
                <a:solidFill>
                  <a:srgbClr val="FFFFFF"/>
                </a:solidFill>
                <a:latin typeface="Playpen Sans Bold"/>
                <a:ea typeface="Playpen Sans Bold"/>
                <a:cs typeface="Playpen Sans Bold"/>
                <a:sym typeface="Playpen Sans Bold"/>
              </a:rPr>
              <a:t>5 menit</a:t>
            </a:r>
          </a:p>
        </p:txBody>
      </p:sp>
    </p:spTree>
  </p:cSld>
  <p:clrMapOvr>
    <a:masterClrMapping/>
  </p:clrMapOvr>
</p:sld>
</file>

<file path=ppt/slides/slide2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67928" r="0" b="-67928"/>
            </a:stretch>
          </a:blipFill>
        </p:spPr>
      </p:sp>
      <p:sp>
        <p:nvSpPr>
          <p:cNvPr name="Freeform 3" id="3"/>
          <p:cNvSpPr/>
          <p:nvPr/>
        </p:nvSpPr>
        <p:spPr>
          <a:xfrm flipH="false" flipV="false" rot="0">
            <a:off x="12533569" y="-21055"/>
            <a:ext cx="5762298" cy="6532600"/>
          </a:xfrm>
          <a:custGeom>
            <a:avLst/>
            <a:gdLst/>
            <a:ahLst/>
            <a:cxnLst/>
            <a:rect r="r" b="b" t="t" l="l"/>
            <a:pathLst>
              <a:path h="6532600" w="5762298">
                <a:moveTo>
                  <a:pt x="0" y="0"/>
                </a:moveTo>
                <a:lnTo>
                  <a:pt x="5762298" y="0"/>
                </a:lnTo>
                <a:lnTo>
                  <a:pt x="5762298" y="6532600"/>
                </a:lnTo>
                <a:lnTo>
                  <a:pt x="0" y="6532600"/>
                </a:lnTo>
                <a:lnTo>
                  <a:pt x="0" y="0"/>
                </a:lnTo>
                <a:close/>
              </a:path>
            </a:pathLst>
          </a:custGeom>
          <a:blipFill>
            <a:blip r:embed="rId3"/>
            <a:stretch>
              <a:fillRect l="0" t="0" r="0" b="0"/>
            </a:stretch>
          </a:blipFill>
        </p:spPr>
      </p:sp>
      <p:sp>
        <p:nvSpPr>
          <p:cNvPr name="Freeform 4" id="4"/>
          <p:cNvSpPr/>
          <p:nvPr/>
        </p:nvSpPr>
        <p:spPr>
          <a:xfrm flipH="false" flipV="false" rot="0">
            <a:off x="12978766" y="2004481"/>
            <a:ext cx="5309234" cy="5465964"/>
          </a:xfrm>
          <a:custGeom>
            <a:avLst/>
            <a:gdLst/>
            <a:ahLst/>
            <a:cxnLst/>
            <a:rect r="r" b="b" t="t" l="l"/>
            <a:pathLst>
              <a:path h="5465964" w="5309234">
                <a:moveTo>
                  <a:pt x="0" y="0"/>
                </a:moveTo>
                <a:lnTo>
                  <a:pt x="5309234" y="0"/>
                </a:lnTo>
                <a:lnTo>
                  <a:pt x="5309234" y="5465965"/>
                </a:lnTo>
                <a:lnTo>
                  <a:pt x="0" y="5465965"/>
                </a:lnTo>
                <a:lnTo>
                  <a:pt x="0" y="0"/>
                </a:lnTo>
                <a:close/>
              </a:path>
            </a:pathLst>
          </a:custGeom>
          <a:blipFill>
            <a:blip r:embed="rId4"/>
            <a:stretch>
              <a:fillRect l="0" t="0" r="0" b="0"/>
            </a:stretch>
          </a:blipFill>
        </p:spPr>
      </p:sp>
      <p:sp>
        <p:nvSpPr>
          <p:cNvPr name="Freeform 5" id="5"/>
          <p:cNvSpPr/>
          <p:nvPr/>
        </p:nvSpPr>
        <p:spPr>
          <a:xfrm flipH="true" flipV="false" rot="0">
            <a:off x="-29416" y="0"/>
            <a:ext cx="5762298" cy="6532600"/>
          </a:xfrm>
          <a:custGeom>
            <a:avLst/>
            <a:gdLst/>
            <a:ahLst/>
            <a:cxnLst/>
            <a:rect r="r" b="b" t="t" l="l"/>
            <a:pathLst>
              <a:path h="6532600" w="5762298">
                <a:moveTo>
                  <a:pt x="5762298" y="0"/>
                </a:moveTo>
                <a:lnTo>
                  <a:pt x="0" y="0"/>
                </a:lnTo>
                <a:lnTo>
                  <a:pt x="0" y="6532600"/>
                </a:lnTo>
                <a:lnTo>
                  <a:pt x="5762298" y="6532600"/>
                </a:lnTo>
                <a:lnTo>
                  <a:pt x="5762298" y="0"/>
                </a:lnTo>
                <a:close/>
              </a:path>
            </a:pathLst>
          </a:custGeom>
          <a:blipFill>
            <a:blip r:embed="rId3"/>
            <a:stretch>
              <a:fillRect l="0" t="0" r="0" b="0"/>
            </a:stretch>
          </a:blipFill>
        </p:spPr>
      </p:sp>
      <p:sp>
        <p:nvSpPr>
          <p:cNvPr name="Freeform 6" id="6"/>
          <p:cNvSpPr/>
          <p:nvPr/>
        </p:nvSpPr>
        <p:spPr>
          <a:xfrm flipH="false" flipV="false" rot="0">
            <a:off x="423648" y="2410518"/>
            <a:ext cx="5309234" cy="5465964"/>
          </a:xfrm>
          <a:custGeom>
            <a:avLst/>
            <a:gdLst/>
            <a:ahLst/>
            <a:cxnLst/>
            <a:rect r="r" b="b" t="t" l="l"/>
            <a:pathLst>
              <a:path h="5465964" w="5309234">
                <a:moveTo>
                  <a:pt x="0" y="0"/>
                </a:moveTo>
                <a:lnTo>
                  <a:pt x="5309234" y="0"/>
                </a:lnTo>
                <a:lnTo>
                  <a:pt x="5309234" y="5465964"/>
                </a:lnTo>
                <a:lnTo>
                  <a:pt x="0" y="5465964"/>
                </a:lnTo>
                <a:lnTo>
                  <a:pt x="0" y="0"/>
                </a:lnTo>
                <a:close/>
              </a:path>
            </a:pathLst>
          </a:custGeom>
          <a:blipFill>
            <a:blip r:embed="rId4"/>
            <a:stretch>
              <a:fillRect l="0" t="0" r="0" b="0"/>
            </a:stretch>
          </a:blipFill>
        </p:spPr>
      </p:sp>
      <p:sp>
        <p:nvSpPr>
          <p:cNvPr name="Freeform 7" id="7"/>
          <p:cNvSpPr/>
          <p:nvPr/>
        </p:nvSpPr>
        <p:spPr>
          <a:xfrm flipH="false" flipV="false" rot="0">
            <a:off x="-317430" y="7660946"/>
            <a:ext cx="18613297" cy="3022078"/>
          </a:xfrm>
          <a:custGeom>
            <a:avLst/>
            <a:gdLst/>
            <a:ahLst/>
            <a:cxnLst/>
            <a:rect r="r" b="b" t="t" l="l"/>
            <a:pathLst>
              <a:path h="3022078" w="18613297">
                <a:moveTo>
                  <a:pt x="0" y="0"/>
                </a:moveTo>
                <a:lnTo>
                  <a:pt x="18613297" y="0"/>
                </a:lnTo>
                <a:lnTo>
                  <a:pt x="18613297" y="3022077"/>
                </a:lnTo>
                <a:lnTo>
                  <a:pt x="0" y="3022077"/>
                </a:lnTo>
                <a:lnTo>
                  <a:pt x="0" y="0"/>
                </a:lnTo>
                <a:close/>
              </a:path>
            </a:pathLst>
          </a:custGeom>
          <a:blipFill>
            <a:blip r:embed="rId5"/>
            <a:stretch>
              <a:fillRect l="-158" t="0" r="-158" b="-6838"/>
            </a:stretch>
          </a:blipFill>
        </p:spPr>
      </p:sp>
      <p:sp>
        <p:nvSpPr>
          <p:cNvPr name="Freeform 11" id="11"/>
          <p:cNvSpPr/>
          <p:nvPr/>
        </p:nvSpPr>
        <p:spPr>
          <a:xfrm flipH="false" flipV="false" rot="0">
            <a:off x="681269" y="7470446"/>
            <a:ext cx="6083710" cy="4114800"/>
          </a:xfrm>
          <a:custGeom>
            <a:avLst/>
            <a:gdLst/>
            <a:ahLst/>
            <a:cxnLst/>
            <a:rect r="r" b="b" t="t" l="l"/>
            <a:pathLst>
              <a:path h="4114800" w="6083710">
                <a:moveTo>
                  <a:pt x="0" y="0"/>
                </a:moveTo>
                <a:lnTo>
                  <a:pt x="6083709" y="0"/>
                </a:lnTo>
                <a:lnTo>
                  <a:pt x="6083709" y="4114800"/>
                </a:lnTo>
                <a:lnTo>
                  <a:pt x="0" y="4114800"/>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name="Freeform 13" id="13"/>
          <p:cNvSpPr/>
          <p:nvPr/>
        </p:nvSpPr>
        <p:spPr>
          <a:xfrm flipH="false" flipV="false" rot="0">
            <a:off x="9549673" y="7660946"/>
            <a:ext cx="6083710" cy="4114800"/>
          </a:xfrm>
          <a:custGeom>
            <a:avLst/>
            <a:gdLst/>
            <a:ahLst/>
            <a:cxnLst/>
            <a:rect r="r" b="b" t="t" l="l"/>
            <a:pathLst>
              <a:path h="4114800" w="6083710">
                <a:moveTo>
                  <a:pt x="0" y="0"/>
                </a:moveTo>
                <a:lnTo>
                  <a:pt x="6083710" y="0"/>
                </a:lnTo>
                <a:lnTo>
                  <a:pt x="6083710" y="4114800"/>
                </a:lnTo>
                <a:lnTo>
                  <a:pt x="0" y="4114800"/>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id="14" name="Panel"/>
          <p:cNvSpPr/>
          <p:nvPr/>
        </p:nvSpPr>
        <p:spPr>
          <a:xfrm>
            <a:off x="914400" y="731520"/>
            <a:ext cx="16459200" cy="6400800"/>
          </a:xfrm>
          <a:prstGeom prst="roundRect">
            <a:avLst>
              <a:gd name="adj" fmla="val 5000"/>
            </a:avLst>
          </a:prstGeom>
          <a:solidFill>
            <a:srgbClr val="0A2540">
              <a:alpha val="8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Judul"/>
          <p:cNvSpPr txBox="1"/>
          <p:nvPr/>
        </p:nvSpPr>
        <p:spPr>
          <a:xfrm>
            <a:off x="1508760" y="1005840"/>
            <a:ext cx="15270480" cy="1188720"/>
          </a:xfrm>
          <a:prstGeom prst="rect">
            <a:avLst/>
          </a:prstGeom>
          <a:noFill/>
        </p:spPr>
        <p:txBody>
          <a:bodyPr wrap="square" lIns="0" rIns="0" tIns="0" bIns="0" anchor="t">
            <a:spAutoFit/>
          </a:bodyPr>
          <a:lstStyle/>
          <a:p>
            <a:pPr algn="l">
              <a:spcAft>
                <a:spcPts val="0"/>
              </a:spcAft>
            </a:pPr>
            <a:r>
              <a:rPr sz="6800">
                <a:solidFill>
                  <a:srgbClr val="F7B125"/>
                </a:solidFill>
                <a:latin typeface="Playpen Sans Bold"/>
              </a:rPr>
              <a:t>Stasiun Persiapan</a:t>
            </a:r>
          </a:p>
        </p:txBody>
      </p:sp>
      <p:sp>
        <p:nvSpPr>
          <p:cNvPr id="16" name="Stasiun 1"/>
          <p:cNvSpPr/>
          <p:nvPr/>
        </p:nvSpPr>
        <p:spPr>
          <a:xfrm>
            <a:off x="1508760" y="2240280"/>
            <a:ext cx="4785360" cy="3566160"/>
          </a:xfrm>
          <a:prstGeom prst="roundRect">
            <a:avLst>
              <a:gd name="adj" fmla="val 6000"/>
            </a:avLst>
          </a:prstGeom>
          <a:solidFill>
            <a:srgbClr val="14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Isi stasiun 1"/>
          <p:cNvSpPr txBox="1"/>
          <p:nvPr/>
        </p:nvSpPr>
        <p:spPr>
          <a:xfrm>
            <a:off x="1783080" y="2514600"/>
            <a:ext cx="4236720" cy="3108960"/>
          </a:xfrm>
          <a:prstGeom prst="rect">
            <a:avLst/>
          </a:prstGeom>
          <a:noFill/>
        </p:spPr>
        <p:txBody>
          <a:bodyPr wrap="square" lIns="0" rIns="0" tIns="0" bIns="0" anchor="t">
            <a:spAutoFit/>
          </a:bodyPr>
          <a:lstStyle/>
          <a:p>
            <a:pPr algn="l">
              <a:spcAft>
                <a:spcPts val="1200"/>
              </a:spcAft>
            </a:pPr>
            <a:r>
              <a:rPr sz="3200">
                <a:solidFill>
                  <a:srgbClr val="F7B125"/>
                </a:solidFill>
                <a:latin typeface="Playpen Sans Bold"/>
              </a:rPr>
              <a:t>A · Google dan Colab</a:t>
            </a:r>
          </a:p>
          <a:p>
            <a:pPr algn="l">
              <a:spcAft>
                <a:spcPts val="0"/>
              </a:spcAft>
            </a:pPr>
            <a:r>
              <a:rPr sz="2800">
                <a:solidFill>
                  <a:srgbClr val="FFFFFF"/>
                </a:solidFill>
                <a:latin typeface="Playpen Sans"/>
              </a:rPr>
              <a:t>Akun Google masuk. Colab terbuka dan print("halo") berjalan.</a:t>
            </a:r>
          </a:p>
        </p:txBody>
      </p:sp>
      <p:sp>
        <p:nvSpPr>
          <p:cNvPr id="18" name="Stasiun 2"/>
          <p:cNvSpPr/>
          <p:nvPr/>
        </p:nvSpPr>
        <p:spPr>
          <a:xfrm>
            <a:off x="6751320" y="2240280"/>
            <a:ext cx="4785360" cy="3566160"/>
          </a:xfrm>
          <a:prstGeom prst="roundRect">
            <a:avLst>
              <a:gd name="adj" fmla="val 6000"/>
            </a:avLst>
          </a:prstGeom>
          <a:solidFill>
            <a:srgbClr val="14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Isi stasiun 2"/>
          <p:cNvSpPr txBox="1"/>
          <p:nvPr/>
        </p:nvSpPr>
        <p:spPr>
          <a:xfrm>
            <a:off x="7025639" y="2514600"/>
            <a:ext cx="4236720" cy="3108960"/>
          </a:xfrm>
          <a:prstGeom prst="rect">
            <a:avLst/>
          </a:prstGeom>
          <a:noFill/>
        </p:spPr>
        <p:txBody>
          <a:bodyPr wrap="square" lIns="0" rIns="0" tIns="0" bIns="0" anchor="t">
            <a:spAutoFit/>
          </a:bodyPr>
          <a:lstStyle/>
          <a:p>
            <a:pPr algn="l">
              <a:spcAft>
                <a:spcPts val="1200"/>
              </a:spcAft>
            </a:pPr>
            <a:r>
              <a:rPr sz="3200">
                <a:solidFill>
                  <a:srgbClr val="F7B125"/>
                </a:solidFill>
                <a:latin typeface="Playpen Sans Bold"/>
              </a:rPr>
              <a:t>B · GitHub</a:t>
            </a:r>
          </a:p>
          <a:p>
            <a:pPr algn="l">
              <a:spcAft>
                <a:spcPts val="0"/>
              </a:spcAft>
            </a:pPr>
            <a:r>
              <a:rPr sz="2800">
                <a:solidFill>
                  <a:srgbClr val="FFFFFF"/>
                </a:solidFill>
                <a:latin typeface="Playpen Sans"/>
              </a:rPr>
              <a:t>Akun GitHub dibuat. Username diberikan ke mentor.</a:t>
            </a:r>
          </a:p>
        </p:txBody>
      </p:sp>
      <p:sp>
        <p:nvSpPr>
          <p:cNvPr id="20" name="Stasiun 3"/>
          <p:cNvSpPr/>
          <p:nvPr/>
        </p:nvSpPr>
        <p:spPr>
          <a:xfrm>
            <a:off x="11993880" y="2240280"/>
            <a:ext cx="4785360" cy="3566160"/>
          </a:xfrm>
          <a:prstGeom prst="roundRect">
            <a:avLst>
              <a:gd name="adj" fmla="val 6000"/>
            </a:avLst>
          </a:prstGeom>
          <a:solidFill>
            <a:srgbClr val="14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Isi stasiun 3"/>
          <p:cNvSpPr txBox="1"/>
          <p:nvPr/>
        </p:nvSpPr>
        <p:spPr>
          <a:xfrm>
            <a:off x="12268200" y="2514600"/>
            <a:ext cx="4236720" cy="3108960"/>
          </a:xfrm>
          <a:prstGeom prst="rect">
            <a:avLst/>
          </a:prstGeom>
          <a:noFill/>
        </p:spPr>
        <p:txBody>
          <a:bodyPr wrap="square" lIns="0" rIns="0" tIns="0" bIns="0" anchor="t">
            <a:spAutoFit/>
          </a:bodyPr>
          <a:lstStyle/>
          <a:p>
            <a:pPr algn="l">
              <a:spcAft>
                <a:spcPts val="1200"/>
              </a:spcAft>
            </a:pPr>
            <a:r>
              <a:rPr sz="3200">
                <a:solidFill>
                  <a:srgbClr val="F7B125"/>
                </a:solidFill>
                <a:latin typeface="Playpen Sans Bold"/>
              </a:rPr>
              <a:t>C · Buku</a:t>
            </a:r>
          </a:p>
          <a:p>
            <a:pPr algn="l">
              <a:spcAft>
                <a:spcPts val="0"/>
              </a:spcAft>
            </a:pPr>
            <a:r>
              <a:rPr sz="2800">
                <a:solidFill>
                  <a:srgbClr val="FFFFFF"/>
                </a:solidFill>
                <a:latin typeface="Playpen Sans"/>
              </a:rPr>
              <a:t>Kedua buku terunduh dan terbuka di perangkatmu.</a:t>
            </a:r>
          </a:p>
        </p:txBody>
      </p:sp>
      <p:sp>
        <p:nvSpPr>
          <p:cNvPr id="22" name="Catatan"/>
          <p:cNvSpPr txBox="1"/>
          <p:nvPr/>
        </p:nvSpPr>
        <p:spPr>
          <a:xfrm>
            <a:off x="1508760" y="6035040"/>
            <a:ext cx="15270480" cy="822960"/>
          </a:xfrm>
          <a:prstGeom prst="rect">
            <a:avLst/>
          </a:prstGeom>
          <a:noFill/>
        </p:spPr>
        <p:txBody>
          <a:bodyPr wrap="square" lIns="0" rIns="0" tIns="0" bIns="0" anchor="t">
            <a:spAutoFit/>
          </a:bodyPr>
          <a:lstStyle/>
          <a:p>
            <a:pPr algn="l">
              <a:spcAft>
                <a:spcPts val="0"/>
              </a:spcAft>
            </a:pPr>
            <a:r>
              <a:rPr sz="2800">
                <a:solidFill>
                  <a:srgbClr val="F7B125"/>
                </a:solidFill>
                <a:latin typeface="Playpen Sans Bold"/>
              </a:rPr>
              <a:t>10 menit. Sambil menunggu, buka situs kelas di HP: game berikutnya ada di sana.</a:t>
            </a:r>
          </a:p>
        </p:txBody>
      </p:sp>
    </p:spTree>
  </p:cSld>
  <p:clrMapOvr>
    <a:masterClrMapping/>
  </p:clrMapOvr>
</p:sld>
</file>

<file path=ppt/slides/slide2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67928" r="0" b="-67928"/>
            </a:stretch>
          </a:blipFill>
        </p:spPr>
      </p:sp>
      <p:sp>
        <p:nvSpPr>
          <p:cNvPr name="Freeform 3" id="3"/>
          <p:cNvSpPr/>
          <p:nvPr/>
        </p:nvSpPr>
        <p:spPr>
          <a:xfrm flipH="false" flipV="false" rot="0">
            <a:off x="12533569" y="-21055"/>
            <a:ext cx="5762298" cy="6532600"/>
          </a:xfrm>
          <a:custGeom>
            <a:avLst/>
            <a:gdLst/>
            <a:ahLst/>
            <a:cxnLst/>
            <a:rect r="r" b="b" t="t" l="l"/>
            <a:pathLst>
              <a:path h="6532600" w="5762298">
                <a:moveTo>
                  <a:pt x="0" y="0"/>
                </a:moveTo>
                <a:lnTo>
                  <a:pt x="5762298" y="0"/>
                </a:lnTo>
                <a:lnTo>
                  <a:pt x="5762298" y="6532600"/>
                </a:lnTo>
                <a:lnTo>
                  <a:pt x="0" y="6532600"/>
                </a:lnTo>
                <a:lnTo>
                  <a:pt x="0" y="0"/>
                </a:lnTo>
                <a:close/>
              </a:path>
            </a:pathLst>
          </a:custGeom>
          <a:blipFill>
            <a:blip r:embed="rId3"/>
            <a:stretch>
              <a:fillRect l="0" t="0" r="0" b="0"/>
            </a:stretch>
          </a:blipFill>
        </p:spPr>
      </p:sp>
      <p:sp>
        <p:nvSpPr>
          <p:cNvPr name="Freeform 4" id="4"/>
          <p:cNvSpPr/>
          <p:nvPr/>
        </p:nvSpPr>
        <p:spPr>
          <a:xfrm flipH="false" flipV="false" rot="0">
            <a:off x="12978766" y="2004481"/>
            <a:ext cx="5309234" cy="5465964"/>
          </a:xfrm>
          <a:custGeom>
            <a:avLst/>
            <a:gdLst/>
            <a:ahLst/>
            <a:cxnLst/>
            <a:rect r="r" b="b" t="t" l="l"/>
            <a:pathLst>
              <a:path h="5465964" w="5309234">
                <a:moveTo>
                  <a:pt x="0" y="0"/>
                </a:moveTo>
                <a:lnTo>
                  <a:pt x="5309234" y="0"/>
                </a:lnTo>
                <a:lnTo>
                  <a:pt x="5309234" y="5465965"/>
                </a:lnTo>
                <a:lnTo>
                  <a:pt x="0" y="5465965"/>
                </a:lnTo>
                <a:lnTo>
                  <a:pt x="0" y="0"/>
                </a:lnTo>
                <a:close/>
              </a:path>
            </a:pathLst>
          </a:custGeom>
          <a:blipFill>
            <a:blip r:embed="rId4"/>
            <a:stretch>
              <a:fillRect l="0" t="0" r="0" b="0"/>
            </a:stretch>
          </a:blipFill>
        </p:spPr>
      </p:sp>
      <p:sp>
        <p:nvSpPr>
          <p:cNvPr name="Freeform 5" id="5"/>
          <p:cNvSpPr/>
          <p:nvPr/>
        </p:nvSpPr>
        <p:spPr>
          <a:xfrm flipH="true" flipV="false" rot="0">
            <a:off x="-29416" y="0"/>
            <a:ext cx="5762298" cy="6532600"/>
          </a:xfrm>
          <a:custGeom>
            <a:avLst/>
            <a:gdLst/>
            <a:ahLst/>
            <a:cxnLst/>
            <a:rect r="r" b="b" t="t" l="l"/>
            <a:pathLst>
              <a:path h="6532600" w="5762298">
                <a:moveTo>
                  <a:pt x="5762298" y="0"/>
                </a:moveTo>
                <a:lnTo>
                  <a:pt x="0" y="0"/>
                </a:lnTo>
                <a:lnTo>
                  <a:pt x="0" y="6532600"/>
                </a:lnTo>
                <a:lnTo>
                  <a:pt x="5762298" y="6532600"/>
                </a:lnTo>
                <a:lnTo>
                  <a:pt x="5762298" y="0"/>
                </a:lnTo>
                <a:close/>
              </a:path>
            </a:pathLst>
          </a:custGeom>
          <a:blipFill>
            <a:blip r:embed="rId3"/>
            <a:stretch>
              <a:fillRect l="0" t="0" r="0" b="0"/>
            </a:stretch>
          </a:blipFill>
        </p:spPr>
      </p:sp>
      <p:sp>
        <p:nvSpPr>
          <p:cNvPr name="Freeform 6" id="6"/>
          <p:cNvSpPr/>
          <p:nvPr/>
        </p:nvSpPr>
        <p:spPr>
          <a:xfrm flipH="false" flipV="false" rot="0">
            <a:off x="423648" y="2410518"/>
            <a:ext cx="5309234" cy="5465964"/>
          </a:xfrm>
          <a:custGeom>
            <a:avLst/>
            <a:gdLst/>
            <a:ahLst/>
            <a:cxnLst/>
            <a:rect r="r" b="b" t="t" l="l"/>
            <a:pathLst>
              <a:path h="5465964" w="5309234">
                <a:moveTo>
                  <a:pt x="0" y="0"/>
                </a:moveTo>
                <a:lnTo>
                  <a:pt x="5309234" y="0"/>
                </a:lnTo>
                <a:lnTo>
                  <a:pt x="5309234" y="5465964"/>
                </a:lnTo>
                <a:lnTo>
                  <a:pt x="0" y="5465964"/>
                </a:lnTo>
                <a:lnTo>
                  <a:pt x="0" y="0"/>
                </a:lnTo>
                <a:close/>
              </a:path>
            </a:pathLst>
          </a:custGeom>
          <a:blipFill>
            <a:blip r:embed="rId4"/>
            <a:stretch>
              <a:fillRect l="0" t="0" r="0" b="0"/>
            </a:stretch>
          </a:blipFill>
        </p:spPr>
      </p:sp>
      <p:sp>
        <p:nvSpPr>
          <p:cNvPr name="Freeform 7" id="7"/>
          <p:cNvSpPr/>
          <p:nvPr/>
        </p:nvSpPr>
        <p:spPr>
          <a:xfrm flipH="false" flipV="false" rot="0">
            <a:off x="-317430" y="7660946"/>
            <a:ext cx="18613297" cy="3022078"/>
          </a:xfrm>
          <a:custGeom>
            <a:avLst/>
            <a:gdLst/>
            <a:ahLst/>
            <a:cxnLst/>
            <a:rect r="r" b="b" t="t" l="l"/>
            <a:pathLst>
              <a:path h="3022078" w="18613297">
                <a:moveTo>
                  <a:pt x="0" y="0"/>
                </a:moveTo>
                <a:lnTo>
                  <a:pt x="18613297" y="0"/>
                </a:lnTo>
                <a:lnTo>
                  <a:pt x="18613297" y="3022077"/>
                </a:lnTo>
                <a:lnTo>
                  <a:pt x="0" y="3022077"/>
                </a:lnTo>
                <a:lnTo>
                  <a:pt x="0" y="0"/>
                </a:lnTo>
                <a:close/>
              </a:path>
            </a:pathLst>
          </a:custGeom>
          <a:blipFill>
            <a:blip r:embed="rId5"/>
            <a:stretch>
              <a:fillRect l="-158" t="0" r="-158" b="-6838"/>
            </a:stretch>
          </a:blipFill>
        </p:spPr>
      </p:sp>
      <p:sp>
        <p:nvSpPr>
          <p:cNvPr name="Freeform 11" id="11"/>
          <p:cNvSpPr/>
          <p:nvPr/>
        </p:nvSpPr>
        <p:spPr>
          <a:xfrm flipH="false" flipV="false" rot="0">
            <a:off x="681269" y="7470446"/>
            <a:ext cx="6083710" cy="4114800"/>
          </a:xfrm>
          <a:custGeom>
            <a:avLst/>
            <a:gdLst/>
            <a:ahLst/>
            <a:cxnLst/>
            <a:rect r="r" b="b" t="t" l="l"/>
            <a:pathLst>
              <a:path h="4114800" w="6083710">
                <a:moveTo>
                  <a:pt x="0" y="0"/>
                </a:moveTo>
                <a:lnTo>
                  <a:pt x="6083709" y="0"/>
                </a:lnTo>
                <a:lnTo>
                  <a:pt x="6083709" y="4114800"/>
                </a:lnTo>
                <a:lnTo>
                  <a:pt x="0" y="4114800"/>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name="Freeform 13" id="13"/>
          <p:cNvSpPr/>
          <p:nvPr/>
        </p:nvSpPr>
        <p:spPr>
          <a:xfrm flipH="false" flipV="false" rot="0">
            <a:off x="9549673" y="7660946"/>
            <a:ext cx="6083710" cy="4114800"/>
          </a:xfrm>
          <a:custGeom>
            <a:avLst/>
            <a:gdLst/>
            <a:ahLst/>
            <a:cxnLst/>
            <a:rect r="r" b="b" t="t" l="l"/>
            <a:pathLst>
              <a:path h="4114800" w="6083710">
                <a:moveTo>
                  <a:pt x="0" y="0"/>
                </a:moveTo>
                <a:lnTo>
                  <a:pt x="6083710" y="0"/>
                </a:lnTo>
                <a:lnTo>
                  <a:pt x="6083710" y="4114800"/>
                </a:lnTo>
                <a:lnTo>
                  <a:pt x="0" y="4114800"/>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id="14" name="Panel"/>
          <p:cNvSpPr/>
          <p:nvPr/>
        </p:nvSpPr>
        <p:spPr>
          <a:xfrm>
            <a:off x="914400" y="731520"/>
            <a:ext cx="16459200" cy="6675120"/>
          </a:xfrm>
          <a:prstGeom prst="roundRect">
            <a:avLst>
              <a:gd name="adj" fmla="val 5000"/>
            </a:avLst>
          </a:prstGeom>
          <a:solidFill>
            <a:srgbClr val="0A2540">
              <a:alpha val="8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Judul"/>
          <p:cNvSpPr txBox="1"/>
          <p:nvPr/>
        </p:nvSpPr>
        <p:spPr>
          <a:xfrm>
            <a:off x="1508760" y="914400"/>
            <a:ext cx="15270480" cy="1097280"/>
          </a:xfrm>
          <a:prstGeom prst="rect">
            <a:avLst/>
          </a:prstGeom>
          <a:noFill/>
        </p:spPr>
        <p:txBody>
          <a:bodyPr wrap="square" lIns="0" rIns="0" tIns="0" bIns="0" anchor="t">
            <a:spAutoFit/>
          </a:bodyPr>
          <a:lstStyle/>
          <a:p>
            <a:pPr algn="l">
              <a:spcAft>
                <a:spcPts val="0"/>
              </a:spcAft>
            </a:pPr>
            <a:r>
              <a:rPr sz="5400">
                <a:solidFill>
                  <a:srgbClr val="F7B125"/>
                </a:solidFill>
                <a:latin typeface="Playpen Sans Bold"/>
              </a:rPr>
              <a:t>Flappy Komodo: Manusia Lawan Evolusi</a:t>
            </a:r>
          </a:p>
        </p:txBody>
      </p:sp>
      <p:sp>
        <p:nvSpPr>
          <p:cNvPr id="16" name="Kartu 1"/>
          <p:cNvSpPr/>
          <p:nvPr/>
        </p:nvSpPr>
        <p:spPr>
          <a:xfrm>
            <a:off x="1508760" y="2148840"/>
            <a:ext cx="4876800" cy="3931920"/>
          </a:xfrm>
          <a:prstGeom prst="roundRect">
            <a:avLst>
              <a:gd name="adj" fmla="val 5000"/>
            </a:avLst>
          </a:prstGeom>
          <a:solidFill>
            <a:srgbClr val="14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ag Babak 1"/>
          <p:cNvSpPr/>
          <p:nvPr/>
        </p:nvSpPr>
        <p:spPr>
          <a:xfrm>
            <a:off x="1737360" y="2331720"/>
            <a:ext cx="4419600" cy="640080"/>
          </a:xfrm>
          <a:prstGeom prst="roundRect">
            <a:avLst>
              <a:gd name="adj" fmla="val 50000"/>
            </a:avLst>
          </a:prstGeom>
          <a:solidFill>
            <a:srgbClr val="FF8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ks tag Babak 1"/>
          <p:cNvSpPr txBox="1"/>
          <p:nvPr/>
        </p:nvSpPr>
        <p:spPr>
          <a:xfrm>
            <a:off x="1737360" y="2395728"/>
            <a:ext cx="4419600" cy="548640"/>
          </a:xfrm>
          <a:prstGeom prst="rect">
            <a:avLst/>
          </a:prstGeom>
          <a:noFill/>
        </p:spPr>
        <p:txBody>
          <a:bodyPr wrap="square" lIns="0" rIns="0" tIns="0" bIns="0" anchor="t">
            <a:spAutoFit/>
          </a:bodyPr>
          <a:lstStyle/>
          <a:p>
            <a:pPr algn="ctr">
              <a:spcAft>
                <a:spcPts val="0"/>
              </a:spcAft>
            </a:pPr>
            <a:r>
              <a:rPr sz="2200">
                <a:solidFill>
                  <a:srgbClr val="0A2540"/>
                </a:solidFill>
                <a:latin typeface="Playpen Sans Bold"/>
              </a:rPr>
              <a:t>Babak 1</a:t>
            </a:r>
          </a:p>
        </p:txBody>
      </p:sp>
      <p:sp>
        <p:nvSpPr>
          <p:cNvPr id="19" name="Isi kartu 1"/>
          <p:cNvSpPr txBox="1"/>
          <p:nvPr/>
        </p:nvSpPr>
        <p:spPr>
          <a:xfrm>
            <a:off x="1783080" y="3154680"/>
            <a:ext cx="4328160" cy="2788920"/>
          </a:xfrm>
          <a:prstGeom prst="rect">
            <a:avLst/>
          </a:prstGeom>
          <a:noFill/>
        </p:spPr>
        <p:txBody>
          <a:bodyPr wrap="square" lIns="0" rIns="0" tIns="0" bIns="0" anchor="t">
            <a:spAutoFit/>
          </a:bodyPr>
          <a:lstStyle/>
          <a:p>
            <a:pPr algn="l">
              <a:spcAft>
                <a:spcPts val="800"/>
              </a:spcAft>
            </a:pPr>
            <a:r>
              <a:rPr sz="3000">
                <a:solidFill>
                  <a:srgbClr val="FFFFFF"/>
                </a:solidFill>
                <a:latin typeface="Playpen Sans Bold"/>
              </a:rPr>
              <a:t>Kamu bermain</a:t>
            </a:r>
          </a:p>
          <a:p>
            <a:pPr algn="l">
              <a:spcAft>
                <a:spcPts val="800"/>
              </a:spcAft>
            </a:pPr>
            <a:r>
              <a:rPr sz="2500">
                <a:solidFill>
                  <a:srgbClr val="FFFFFF"/>
                </a:solidFill>
                <a:latin typeface="Playpen Sans"/>
              </a:rPr>
              <a:t>Di HP. Lewati pipa sebanyak mungkin.</a:t>
            </a:r>
          </a:p>
          <a:p>
            <a:pPr algn="l">
              <a:spcAft>
                <a:spcPts val="0"/>
              </a:spcAft>
            </a:pPr>
            <a:r>
              <a:rPr sz="2500">
                <a:solidFill>
                  <a:srgbClr val="F7B125"/>
                </a:solidFill>
                <a:latin typeface="Playpen Sans"/>
              </a:rPr>
              <a:t>10 menit</a:t>
            </a:r>
          </a:p>
        </p:txBody>
      </p:sp>
      <p:sp>
        <p:nvSpPr>
          <p:cNvPr id="20" name="Kartu 2"/>
          <p:cNvSpPr/>
          <p:nvPr/>
        </p:nvSpPr>
        <p:spPr>
          <a:xfrm>
            <a:off x="6705599" y="2148840"/>
            <a:ext cx="4876800" cy="3931920"/>
          </a:xfrm>
          <a:prstGeom prst="roundRect">
            <a:avLst>
              <a:gd name="adj" fmla="val 5000"/>
            </a:avLst>
          </a:prstGeom>
          <a:solidFill>
            <a:srgbClr val="14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ag Babak 2"/>
          <p:cNvSpPr/>
          <p:nvPr/>
        </p:nvSpPr>
        <p:spPr>
          <a:xfrm>
            <a:off x="6934199" y="2331720"/>
            <a:ext cx="4419600" cy="640080"/>
          </a:xfrm>
          <a:prstGeom prst="roundRect">
            <a:avLst>
              <a:gd name="adj" fmla="val 50000"/>
            </a:avLst>
          </a:prstGeom>
          <a:solidFill>
            <a:srgbClr val="F7B1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ks tag Babak 2"/>
          <p:cNvSpPr txBox="1"/>
          <p:nvPr/>
        </p:nvSpPr>
        <p:spPr>
          <a:xfrm>
            <a:off x="6934199" y="2395728"/>
            <a:ext cx="4419600" cy="548640"/>
          </a:xfrm>
          <a:prstGeom prst="rect">
            <a:avLst/>
          </a:prstGeom>
          <a:noFill/>
        </p:spPr>
        <p:txBody>
          <a:bodyPr wrap="square" lIns="0" rIns="0" tIns="0" bIns="0" anchor="t">
            <a:spAutoFit/>
          </a:bodyPr>
          <a:lstStyle/>
          <a:p>
            <a:pPr algn="ctr">
              <a:spcAft>
                <a:spcPts val="0"/>
              </a:spcAft>
            </a:pPr>
            <a:r>
              <a:rPr sz="2200">
                <a:solidFill>
                  <a:srgbClr val="0A2540"/>
                </a:solidFill>
                <a:latin typeface="Playpen Sans Bold"/>
              </a:rPr>
              <a:t>Babak 2</a:t>
            </a:r>
          </a:p>
        </p:txBody>
      </p:sp>
      <p:sp>
        <p:nvSpPr>
          <p:cNvPr id="23" name="Isi kartu 2"/>
          <p:cNvSpPr txBox="1"/>
          <p:nvPr/>
        </p:nvSpPr>
        <p:spPr>
          <a:xfrm>
            <a:off x="6979919" y="3154680"/>
            <a:ext cx="4328160" cy="2788920"/>
          </a:xfrm>
          <a:prstGeom prst="rect">
            <a:avLst/>
          </a:prstGeom>
          <a:noFill/>
        </p:spPr>
        <p:txBody>
          <a:bodyPr wrap="square" lIns="0" rIns="0" tIns="0" bIns="0" anchor="t">
            <a:spAutoFit/>
          </a:bodyPr>
          <a:lstStyle/>
          <a:p>
            <a:pPr algn="l">
              <a:spcAft>
                <a:spcPts val="800"/>
              </a:spcAft>
            </a:pPr>
            <a:r>
              <a:rPr sz="3000">
                <a:solidFill>
                  <a:srgbClr val="FFFFFF"/>
                </a:solidFill>
                <a:latin typeface="Playpen Sans Bold"/>
              </a:rPr>
              <a:t>Evolusi bermain</a:t>
            </a:r>
          </a:p>
          <a:p>
            <a:pPr algn="l">
              <a:spcAft>
                <a:spcPts val="800"/>
              </a:spcAft>
            </a:pPr>
            <a:r>
              <a:rPr sz="2500">
                <a:solidFill>
                  <a:srgbClr val="FFFFFF"/>
                </a:solidFill>
                <a:latin typeface="Playpen Sans"/>
              </a:rPr>
              <a:t>Di proyektor. 50 komodo belajar sendiri.</a:t>
            </a:r>
          </a:p>
          <a:p>
            <a:pPr algn="l">
              <a:spcAft>
                <a:spcPts val="0"/>
              </a:spcAft>
            </a:pPr>
            <a:r>
              <a:rPr sz="2500">
                <a:solidFill>
                  <a:srgbClr val="F7B125"/>
                </a:solidFill>
                <a:latin typeface="Playpen Sans"/>
              </a:rPr>
              <a:t>10 menit</a:t>
            </a:r>
          </a:p>
        </p:txBody>
      </p:sp>
      <p:sp>
        <p:nvSpPr>
          <p:cNvPr id="24" name="Kartu 3"/>
          <p:cNvSpPr/>
          <p:nvPr/>
        </p:nvSpPr>
        <p:spPr>
          <a:xfrm>
            <a:off x="11902440" y="2148840"/>
            <a:ext cx="4876800" cy="3931920"/>
          </a:xfrm>
          <a:prstGeom prst="roundRect">
            <a:avLst>
              <a:gd name="adj" fmla="val 5000"/>
            </a:avLst>
          </a:prstGeom>
          <a:solidFill>
            <a:srgbClr val="14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ag Babak 3"/>
          <p:cNvSpPr/>
          <p:nvPr/>
        </p:nvSpPr>
        <p:spPr>
          <a:xfrm>
            <a:off x="12131040" y="2331720"/>
            <a:ext cx="4419600" cy="640080"/>
          </a:xfrm>
          <a:prstGeom prst="roundRect">
            <a:avLst>
              <a:gd name="adj" fmla="val 50000"/>
            </a:avLst>
          </a:prstGeom>
          <a:solidFill>
            <a:srgbClr val="3DD6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ks tag Babak 3"/>
          <p:cNvSpPr txBox="1"/>
          <p:nvPr/>
        </p:nvSpPr>
        <p:spPr>
          <a:xfrm>
            <a:off x="12131040" y="2395728"/>
            <a:ext cx="4419600" cy="548640"/>
          </a:xfrm>
          <a:prstGeom prst="rect">
            <a:avLst/>
          </a:prstGeom>
          <a:noFill/>
        </p:spPr>
        <p:txBody>
          <a:bodyPr wrap="square" lIns="0" rIns="0" tIns="0" bIns="0" anchor="t">
            <a:spAutoFit/>
          </a:bodyPr>
          <a:lstStyle/>
          <a:p>
            <a:pPr algn="ctr">
              <a:spcAft>
                <a:spcPts val="0"/>
              </a:spcAft>
            </a:pPr>
            <a:r>
              <a:rPr sz="2200">
                <a:solidFill>
                  <a:srgbClr val="0A2540"/>
                </a:solidFill>
                <a:latin typeface="Playpen Sans Bold"/>
              </a:rPr>
              <a:t>Babak 3</a:t>
            </a:r>
          </a:p>
        </p:txBody>
      </p:sp>
      <p:sp>
        <p:nvSpPr>
          <p:cNvPr id="27" name="Isi kartu 3"/>
          <p:cNvSpPr txBox="1"/>
          <p:nvPr/>
        </p:nvSpPr>
        <p:spPr>
          <a:xfrm>
            <a:off x="12176760" y="3154680"/>
            <a:ext cx="4328160" cy="2788920"/>
          </a:xfrm>
          <a:prstGeom prst="rect">
            <a:avLst/>
          </a:prstGeom>
          <a:noFill/>
        </p:spPr>
        <p:txBody>
          <a:bodyPr wrap="square" lIns="0" rIns="0" tIns="0" bIns="0" anchor="t">
            <a:spAutoFit/>
          </a:bodyPr>
          <a:lstStyle/>
          <a:p>
            <a:pPr algn="l">
              <a:spcAft>
                <a:spcPts val="800"/>
              </a:spcAft>
            </a:pPr>
            <a:r>
              <a:rPr sz="3000">
                <a:solidFill>
                  <a:srgbClr val="FFFFFF"/>
                </a:solidFill>
                <a:latin typeface="Playpen Sans Bold"/>
              </a:rPr>
              <a:t>Kamu jadi pelatih</a:t>
            </a:r>
          </a:p>
          <a:p>
            <a:pPr algn="l">
              <a:spcAft>
                <a:spcPts val="800"/>
              </a:spcAft>
            </a:pPr>
            <a:r>
              <a:rPr sz="2500">
                <a:solidFill>
                  <a:srgbClr val="FFFFFF"/>
                </a:solidFill>
                <a:latin typeface="Playpen Sans"/>
              </a:rPr>
              <a:t>Atur kenop evolusi. Hemat komodo.</a:t>
            </a:r>
          </a:p>
          <a:p>
            <a:pPr algn="l">
              <a:spcAft>
                <a:spcPts val="0"/>
              </a:spcAft>
            </a:pPr>
            <a:r>
              <a:rPr sz="2500">
                <a:solidFill>
                  <a:srgbClr val="F7B125"/>
                </a:solidFill>
                <a:latin typeface="Playpen Sans"/>
              </a:rPr>
              <a:t>15 menit</a:t>
            </a:r>
          </a:p>
        </p:txBody>
      </p:sp>
      <p:sp>
        <p:nvSpPr>
          <p:cNvPr id="28" name="Penutup"/>
          <p:cNvSpPr txBox="1"/>
          <p:nvPr/>
        </p:nvSpPr>
        <p:spPr>
          <a:xfrm>
            <a:off x="1508760" y="6309360"/>
            <a:ext cx="15270480" cy="914400"/>
          </a:xfrm>
          <a:prstGeom prst="rect">
            <a:avLst/>
          </a:prstGeom>
          <a:noFill/>
        </p:spPr>
        <p:txBody>
          <a:bodyPr wrap="square" lIns="0" rIns="0" tIns="0" bIns="0" anchor="t">
            <a:spAutoFit/>
          </a:bodyPr>
          <a:lstStyle/>
          <a:p>
            <a:pPr algn="ctr">
              <a:spcAft>
                <a:spcPts val="0"/>
              </a:spcAft>
            </a:pPr>
            <a:r>
              <a:rPr sz="3000">
                <a:solidFill>
                  <a:srgbClr val="FFFFFF"/>
                </a:solidFill>
                <a:latin typeface="Playpen Sans Bold"/>
              </a:rPr>
              <a:t>Semua orang, dan mesinnya, terbang di lintasan yang sama.</a:t>
            </a:r>
          </a:p>
        </p:txBody>
      </p:sp>
    </p:spTree>
  </p:cSld>
  <p:clrMapOvr>
    <a:masterClrMapping/>
  </p:clrMapOvr>
</p:sld>
</file>

<file path=ppt/slides/slide2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67928" r="0" b="-67928"/>
            </a:stretch>
          </a:blipFill>
        </p:spPr>
      </p:sp>
      <p:sp>
        <p:nvSpPr>
          <p:cNvPr name="Freeform 3" id="3"/>
          <p:cNvSpPr/>
          <p:nvPr/>
        </p:nvSpPr>
        <p:spPr>
          <a:xfrm flipH="false" flipV="false" rot="0">
            <a:off x="12533569" y="-21055"/>
            <a:ext cx="5762298" cy="6532600"/>
          </a:xfrm>
          <a:custGeom>
            <a:avLst/>
            <a:gdLst/>
            <a:ahLst/>
            <a:cxnLst/>
            <a:rect r="r" b="b" t="t" l="l"/>
            <a:pathLst>
              <a:path h="6532600" w="5762298">
                <a:moveTo>
                  <a:pt x="0" y="0"/>
                </a:moveTo>
                <a:lnTo>
                  <a:pt x="5762298" y="0"/>
                </a:lnTo>
                <a:lnTo>
                  <a:pt x="5762298" y="6532600"/>
                </a:lnTo>
                <a:lnTo>
                  <a:pt x="0" y="6532600"/>
                </a:lnTo>
                <a:lnTo>
                  <a:pt x="0" y="0"/>
                </a:lnTo>
                <a:close/>
              </a:path>
            </a:pathLst>
          </a:custGeom>
          <a:blipFill>
            <a:blip r:embed="rId3"/>
            <a:stretch>
              <a:fillRect l="0" t="0" r="0" b="0"/>
            </a:stretch>
          </a:blipFill>
        </p:spPr>
      </p:sp>
      <p:sp>
        <p:nvSpPr>
          <p:cNvPr name="Freeform 4" id="4"/>
          <p:cNvSpPr/>
          <p:nvPr/>
        </p:nvSpPr>
        <p:spPr>
          <a:xfrm flipH="false" flipV="false" rot="0">
            <a:off x="12978766" y="2004481"/>
            <a:ext cx="5309234" cy="5465964"/>
          </a:xfrm>
          <a:custGeom>
            <a:avLst/>
            <a:gdLst/>
            <a:ahLst/>
            <a:cxnLst/>
            <a:rect r="r" b="b" t="t" l="l"/>
            <a:pathLst>
              <a:path h="5465964" w="5309234">
                <a:moveTo>
                  <a:pt x="0" y="0"/>
                </a:moveTo>
                <a:lnTo>
                  <a:pt x="5309234" y="0"/>
                </a:lnTo>
                <a:lnTo>
                  <a:pt x="5309234" y="5465965"/>
                </a:lnTo>
                <a:lnTo>
                  <a:pt x="0" y="5465965"/>
                </a:lnTo>
                <a:lnTo>
                  <a:pt x="0" y="0"/>
                </a:lnTo>
                <a:close/>
              </a:path>
            </a:pathLst>
          </a:custGeom>
          <a:blipFill>
            <a:blip r:embed="rId4"/>
            <a:stretch>
              <a:fillRect l="0" t="0" r="0" b="0"/>
            </a:stretch>
          </a:blipFill>
        </p:spPr>
      </p:sp>
      <p:sp>
        <p:nvSpPr>
          <p:cNvPr name="Freeform 5" id="5"/>
          <p:cNvSpPr/>
          <p:nvPr/>
        </p:nvSpPr>
        <p:spPr>
          <a:xfrm flipH="true" flipV="false" rot="0">
            <a:off x="-29416" y="0"/>
            <a:ext cx="5762298" cy="6532600"/>
          </a:xfrm>
          <a:custGeom>
            <a:avLst/>
            <a:gdLst/>
            <a:ahLst/>
            <a:cxnLst/>
            <a:rect r="r" b="b" t="t" l="l"/>
            <a:pathLst>
              <a:path h="6532600" w="5762298">
                <a:moveTo>
                  <a:pt x="5762298" y="0"/>
                </a:moveTo>
                <a:lnTo>
                  <a:pt x="0" y="0"/>
                </a:lnTo>
                <a:lnTo>
                  <a:pt x="0" y="6532600"/>
                </a:lnTo>
                <a:lnTo>
                  <a:pt x="5762298" y="6532600"/>
                </a:lnTo>
                <a:lnTo>
                  <a:pt x="5762298" y="0"/>
                </a:lnTo>
                <a:close/>
              </a:path>
            </a:pathLst>
          </a:custGeom>
          <a:blipFill>
            <a:blip r:embed="rId3"/>
            <a:stretch>
              <a:fillRect l="0" t="0" r="0" b="0"/>
            </a:stretch>
          </a:blipFill>
        </p:spPr>
      </p:sp>
      <p:sp>
        <p:nvSpPr>
          <p:cNvPr name="Freeform 6" id="6"/>
          <p:cNvSpPr/>
          <p:nvPr/>
        </p:nvSpPr>
        <p:spPr>
          <a:xfrm flipH="false" flipV="false" rot="0">
            <a:off x="423648" y="2410518"/>
            <a:ext cx="5309234" cy="5465964"/>
          </a:xfrm>
          <a:custGeom>
            <a:avLst/>
            <a:gdLst/>
            <a:ahLst/>
            <a:cxnLst/>
            <a:rect r="r" b="b" t="t" l="l"/>
            <a:pathLst>
              <a:path h="5465964" w="5309234">
                <a:moveTo>
                  <a:pt x="0" y="0"/>
                </a:moveTo>
                <a:lnTo>
                  <a:pt x="5309234" y="0"/>
                </a:lnTo>
                <a:lnTo>
                  <a:pt x="5309234" y="5465964"/>
                </a:lnTo>
                <a:lnTo>
                  <a:pt x="0" y="5465964"/>
                </a:lnTo>
                <a:lnTo>
                  <a:pt x="0" y="0"/>
                </a:lnTo>
                <a:close/>
              </a:path>
            </a:pathLst>
          </a:custGeom>
          <a:blipFill>
            <a:blip r:embed="rId4"/>
            <a:stretch>
              <a:fillRect l="0" t="0" r="0" b="0"/>
            </a:stretch>
          </a:blipFill>
        </p:spPr>
      </p:sp>
      <p:sp>
        <p:nvSpPr>
          <p:cNvPr name="Freeform 7" id="7"/>
          <p:cNvSpPr/>
          <p:nvPr/>
        </p:nvSpPr>
        <p:spPr>
          <a:xfrm flipH="false" flipV="false" rot="0">
            <a:off x="-317430" y="7660946"/>
            <a:ext cx="18613297" cy="3022078"/>
          </a:xfrm>
          <a:custGeom>
            <a:avLst/>
            <a:gdLst/>
            <a:ahLst/>
            <a:cxnLst/>
            <a:rect r="r" b="b" t="t" l="l"/>
            <a:pathLst>
              <a:path h="3022078" w="18613297">
                <a:moveTo>
                  <a:pt x="0" y="0"/>
                </a:moveTo>
                <a:lnTo>
                  <a:pt x="18613297" y="0"/>
                </a:lnTo>
                <a:lnTo>
                  <a:pt x="18613297" y="3022077"/>
                </a:lnTo>
                <a:lnTo>
                  <a:pt x="0" y="3022077"/>
                </a:lnTo>
                <a:lnTo>
                  <a:pt x="0" y="0"/>
                </a:lnTo>
                <a:close/>
              </a:path>
            </a:pathLst>
          </a:custGeom>
          <a:blipFill>
            <a:blip r:embed="rId5"/>
            <a:stretch>
              <a:fillRect l="-158" t="0" r="-158" b="-6838"/>
            </a:stretch>
          </a:blipFill>
        </p:spPr>
      </p:sp>
      <p:sp>
        <p:nvSpPr>
          <p:cNvPr name="Freeform 11" id="11"/>
          <p:cNvSpPr/>
          <p:nvPr/>
        </p:nvSpPr>
        <p:spPr>
          <a:xfrm flipH="false" flipV="false" rot="0">
            <a:off x="681269" y="7470446"/>
            <a:ext cx="6083710" cy="4114800"/>
          </a:xfrm>
          <a:custGeom>
            <a:avLst/>
            <a:gdLst/>
            <a:ahLst/>
            <a:cxnLst/>
            <a:rect r="r" b="b" t="t" l="l"/>
            <a:pathLst>
              <a:path h="4114800" w="6083710">
                <a:moveTo>
                  <a:pt x="0" y="0"/>
                </a:moveTo>
                <a:lnTo>
                  <a:pt x="6083709" y="0"/>
                </a:lnTo>
                <a:lnTo>
                  <a:pt x="6083709" y="4114800"/>
                </a:lnTo>
                <a:lnTo>
                  <a:pt x="0" y="4114800"/>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name="Freeform 13" id="13"/>
          <p:cNvSpPr/>
          <p:nvPr/>
        </p:nvSpPr>
        <p:spPr>
          <a:xfrm flipH="false" flipV="false" rot="0">
            <a:off x="9549673" y="7660946"/>
            <a:ext cx="6083710" cy="4114800"/>
          </a:xfrm>
          <a:custGeom>
            <a:avLst/>
            <a:gdLst/>
            <a:ahLst/>
            <a:cxnLst/>
            <a:rect r="r" b="b" t="t" l="l"/>
            <a:pathLst>
              <a:path h="4114800" w="6083710">
                <a:moveTo>
                  <a:pt x="0" y="0"/>
                </a:moveTo>
                <a:lnTo>
                  <a:pt x="6083710" y="0"/>
                </a:lnTo>
                <a:lnTo>
                  <a:pt x="6083710" y="4114800"/>
                </a:lnTo>
                <a:lnTo>
                  <a:pt x="0" y="4114800"/>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id="14" name="Panel"/>
          <p:cNvSpPr/>
          <p:nvPr/>
        </p:nvSpPr>
        <p:spPr>
          <a:xfrm>
            <a:off x="914400" y="731520"/>
            <a:ext cx="16459200" cy="6675120"/>
          </a:xfrm>
          <a:prstGeom prst="roundRect">
            <a:avLst>
              <a:gd name="adj" fmla="val 5000"/>
            </a:avLst>
          </a:prstGeom>
          <a:solidFill>
            <a:srgbClr val="0A2540">
              <a:alpha val="8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ag BABAK 1"/>
          <p:cNvSpPr/>
          <p:nvPr/>
        </p:nvSpPr>
        <p:spPr>
          <a:xfrm>
            <a:off x="1508760" y="960120"/>
            <a:ext cx="2178812" cy="640080"/>
          </a:xfrm>
          <a:prstGeom prst="roundRect">
            <a:avLst>
              <a:gd name="adj" fmla="val 50000"/>
            </a:avLst>
          </a:prstGeom>
          <a:solidFill>
            <a:srgbClr val="FF8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ks tag BABAK 1"/>
          <p:cNvSpPr txBox="1"/>
          <p:nvPr/>
        </p:nvSpPr>
        <p:spPr>
          <a:xfrm>
            <a:off x="1508760" y="1024128"/>
            <a:ext cx="2178812" cy="548640"/>
          </a:xfrm>
          <a:prstGeom prst="rect">
            <a:avLst/>
          </a:prstGeom>
          <a:noFill/>
        </p:spPr>
        <p:txBody>
          <a:bodyPr wrap="square" lIns="0" rIns="0" tIns="0" bIns="0" anchor="t">
            <a:spAutoFit/>
          </a:bodyPr>
          <a:lstStyle/>
          <a:p>
            <a:pPr algn="ctr">
              <a:spcAft>
                <a:spcPts val="0"/>
              </a:spcAft>
            </a:pPr>
            <a:r>
              <a:rPr sz="2200">
                <a:solidFill>
                  <a:srgbClr val="0A2540"/>
                </a:solidFill>
                <a:latin typeface="Playpen Sans Bold"/>
              </a:rPr>
              <a:t>BABAK 1</a:t>
            </a:r>
          </a:p>
        </p:txBody>
      </p:sp>
      <p:sp>
        <p:nvSpPr>
          <p:cNvPr id="17" name="Judul"/>
          <p:cNvSpPr txBox="1"/>
          <p:nvPr/>
        </p:nvSpPr>
        <p:spPr>
          <a:xfrm>
            <a:off x="4053332" y="960120"/>
            <a:ext cx="12725907" cy="731520"/>
          </a:xfrm>
          <a:prstGeom prst="rect">
            <a:avLst/>
          </a:prstGeom>
          <a:noFill/>
        </p:spPr>
        <p:txBody>
          <a:bodyPr wrap="square" lIns="0" rIns="0" tIns="0" bIns="0" anchor="ctr">
            <a:spAutoFit/>
          </a:bodyPr>
          <a:lstStyle/>
          <a:p>
            <a:pPr algn="l">
              <a:spcAft>
                <a:spcPts val="0"/>
              </a:spcAft>
            </a:pPr>
            <a:r>
              <a:rPr sz="4800">
                <a:solidFill>
                  <a:srgbClr val="F7B125"/>
                </a:solidFill>
                <a:latin typeface="Playpen Sans Bold"/>
              </a:rPr>
              <a:t>Kamu bermain</a:t>
            </a:r>
          </a:p>
        </p:txBody>
      </p:sp>
      <p:pic>
        <p:nvPicPr>
          <p:cNvPr id="18" name="Paper shot-play" descr="Tangkapan layar Flappy Komodo: komodo di antara dua pipa, skor 3"/>
          <p:cNvPicPr>
            <a:picLocks noChangeAspect="1"/>
          </p:cNvPicPr>
          <p:nvPr/>
        </p:nvPicPr>
        <p:blipFill>
          <a:blip r:embed="rId13"/>
          <a:stretch>
            <a:fillRect/>
          </a:stretch>
        </p:blipFill>
        <p:spPr>
          <a:xfrm>
            <a:off x="1508760" y="2011680"/>
            <a:ext cx="3467496" cy="5212080"/>
          </a:xfrm>
          <a:prstGeom prst="rect">
            <a:avLst/>
          </a:prstGeom>
          <a:ln w="38100">
            <a:solidFill>
              <a:srgbClr val="FFFFFF"/>
            </a:solidFill>
          </a:ln>
        </p:spPr>
      </p:pic>
      <p:sp>
        <p:nvSpPr>
          <p:cNvPr id="19" name="Langkah"/>
          <p:cNvSpPr txBox="1"/>
          <p:nvPr/>
        </p:nvSpPr>
        <p:spPr>
          <a:xfrm>
            <a:off x="5532120" y="2194560"/>
            <a:ext cx="11292839" cy="5029200"/>
          </a:xfrm>
          <a:prstGeom prst="rect">
            <a:avLst/>
          </a:prstGeom>
          <a:noFill/>
        </p:spPr>
        <p:txBody>
          <a:bodyPr wrap="square" lIns="0" rIns="0" tIns="0" bIns="0" anchor="t">
            <a:spAutoFit/>
          </a:bodyPr>
          <a:lstStyle/>
          <a:p>
            <a:pPr algn="l" marL="502920" indent="-502920">
              <a:spcAft>
                <a:spcPts val="1200"/>
              </a:spcAft>
              <a:buClr>
                <a:srgbClr val="F7B125"/>
              </a:buClr>
              <a:buFont typeface="Playpen Sans Bold"/>
              <a:buAutoNum type="arabicPeriod"/>
            </a:pPr>
            <a:r>
              <a:rPr sz="2800">
                <a:solidFill>
                  <a:srgbClr val="FFFFFF"/>
                </a:solidFill>
                <a:latin typeface="Playpen Sans"/>
              </a:rPr>
              <a:t>Buka situs kelas, pilih Flappy Komodo, lalu Play</a:t>
            </a:r>
          </a:p>
          <a:p>
            <a:pPr algn="l" marL="502920" indent="-502920">
              <a:spcAft>
                <a:spcPts val="1200"/>
              </a:spcAft>
              <a:buClr>
                <a:srgbClr val="F7B125"/>
              </a:buClr>
              <a:buFont typeface="Playpen Sans Bold"/>
              <a:buAutoNum type="arabicPeriod"/>
            </a:pPr>
            <a:r>
              <a:rPr sz="2800">
                <a:solidFill>
                  <a:srgbClr val="FFFFFF"/>
                </a:solidFill>
                <a:latin typeface="Playpen Sans"/>
              </a:rPr>
              <a:t>Ketuk layar atau tekan spasi untuk mengepak</a:t>
            </a:r>
          </a:p>
          <a:p>
            <a:pPr algn="l" marL="502920" indent="-502920">
              <a:spcAft>
                <a:spcPts val="1200"/>
              </a:spcAft>
              <a:buClr>
                <a:srgbClr val="F7B125"/>
              </a:buClr>
              <a:buFont typeface="Playpen Sans Bold"/>
              <a:buAutoNum type="arabicPeriod"/>
            </a:pPr>
            <a:r>
              <a:rPr sz="2800">
                <a:solidFill>
                  <a:srgbClr val="FFFFFF"/>
                </a:solidFill>
                <a:latin typeface="Playpen Sans"/>
              </a:rPr>
              <a:t>Main sebanyak yang kamu mau selama 8 menit</a:t>
            </a:r>
          </a:p>
          <a:p>
            <a:pPr algn="l" marL="502920" indent="-502920">
              <a:spcAft>
                <a:spcPts val="0"/>
              </a:spcAft>
              <a:buClr>
                <a:srgbClr val="F7B125"/>
              </a:buClr>
              <a:buFont typeface="Playpen Sans Bold"/>
              <a:buAutoNum type="arabicPeriod"/>
            </a:pPr>
            <a:r>
              <a:rPr sz="2800">
                <a:solidFill>
                  <a:srgbClr val="F7B125"/>
                </a:solidFill>
                <a:latin typeface="Playpen Sans Bold"/>
              </a:rPr>
              <a:t>Tunjukkan skor terbaikmu ke mentor</a:t>
            </a:r>
          </a:p>
        </p:txBody>
      </p:sp>
    </p:spTree>
  </p:cSld>
  <p:clrMapOvr>
    <a:masterClrMapping/>
  </p:clrMapOvr>
</p:sld>
</file>

<file path=ppt/slides/slide2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67928" r="0" b="-67928"/>
            </a:stretch>
          </a:blipFill>
        </p:spPr>
      </p:sp>
      <p:sp>
        <p:nvSpPr>
          <p:cNvPr name="Freeform 3" id="3"/>
          <p:cNvSpPr/>
          <p:nvPr/>
        </p:nvSpPr>
        <p:spPr>
          <a:xfrm flipH="false" flipV="false" rot="0">
            <a:off x="12533569" y="-21055"/>
            <a:ext cx="5762298" cy="6532600"/>
          </a:xfrm>
          <a:custGeom>
            <a:avLst/>
            <a:gdLst/>
            <a:ahLst/>
            <a:cxnLst/>
            <a:rect r="r" b="b" t="t" l="l"/>
            <a:pathLst>
              <a:path h="6532600" w="5762298">
                <a:moveTo>
                  <a:pt x="0" y="0"/>
                </a:moveTo>
                <a:lnTo>
                  <a:pt x="5762298" y="0"/>
                </a:lnTo>
                <a:lnTo>
                  <a:pt x="5762298" y="6532600"/>
                </a:lnTo>
                <a:lnTo>
                  <a:pt x="0" y="6532600"/>
                </a:lnTo>
                <a:lnTo>
                  <a:pt x="0" y="0"/>
                </a:lnTo>
                <a:close/>
              </a:path>
            </a:pathLst>
          </a:custGeom>
          <a:blipFill>
            <a:blip r:embed="rId3"/>
            <a:stretch>
              <a:fillRect l="0" t="0" r="0" b="0"/>
            </a:stretch>
          </a:blipFill>
        </p:spPr>
      </p:sp>
      <p:sp>
        <p:nvSpPr>
          <p:cNvPr name="Freeform 4" id="4"/>
          <p:cNvSpPr/>
          <p:nvPr/>
        </p:nvSpPr>
        <p:spPr>
          <a:xfrm flipH="false" flipV="false" rot="0">
            <a:off x="12978766" y="2004481"/>
            <a:ext cx="5309234" cy="5465964"/>
          </a:xfrm>
          <a:custGeom>
            <a:avLst/>
            <a:gdLst/>
            <a:ahLst/>
            <a:cxnLst/>
            <a:rect r="r" b="b" t="t" l="l"/>
            <a:pathLst>
              <a:path h="5465964" w="5309234">
                <a:moveTo>
                  <a:pt x="0" y="0"/>
                </a:moveTo>
                <a:lnTo>
                  <a:pt x="5309234" y="0"/>
                </a:lnTo>
                <a:lnTo>
                  <a:pt x="5309234" y="5465965"/>
                </a:lnTo>
                <a:lnTo>
                  <a:pt x="0" y="5465965"/>
                </a:lnTo>
                <a:lnTo>
                  <a:pt x="0" y="0"/>
                </a:lnTo>
                <a:close/>
              </a:path>
            </a:pathLst>
          </a:custGeom>
          <a:blipFill>
            <a:blip r:embed="rId4"/>
            <a:stretch>
              <a:fillRect l="0" t="0" r="0" b="0"/>
            </a:stretch>
          </a:blipFill>
        </p:spPr>
      </p:sp>
      <p:sp>
        <p:nvSpPr>
          <p:cNvPr name="Freeform 5" id="5"/>
          <p:cNvSpPr/>
          <p:nvPr/>
        </p:nvSpPr>
        <p:spPr>
          <a:xfrm flipH="true" flipV="false" rot="0">
            <a:off x="-29416" y="0"/>
            <a:ext cx="5762298" cy="6532600"/>
          </a:xfrm>
          <a:custGeom>
            <a:avLst/>
            <a:gdLst/>
            <a:ahLst/>
            <a:cxnLst/>
            <a:rect r="r" b="b" t="t" l="l"/>
            <a:pathLst>
              <a:path h="6532600" w="5762298">
                <a:moveTo>
                  <a:pt x="5762298" y="0"/>
                </a:moveTo>
                <a:lnTo>
                  <a:pt x="0" y="0"/>
                </a:lnTo>
                <a:lnTo>
                  <a:pt x="0" y="6532600"/>
                </a:lnTo>
                <a:lnTo>
                  <a:pt x="5762298" y="6532600"/>
                </a:lnTo>
                <a:lnTo>
                  <a:pt x="5762298" y="0"/>
                </a:lnTo>
                <a:close/>
              </a:path>
            </a:pathLst>
          </a:custGeom>
          <a:blipFill>
            <a:blip r:embed="rId3"/>
            <a:stretch>
              <a:fillRect l="0" t="0" r="0" b="0"/>
            </a:stretch>
          </a:blipFill>
        </p:spPr>
      </p:sp>
      <p:sp>
        <p:nvSpPr>
          <p:cNvPr name="Freeform 6" id="6"/>
          <p:cNvSpPr/>
          <p:nvPr/>
        </p:nvSpPr>
        <p:spPr>
          <a:xfrm flipH="false" flipV="false" rot="0">
            <a:off x="423648" y="2410518"/>
            <a:ext cx="5309234" cy="5465964"/>
          </a:xfrm>
          <a:custGeom>
            <a:avLst/>
            <a:gdLst/>
            <a:ahLst/>
            <a:cxnLst/>
            <a:rect r="r" b="b" t="t" l="l"/>
            <a:pathLst>
              <a:path h="5465964" w="5309234">
                <a:moveTo>
                  <a:pt x="0" y="0"/>
                </a:moveTo>
                <a:lnTo>
                  <a:pt x="5309234" y="0"/>
                </a:lnTo>
                <a:lnTo>
                  <a:pt x="5309234" y="5465964"/>
                </a:lnTo>
                <a:lnTo>
                  <a:pt x="0" y="5465964"/>
                </a:lnTo>
                <a:lnTo>
                  <a:pt x="0" y="0"/>
                </a:lnTo>
                <a:close/>
              </a:path>
            </a:pathLst>
          </a:custGeom>
          <a:blipFill>
            <a:blip r:embed="rId4"/>
            <a:stretch>
              <a:fillRect l="0" t="0" r="0" b="0"/>
            </a:stretch>
          </a:blipFill>
        </p:spPr>
      </p:sp>
      <p:sp>
        <p:nvSpPr>
          <p:cNvPr name="Freeform 7" id="7"/>
          <p:cNvSpPr/>
          <p:nvPr/>
        </p:nvSpPr>
        <p:spPr>
          <a:xfrm flipH="false" flipV="false" rot="0">
            <a:off x="-317430" y="7660946"/>
            <a:ext cx="18613297" cy="3022078"/>
          </a:xfrm>
          <a:custGeom>
            <a:avLst/>
            <a:gdLst/>
            <a:ahLst/>
            <a:cxnLst/>
            <a:rect r="r" b="b" t="t" l="l"/>
            <a:pathLst>
              <a:path h="3022078" w="18613297">
                <a:moveTo>
                  <a:pt x="0" y="0"/>
                </a:moveTo>
                <a:lnTo>
                  <a:pt x="18613297" y="0"/>
                </a:lnTo>
                <a:lnTo>
                  <a:pt x="18613297" y="3022077"/>
                </a:lnTo>
                <a:lnTo>
                  <a:pt x="0" y="3022077"/>
                </a:lnTo>
                <a:lnTo>
                  <a:pt x="0" y="0"/>
                </a:lnTo>
                <a:close/>
              </a:path>
            </a:pathLst>
          </a:custGeom>
          <a:blipFill>
            <a:blip r:embed="rId5"/>
            <a:stretch>
              <a:fillRect l="-158" t="0" r="-158" b="-6838"/>
            </a:stretch>
          </a:blipFill>
        </p:spPr>
      </p:sp>
      <p:sp>
        <p:nvSpPr>
          <p:cNvPr name="Freeform 11" id="11"/>
          <p:cNvSpPr/>
          <p:nvPr/>
        </p:nvSpPr>
        <p:spPr>
          <a:xfrm flipH="false" flipV="false" rot="0">
            <a:off x="681269" y="7470446"/>
            <a:ext cx="6083710" cy="4114800"/>
          </a:xfrm>
          <a:custGeom>
            <a:avLst/>
            <a:gdLst/>
            <a:ahLst/>
            <a:cxnLst/>
            <a:rect r="r" b="b" t="t" l="l"/>
            <a:pathLst>
              <a:path h="4114800" w="6083710">
                <a:moveTo>
                  <a:pt x="0" y="0"/>
                </a:moveTo>
                <a:lnTo>
                  <a:pt x="6083709" y="0"/>
                </a:lnTo>
                <a:lnTo>
                  <a:pt x="6083709" y="4114800"/>
                </a:lnTo>
                <a:lnTo>
                  <a:pt x="0" y="4114800"/>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name="Freeform 13" id="13"/>
          <p:cNvSpPr/>
          <p:nvPr/>
        </p:nvSpPr>
        <p:spPr>
          <a:xfrm flipH="false" flipV="false" rot="0">
            <a:off x="9549673" y="7660946"/>
            <a:ext cx="6083710" cy="4114800"/>
          </a:xfrm>
          <a:custGeom>
            <a:avLst/>
            <a:gdLst/>
            <a:ahLst/>
            <a:cxnLst/>
            <a:rect r="r" b="b" t="t" l="l"/>
            <a:pathLst>
              <a:path h="4114800" w="6083710">
                <a:moveTo>
                  <a:pt x="0" y="0"/>
                </a:moveTo>
                <a:lnTo>
                  <a:pt x="6083710" y="0"/>
                </a:lnTo>
                <a:lnTo>
                  <a:pt x="6083710" y="4114800"/>
                </a:lnTo>
                <a:lnTo>
                  <a:pt x="0" y="4114800"/>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id="14" name="Panel"/>
          <p:cNvSpPr/>
          <p:nvPr/>
        </p:nvSpPr>
        <p:spPr>
          <a:xfrm>
            <a:off x="914400" y="731520"/>
            <a:ext cx="16459200" cy="6675120"/>
          </a:xfrm>
          <a:prstGeom prst="roundRect">
            <a:avLst>
              <a:gd name="adj" fmla="val 5000"/>
            </a:avLst>
          </a:prstGeom>
          <a:solidFill>
            <a:srgbClr val="0A2540">
              <a:alpha val="8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ag BABAK 2"/>
          <p:cNvSpPr/>
          <p:nvPr/>
        </p:nvSpPr>
        <p:spPr>
          <a:xfrm>
            <a:off x="1508760" y="960120"/>
            <a:ext cx="2178812" cy="640080"/>
          </a:xfrm>
          <a:prstGeom prst="roundRect">
            <a:avLst>
              <a:gd name="adj" fmla="val 50000"/>
            </a:avLst>
          </a:prstGeom>
          <a:solidFill>
            <a:srgbClr val="F7B1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ks tag BABAK 2"/>
          <p:cNvSpPr txBox="1"/>
          <p:nvPr/>
        </p:nvSpPr>
        <p:spPr>
          <a:xfrm>
            <a:off x="1508760" y="1024128"/>
            <a:ext cx="2178812" cy="548640"/>
          </a:xfrm>
          <a:prstGeom prst="rect">
            <a:avLst/>
          </a:prstGeom>
          <a:noFill/>
        </p:spPr>
        <p:txBody>
          <a:bodyPr wrap="square" lIns="0" rIns="0" tIns="0" bIns="0" anchor="t">
            <a:spAutoFit/>
          </a:bodyPr>
          <a:lstStyle/>
          <a:p>
            <a:pPr algn="ctr">
              <a:spcAft>
                <a:spcPts val="0"/>
              </a:spcAft>
            </a:pPr>
            <a:r>
              <a:rPr sz="2200">
                <a:solidFill>
                  <a:srgbClr val="0A2540"/>
                </a:solidFill>
                <a:latin typeface="Playpen Sans Bold"/>
              </a:rPr>
              <a:t>BABAK 2</a:t>
            </a:r>
          </a:p>
        </p:txBody>
      </p:sp>
      <p:sp>
        <p:nvSpPr>
          <p:cNvPr id="17" name="Judul"/>
          <p:cNvSpPr txBox="1"/>
          <p:nvPr/>
        </p:nvSpPr>
        <p:spPr>
          <a:xfrm>
            <a:off x="4053332" y="960120"/>
            <a:ext cx="12725907" cy="731520"/>
          </a:xfrm>
          <a:prstGeom prst="rect">
            <a:avLst/>
          </a:prstGeom>
          <a:noFill/>
        </p:spPr>
        <p:txBody>
          <a:bodyPr wrap="square" lIns="0" rIns="0" tIns="0" bIns="0" anchor="ctr">
            <a:spAutoFit/>
          </a:bodyPr>
          <a:lstStyle/>
          <a:p>
            <a:pPr algn="l">
              <a:spcAft>
                <a:spcPts val="0"/>
              </a:spcAft>
            </a:pPr>
            <a:r>
              <a:rPr sz="4800">
                <a:solidFill>
                  <a:srgbClr val="F7B125"/>
                </a:solidFill>
                <a:latin typeface="Playpen Sans Bold"/>
              </a:rPr>
              <a:t>Evolusi bermain</a:t>
            </a:r>
          </a:p>
        </p:txBody>
      </p:sp>
      <p:pic>
        <p:nvPicPr>
          <p:cNvPr id="18" name="Paper shot-stage" descr="Tampilan proyektor: kawanan komodo, statistik generasi, dan grafik pipa terbaik per generasi"/>
          <p:cNvPicPr>
            <a:picLocks noChangeAspect="1"/>
          </p:cNvPicPr>
          <p:nvPr/>
        </p:nvPicPr>
        <p:blipFill>
          <a:blip r:embed="rId13"/>
          <a:stretch>
            <a:fillRect/>
          </a:stretch>
        </p:blipFill>
        <p:spPr>
          <a:xfrm>
            <a:off x="1508760" y="2011680"/>
            <a:ext cx="8229600" cy="4114800"/>
          </a:xfrm>
          <a:prstGeom prst="rect">
            <a:avLst/>
          </a:prstGeom>
          <a:ln w="38100">
            <a:solidFill>
              <a:srgbClr val="FFFFFF"/>
            </a:solidFill>
          </a:ln>
        </p:spPr>
      </p:pic>
      <p:sp>
        <p:nvSpPr>
          <p:cNvPr id="19" name="Langkah"/>
          <p:cNvSpPr txBox="1"/>
          <p:nvPr/>
        </p:nvSpPr>
        <p:spPr>
          <a:xfrm>
            <a:off x="10195560" y="2103120"/>
            <a:ext cx="6629399" cy="3840480"/>
          </a:xfrm>
          <a:prstGeom prst="rect">
            <a:avLst/>
          </a:prstGeom>
          <a:noFill/>
        </p:spPr>
        <p:txBody>
          <a:bodyPr wrap="square" lIns="0" rIns="0" tIns="0" bIns="0" anchor="t">
            <a:spAutoFit/>
          </a:bodyPr>
          <a:lstStyle/>
          <a:p>
            <a:pPr algn="l" marL="502920" indent="-502920">
              <a:spcAft>
                <a:spcPts val="800"/>
              </a:spcAft>
              <a:buClr>
                <a:srgbClr val="F7B125"/>
              </a:buClr>
              <a:buFont typeface="Playpen Sans Bold"/>
              <a:buAutoNum type="arabicPeriod"/>
            </a:pPr>
            <a:r>
              <a:rPr sz="2500">
                <a:solidFill>
                  <a:srgbClr val="FFFFFF"/>
                </a:solidFill>
                <a:latin typeface="Playpen Sans"/>
              </a:rPr>
              <a:t>50 komodo, otaknya berisi angka acak</a:t>
            </a:r>
          </a:p>
          <a:p>
            <a:pPr algn="l" marL="502920" indent="-502920">
              <a:spcAft>
                <a:spcPts val="800"/>
              </a:spcAft>
              <a:buClr>
                <a:srgbClr val="F7B125"/>
              </a:buClr>
              <a:buFont typeface="Playpen Sans Bold"/>
              <a:buAutoNum type="arabicPeriod"/>
            </a:pPr>
            <a:r>
              <a:rPr sz="2500">
                <a:solidFill>
                  <a:srgbClr val="FFFFFF"/>
                </a:solidFill>
                <a:latin typeface="Playpen Sans"/>
              </a:rPr>
              <a:t>Yang terbang paling jauh menjadi induk</a:t>
            </a:r>
          </a:p>
          <a:p>
            <a:pPr algn="l" marL="502920" indent="-502920">
              <a:spcAft>
                <a:spcPts val="800"/>
              </a:spcAft>
              <a:buClr>
                <a:srgbClr val="F7B125"/>
              </a:buClr>
              <a:buFont typeface="Playpen Sans Bold"/>
              <a:buAutoNum type="arabicPeriod"/>
            </a:pPr>
            <a:r>
              <a:rPr sz="2500">
                <a:solidFill>
                  <a:srgbClr val="FFFFFF"/>
                </a:solidFill>
                <a:latin typeface="Playpen Sans"/>
              </a:rPr>
              <a:t>Anak = campuran induk + sedikit mutasi</a:t>
            </a:r>
          </a:p>
          <a:p>
            <a:pPr algn="l" marL="502920" indent="-502920">
              <a:spcAft>
                <a:spcPts val="0"/>
              </a:spcAft>
              <a:buClr>
                <a:srgbClr val="F7B125"/>
              </a:buClr>
              <a:buFont typeface="Playpen Sans Bold"/>
              <a:buAutoNum type="arabicPeriod"/>
            </a:pPr>
            <a:r>
              <a:rPr sz="2500">
                <a:solidFill>
                  <a:srgbClr val="FFFFFF"/>
                </a:solidFill>
                <a:latin typeface="Playpen Sans"/>
              </a:rPr>
              <a:t>Ulangi</a:t>
            </a:r>
          </a:p>
        </p:txBody>
      </p:sp>
      <p:sp>
        <p:nvSpPr>
          <p:cNvPr id="20" name="Tebakan"/>
          <p:cNvSpPr/>
          <p:nvPr/>
        </p:nvSpPr>
        <p:spPr>
          <a:xfrm>
            <a:off x="10195560" y="5760720"/>
            <a:ext cx="6629399" cy="1417320"/>
          </a:xfrm>
          <a:prstGeom prst="roundRect">
            <a:avLst>
              <a:gd name="adj" fmla="val 10000"/>
            </a:avLst>
          </a:prstGeom>
          <a:solidFill>
            <a:srgbClr val="14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ks tebakan"/>
          <p:cNvSpPr txBox="1"/>
          <p:nvPr/>
        </p:nvSpPr>
        <p:spPr>
          <a:xfrm>
            <a:off x="10424160" y="5852160"/>
            <a:ext cx="6172199" cy="1280160"/>
          </a:xfrm>
          <a:prstGeom prst="rect">
            <a:avLst/>
          </a:prstGeom>
          <a:noFill/>
        </p:spPr>
        <p:txBody>
          <a:bodyPr wrap="square" lIns="0" rIns="0" tIns="0" bIns="0" anchor="ctr">
            <a:spAutoFit/>
          </a:bodyPr>
          <a:lstStyle/>
          <a:p>
            <a:pPr algn="l">
              <a:spcAft>
                <a:spcPts val="0"/>
              </a:spcAft>
            </a:pPr>
            <a:r>
              <a:rPr sz="2500">
                <a:solidFill>
                  <a:srgbClr val="F7B125"/>
                </a:solidFill>
                <a:latin typeface="Playpen Sans Bold"/>
              </a:rPr>
              <a:t>Tebak dulu: generasi ke berapa mesin melewati skor manusia terbaik?</a:t>
            </a:r>
          </a:p>
        </p:txBody>
      </p:sp>
    </p:spTree>
  </p:cSld>
  <p:clrMapOvr>
    <a:masterClrMapping/>
  </p:clrMapOvr>
</p:sld>
</file>

<file path=ppt/slides/slide2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67928" r="0" b="-67928"/>
            </a:stretch>
          </a:blipFill>
        </p:spPr>
      </p:sp>
      <p:sp>
        <p:nvSpPr>
          <p:cNvPr name="Freeform 3" id="3"/>
          <p:cNvSpPr/>
          <p:nvPr/>
        </p:nvSpPr>
        <p:spPr>
          <a:xfrm flipH="false" flipV="false" rot="0">
            <a:off x="12533569" y="-21055"/>
            <a:ext cx="5762298" cy="6532600"/>
          </a:xfrm>
          <a:custGeom>
            <a:avLst/>
            <a:gdLst/>
            <a:ahLst/>
            <a:cxnLst/>
            <a:rect r="r" b="b" t="t" l="l"/>
            <a:pathLst>
              <a:path h="6532600" w="5762298">
                <a:moveTo>
                  <a:pt x="0" y="0"/>
                </a:moveTo>
                <a:lnTo>
                  <a:pt x="5762298" y="0"/>
                </a:lnTo>
                <a:lnTo>
                  <a:pt x="5762298" y="6532600"/>
                </a:lnTo>
                <a:lnTo>
                  <a:pt x="0" y="6532600"/>
                </a:lnTo>
                <a:lnTo>
                  <a:pt x="0" y="0"/>
                </a:lnTo>
                <a:close/>
              </a:path>
            </a:pathLst>
          </a:custGeom>
          <a:blipFill>
            <a:blip r:embed="rId3"/>
            <a:stretch>
              <a:fillRect l="0" t="0" r="0" b="0"/>
            </a:stretch>
          </a:blipFill>
        </p:spPr>
      </p:sp>
      <p:sp>
        <p:nvSpPr>
          <p:cNvPr name="Freeform 4" id="4"/>
          <p:cNvSpPr/>
          <p:nvPr/>
        </p:nvSpPr>
        <p:spPr>
          <a:xfrm flipH="false" flipV="false" rot="0">
            <a:off x="12978766" y="2004481"/>
            <a:ext cx="5309234" cy="5465964"/>
          </a:xfrm>
          <a:custGeom>
            <a:avLst/>
            <a:gdLst/>
            <a:ahLst/>
            <a:cxnLst/>
            <a:rect r="r" b="b" t="t" l="l"/>
            <a:pathLst>
              <a:path h="5465964" w="5309234">
                <a:moveTo>
                  <a:pt x="0" y="0"/>
                </a:moveTo>
                <a:lnTo>
                  <a:pt x="5309234" y="0"/>
                </a:lnTo>
                <a:lnTo>
                  <a:pt x="5309234" y="5465965"/>
                </a:lnTo>
                <a:lnTo>
                  <a:pt x="0" y="5465965"/>
                </a:lnTo>
                <a:lnTo>
                  <a:pt x="0" y="0"/>
                </a:lnTo>
                <a:close/>
              </a:path>
            </a:pathLst>
          </a:custGeom>
          <a:blipFill>
            <a:blip r:embed="rId4"/>
            <a:stretch>
              <a:fillRect l="0" t="0" r="0" b="0"/>
            </a:stretch>
          </a:blipFill>
        </p:spPr>
      </p:sp>
      <p:sp>
        <p:nvSpPr>
          <p:cNvPr name="Freeform 5" id="5"/>
          <p:cNvSpPr/>
          <p:nvPr/>
        </p:nvSpPr>
        <p:spPr>
          <a:xfrm flipH="true" flipV="false" rot="0">
            <a:off x="-29416" y="0"/>
            <a:ext cx="5762298" cy="6532600"/>
          </a:xfrm>
          <a:custGeom>
            <a:avLst/>
            <a:gdLst/>
            <a:ahLst/>
            <a:cxnLst/>
            <a:rect r="r" b="b" t="t" l="l"/>
            <a:pathLst>
              <a:path h="6532600" w="5762298">
                <a:moveTo>
                  <a:pt x="5762298" y="0"/>
                </a:moveTo>
                <a:lnTo>
                  <a:pt x="0" y="0"/>
                </a:lnTo>
                <a:lnTo>
                  <a:pt x="0" y="6532600"/>
                </a:lnTo>
                <a:lnTo>
                  <a:pt x="5762298" y="6532600"/>
                </a:lnTo>
                <a:lnTo>
                  <a:pt x="5762298" y="0"/>
                </a:lnTo>
                <a:close/>
              </a:path>
            </a:pathLst>
          </a:custGeom>
          <a:blipFill>
            <a:blip r:embed="rId3"/>
            <a:stretch>
              <a:fillRect l="0" t="0" r="0" b="0"/>
            </a:stretch>
          </a:blipFill>
        </p:spPr>
      </p:sp>
      <p:sp>
        <p:nvSpPr>
          <p:cNvPr name="Freeform 6" id="6"/>
          <p:cNvSpPr/>
          <p:nvPr/>
        </p:nvSpPr>
        <p:spPr>
          <a:xfrm flipH="false" flipV="false" rot="0">
            <a:off x="423648" y="2410518"/>
            <a:ext cx="5309234" cy="5465964"/>
          </a:xfrm>
          <a:custGeom>
            <a:avLst/>
            <a:gdLst/>
            <a:ahLst/>
            <a:cxnLst/>
            <a:rect r="r" b="b" t="t" l="l"/>
            <a:pathLst>
              <a:path h="5465964" w="5309234">
                <a:moveTo>
                  <a:pt x="0" y="0"/>
                </a:moveTo>
                <a:lnTo>
                  <a:pt x="5309234" y="0"/>
                </a:lnTo>
                <a:lnTo>
                  <a:pt x="5309234" y="5465964"/>
                </a:lnTo>
                <a:lnTo>
                  <a:pt x="0" y="5465964"/>
                </a:lnTo>
                <a:lnTo>
                  <a:pt x="0" y="0"/>
                </a:lnTo>
                <a:close/>
              </a:path>
            </a:pathLst>
          </a:custGeom>
          <a:blipFill>
            <a:blip r:embed="rId4"/>
            <a:stretch>
              <a:fillRect l="0" t="0" r="0" b="0"/>
            </a:stretch>
          </a:blipFill>
        </p:spPr>
      </p:sp>
      <p:sp>
        <p:nvSpPr>
          <p:cNvPr name="Freeform 7" id="7"/>
          <p:cNvSpPr/>
          <p:nvPr/>
        </p:nvSpPr>
        <p:spPr>
          <a:xfrm flipH="false" flipV="false" rot="0">
            <a:off x="-317430" y="7660946"/>
            <a:ext cx="18613297" cy="3022078"/>
          </a:xfrm>
          <a:custGeom>
            <a:avLst/>
            <a:gdLst/>
            <a:ahLst/>
            <a:cxnLst/>
            <a:rect r="r" b="b" t="t" l="l"/>
            <a:pathLst>
              <a:path h="3022078" w="18613297">
                <a:moveTo>
                  <a:pt x="0" y="0"/>
                </a:moveTo>
                <a:lnTo>
                  <a:pt x="18613297" y="0"/>
                </a:lnTo>
                <a:lnTo>
                  <a:pt x="18613297" y="3022077"/>
                </a:lnTo>
                <a:lnTo>
                  <a:pt x="0" y="3022077"/>
                </a:lnTo>
                <a:lnTo>
                  <a:pt x="0" y="0"/>
                </a:lnTo>
                <a:close/>
              </a:path>
            </a:pathLst>
          </a:custGeom>
          <a:blipFill>
            <a:blip r:embed="rId5"/>
            <a:stretch>
              <a:fillRect l="-158" t="0" r="-158" b="-6838"/>
            </a:stretch>
          </a:blipFill>
        </p:spPr>
      </p:sp>
      <p:sp>
        <p:nvSpPr>
          <p:cNvPr name="Freeform 11" id="11"/>
          <p:cNvSpPr/>
          <p:nvPr/>
        </p:nvSpPr>
        <p:spPr>
          <a:xfrm flipH="false" flipV="false" rot="0">
            <a:off x="681269" y="7470446"/>
            <a:ext cx="6083710" cy="4114800"/>
          </a:xfrm>
          <a:custGeom>
            <a:avLst/>
            <a:gdLst/>
            <a:ahLst/>
            <a:cxnLst/>
            <a:rect r="r" b="b" t="t" l="l"/>
            <a:pathLst>
              <a:path h="4114800" w="6083710">
                <a:moveTo>
                  <a:pt x="0" y="0"/>
                </a:moveTo>
                <a:lnTo>
                  <a:pt x="6083709" y="0"/>
                </a:lnTo>
                <a:lnTo>
                  <a:pt x="6083709" y="4114800"/>
                </a:lnTo>
                <a:lnTo>
                  <a:pt x="0" y="4114800"/>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name="Freeform 13" id="13"/>
          <p:cNvSpPr/>
          <p:nvPr/>
        </p:nvSpPr>
        <p:spPr>
          <a:xfrm flipH="false" flipV="false" rot="0">
            <a:off x="9549673" y="7660946"/>
            <a:ext cx="6083710" cy="4114800"/>
          </a:xfrm>
          <a:custGeom>
            <a:avLst/>
            <a:gdLst/>
            <a:ahLst/>
            <a:cxnLst/>
            <a:rect r="r" b="b" t="t" l="l"/>
            <a:pathLst>
              <a:path h="4114800" w="6083710">
                <a:moveTo>
                  <a:pt x="0" y="0"/>
                </a:moveTo>
                <a:lnTo>
                  <a:pt x="6083710" y="0"/>
                </a:lnTo>
                <a:lnTo>
                  <a:pt x="6083710" y="4114800"/>
                </a:lnTo>
                <a:lnTo>
                  <a:pt x="0" y="4114800"/>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id="14" name="Panel"/>
          <p:cNvSpPr/>
          <p:nvPr/>
        </p:nvSpPr>
        <p:spPr>
          <a:xfrm>
            <a:off x="914400" y="731520"/>
            <a:ext cx="16459200" cy="6675120"/>
          </a:xfrm>
          <a:prstGeom prst="roundRect">
            <a:avLst>
              <a:gd name="adj" fmla="val 5000"/>
            </a:avLst>
          </a:prstGeom>
          <a:solidFill>
            <a:srgbClr val="0A2540">
              <a:alpha val="8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ag BABAK 3"/>
          <p:cNvSpPr/>
          <p:nvPr/>
        </p:nvSpPr>
        <p:spPr>
          <a:xfrm>
            <a:off x="1508760" y="960120"/>
            <a:ext cx="2178812" cy="640080"/>
          </a:xfrm>
          <a:prstGeom prst="roundRect">
            <a:avLst>
              <a:gd name="adj" fmla="val 50000"/>
            </a:avLst>
          </a:prstGeom>
          <a:solidFill>
            <a:srgbClr val="3DD6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ks tag BABAK 3"/>
          <p:cNvSpPr txBox="1"/>
          <p:nvPr/>
        </p:nvSpPr>
        <p:spPr>
          <a:xfrm>
            <a:off x="1508760" y="1024128"/>
            <a:ext cx="2178812" cy="548640"/>
          </a:xfrm>
          <a:prstGeom prst="rect">
            <a:avLst/>
          </a:prstGeom>
          <a:noFill/>
        </p:spPr>
        <p:txBody>
          <a:bodyPr wrap="square" lIns="0" rIns="0" tIns="0" bIns="0" anchor="t">
            <a:spAutoFit/>
          </a:bodyPr>
          <a:lstStyle/>
          <a:p>
            <a:pPr algn="ctr">
              <a:spcAft>
                <a:spcPts val="0"/>
              </a:spcAft>
            </a:pPr>
            <a:r>
              <a:rPr sz="2200">
                <a:solidFill>
                  <a:srgbClr val="0A2540"/>
                </a:solidFill>
                <a:latin typeface="Playpen Sans Bold"/>
              </a:rPr>
              <a:t>BABAK 3</a:t>
            </a:r>
          </a:p>
        </p:txBody>
      </p:sp>
      <p:sp>
        <p:nvSpPr>
          <p:cNvPr id="17" name="Judul"/>
          <p:cNvSpPr txBox="1"/>
          <p:nvPr/>
        </p:nvSpPr>
        <p:spPr>
          <a:xfrm>
            <a:off x="4053332" y="960120"/>
            <a:ext cx="12725907" cy="731520"/>
          </a:xfrm>
          <a:prstGeom prst="rect">
            <a:avLst/>
          </a:prstGeom>
          <a:noFill/>
        </p:spPr>
        <p:txBody>
          <a:bodyPr wrap="square" lIns="0" rIns="0" tIns="0" bIns="0" anchor="ctr">
            <a:spAutoFit/>
          </a:bodyPr>
          <a:lstStyle/>
          <a:p>
            <a:pPr algn="l">
              <a:spcAft>
                <a:spcPts val="0"/>
              </a:spcAft>
            </a:pPr>
            <a:r>
              <a:rPr sz="4800">
                <a:solidFill>
                  <a:srgbClr val="F7B125"/>
                </a:solidFill>
                <a:latin typeface="Playpen Sans Bold"/>
              </a:rPr>
              <a:t>Kamu jadi pelatih</a:t>
            </a:r>
          </a:p>
        </p:txBody>
      </p:sp>
      <p:pic>
        <p:nvPicPr>
          <p:cNvPr id="18" name="Paper shot-breed" descr="Tangkapan layar halaman Breed: grafik pipa terbaik per generasi dan kode hasil 50-10-6-4821"/>
          <p:cNvPicPr>
            <a:picLocks noChangeAspect="1"/>
          </p:cNvPicPr>
          <p:nvPr/>
        </p:nvPicPr>
        <p:blipFill>
          <a:blip r:embed="rId13"/>
          <a:stretch>
            <a:fillRect/>
          </a:stretch>
        </p:blipFill>
        <p:spPr>
          <a:xfrm>
            <a:off x="1508760" y="2011680"/>
            <a:ext cx="3296686" cy="5212080"/>
          </a:xfrm>
          <a:prstGeom prst="rect">
            <a:avLst/>
          </a:prstGeom>
          <a:ln w="38100">
            <a:solidFill>
              <a:srgbClr val="FFFFFF"/>
            </a:solidFill>
          </a:ln>
        </p:spPr>
      </p:pic>
      <p:sp>
        <p:nvSpPr>
          <p:cNvPr id="19" name="Aturan"/>
          <p:cNvSpPr txBox="1"/>
          <p:nvPr/>
        </p:nvSpPr>
        <p:spPr>
          <a:xfrm>
            <a:off x="6355079" y="2103120"/>
            <a:ext cx="10469880" cy="3108960"/>
          </a:xfrm>
          <a:prstGeom prst="rect">
            <a:avLst/>
          </a:prstGeom>
          <a:noFill/>
        </p:spPr>
        <p:txBody>
          <a:bodyPr wrap="square" lIns="0" rIns="0" tIns="0" bIns="0" anchor="t">
            <a:spAutoFit/>
          </a:bodyPr>
          <a:lstStyle/>
          <a:p>
            <a:pPr algn="l" marL="502920" indent="-502920">
              <a:spcAft>
                <a:spcPts val="1000"/>
              </a:spcAft>
              <a:buClr>
                <a:srgbClr val="F7B125"/>
              </a:buClr>
              <a:buFont typeface="Arial"/>
              <a:buChar char="•"/>
            </a:pPr>
            <a:r>
              <a:rPr sz="2700">
                <a:solidFill>
                  <a:srgbClr val="FFFFFF"/>
                </a:solidFill>
                <a:latin typeface="Playpen Sans"/>
              </a:rPr>
              <a:t>Kenop: populasi, mutasi, ukuran otak, seed</a:t>
            </a:r>
          </a:p>
          <a:p>
            <a:pPr algn="l" marL="502920" indent="-502920">
              <a:spcAft>
                <a:spcPts val="1000"/>
              </a:spcAft>
              <a:buClr>
                <a:srgbClr val="F7B125"/>
              </a:buClr>
              <a:buFont typeface="Arial"/>
              <a:buChar char="•"/>
            </a:pPr>
            <a:r>
              <a:rPr sz="2700">
                <a:solidFill>
                  <a:srgbClr val="F7B125"/>
                </a:solidFill>
                <a:latin typeface="Playpen Sans Bold"/>
              </a:rPr>
              <a:t>Target: 50 pipa dengan komodo sesedikit mungkin</a:t>
            </a:r>
          </a:p>
          <a:p>
            <a:pPr algn="l" marL="502920" indent="-502920">
              <a:spcAft>
                <a:spcPts val="1000"/>
              </a:spcAft>
              <a:buClr>
                <a:srgbClr val="F7B125"/>
              </a:buClr>
              <a:buFont typeface="Arial"/>
              <a:buChar char="•"/>
            </a:pPr>
            <a:r>
              <a:rPr sz="2700">
                <a:solidFill>
                  <a:srgbClr val="FFFFFF"/>
                </a:solidFill>
                <a:latin typeface="Playpen Sans"/>
              </a:rPr>
              <a:t>Lebih dari 60 generasi: tidak dihitung</a:t>
            </a:r>
          </a:p>
          <a:p>
            <a:pPr algn="l" marL="502920" indent="-502920">
              <a:spcAft>
                <a:spcPts val="0"/>
              </a:spcAft>
              <a:buClr>
                <a:srgbClr val="F7B125"/>
              </a:buClr>
              <a:buFont typeface="Arial"/>
              <a:buChar char="•"/>
            </a:pPr>
            <a:r>
              <a:rPr sz="2700">
                <a:solidFill>
                  <a:srgbClr val="FFFFFF"/>
                </a:solidFill>
                <a:latin typeface="Playpen Sans"/>
              </a:rPr>
              <a:t>Kirim kode terbaikmu ke mentor, contoh 50-10-6-4821</a:t>
            </a:r>
          </a:p>
        </p:txBody>
      </p:sp>
      <p:sp>
        <p:nvSpPr>
          <p:cNvPr id="20" name="Catatan"/>
          <p:cNvSpPr/>
          <p:nvPr/>
        </p:nvSpPr>
        <p:spPr>
          <a:xfrm>
            <a:off x="6355079" y="5669280"/>
            <a:ext cx="10469880" cy="1508760"/>
          </a:xfrm>
          <a:prstGeom prst="roundRect">
            <a:avLst>
              <a:gd name="adj" fmla="val 10000"/>
            </a:avLst>
          </a:prstGeom>
          <a:solidFill>
            <a:srgbClr val="14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ks catatan"/>
          <p:cNvSpPr txBox="1"/>
          <p:nvPr/>
        </p:nvSpPr>
        <p:spPr>
          <a:xfrm>
            <a:off x="6583679" y="5760720"/>
            <a:ext cx="10012680" cy="1325880"/>
          </a:xfrm>
          <a:prstGeom prst="rect">
            <a:avLst/>
          </a:prstGeom>
          <a:noFill/>
        </p:spPr>
        <p:txBody>
          <a:bodyPr wrap="square" lIns="0" rIns="0" tIns="0" bIns="0" anchor="ctr">
            <a:spAutoFit/>
          </a:bodyPr>
          <a:lstStyle/>
          <a:p>
            <a:pPr algn="l">
              <a:spcAft>
                <a:spcPts val="0"/>
              </a:spcAft>
            </a:pPr>
            <a:r>
              <a:rPr sz="2400">
                <a:solidFill>
                  <a:srgbClr val="FFFFFF"/>
                </a:solidFill>
                <a:latin typeface="Playpen Sans"/>
              </a:rPr>
              <a:t>Kode yang sama selalu memberi hasil yang sama, jadi proyektor bisa memeriksanya.</a:t>
            </a:r>
          </a:p>
        </p:txBody>
      </p:sp>
    </p:spTree>
  </p:cSld>
  <p:clrMapOvr>
    <a:masterClrMapping/>
  </p:clrMapOvr>
</p:sld>
</file>

<file path=ppt/slides/slide2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67928" r="0" b="-67928"/>
            </a:stretch>
          </a:blipFill>
        </p:spPr>
      </p:sp>
      <p:sp>
        <p:nvSpPr>
          <p:cNvPr name="Freeform 3" id="3"/>
          <p:cNvSpPr/>
          <p:nvPr/>
        </p:nvSpPr>
        <p:spPr>
          <a:xfrm flipH="false" flipV="false" rot="0">
            <a:off x="12533569" y="-21055"/>
            <a:ext cx="5762298" cy="6532600"/>
          </a:xfrm>
          <a:custGeom>
            <a:avLst/>
            <a:gdLst/>
            <a:ahLst/>
            <a:cxnLst/>
            <a:rect r="r" b="b" t="t" l="l"/>
            <a:pathLst>
              <a:path h="6532600" w="5762298">
                <a:moveTo>
                  <a:pt x="0" y="0"/>
                </a:moveTo>
                <a:lnTo>
                  <a:pt x="5762298" y="0"/>
                </a:lnTo>
                <a:lnTo>
                  <a:pt x="5762298" y="6532600"/>
                </a:lnTo>
                <a:lnTo>
                  <a:pt x="0" y="6532600"/>
                </a:lnTo>
                <a:lnTo>
                  <a:pt x="0" y="0"/>
                </a:lnTo>
                <a:close/>
              </a:path>
            </a:pathLst>
          </a:custGeom>
          <a:blipFill>
            <a:blip r:embed="rId3"/>
            <a:stretch>
              <a:fillRect l="0" t="0" r="0" b="0"/>
            </a:stretch>
          </a:blipFill>
        </p:spPr>
      </p:sp>
      <p:sp>
        <p:nvSpPr>
          <p:cNvPr name="Freeform 4" id="4"/>
          <p:cNvSpPr/>
          <p:nvPr/>
        </p:nvSpPr>
        <p:spPr>
          <a:xfrm flipH="false" flipV="false" rot="0">
            <a:off x="12978766" y="2004481"/>
            <a:ext cx="5309234" cy="5465964"/>
          </a:xfrm>
          <a:custGeom>
            <a:avLst/>
            <a:gdLst/>
            <a:ahLst/>
            <a:cxnLst/>
            <a:rect r="r" b="b" t="t" l="l"/>
            <a:pathLst>
              <a:path h="5465964" w="5309234">
                <a:moveTo>
                  <a:pt x="0" y="0"/>
                </a:moveTo>
                <a:lnTo>
                  <a:pt x="5309234" y="0"/>
                </a:lnTo>
                <a:lnTo>
                  <a:pt x="5309234" y="5465965"/>
                </a:lnTo>
                <a:lnTo>
                  <a:pt x="0" y="5465965"/>
                </a:lnTo>
                <a:lnTo>
                  <a:pt x="0" y="0"/>
                </a:lnTo>
                <a:close/>
              </a:path>
            </a:pathLst>
          </a:custGeom>
          <a:blipFill>
            <a:blip r:embed="rId4"/>
            <a:stretch>
              <a:fillRect l="0" t="0" r="0" b="0"/>
            </a:stretch>
          </a:blipFill>
        </p:spPr>
      </p:sp>
      <p:sp>
        <p:nvSpPr>
          <p:cNvPr name="Freeform 5" id="5"/>
          <p:cNvSpPr/>
          <p:nvPr/>
        </p:nvSpPr>
        <p:spPr>
          <a:xfrm flipH="true" flipV="false" rot="0">
            <a:off x="-29416" y="0"/>
            <a:ext cx="5762298" cy="6532600"/>
          </a:xfrm>
          <a:custGeom>
            <a:avLst/>
            <a:gdLst/>
            <a:ahLst/>
            <a:cxnLst/>
            <a:rect r="r" b="b" t="t" l="l"/>
            <a:pathLst>
              <a:path h="6532600" w="5762298">
                <a:moveTo>
                  <a:pt x="5762298" y="0"/>
                </a:moveTo>
                <a:lnTo>
                  <a:pt x="0" y="0"/>
                </a:lnTo>
                <a:lnTo>
                  <a:pt x="0" y="6532600"/>
                </a:lnTo>
                <a:lnTo>
                  <a:pt x="5762298" y="6532600"/>
                </a:lnTo>
                <a:lnTo>
                  <a:pt x="5762298" y="0"/>
                </a:lnTo>
                <a:close/>
              </a:path>
            </a:pathLst>
          </a:custGeom>
          <a:blipFill>
            <a:blip r:embed="rId3"/>
            <a:stretch>
              <a:fillRect l="0" t="0" r="0" b="0"/>
            </a:stretch>
          </a:blipFill>
        </p:spPr>
      </p:sp>
      <p:sp>
        <p:nvSpPr>
          <p:cNvPr name="Freeform 6" id="6"/>
          <p:cNvSpPr/>
          <p:nvPr/>
        </p:nvSpPr>
        <p:spPr>
          <a:xfrm flipH="false" flipV="false" rot="0">
            <a:off x="423648" y="2410518"/>
            <a:ext cx="5309234" cy="5465964"/>
          </a:xfrm>
          <a:custGeom>
            <a:avLst/>
            <a:gdLst/>
            <a:ahLst/>
            <a:cxnLst/>
            <a:rect r="r" b="b" t="t" l="l"/>
            <a:pathLst>
              <a:path h="5465964" w="5309234">
                <a:moveTo>
                  <a:pt x="0" y="0"/>
                </a:moveTo>
                <a:lnTo>
                  <a:pt x="5309234" y="0"/>
                </a:lnTo>
                <a:lnTo>
                  <a:pt x="5309234" y="5465964"/>
                </a:lnTo>
                <a:lnTo>
                  <a:pt x="0" y="5465964"/>
                </a:lnTo>
                <a:lnTo>
                  <a:pt x="0" y="0"/>
                </a:lnTo>
                <a:close/>
              </a:path>
            </a:pathLst>
          </a:custGeom>
          <a:blipFill>
            <a:blip r:embed="rId4"/>
            <a:stretch>
              <a:fillRect l="0" t="0" r="0" b="0"/>
            </a:stretch>
          </a:blipFill>
        </p:spPr>
      </p:sp>
      <p:sp>
        <p:nvSpPr>
          <p:cNvPr name="Freeform 7" id="7"/>
          <p:cNvSpPr/>
          <p:nvPr/>
        </p:nvSpPr>
        <p:spPr>
          <a:xfrm flipH="false" flipV="false" rot="0">
            <a:off x="-317430" y="7660946"/>
            <a:ext cx="18613297" cy="3022078"/>
          </a:xfrm>
          <a:custGeom>
            <a:avLst/>
            <a:gdLst/>
            <a:ahLst/>
            <a:cxnLst/>
            <a:rect r="r" b="b" t="t" l="l"/>
            <a:pathLst>
              <a:path h="3022078" w="18613297">
                <a:moveTo>
                  <a:pt x="0" y="0"/>
                </a:moveTo>
                <a:lnTo>
                  <a:pt x="18613297" y="0"/>
                </a:lnTo>
                <a:lnTo>
                  <a:pt x="18613297" y="3022077"/>
                </a:lnTo>
                <a:lnTo>
                  <a:pt x="0" y="3022077"/>
                </a:lnTo>
                <a:lnTo>
                  <a:pt x="0" y="0"/>
                </a:lnTo>
                <a:close/>
              </a:path>
            </a:pathLst>
          </a:custGeom>
          <a:blipFill>
            <a:blip r:embed="rId5"/>
            <a:stretch>
              <a:fillRect l="-158" t="0" r="-158" b="-6838"/>
            </a:stretch>
          </a:blipFill>
        </p:spPr>
      </p:sp>
      <p:sp>
        <p:nvSpPr>
          <p:cNvPr name="Freeform 11" id="11"/>
          <p:cNvSpPr/>
          <p:nvPr/>
        </p:nvSpPr>
        <p:spPr>
          <a:xfrm flipH="false" flipV="false" rot="0">
            <a:off x="681269" y="7470446"/>
            <a:ext cx="6083710" cy="4114800"/>
          </a:xfrm>
          <a:custGeom>
            <a:avLst/>
            <a:gdLst/>
            <a:ahLst/>
            <a:cxnLst/>
            <a:rect r="r" b="b" t="t" l="l"/>
            <a:pathLst>
              <a:path h="4114800" w="6083710">
                <a:moveTo>
                  <a:pt x="0" y="0"/>
                </a:moveTo>
                <a:lnTo>
                  <a:pt x="6083709" y="0"/>
                </a:lnTo>
                <a:lnTo>
                  <a:pt x="6083709" y="4114800"/>
                </a:lnTo>
                <a:lnTo>
                  <a:pt x="0" y="4114800"/>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name="Freeform 13" id="13"/>
          <p:cNvSpPr/>
          <p:nvPr/>
        </p:nvSpPr>
        <p:spPr>
          <a:xfrm flipH="false" flipV="false" rot="0">
            <a:off x="9549673" y="7660946"/>
            <a:ext cx="6083710" cy="4114800"/>
          </a:xfrm>
          <a:custGeom>
            <a:avLst/>
            <a:gdLst/>
            <a:ahLst/>
            <a:cxnLst/>
            <a:rect r="r" b="b" t="t" l="l"/>
            <a:pathLst>
              <a:path h="4114800" w="6083710">
                <a:moveTo>
                  <a:pt x="0" y="0"/>
                </a:moveTo>
                <a:lnTo>
                  <a:pt x="6083710" y="0"/>
                </a:lnTo>
                <a:lnTo>
                  <a:pt x="6083710" y="4114800"/>
                </a:lnTo>
                <a:lnTo>
                  <a:pt x="0" y="4114800"/>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id="14" name="Panel"/>
          <p:cNvSpPr/>
          <p:nvPr/>
        </p:nvSpPr>
        <p:spPr>
          <a:xfrm>
            <a:off x="914400" y="731520"/>
            <a:ext cx="16459200" cy="6675120"/>
          </a:xfrm>
          <a:prstGeom prst="roundRect">
            <a:avLst>
              <a:gd name="adj" fmla="val 5000"/>
            </a:avLst>
          </a:prstGeom>
          <a:solidFill>
            <a:srgbClr val="0A2540">
              <a:alpha val="8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ag PEMBAHASAN"/>
          <p:cNvSpPr/>
          <p:nvPr/>
        </p:nvSpPr>
        <p:spPr>
          <a:xfrm>
            <a:off x="1508760" y="960120"/>
            <a:ext cx="2799080" cy="640080"/>
          </a:xfrm>
          <a:prstGeom prst="roundRect">
            <a:avLst>
              <a:gd name="adj" fmla="val 50000"/>
            </a:avLst>
          </a:prstGeom>
          <a:solidFill>
            <a:srgbClr val="B8A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ks tag PEMBAHASAN"/>
          <p:cNvSpPr txBox="1"/>
          <p:nvPr/>
        </p:nvSpPr>
        <p:spPr>
          <a:xfrm>
            <a:off x="1508760" y="1024128"/>
            <a:ext cx="2799080" cy="548640"/>
          </a:xfrm>
          <a:prstGeom prst="rect">
            <a:avLst/>
          </a:prstGeom>
          <a:noFill/>
        </p:spPr>
        <p:txBody>
          <a:bodyPr wrap="square" lIns="0" rIns="0" tIns="0" bIns="0" anchor="t">
            <a:spAutoFit/>
          </a:bodyPr>
          <a:lstStyle/>
          <a:p>
            <a:pPr algn="ctr">
              <a:spcAft>
                <a:spcPts val="0"/>
              </a:spcAft>
            </a:pPr>
            <a:r>
              <a:rPr sz="2200">
                <a:solidFill>
                  <a:srgbClr val="0A2540"/>
                </a:solidFill>
                <a:latin typeface="Playpen Sans Bold"/>
              </a:rPr>
              <a:t>PEMBAHASAN</a:t>
            </a:r>
          </a:p>
        </p:txBody>
      </p:sp>
      <p:sp>
        <p:nvSpPr>
          <p:cNvPr id="17" name="Judul"/>
          <p:cNvSpPr txBox="1"/>
          <p:nvPr/>
        </p:nvSpPr>
        <p:spPr>
          <a:xfrm>
            <a:off x="4673600" y="960120"/>
            <a:ext cx="12105640" cy="731520"/>
          </a:xfrm>
          <a:prstGeom prst="rect">
            <a:avLst/>
          </a:prstGeom>
          <a:noFill/>
        </p:spPr>
        <p:txBody>
          <a:bodyPr wrap="square" lIns="0" rIns="0" tIns="0" bIns="0" anchor="ctr">
            <a:spAutoFit/>
          </a:bodyPr>
          <a:lstStyle/>
          <a:p>
            <a:pPr algn="l">
              <a:spcAft>
                <a:spcPts val="0"/>
              </a:spcAft>
            </a:pPr>
            <a:r>
              <a:rPr sz="4600">
                <a:solidFill>
                  <a:srgbClr val="F7B125"/>
                </a:solidFill>
                <a:latin typeface="Playpen Sans Bold"/>
              </a:rPr>
              <a:t>Apa yang barusan terjadi?</a:t>
            </a:r>
          </a:p>
        </p:txBody>
      </p:sp>
      <p:sp>
        <p:nvSpPr>
          <p:cNvPr id="18" name="Pertanyaan"/>
          <p:cNvSpPr txBox="1"/>
          <p:nvPr/>
        </p:nvSpPr>
        <p:spPr>
          <a:xfrm>
            <a:off x="1508760" y="2148840"/>
            <a:ext cx="7360919" cy="5029200"/>
          </a:xfrm>
          <a:prstGeom prst="rect">
            <a:avLst/>
          </a:prstGeom>
          <a:noFill/>
        </p:spPr>
        <p:txBody>
          <a:bodyPr wrap="square" lIns="0" rIns="0" tIns="0" bIns="0" anchor="t">
            <a:spAutoFit/>
          </a:bodyPr>
          <a:lstStyle/>
          <a:p>
            <a:pPr algn="l">
              <a:spcAft>
                <a:spcPts val="1000"/>
              </a:spcAft>
            </a:pPr>
            <a:r>
              <a:rPr sz="3000">
                <a:solidFill>
                  <a:srgbClr val="F7B125"/>
                </a:solidFill>
                <a:latin typeface="Playpen Sans Bold"/>
              </a:rPr>
              <a:t>Tiga pertanyaan</a:t>
            </a:r>
          </a:p>
          <a:p>
            <a:pPr algn="l" marL="502920" indent="-502920">
              <a:spcAft>
                <a:spcPts val="1200"/>
              </a:spcAft>
              <a:buClr>
                <a:srgbClr val="F7B125"/>
              </a:buClr>
              <a:buFont typeface="Playpen Sans Bold"/>
              <a:buAutoNum type="arabicPeriod"/>
            </a:pPr>
            <a:r>
              <a:rPr sz="2600">
                <a:solidFill>
                  <a:srgbClr val="FFFFFF"/>
                </a:solidFill>
                <a:latin typeface="Playpen Sans"/>
              </a:rPr>
              <a:t>Populasi kecil murah tetapi lebih sering gagal. Mengapa?</a:t>
            </a:r>
          </a:p>
          <a:p>
            <a:pPr algn="l" marL="502920" indent="-502920">
              <a:spcAft>
                <a:spcPts val="1200"/>
              </a:spcAft>
              <a:buClr>
                <a:srgbClr val="F7B125"/>
              </a:buClr>
              <a:buFont typeface="Playpen Sans Bold"/>
              <a:buAutoNum type="arabicPeriod"/>
            </a:pPr>
            <a:r>
              <a:rPr sz="2600">
                <a:solidFill>
                  <a:srgbClr val="FFFFFF"/>
                </a:solidFill>
                <a:latin typeface="Playpen Sans"/>
              </a:rPr>
              <a:t>Seed beruntung atau kenop yang bagus? Bagaimana membedakannya?</a:t>
            </a:r>
          </a:p>
          <a:p>
            <a:pPr algn="l" marL="502920" indent="-502920">
              <a:spcAft>
                <a:spcPts val="0"/>
              </a:spcAft>
              <a:buClr>
                <a:srgbClr val="F7B125"/>
              </a:buClr>
              <a:buFont typeface="Playpen Sans Bold"/>
              <a:buAutoNum type="arabicPeriod"/>
            </a:pPr>
            <a:r>
              <a:rPr sz="2600">
                <a:solidFill>
                  <a:srgbClr val="FFFFFF"/>
                </a:solidFill>
                <a:latin typeface="Playpen Sans"/>
              </a:rPr>
              <a:t>Tidak ada yang menulis aturan kapan mengepak. Dari mana aturan itu datang?</a:t>
            </a:r>
          </a:p>
        </p:txBody>
      </p:sp>
      <p:sp>
        <p:nvSpPr>
          <p:cNvPr id="19" name="Chip"/>
          <p:cNvSpPr/>
          <p:nvPr/>
        </p:nvSpPr>
        <p:spPr>
          <a:xfrm>
            <a:off x="9418319" y="2148840"/>
            <a:ext cx="7360919" cy="1097280"/>
          </a:xfrm>
          <a:prstGeom prst="roundRect">
            <a:avLst>
              <a:gd name="adj" fmla="val 15000"/>
            </a:avLst>
          </a:prstGeom>
          <a:solidFill>
            <a:srgbClr val="14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Warna chip"/>
          <p:cNvSpPr/>
          <p:nvPr/>
        </p:nvSpPr>
        <p:spPr>
          <a:xfrm>
            <a:off x="9418319" y="2148840"/>
            <a:ext cx="228600" cy="1097280"/>
          </a:xfrm>
          <a:prstGeom prst="roundRect">
            <a:avLst>
              <a:gd name="adj" fmla="val 15000"/>
            </a:avLst>
          </a:prstGeom>
          <a:solidFill>
            <a:srgbClr val="B8A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Isi chip"/>
          <p:cNvSpPr txBox="1"/>
          <p:nvPr/>
        </p:nvSpPr>
        <p:spPr>
          <a:xfrm>
            <a:off x="9875519" y="2240280"/>
            <a:ext cx="6720839" cy="960120"/>
          </a:xfrm>
          <a:prstGeom prst="rect">
            <a:avLst/>
          </a:prstGeom>
          <a:noFill/>
        </p:spPr>
        <p:txBody>
          <a:bodyPr wrap="square" lIns="0" rIns="0" tIns="0" bIns="0" anchor="ctr">
            <a:spAutoFit/>
          </a:bodyPr>
          <a:lstStyle/>
          <a:p>
            <a:pPr algn="l">
              <a:spcAft>
                <a:spcPts val="200"/>
              </a:spcAft>
            </a:pPr>
            <a:r>
              <a:rPr sz="2500">
                <a:solidFill>
                  <a:srgbClr val="FFFFFF"/>
                </a:solidFill>
                <a:latin typeface="Playpen Sans Bold"/>
              </a:rPr>
              <a:t>Otak komodo</a:t>
            </a:r>
          </a:p>
          <a:p>
            <a:pPr algn="l">
              <a:spcAft>
                <a:spcPts val="0"/>
              </a:spcAft>
            </a:pPr>
            <a:r>
              <a:rPr sz="2300">
                <a:solidFill>
                  <a:srgbClr val="F7B125"/>
                </a:solidFill>
                <a:latin typeface="Playpen Sans"/>
              </a:rPr>
              <a:t>jaringan saraf kecil (Pekan 4)</a:t>
            </a:r>
          </a:p>
        </p:txBody>
      </p:sp>
      <p:sp>
        <p:nvSpPr>
          <p:cNvPr id="22" name="Chip"/>
          <p:cNvSpPr/>
          <p:nvPr/>
        </p:nvSpPr>
        <p:spPr>
          <a:xfrm>
            <a:off x="9418319" y="3410712"/>
            <a:ext cx="7360919" cy="1097280"/>
          </a:xfrm>
          <a:prstGeom prst="roundRect">
            <a:avLst>
              <a:gd name="adj" fmla="val 15000"/>
            </a:avLst>
          </a:prstGeom>
          <a:solidFill>
            <a:srgbClr val="14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Warna chip"/>
          <p:cNvSpPr/>
          <p:nvPr/>
        </p:nvSpPr>
        <p:spPr>
          <a:xfrm>
            <a:off x="9418319" y="3410712"/>
            <a:ext cx="228600" cy="1097280"/>
          </a:xfrm>
          <a:prstGeom prst="roundRect">
            <a:avLst>
              <a:gd name="adj" fmla="val 15000"/>
            </a:avLst>
          </a:prstGeom>
          <a:solidFill>
            <a:srgbClr val="B8A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Isi chip"/>
          <p:cNvSpPr txBox="1"/>
          <p:nvPr/>
        </p:nvSpPr>
        <p:spPr>
          <a:xfrm>
            <a:off x="9875519" y="3502152"/>
            <a:ext cx="6720839" cy="960120"/>
          </a:xfrm>
          <a:prstGeom prst="rect">
            <a:avLst/>
          </a:prstGeom>
          <a:noFill/>
        </p:spPr>
        <p:txBody>
          <a:bodyPr wrap="square" lIns="0" rIns="0" tIns="0" bIns="0" anchor="ctr">
            <a:spAutoFit/>
          </a:bodyPr>
          <a:lstStyle/>
          <a:p>
            <a:pPr algn="l">
              <a:spcAft>
                <a:spcPts val="200"/>
              </a:spcAft>
            </a:pPr>
            <a:r>
              <a:rPr sz="2500">
                <a:solidFill>
                  <a:srgbClr val="FFFFFF"/>
                </a:solidFill>
                <a:latin typeface="Playpen Sans Bold"/>
              </a:rPr>
              <a:t>Evolusi</a:t>
            </a:r>
          </a:p>
          <a:p>
            <a:pPr algn="l">
              <a:spcAft>
                <a:spcPts val="0"/>
              </a:spcAft>
            </a:pPr>
            <a:r>
              <a:rPr sz="2300">
                <a:solidFill>
                  <a:srgbClr val="F7B125"/>
                </a:solidFill>
                <a:latin typeface="Playpen Sans"/>
              </a:rPr>
              <a:t>algoritma genetika (Pekan 10)</a:t>
            </a:r>
          </a:p>
        </p:txBody>
      </p:sp>
      <p:sp>
        <p:nvSpPr>
          <p:cNvPr id="25" name="Chip"/>
          <p:cNvSpPr/>
          <p:nvPr/>
        </p:nvSpPr>
        <p:spPr>
          <a:xfrm>
            <a:off x="9418319" y="4672583"/>
            <a:ext cx="7360919" cy="1097280"/>
          </a:xfrm>
          <a:prstGeom prst="roundRect">
            <a:avLst>
              <a:gd name="adj" fmla="val 15000"/>
            </a:avLst>
          </a:prstGeom>
          <a:solidFill>
            <a:srgbClr val="14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Warna chip"/>
          <p:cNvSpPr/>
          <p:nvPr/>
        </p:nvSpPr>
        <p:spPr>
          <a:xfrm>
            <a:off x="9418319" y="4672583"/>
            <a:ext cx="228600" cy="1097280"/>
          </a:xfrm>
          <a:prstGeom prst="roundRect">
            <a:avLst>
              <a:gd name="adj" fmla="val 15000"/>
            </a:avLst>
          </a:prstGeom>
          <a:solidFill>
            <a:srgbClr val="B8A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Isi chip"/>
          <p:cNvSpPr txBox="1"/>
          <p:nvPr/>
        </p:nvSpPr>
        <p:spPr>
          <a:xfrm>
            <a:off x="9875519" y="4764023"/>
            <a:ext cx="6720839" cy="960120"/>
          </a:xfrm>
          <a:prstGeom prst="rect">
            <a:avLst/>
          </a:prstGeom>
          <a:noFill/>
        </p:spPr>
        <p:txBody>
          <a:bodyPr wrap="square" lIns="0" rIns="0" tIns="0" bIns="0" anchor="ctr">
            <a:spAutoFit/>
          </a:bodyPr>
          <a:lstStyle/>
          <a:p>
            <a:pPr algn="l">
              <a:spcAft>
                <a:spcPts val="200"/>
              </a:spcAft>
            </a:pPr>
            <a:r>
              <a:rPr sz="2500">
                <a:solidFill>
                  <a:srgbClr val="FFFFFF"/>
                </a:solidFill>
                <a:latin typeface="Playpen Sans Bold"/>
              </a:rPr>
              <a:t>Komodo terpakai</a:t>
            </a:r>
          </a:p>
          <a:p>
            <a:pPr algn="l">
              <a:spcAft>
                <a:spcPts val="0"/>
              </a:spcAft>
            </a:pPr>
            <a:r>
              <a:rPr sz="2300">
                <a:solidFill>
                  <a:srgbClr val="F7B125"/>
                </a:solidFill>
                <a:latin typeface="Playpen Sans"/>
              </a:rPr>
              <a:t>anggaran evaluasi (Pekan 9)</a:t>
            </a:r>
          </a:p>
        </p:txBody>
      </p:sp>
      <p:sp>
        <p:nvSpPr>
          <p:cNvPr id="28" name="Chip"/>
          <p:cNvSpPr/>
          <p:nvPr/>
        </p:nvSpPr>
        <p:spPr>
          <a:xfrm>
            <a:off x="9418319" y="5934455"/>
            <a:ext cx="7360919" cy="1097280"/>
          </a:xfrm>
          <a:prstGeom prst="roundRect">
            <a:avLst>
              <a:gd name="adj" fmla="val 15000"/>
            </a:avLst>
          </a:prstGeom>
          <a:solidFill>
            <a:srgbClr val="14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Warna chip"/>
          <p:cNvSpPr/>
          <p:nvPr/>
        </p:nvSpPr>
        <p:spPr>
          <a:xfrm>
            <a:off x="9418319" y="5934455"/>
            <a:ext cx="228600" cy="1097280"/>
          </a:xfrm>
          <a:prstGeom prst="roundRect">
            <a:avLst>
              <a:gd name="adj" fmla="val 15000"/>
            </a:avLst>
          </a:prstGeom>
          <a:solidFill>
            <a:srgbClr val="B8A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Isi chip"/>
          <p:cNvSpPr txBox="1"/>
          <p:nvPr/>
        </p:nvSpPr>
        <p:spPr>
          <a:xfrm>
            <a:off x="9875519" y="6025895"/>
            <a:ext cx="6720839" cy="960120"/>
          </a:xfrm>
          <a:prstGeom prst="rect">
            <a:avLst/>
          </a:prstGeom>
          <a:noFill/>
        </p:spPr>
        <p:txBody>
          <a:bodyPr wrap="square" lIns="0" rIns="0" tIns="0" bIns="0" anchor="ctr">
            <a:spAutoFit/>
          </a:bodyPr>
          <a:lstStyle/>
          <a:p>
            <a:pPr algn="l">
              <a:spcAft>
                <a:spcPts val="200"/>
              </a:spcAft>
            </a:pPr>
            <a:r>
              <a:rPr sz="2500">
                <a:solidFill>
                  <a:srgbClr val="FFFFFF"/>
                </a:solidFill>
                <a:latin typeface="Playpen Sans Bold"/>
              </a:rPr>
              <a:t>Cek 5 seed lain</a:t>
            </a:r>
          </a:p>
          <a:p>
            <a:pPr algn="l">
              <a:spcAft>
                <a:spcPts val="0"/>
              </a:spcAft>
            </a:pPr>
            <a:r>
              <a:rPr sz="2300">
                <a:solidFill>
                  <a:srgbClr val="F7B125"/>
                </a:solidFill>
                <a:latin typeface="Playpen Sans"/>
              </a:rPr>
              <a:t>minimal 10 percobaan di proyek akhir</a:t>
            </a:r>
          </a:p>
        </p:txBody>
      </p:sp>
    </p:spTree>
  </p:cSld>
  <p:clrMapOvr>
    <a:masterClrMapping/>
  </p:clrMapOvr>
</p:sld>
</file>

<file path=ppt/slides/slide2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67928" r="0" b="-67928"/>
            </a:stretch>
          </a:blipFill>
        </p:spPr>
      </p:sp>
      <p:sp>
        <p:nvSpPr>
          <p:cNvPr name="Freeform 3" id="3"/>
          <p:cNvSpPr/>
          <p:nvPr/>
        </p:nvSpPr>
        <p:spPr>
          <a:xfrm flipH="false" flipV="false" rot="0">
            <a:off x="12533569" y="-21055"/>
            <a:ext cx="5762298" cy="6532600"/>
          </a:xfrm>
          <a:custGeom>
            <a:avLst/>
            <a:gdLst/>
            <a:ahLst/>
            <a:cxnLst/>
            <a:rect r="r" b="b" t="t" l="l"/>
            <a:pathLst>
              <a:path h="6532600" w="5762298">
                <a:moveTo>
                  <a:pt x="0" y="0"/>
                </a:moveTo>
                <a:lnTo>
                  <a:pt x="5762298" y="0"/>
                </a:lnTo>
                <a:lnTo>
                  <a:pt x="5762298" y="6532600"/>
                </a:lnTo>
                <a:lnTo>
                  <a:pt x="0" y="6532600"/>
                </a:lnTo>
                <a:lnTo>
                  <a:pt x="0" y="0"/>
                </a:lnTo>
                <a:close/>
              </a:path>
            </a:pathLst>
          </a:custGeom>
          <a:blipFill>
            <a:blip r:embed="rId3"/>
            <a:stretch>
              <a:fillRect l="0" t="0" r="0" b="0"/>
            </a:stretch>
          </a:blipFill>
        </p:spPr>
      </p:sp>
      <p:sp>
        <p:nvSpPr>
          <p:cNvPr name="Freeform 4" id="4"/>
          <p:cNvSpPr/>
          <p:nvPr/>
        </p:nvSpPr>
        <p:spPr>
          <a:xfrm flipH="false" flipV="false" rot="0">
            <a:off x="12978766" y="2004481"/>
            <a:ext cx="5309234" cy="5465964"/>
          </a:xfrm>
          <a:custGeom>
            <a:avLst/>
            <a:gdLst/>
            <a:ahLst/>
            <a:cxnLst/>
            <a:rect r="r" b="b" t="t" l="l"/>
            <a:pathLst>
              <a:path h="5465964" w="5309234">
                <a:moveTo>
                  <a:pt x="0" y="0"/>
                </a:moveTo>
                <a:lnTo>
                  <a:pt x="5309234" y="0"/>
                </a:lnTo>
                <a:lnTo>
                  <a:pt x="5309234" y="5465965"/>
                </a:lnTo>
                <a:lnTo>
                  <a:pt x="0" y="5465965"/>
                </a:lnTo>
                <a:lnTo>
                  <a:pt x="0" y="0"/>
                </a:lnTo>
                <a:close/>
              </a:path>
            </a:pathLst>
          </a:custGeom>
          <a:blipFill>
            <a:blip r:embed="rId4"/>
            <a:stretch>
              <a:fillRect l="0" t="0" r="0" b="0"/>
            </a:stretch>
          </a:blipFill>
        </p:spPr>
      </p:sp>
      <p:sp>
        <p:nvSpPr>
          <p:cNvPr name="Freeform 5" id="5"/>
          <p:cNvSpPr/>
          <p:nvPr/>
        </p:nvSpPr>
        <p:spPr>
          <a:xfrm flipH="true" flipV="false" rot="0">
            <a:off x="-29416" y="0"/>
            <a:ext cx="5762298" cy="6532600"/>
          </a:xfrm>
          <a:custGeom>
            <a:avLst/>
            <a:gdLst/>
            <a:ahLst/>
            <a:cxnLst/>
            <a:rect r="r" b="b" t="t" l="l"/>
            <a:pathLst>
              <a:path h="6532600" w="5762298">
                <a:moveTo>
                  <a:pt x="5762298" y="0"/>
                </a:moveTo>
                <a:lnTo>
                  <a:pt x="0" y="0"/>
                </a:lnTo>
                <a:lnTo>
                  <a:pt x="0" y="6532600"/>
                </a:lnTo>
                <a:lnTo>
                  <a:pt x="5762298" y="6532600"/>
                </a:lnTo>
                <a:lnTo>
                  <a:pt x="5762298" y="0"/>
                </a:lnTo>
                <a:close/>
              </a:path>
            </a:pathLst>
          </a:custGeom>
          <a:blipFill>
            <a:blip r:embed="rId3"/>
            <a:stretch>
              <a:fillRect l="0" t="0" r="0" b="0"/>
            </a:stretch>
          </a:blipFill>
        </p:spPr>
      </p:sp>
      <p:sp>
        <p:nvSpPr>
          <p:cNvPr name="Freeform 6" id="6"/>
          <p:cNvSpPr/>
          <p:nvPr/>
        </p:nvSpPr>
        <p:spPr>
          <a:xfrm flipH="false" flipV="false" rot="0">
            <a:off x="423648" y="2410518"/>
            <a:ext cx="5309234" cy="5465964"/>
          </a:xfrm>
          <a:custGeom>
            <a:avLst/>
            <a:gdLst/>
            <a:ahLst/>
            <a:cxnLst/>
            <a:rect r="r" b="b" t="t" l="l"/>
            <a:pathLst>
              <a:path h="5465964" w="5309234">
                <a:moveTo>
                  <a:pt x="0" y="0"/>
                </a:moveTo>
                <a:lnTo>
                  <a:pt x="5309234" y="0"/>
                </a:lnTo>
                <a:lnTo>
                  <a:pt x="5309234" y="5465964"/>
                </a:lnTo>
                <a:lnTo>
                  <a:pt x="0" y="5465964"/>
                </a:lnTo>
                <a:lnTo>
                  <a:pt x="0" y="0"/>
                </a:lnTo>
                <a:close/>
              </a:path>
            </a:pathLst>
          </a:custGeom>
          <a:blipFill>
            <a:blip r:embed="rId4"/>
            <a:stretch>
              <a:fillRect l="0" t="0" r="0" b="0"/>
            </a:stretch>
          </a:blipFill>
        </p:spPr>
      </p:sp>
      <p:sp>
        <p:nvSpPr>
          <p:cNvPr name="Freeform 7" id="7"/>
          <p:cNvSpPr/>
          <p:nvPr/>
        </p:nvSpPr>
        <p:spPr>
          <a:xfrm flipH="false" flipV="false" rot="0">
            <a:off x="-317430" y="7660946"/>
            <a:ext cx="18613297" cy="3022078"/>
          </a:xfrm>
          <a:custGeom>
            <a:avLst/>
            <a:gdLst/>
            <a:ahLst/>
            <a:cxnLst/>
            <a:rect r="r" b="b" t="t" l="l"/>
            <a:pathLst>
              <a:path h="3022078" w="18613297">
                <a:moveTo>
                  <a:pt x="0" y="0"/>
                </a:moveTo>
                <a:lnTo>
                  <a:pt x="18613297" y="0"/>
                </a:lnTo>
                <a:lnTo>
                  <a:pt x="18613297" y="3022077"/>
                </a:lnTo>
                <a:lnTo>
                  <a:pt x="0" y="3022077"/>
                </a:lnTo>
                <a:lnTo>
                  <a:pt x="0" y="0"/>
                </a:lnTo>
                <a:close/>
              </a:path>
            </a:pathLst>
          </a:custGeom>
          <a:blipFill>
            <a:blip r:embed="rId5"/>
            <a:stretch>
              <a:fillRect l="-158" t="0" r="-158" b="-6838"/>
            </a:stretch>
          </a:blipFill>
        </p:spPr>
      </p:sp>
      <p:sp>
        <p:nvSpPr>
          <p:cNvPr name="Freeform 10" id="10"/>
          <p:cNvSpPr/>
          <p:nvPr/>
        </p:nvSpPr>
        <p:spPr>
          <a:xfrm flipH="false" flipV="false" rot="0">
            <a:off x="-29416" y="2396745"/>
            <a:ext cx="4040554" cy="8229600"/>
          </a:xfrm>
          <a:custGeom>
            <a:avLst/>
            <a:gdLst/>
            <a:ahLst/>
            <a:cxnLst/>
            <a:rect r="r" b="b" t="t" l="l"/>
            <a:pathLst>
              <a:path h="8229600" w="4040554">
                <a:moveTo>
                  <a:pt x="0" y="0"/>
                </a:moveTo>
                <a:lnTo>
                  <a:pt x="4040554" y="0"/>
                </a:lnTo>
                <a:lnTo>
                  <a:pt x="4040554" y="8229600"/>
                </a:lnTo>
                <a:lnTo>
                  <a:pt x="0" y="8229600"/>
                </a:lnTo>
                <a:lnTo>
                  <a:pt x="0" y="0"/>
                </a:lnTo>
                <a:close/>
              </a:path>
            </a:pathLst>
          </a:custGeom>
          <a:blipFill>
            <a:blip r:embed="rId8"/>
            <a:stretch>
              <a:fillRect l="0" t="0" r="0" b="0"/>
            </a:stretch>
          </a:blipFill>
        </p:spPr>
      </p:sp>
      <p:sp>
        <p:nvSpPr>
          <p:cNvPr name="Freeform 11" id="11"/>
          <p:cNvSpPr/>
          <p:nvPr/>
        </p:nvSpPr>
        <p:spPr>
          <a:xfrm flipH="false" flipV="false" rot="0">
            <a:off x="681269" y="7470446"/>
            <a:ext cx="6083710" cy="4114800"/>
          </a:xfrm>
          <a:custGeom>
            <a:avLst/>
            <a:gdLst/>
            <a:ahLst/>
            <a:cxnLst/>
            <a:rect r="r" b="b" t="t" l="l"/>
            <a:pathLst>
              <a:path h="4114800" w="6083710">
                <a:moveTo>
                  <a:pt x="0" y="0"/>
                </a:moveTo>
                <a:lnTo>
                  <a:pt x="6083709" y="0"/>
                </a:lnTo>
                <a:lnTo>
                  <a:pt x="6083709" y="4114800"/>
                </a:lnTo>
                <a:lnTo>
                  <a:pt x="0" y="4114800"/>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id="12" name="Panel"/>
          <p:cNvSpPr/>
          <p:nvPr/>
        </p:nvSpPr>
        <p:spPr>
          <a:xfrm>
            <a:off x="4480560" y="731520"/>
            <a:ext cx="12893040" cy="6675120"/>
          </a:xfrm>
          <a:prstGeom prst="roundRect">
            <a:avLst>
              <a:gd name="adj" fmla="val 5000"/>
            </a:avLst>
          </a:prstGeom>
          <a:solidFill>
            <a:srgbClr val="0A2540">
              <a:alpha val="8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Judul"/>
          <p:cNvSpPr txBox="1"/>
          <p:nvPr/>
        </p:nvSpPr>
        <p:spPr>
          <a:xfrm>
            <a:off x="5074920" y="1005840"/>
            <a:ext cx="11704319" cy="1188720"/>
          </a:xfrm>
          <a:prstGeom prst="rect">
            <a:avLst/>
          </a:prstGeom>
          <a:noFill/>
        </p:spPr>
        <p:txBody>
          <a:bodyPr wrap="square" lIns="0" rIns="0" tIns="0" bIns="0" anchor="t">
            <a:spAutoFit/>
          </a:bodyPr>
          <a:lstStyle/>
          <a:p>
            <a:pPr algn="l">
              <a:spcAft>
                <a:spcPts val="0"/>
              </a:spcAft>
            </a:pPr>
            <a:r>
              <a:rPr sz="5800">
                <a:solidFill>
                  <a:srgbClr val="F7B125"/>
                </a:solidFill>
                <a:latin typeface="Playpen Sans Bold"/>
              </a:rPr>
              <a:t>Pemenang dan Pertemuan 1</a:t>
            </a:r>
          </a:p>
        </p:txBody>
      </p:sp>
      <p:sp>
        <p:nvSpPr>
          <p:cNvPr id="14" name="Pemenang"/>
          <p:cNvSpPr txBox="1"/>
          <p:nvPr/>
        </p:nvSpPr>
        <p:spPr>
          <a:xfrm>
            <a:off x="5074920" y="2194560"/>
            <a:ext cx="11704319" cy="1463040"/>
          </a:xfrm>
          <a:prstGeom prst="rect">
            <a:avLst/>
          </a:prstGeom>
          <a:noFill/>
        </p:spPr>
        <p:txBody>
          <a:bodyPr wrap="square" lIns="0" rIns="0" tIns="0" bIns="0" anchor="t">
            <a:spAutoFit/>
          </a:bodyPr>
          <a:lstStyle/>
          <a:p>
            <a:pPr algn="l" marL="502920" indent="-502920">
              <a:spcAft>
                <a:spcPts val="800"/>
              </a:spcAft>
              <a:buClr>
                <a:srgbClr val="F7B125"/>
              </a:buClr>
              <a:buFont typeface="Arial"/>
              <a:buChar char="•"/>
            </a:pPr>
            <a:r>
              <a:rPr sz="2800">
                <a:solidFill>
                  <a:srgbClr val="FFFFFF"/>
                </a:solidFill>
                <a:latin typeface="Playpen Sans"/>
              </a:rPr>
              <a:t>Pemenang Babak 1: skor manusia tertinggi</a:t>
            </a:r>
          </a:p>
          <a:p>
            <a:pPr algn="l" marL="502920" indent="-502920">
              <a:spcAft>
                <a:spcPts val="0"/>
              </a:spcAft>
              <a:buClr>
                <a:srgbClr val="F7B125"/>
              </a:buClr>
              <a:buFont typeface="Arial"/>
              <a:buChar char="•"/>
            </a:pPr>
            <a:r>
              <a:rPr sz="2800">
                <a:solidFill>
                  <a:srgbClr val="FFFFFF"/>
                </a:solidFill>
                <a:latin typeface="Playpen Sans"/>
              </a:rPr>
              <a:t>Pemenang Babak 3: komodo paling sedikit, lolos cek 5 seed</a:t>
            </a:r>
          </a:p>
        </p:txBody>
      </p:sp>
      <p:sp>
        <p:nvSpPr>
          <p:cNvPr id="15" name="Persiapan"/>
          <p:cNvSpPr txBox="1"/>
          <p:nvPr/>
        </p:nvSpPr>
        <p:spPr>
          <a:xfrm>
            <a:off x="5074920" y="4023360"/>
            <a:ext cx="11704319" cy="3200400"/>
          </a:xfrm>
          <a:prstGeom prst="rect">
            <a:avLst/>
          </a:prstGeom>
          <a:noFill/>
        </p:spPr>
        <p:txBody>
          <a:bodyPr wrap="square" lIns="0" rIns="0" tIns="0" bIns="0" anchor="t">
            <a:spAutoFit/>
          </a:bodyPr>
          <a:lstStyle/>
          <a:p>
            <a:pPr algn="l">
              <a:spcAft>
                <a:spcPts val="1000"/>
              </a:spcAft>
            </a:pPr>
            <a:r>
              <a:rPr sz="3200">
                <a:solidFill>
                  <a:srgbClr val="F7B125"/>
                </a:solidFill>
                <a:latin typeface="Playpen Sans Bold"/>
              </a:rPr>
              <a:t>Sebelum Pertemuan 1</a:t>
            </a:r>
          </a:p>
          <a:p>
            <a:pPr algn="l" marL="502920" indent="-502920">
              <a:spcAft>
                <a:spcPts val="1000"/>
              </a:spcAft>
              <a:buClr>
                <a:srgbClr val="F7B125"/>
              </a:buClr>
              <a:buFont typeface="Arial"/>
              <a:buChar char="•"/>
            </a:pPr>
            <a:r>
              <a:rPr sz="2700">
                <a:solidFill>
                  <a:srgbClr val="FFFFFF"/>
                </a:solidFill>
                <a:latin typeface="Playpen Sans"/>
              </a:rPr>
              <a:t>Baca UDL bagian 1.1 (halaman 1 sampai 6) dan bab 2 (halaman 17 sampai 22)</a:t>
            </a:r>
          </a:p>
          <a:p>
            <a:pPr algn="l" marL="502920" indent="-502920">
              <a:spcAft>
                <a:spcPts val="1000"/>
              </a:spcAft>
              <a:buClr>
                <a:srgbClr val="F7B125"/>
              </a:buClr>
              <a:buFont typeface="Arial"/>
              <a:buChar char="•"/>
            </a:pPr>
            <a:r>
              <a:rPr sz="2700">
                <a:solidFill>
                  <a:srgbClr val="FFFFFF"/>
                </a:solidFill>
                <a:latin typeface="Playpen Sans"/>
              </a:rPr>
              <a:t>Bawa laptop yang sudah bisa membuka Colab</a:t>
            </a:r>
          </a:p>
          <a:p>
            <a:pPr algn="l" marL="502920" indent="-502920">
              <a:spcAft>
                <a:spcPts val="0"/>
              </a:spcAft>
              <a:buClr>
                <a:srgbClr val="F7B125"/>
              </a:buClr>
              <a:buFont typeface="Arial"/>
              <a:buChar char="•"/>
            </a:pPr>
            <a:r>
              <a:rPr sz="2700">
                <a:solidFill>
                  <a:srgbClr val="FFFFFF"/>
                </a:solidFill>
                <a:latin typeface="Playpen Sans"/>
              </a:rPr>
              <a:t>Materi pendukung Python untuk programmer Go menyusul di situs kelas</a:t>
            </a:r>
          </a:p>
        </p:txBody>
      </p:sp>
    </p:spTree>
  </p:cSld>
  <p:clrMapOvr>
    <a:masterClrMapping/>
  </p:clrMapOvr>
</p:sld>
</file>

<file path=ppt/slides/slide2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67928" r="0" b="-67928"/>
            </a:stretch>
          </a:blipFill>
        </p:spPr>
      </p:sp>
      <p:sp>
        <p:nvSpPr>
          <p:cNvPr name="Freeform 3" id="3"/>
          <p:cNvSpPr/>
          <p:nvPr/>
        </p:nvSpPr>
        <p:spPr>
          <a:xfrm flipH="false" flipV="false" rot="0">
            <a:off x="9577136" y="3199705"/>
            <a:ext cx="5309234" cy="5465964"/>
          </a:xfrm>
          <a:custGeom>
            <a:avLst/>
            <a:gdLst/>
            <a:ahLst/>
            <a:cxnLst/>
            <a:rect r="r" b="b" t="t" l="l"/>
            <a:pathLst>
              <a:path h="5465964" w="5309234">
                <a:moveTo>
                  <a:pt x="0" y="0"/>
                </a:moveTo>
                <a:lnTo>
                  <a:pt x="5309234" y="0"/>
                </a:lnTo>
                <a:lnTo>
                  <a:pt x="5309234" y="5465965"/>
                </a:lnTo>
                <a:lnTo>
                  <a:pt x="0" y="5465965"/>
                </a:lnTo>
                <a:lnTo>
                  <a:pt x="0" y="0"/>
                </a:lnTo>
                <a:close/>
              </a:path>
            </a:pathLst>
          </a:custGeom>
          <a:blipFill>
            <a:blip r:embed="rId3"/>
            <a:stretch>
              <a:fillRect l="0" t="0" r="0" b="0"/>
            </a:stretch>
          </a:blipFill>
        </p:spPr>
      </p:sp>
      <p:sp>
        <p:nvSpPr>
          <p:cNvPr name="Freeform 4" id="4"/>
          <p:cNvSpPr/>
          <p:nvPr/>
        </p:nvSpPr>
        <p:spPr>
          <a:xfrm flipH="false" flipV="false" rot="0">
            <a:off x="12533569" y="-21055"/>
            <a:ext cx="5762298" cy="6532600"/>
          </a:xfrm>
          <a:custGeom>
            <a:avLst/>
            <a:gdLst/>
            <a:ahLst/>
            <a:cxnLst/>
            <a:rect r="r" b="b" t="t" l="l"/>
            <a:pathLst>
              <a:path h="6532600" w="5762298">
                <a:moveTo>
                  <a:pt x="0" y="0"/>
                </a:moveTo>
                <a:lnTo>
                  <a:pt x="5762298" y="0"/>
                </a:lnTo>
                <a:lnTo>
                  <a:pt x="5762298" y="6532600"/>
                </a:lnTo>
                <a:lnTo>
                  <a:pt x="0" y="6532600"/>
                </a:lnTo>
                <a:lnTo>
                  <a:pt x="0" y="0"/>
                </a:lnTo>
                <a:close/>
              </a:path>
            </a:pathLst>
          </a:custGeom>
          <a:blipFill>
            <a:blip r:embed="rId4"/>
            <a:stretch>
              <a:fillRect l="0" t="0" r="0" b="0"/>
            </a:stretch>
          </a:blipFill>
        </p:spPr>
      </p:sp>
      <p:sp>
        <p:nvSpPr>
          <p:cNvPr name="Freeform 5" id="5"/>
          <p:cNvSpPr/>
          <p:nvPr/>
        </p:nvSpPr>
        <p:spPr>
          <a:xfrm flipH="true" flipV="false" rot="0">
            <a:off x="-29416" y="0"/>
            <a:ext cx="5762298" cy="6532600"/>
          </a:xfrm>
          <a:custGeom>
            <a:avLst/>
            <a:gdLst/>
            <a:ahLst/>
            <a:cxnLst/>
            <a:rect r="r" b="b" t="t" l="l"/>
            <a:pathLst>
              <a:path h="6532600" w="5762298">
                <a:moveTo>
                  <a:pt x="5762298" y="0"/>
                </a:moveTo>
                <a:lnTo>
                  <a:pt x="0" y="0"/>
                </a:lnTo>
                <a:lnTo>
                  <a:pt x="0" y="6532600"/>
                </a:lnTo>
                <a:lnTo>
                  <a:pt x="5762298" y="6532600"/>
                </a:lnTo>
                <a:lnTo>
                  <a:pt x="5762298" y="0"/>
                </a:lnTo>
                <a:close/>
              </a:path>
            </a:pathLst>
          </a:custGeom>
          <a:blipFill>
            <a:blip r:embed="rId4"/>
            <a:stretch>
              <a:fillRect l="0" t="0" r="0" b="0"/>
            </a:stretch>
          </a:blipFill>
        </p:spPr>
      </p:sp>
      <p:sp>
        <p:nvSpPr>
          <p:cNvPr name="Freeform 6" id="6"/>
          <p:cNvSpPr/>
          <p:nvPr/>
        </p:nvSpPr>
        <p:spPr>
          <a:xfrm flipH="false" flipV="false" rot="0">
            <a:off x="2244885" y="1988036"/>
            <a:ext cx="5309234" cy="5465964"/>
          </a:xfrm>
          <a:custGeom>
            <a:avLst/>
            <a:gdLst/>
            <a:ahLst/>
            <a:cxnLst/>
            <a:rect r="r" b="b" t="t" l="l"/>
            <a:pathLst>
              <a:path h="5465964" w="5309234">
                <a:moveTo>
                  <a:pt x="0" y="0"/>
                </a:moveTo>
                <a:lnTo>
                  <a:pt x="5309235" y="0"/>
                </a:lnTo>
                <a:lnTo>
                  <a:pt x="5309235" y="5465964"/>
                </a:lnTo>
                <a:lnTo>
                  <a:pt x="0" y="5465964"/>
                </a:lnTo>
                <a:lnTo>
                  <a:pt x="0" y="0"/>
                </a:lnTo>
                <a:close/>
              </a:path>
            </a:pathLst>
          </a:custGeom>
          <a:blipFill>
            <a:blip r:embed="rId3"/>
            <a:stretch>
              <a:fillRect l="0" t="0" r="0" b="0"/>
            </a:stretch>
          </a:blipFill>
        </p:spPr>
      </p:sp>
      <p:sp>
        <p:nvSpPr>
          <p:cNvPr name="Freeform 7" id="7"/>
          <p:cNvSpPr/>
          <p:nvPr/>
        </p:nvSpPr>
        <p:spPr>
          <a:xfrm flipH="false" flipV="false" rot="0">
            <a:off x="-317430" y="7660946"/>
            <a:ext cx="18613297" cy="3022078"/>
          </a:xfrm>
          <a:custGeom>
            <a:avLst/>
            <a:gdLst/>
            <a:ahLst/>
            <a:cxnLst/>
            <a:rect r="r" b="b" t="t" l="l"/>
            <a:pathLst>
              <a:path h="3022078" w="18613297">
                <a:moveTo>
                  <a:pt x="0" y="0"/>
                </a:moveTo>
                <a:lnTo>
                  <a:pt x="18613297" y="0"/>
                </a:lnTo>
                <a:lnTo>
                  <a:pt x="18613297" y="3022077"/>
                </a:lnTo>
                <a:lnTo>
                  <a:pt x="0" y="3022077"/>
                </a:lnTo>
                <a:lnTo>
                  <a:pt x="0" y="0"/>
                </a:lnTo>
                <a:close/>
              </a:path>
            </a:pathLst>
          </a:custGeom>
          <a:blipFill>
            <a:blip r:embed="rId5"/>
            <a:stretch>
              <a:fillRect l="-158" t="0" r="-158" b="-6838"/>
            </a:stretch>
          </a:blipFill>
        </p:spPr>
      </p:sp>
      <p:sp>
        <p:nvSpPr>
          <p:cNvPr name="Freeform 8" id="8"/>
          <p:cNvSpPr/>
          <p:nvPr/>
        </p:nvSpPr>
        <p:spPr>
          <a:xfrm flipH="true" flipV="false" rot="0">
            <a:off x="13751443" y="1408594"/>
            <a:ext cx="5427899" cy="1816870"/>
          </a:xfrm>
          <a:custGeom>
            <a:avLst/>
            <a:gdLst/>
            <a:ahLst/>
            <a:cxnLst/>
            <a:rect r="r" b="b" t="t" l="l"/>
            <a:pathLst>
              <a:path h="1816870" w="5427899">
                <a:moveTo>
                  <a:pt x="5427899" y="0"/>
                </a:moveTo>
                <a:lnTo>
                  <a:pt x="0" y="0"/>
                </a:lnTo>
                <a:lnTo>
                  <a:pt x="0" y="1816870"/>
                </a:lnTo>
                <a:lnTo>
                  <a:pt x="5427899" y="1816870"/>
                </a:lnTo>
                <a:lnTo>
                  <a:pt x="5427899" y="0"/>
                </a:lnTo>
                <a:close/>
              </a:path>
            </a:pathLst>
          </a:custGeom>
          <a:blipFill>
            <a:blip r:embed="rId6">
              <a:alphaModFix amt="65000"/>
            </a:blip>
            <a:stretch>
              <a:fillRect l="0" t="0" r="0" b="0"/>
            </a:stretch>
          </a:blipFill>
        </p:spPr>
      </p:sp>
      <p:sp>
        <p:nvSpPr>
          <p:cNvPr name="Freeform 9" id="9"/>
          <p:cNvSpPr/>
          <p:nvPr/>
        </p:nvSpPr>
        <p:spPr>
          <a:xfrm flipH="false" flipV="false" rot="0">
            <a:off x="13240358" y="2417800"/>
            <a:ext cx="7524206" cy="8229600"/>
          </a:xfrm>
          <a:custGeom>
            <a:avLst/>
            <a:gdLst/>
            <a:ahLst/>
            <a:cxnLst/>
            <a:rect r="r" b="b" t="t" l="l"/>
            <a:pathLst>
              <a:path h="8229600" w="7524206">
                <a:moveTo>
                  <a:pt x="0" y="0"/>
                </a:moveTo>
                <a:lnTo>
                  <a:pt x="7524206" y="0"/>
                </a:lnTo>
                <a:lnTo>
                  <a:pt x="7524206" y="8229600"/>
                </a:lnTo>
                <a:lnTo>
                  <a:pt x="0" y="8229600"/>
                </a:lnTo>
                <a:lnTo>
                  <a:pt x="0" y="0"/>
                </a:lnTo>
                <a:close/>
              </a:path>
            </a:pathLst>
          </a:custGeom>
          <a:blipFill>
            <a:blip r:embed="rId7"/>
            <a:stretch>
              <a:fillRect l="0" t="0" r="0" b="0"/>
            </a:stretch>
          </a:blipFill>
        </p:spPr>
      </p:sp>
      <p:sp>
        <p:nvSpPr>
          <p:cNvPr name="Freeform 10" id="10"/>
          <p:cNvSpPr/>
          <p:nvPr/>
        </p:nvSpPr>
        <p:spPr>
          <a:xfrm flipH="false" flipV="false" rot="0">
            <a:off x="-940574" y="2396745"/>
            <a:ext cx="4040554" cy="8229600"/>
          </a:xfrm>
          <a:custGeom>
            <a:avLst/>
            <a:gdLst/>
            <a:ahLst/>
            <a:cxnLst/>
            <a:rect r="r" b="b" t="t" l="l"/>
            <a:pathLst>
              <a:path h="8229600" w="4040554">
                <a:moveTo>
                  <a:pt x="0" y="0"/>
                </a:moveTo>
                <a:lnTo>
                  <a:pt x="4040554" y="0"/>
                </a:lnTo>
                <a:lnTo>
                  <a:pt x="4040554" y="8229600"/>
                </a:lnTo>
                <a:lnTo>
                  <a:pt x="0" y="8229600"/>
                </a:lnTo>
                <a:lnTo>
                  <a:pt x="0" y="0"/>
                </a:lnTo>
                <a:close/>
              </a:path>
            </a:pathLst>
          </a:custGeom>
          <a:blipFill>
            <a:blip r:embed="rId8"/>
            <a:stretch>
              <a:fillRect l="0" t="0" r="0" b="0"/>
            </a:stretch>
          </a:blipFill>
        </p:spPr>
      </p:sp>
      <p:sp>
        <p:nvSpPr>
          <p:cNvPr name="Freeform 11" id="11"/>
          <p:cNvSpPr/>
          <p:nvPr/>
        </p:nvSpPr>
        <p:spPr>
          <a:xfrm flipH="false" flipV="false" rot="0">
            <a:off x="-190122" y="7454000"/>
            <a:ext cx="6083710" cy="4114800"/>
          </a:xfrm>
          <a:custGeom>
            <a:avLst/>
            <a:gdLst/>
            <a:ahLst/>
            <a:cxnLst/>
            <a:rect r="r" b="b" t="t" l="l"/>
            <a:pathLst>
              <a:path h="4114800" w="6083710">
                <a:moveTo>
                  <a:pt x="0" y="0"/>
                </a:moveTo>
                <a:lnTo>
                  <a:pt x="6083710" y="0"/>
                </a:lnTo>
                <a:lnTo>
                  <a:pt x="6083710" y="4114800"/>
                </a:lnTo>
                <a:lnTo>
                  <a:pt x="0" y="4114800"/>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name="Freeform 12" id="12"/>
          <p:cNvSpPr/>
          <p:nvPr/>
        </p:nvSpPr>
        <p:spPr>
          <a:xfrm flipH="false" flipV="false" rot="0">
            <a:off x="9549673" y="7660946"/>
            <a:ext cx="6083710" cy="4114800"/>
          </a:xfrm>
          <a:custGeom>
            <a:avLst/>
            <a:gdLst/>
            <a:ahLst/>
            <a:cxnLst/>
            <a:rect r="r" b="b" t="t" l="l"/>
            <a:pathLst>
              <a:path h="4114800" w="6083710">
                <a:moveTo>
                  <a:pt x="0" y="0"/>
                </a:moveTo>
                <a:lnTo>
                  <a:pt x="6083710" y="0"/>
                </a:lnTo>
                <a:lnTo>
                  <a:pt x="6083710" y="4114800"/>
                </a:lnTo>
                <a:lnTo>
                  <a:pt x="0" y="4114800"/>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name="Freeform 13" id="13"/>
          <p:cNvSpPr/>
          <p:nvPr/>
        </p:nvSpPr>
        <p:spPr>
          <a:xfrm flipH="false" flipV="false" rot="0">
            <a:off x="423648" y="576981"/>
            <a:ext cx="5790657" cy="1938295"/>
          </a:xfrm>
          <a:custGeom>
            <a:avLst/>
            <a:gdLst/>
            <a:ahLst/>
            <a:cxnLst/>
            <a:rect r="r" b="b" t="t" l="l"/>
            <a:pathLst>
              <a:path h="1938295" w="5790657">
                <a:moveTo>
                  <a:pt x="0" y="0"/>
                </a:moveTo>
                <a:lnTo>
                  <a:pt x="5790656" y="0"/>
                </a:lnTo>
                <a:lnTo>
                  <a:pt x="5790656" y="1938296"/>
                </a:lnTo>
                <a:lnTo>
                  <a:pt x="0" y="1938296"/>
                </a:lnTo>
                <a:lnTo>
                  <a:pt x="0" y="0"/>
                </a:lnTo>
                <a:close/>
              </a:path>
            </a:pathLst>
          </a:custGeom>
          <a:blipFill>
            <a:blip r:embed="rId6">
              <a:alphaModFix amt="65000"/>
            </a:blip>
            <a:stretch>
              <a:fillRect l="0" t="0" r="0" b="0"/>
            </a:stretch>
          </a:blipFill>
        </p:spPr>
      </p:sp>
      <p:grpSp>
        <p:nvGrpSpPr>
          <p:cNvPr name="Group 14" id="14"/>
          <p:cNvGrpSpPr/>
          <p:nvPr/>
        </p:nvGrpSpPr>
        <p:grpSpPr>
          <a:xfrm rot="0">
            <a:off x="4061996" y="2829602"/>
            <a:ext cx="4927222" cy="791725"/>
            <a:chOff x="0" y="0"/>
            <a:chExt cx="1297705" cy="208520"/>
          </a:xfrm>
        </p:grpSpPr>
        <p:sp>
          <p:nvSpPr>
            <p:cNvPr name="Freeform 15" id="15"/>
            <p:cNvSpPr/>
            <p:nvPr/>
          </p:nvSpPr>
          <p:spPr>
            <a:xfrm flipH="false" flipV="false" rot="0">
              <a:off x="0" y="0"/>
              <a:ext cx="1297705" cy="208520"/>
            </a:xfrm>
            <a:custGeom>
              <a:avLst/>
              <a:gdLst/>
              <a:ahLst/>
              <a:cxnLst/>
              <a:rect r="r" b="b" t="t" l="l"/>
              <a:pathLst>
                <a:path h="208520" w="1297705">
                  <a:moveTo>
                    <a:pt x="104260" y="0"/>
                  </a:moveTo>
                  <a:lnTo>
                    <a:pt x="1193444" y="0"/>
                  </a:lnTo>
                  <a:cubicBezTo>
                    <a:pt x="1251026" y="0"/>
                    <a:pt x="1297705" y="46679"/>
                    <a:pt x="1297705" y="104260"/>
                  </a:cubicBezTo>
                  <a:lnTo>
                    <a:pt x="1297705" y="104260"/>
                  </a:lnTo>
                  <a:cubicBezTo>
                    <a:pt x="1297705" y="161841"/>
                    <a:pt x="1251026" y="208520"/>
                    <a:pt x="1193444" y="208520"/>
                  </a:cubicBezTo>
                  <a:lnTo>
                    <a:pt x="104260" y="208520"/>
                  </a:lnTo>
                  <a:cubicBezTo>
                    <a:pt x="46679" y="208520"/>
                    <a:pt x="0" y="161841"/>
                    <a:pt x="0" y="104260"/>
                  </a:cubicBezTo>
                  <a:lnTo>
                    <a:pt x="0" y="104260"/>
                  </a:lnTo>
                  <a:cubicBezTo>
                    <a:pt x="0" y="46679"/>
                    <a:pt x="46679" y="0"/>
                    <a:pt x="104260" y="0"/>
                  </a:cubicBezTo>
                  <a:close/>
                </a:path>
              </a:pathLst>
            </a:custGeom>
            <a:ln w="19050" cap="rnd">
              <a:solidFill>
                <a:srgbClr val="FFFFFF"/>
              </a:solidFill>
              <a:prstDash val="solid"/>
              <a:round/>
            </a:ln>
          </p:spPr>
        </p:sp>
        <p:sp>
          <p:nvSpPr>
            <p:cNvPr name="TextBox 16" id="16"/>
            <p:cNvSpPr txBox="true"/>
            <p:nvPr/>
          </p:nvSpPr>
          <p:spPr>
            <a:xfrm>
              <a:off x="0" y="-38100"/>
              <a:ext cx="1297705" cy="246620"/>
            </a:xfrm>
            <a:prstGeom prst="rect">
              <a:avLst/>
            </a:prstGeom>
          </p:spPr>
          <p:txBody>
            <a:bodyPr anchor="ctr" rtlCol="false" tIns="50800" lIns="50800" bIns="50800" rIns="50800"/>
            <a:lstStyle/>
            <a:p>
              <a:pPr algn="ctr">
                <a:lnSpc>
                  <a:spcPts val="2659"/>
                </a:lnSpc>
                <a:spcBef>
                  <a:spcPct val="0"/>
                </a:spcBef>
              </a:pPr>
            </a:p>
          </p:txBody>
        </p:sp>
      </p:grpSp>
      <p:grpSp>
        <p:nvGrpSpPr>
          <p:cNvPr name="Group 17" id="17"/>
          <p:cNvGrpSpPr/>
          <p:nvPr/>
        </p:nvGrpSpPr>
        <p:grpSpPr>
          <a:xfrm rot="0">
            <a:off x="9894294" y="6869221"/>
            <a:ext cx="2441189" cy="791725"/>
            <a:chOff x="0" y="0"/>
            <a:chExt cx="642947" cy="208520"/>
          </a:xfrm>
        </p:grpSpPr>
        <p:sp>
          <p:nvSpPr>
            <p:cNvPr name="Freeform 18" id="18"/>
            <p:cNvSpPr/>
            <p:nvPr/>
          </p:nvSpPr>
          <p:spPr>
            <a:xfrm flipH="false" flipV="false" rot="0">
              <a:off x="0" y="0"/>
              <a:ext cx="642947" cy="208520"/>
            </a:xfrm>
            <a:custGeom>
              <a:avLst/>
              <a:gdLst/>
              <a:ahLst/>
              <a:cxnLst/>
              <a:rect r="r" b="b" t="t" l="l"/>
              <a:pathLst>
                <a:path h="208520" w="642947">
                  <a:moveTo>
                    <a:pt x="104260" y="0"/>
                  </a:moveTo>
                  <a:lnTo>
                    <a:pt x="538687" y="0"/>
                  </a:lnTo>
                  <a:cubicBezTo>
                    <a:pt x="596268" y="0"/>
                    <a:pt x="642947" y="46679"/>
                    <a:pt x="642947" y="104260"/>
                  </a:cubicBezTo>
                  <a:lnTo>
                    <a:pt x="642947" y="104260"/>
                  </a:lnTo>
                  <a:cubicBezTo>
                    <a:pt x="642947" y="161841"/>
                    <a:pt x="596268" y="208520"/>
                    <a:pt x="538687" y="208520"/>
                  </a:cubicBezTo>
                  <a:lnTo>
                    <a:pt x="104260" y="208520"/>
                  </a:lnTo>
                  <a:cubicBezTo>
                    <a:pt x="46679" y="208520"/>
                    <a:pt x="0" y="161841"/>
                    <a:pt x="0" y="104260"/>
                  </a:cubicBezTo>
                  <a:lnTo>
                    <a:pt x="0" y="104260"/>
                  </a:lnTo>
                  <a:cubicBezTo>
                    <a:pt x="0" y="46679"/>
                    <a:pt x="46679" y="0"/>
                    <a:pt x="104260" y="0"/>
                  </a:cubicBezTo>
                  <a:close/>
                </a:path>
              </a:pathLst>
            </a:custGeom>
            <a:solidFill>
              <a:srgbClr val="001769"/>
            </a:solidFill>
            <a:ln cap="rnd">
              <a:noFill/>
              <a:prstDash val="solid"/>
              <a:round/>
            </a:ln>
          </p:spPr>
        </p:sp>
        <p:sp>
          <p:nvSpPr>
            <p:cNvPr name="TextBox 19" id="19"/>
            <p:cNvSpPr txBox="true"/>
            <p:nvPr/>
          </p:nvSpPr>
          <p:spPr>
            <a:xfrm>
              <a:off x="0" y="-38100"/>
              <a:ext cx="642947" cy="246620"/>
            </a:xfrm>
            <a:prstGeom prst="rect">
              <a:avLst/>
            </a:prstGeom>
          </p:spPr>
          <p:txBody>
            <a:bodyPr anchor="ctr" rtlCol="false" tIns="50800" lIns="50800" bIns="50800" rIns="50800"/>
            <a:lstStyle/>
            <a:p>
              <a:pPr algn="ctr">
                <a:lnSpc>
                  <a:spcPts val="2659"/>
                </a:lnSpc>
                <a:spcBef>
                  <a:spcPct val="0"/>
                </a:spcBef>
              </a:pPr>
            </a:p>
          </p:txBody>
        </p:sp>
      </p:grpSp>
      <p:sp>
        <p:nvSpPr>
          <p:cNvPr name="Freeform 20" id="20"/>
          <p:cNvSpPr/>
          <p:nvPr/>
        </p:nvSpPr>
        <p:spPr>
          <a:xfrm flipH="false" flipV="false" rot="0">
            <a:off x="3107461" y="6036889"/>
            <a:ext cx="6890564" cy="3775455"/>
          </a:xfrm>
          <a:custGeom>
            <a:avLst/>
            <a:gdLst/>
            <a:ahLst/>
            <a:cxnLst/>
            <a:rect r="r" b="b" t="t" l="l"/>
            <a:pathLst>
              <a:path h="3775455" w="6890564">
                <a:moveTo>
                  <a:pt x="0" y="0"/>
                </a:moveTo>
                <a:lnTo>
                  <a:pt x="6890563" y="0"/>
                </a:lnTo>
                <a:lnTo>
                  <a:pt x="6890563" y="3775454"/>
                </a:lnTo>
                <a:lnTo>
                  <a:pt x="0" y="3775454"/>
                </a:lnTo>
                <a:lnTo>
                  <a:pt x="0" y="0"/>
                </a:lnTo>
                <a:close/>
              </a:path>
            </a:pathLst>
          </a:custGeom>
          <a:blipFill>
            <a:blip r:embed="rId11"/>
            <a:stretch>
              <a:fillRect l="0" t="0" r="0" b="0"/>
            </a:stretch>
          </a:blipFill>
        </p:spPr>
      </p:sp>
      <p:sp>
        <p:nvSpPr>
          <p:cNvPr name="Freeform 21" id="21"/>
          <p:cNvSpPr/>
          <p:nvPr/>
        </p:nvSpPr>
        <p:spPr>
          <a:xfrm flipH="true" flipV="false" rot="0">
            <a:off x="12007845" y="1772904"/>
            <a:ext cx="3857149" cy="2113396"/>
          </a:xfrm>
          <a:custGeom>
            <a:avLst/>
            <a:gdLst/>
            <a:ahLst/>
            <a:cxnLst/>
            <a:rect r="r" b="b" t="t" l="l"/>
            <a:pathLst>
              <a:path h="2113396" w="3857149">
                <a:moveTo>
                  <a:pt x="3857149" y="0"/>
                </a:moveTo>
                <a:lnTo>
                  <a:pt x="0" y="0"/>
                </a:lnTo>
                <a:lnTo>
                  <a:pt x="0" y="2113396"/>
                </a:lnTo>
                <a:lnTo>
                  <a:pt x="3857149" y="2113396"/>
                </a:lnTo>
                <a:lnTo>
                  <a:pt x="3857149" y="0"/>
                </a:lnTo>
                <a:close/>
              </a:path>
            </a:pathLst>
          </a:custGeom>
          <a:blipFill>
            <a:blip r:embed="rId11"/>
            <a:stretch>
              <a:fillRect l="0" t="0" r="0" b="0"/>
            </a:stretch>
          </a:blipFill>
        </p:spPr>
      </p:sp>
      <p:sp>
        <p:nvSpPr>
          <p:cNvPr name="TextBox 22" id="22"/>
          <p:cNvSpPr txBox="true"/>
          <p:nvPr/>
        </p:nvSpPr>
        <p:spPr>
          <a:xfrm rot="0">
            <a:off x="3709994" y="4011851"/>
            <a:ext cx="7688251" cy="1920836"/>
          </a:xfrm>
          <a:prstGeom prst="rect">
            <a:avLst/>
          </a:prstGeom>
        </p:spPr>
        <p:txBody>
          <a:bodyPr anchor="t" rtlCol="false" tIns="0" lIns="0" bIns="0" rIns="0">
            <a:spAutoFit/>
          </a:bodyPr>
          <a:lstStyle/>
          <a:p>
            <a:pPr algn="l">
              <a:lnSpc>
                <a:spcPct val="100000"/>
              </a:lnSpc>
            </a:pPr>
            <a:r>
              <a:rPr lang="en-US" sz="12000" b="true">
                <a:solidFill>
                  <a:srgbClr val="EAC24B"/>
                </a:solidFill>
                <a:latin typeface="Playpen Sans Bold"/>
                <a:ea typeface="Playpen Sans Bold"/>
                <a:cs typeface="Playpen Sans Bold"/>
                <a:sym typeface="Playpen Sans Bold"/>
              </a:rPr>
              <a:t>Terima</a:t>
            </a:r>
          </a:p>
        </p:txBody>
      </p:sp>
      <p:sp>
        <p:nvSpPr>
          <p:cNvPr name="TextBox 23" id="23"/>
          <p:cNvSpPr txBox="true"/>
          <p:nvPr/>
        </p:nvSpPr>
        <p:spPr>
          <a:xfrm rot="0">
            <a:off x="4271362" y="3084172"/>
            <a:ext cx="4508490" cy="330209"/>
          </a:xfrm>
          <a:prstGeom prst="rect">
            <a:avLst/>
          </a:prstGeom>
        </p:spPr>
        <p:txBody>
          <a:bodyPr anchor="t" rtlCol="false" tIns="0" lIns="0" bIns="0" rIns="0">
            <a:spAutoFit/>
          </a:bodyPr>
          <a:lstStyle/>
          <a:p>
            <a:pPr algn="ctr">
              <a:lnSpc>
                <a:spcPct val="100000"/>
              </a:lnSpc>
            </a:pPr>
            <a:r>
              <a:rPr lang="en-US" b="true" sz="2500">
                <a:solidFill>
                  <a:srgbClr val="FFFFFF"/>
                </a:solidFill>
                <a:latin typeface="Playpen Sans Bold"/>
                <a:ea typeface="Playpen Sans Bold"/>
                <a:cs typeface="Playpen Sans Bold"/>
                <a:sym typeface="Playpen Sans Bold"/>
              </a:rPr>
              <a:t>Advance Study Group</a:t>
            </a:r>
          </a:p>
        </p:txBody>
      </p:sp>
      <p:sp>
        <p:nvSpPr>
          <p:cNvPr name="TextBox 24" id="24"/>
          <p:cNvSpPr txBox="true"/>
          <p:nvPr/>
        </p:nvSpPr>
        <p:spPr>
          <a:xfrm rot="0">
            <a:off x="9998024" y="7123791"/>
            <a:ext cx="2233728" cy="330209"/>
          </a:xfrm>
          <a:prstGeom prst="rect">
            <a:avLst/>
          </a:prstGeom>
        </p:spPr>
        <p:txBody>
          <a:bodyPr anchor="t" rtlCol="false" tIns="0" lIns="0" bIns="0" rIns="0">
            <a:spAutoFit/>
          </a:bodyPr>
          <a:lstStyle/>
          <a:p>
            <a:pPr algn="ctr">
              <a:lnSpc>
                <a:spcPct val="100000"/>
              </a:lnSpc>
            </a:pPr>
            <a:r>
              <a:rPr lang="en-US" b="true" sz="2200">
                <a:solidFill>
                  <a:srgbClr val="FFFFFF"/>
                </a:solidFill>
                <a:latin typeface="Playpen Sans Bold"/>
                <a:ea typeface="Playpen Sans Bold"/>
                <a:cs typeface="Playpen Sans Bold"/>
                <a:sym typeface="Playpen Sans Bold"/>
              </a:rPr>
              <a:t>Sampai jumpa</a:t>
            </a:r>
          </a:p>
        </p:txBody>
      </p:sp>
      <p:sp>
        <p:nvSpPr>
          <p:cNvPr name="TextBox 25" id="25"/>
          <p:cNvSpPr txBox="true"/>
          <p:nvPr/>
        </p:nvSpPr>
        <p:spPr>
          <a:xfrm rot="0">
            <a:off x="10391035" y="4011851"/>
            <a:ext cx="4914443" cy="1920836"/>
          </a:xfrm>
          <a:prstGeom prst="rect">
            <a:avLst/>
          </a:prstGeom>
        </p:spPr>
        <p:txBody>
          <a:bodyPr anchor="t" rtlCol="false" tIns="0" lIns="0" bIns="0" rIns="0">
            <a:spAutoFit/>
          </a:bodyPr>
          <a:lstStyle/>
          <a:p>
            <a:pPr algn="l">
              <a:lnSpc>
                <a:spcPct val="100000"/>
              </a:lnSpc>
            </a:pPr>
            <a:r>
              <a:rPr lang="en-US" sz="12000" b="true">
                <a:solidFill>
                  <a:srgbClr val="FFFFFF"/>
                </a:solidFill>
                <a:latin typeface="Playpen Sans Bold"/>
                <a:ea typeface="Playpen Sans Bold"/>
                <a:cs typeface="Playpen Sans Bold"/>
                <a:sym typeface="Playpen Sans Bold"/>
              </a:rPr>
              <a:t>Kasih</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DAHY2NpwA2U</dc:identifier>
  <dcterms:modified xsi:type="dcterms:W3CDTF">2011-08-01T06:04:30Z</dcterms:modified>
  <cp:revision>1</cp:revision>
  <dc:title>Colorful Playful Ocean Knowledge Presentation</dc:title>
</cp:coreProperties>
</file>