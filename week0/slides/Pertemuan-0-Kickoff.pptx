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svg" ContentType="image/svg+xml"/>
  <Override PartName="/ppt/media/image17.svg" ContentType="image/svg+xml"/>
  <Override PartName="/ppt/media/image19.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8288000" cy="10287000"/>
  <p:notesSz cx="6858000" cy="9144000"/>
  <p:embeddedFontLst>
    <p:embeddedFont>
      <p:font typeface="Playpen Sans Bold" charset="1" panose="00000000000000000000"/>
      <p:regular r:id="rId11"/>
    </p:embeddedFont>
    <p:embeddedFont>
      <p:font typeface="Playpen Sans" charset="1" panose="0000000000000000000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10" Type="http://schemas.openxmlformats.org/officeDocument/2006/relationships/notesMaster" Target="notesMasters/notesMaster1.xml"/><Relationship Id="rId11" Type="http://schemas.openxmlformats.org/officeDocument/2006/relationships/font" Target="fonts/font11.fntdata"/><Relationship Id="rId12" Type="http://schemas.openxmlformats.org/officeDocument/2006/relationships/font" Target="fonts/font12.fntdata"/><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0:00. On screen while students arrive. Hand out the pretest at the door.</a:t>
            </a:r>
          </a:p>
          <a:p>
            <a:r>
              <a:t>Theme of Week 0: in AI, knowledge lives in papers. Books teach the foundations, papers show where the field is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to 0:08 (8 min). Pretest on paper (fasilitator/pretest.html). Collect face-down. Say: 'Tanpa nilai. Kosongkan yang tidak tahu.' Latecomers join in.</a:t>
            </a:r>
          </a:p>
          <a:p>
            <a:r>
              <a:t>Same items return in Week 16 as a post-test, so ask them to remember their code name.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0:08 to 0:11 (3 min). The wall of papers. Hook: 'Model yang kamu pakai tiap hari, deteksi kanker kulit, rekomendasi, chatbot, semuanya bermula sebagai paper seperti ini.'</a:t>
            </a:r>
          </a:p>
          <a:p>
            <a:r>
              <a:t>Point out: several are from our own campus and our own lab. 'Satu dekade lagi, nama di paper seperti ini bisa jadi namamu.' Do not read titles; they come back one by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0:11 to 0:13 (2 min). Read the agenda in one breath. 'Dua jam: kita jalan-jalan di dunia paper, belajar membacanya, lalu praktik.'</a:t>
            </a:r>
          </a:p>
          <a:p>
            <a:r>
              <a:t>Note for mentors: the Python worksheet and the Optimizer game moved to pre-work and the Week 1 opener (see fasilitator guide).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0:13 to 0:15 (2 min). Four kinds, each with a real example. 1 = riset murni (ide baru), 2 = riset terapan (masalah nyata), 3 = bidang yang berkembang (garis keturunan sebuah ide), 4 = dari paper ke poster.</a:t>
            </a:r>
          </a:p>
          <a:p>
            <a:r>
              <a:t>Say: 'Empat contoh ini semua ditulis di kampus kita atau memakai karya kampus kita.' Check: KMA, KomoTrip, reference-vector, skin-tone, token eviction all have Telkom University authors (visible in the screenshots).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 to 0:19 (4 min). RISET MURNI. The screenshot shows only the title page, so read the title, not results.</a:t>
            </a:r>
          </a:p>
          <a:p>
            <a:r>
              <a:t>Teach: a pure-research title usually carries the new idea plus the problem class. Reference-vector competitor pairing = the new idea. Constrained, large-scale, multi-objective = the problem class. Competitive swarm optimisation = the base algorithm. Typically judged on standard benchmark problems, not on patient or customer data (the KMA abstract shows this: 23 benchmark functions).</a:t>
            </a:r>
          </a:p>
          <a:p>
            <a:r>
              <a:t>Affiliations on the page: School of Computing, Computing Laboratory (our lab), and the Center of Excellence of AI for Learning and Optimization, Telkom University.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0:19 to 0:23 (4 min). RISET TERAPAN. This paper does not propose a new algorithm; it audits an existing model on a real problem (skin cancer). Authors: Siregar, Lhaksmana, Yusuf (IEEE conference, 2026).</a:t>
            </a:r>
          </a:p>
          <a:p>
            <a:r>
              <a:t>Read the abstract with them: problem (CNNs hide demographic gaps), method (EfficientNet-B0, leakage-free pipeline, 3 seeds, Equal Opportunity Difference), result (EOD about 0.11, 95% bootstrap CI spans zero, about 182 dark-skin images, about 10 dark-skin malignant cases in the test set), conclusion (naive data-level fixes are not a substitute for diverse data).</a:t>
            </a:r>
          </a:p>
          <a:p>
            <a:r>
              <a:t>Say: 'Paper yang bagus berani bilang apa yang TIDAK bisa disimpulkan.' This is exactly the evaluation habit of Week 7.</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0:23 to 0:26 (3 min). Same pattern in three fields: a real problem, a model, an honest evaluation.</a:t>
            </a:r>
          </a:p>
          <a:p>
            <a:r>
              <a:t>Left: diabetic foot ulcer segmentation (U-Net + EfficientNet-B0 with a boundary-aware loss on FUSeg). Middle: user-side fairness in neural collaborative filtering with GAN-based augmentation. Right: Chain-of-Thought plus Program-of-Thought on 4-bit quantized small language models, FinQA benchmark.</a:t>
            </a:r>
          </a:p>
          <a:p>
            <a:r>
              <a:t>Mixed results (from the CoT/PoT abstract): Llama-3-8B 67.48 to 67.83, Qwen2.5-Coder-7B 65.74 to 66.52, Mistral-7B 63.12 to 61.29, complete execution collapse in Phi-3.8B and DeepSeek-Math-7B. Say: 'Hasil yang tidak seragam tetap diterbitkan karena dilaporkan dengan jujur.'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0:26 to 0:29 (3 min). A field improves through a chain of papers.</a:t>
            </a:r>
          </a:p>
          <a:p>
            <a:r>
              <a:t>2021: Komodo Mlipir Algorithm, Suyanto et al., Applied Soft Computing (vol. 114, 2022; online 17 Nov 2021), written at Telkom University. 2022: Improved Adaptive KMA, Liu and Zhang (Jilin University), IEEE Access vol. 10, 2022. 2025: KomoTrip, Baizal et al., PeerJ Computer Science, 12 Nov 2025: a discrete KMA for multi-day travel itineraries.</a:t>
            </a:r>
          </a:p>
          <a:p>
            <a:r>
              <a:t>Say: 'Algoritma dari kampus kita diperbaiki peneliti di Tiongkok, lalu dipakai untuk menyusun rute wisata. Begitulah bidang ini maju: orang membaca paper orang lain.'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0:29 to 0:32 (3 min). The original paper. Authors Suyanto, A. A. Ariyanto, A. F. Ariyanto, School of Computing, Telkom University. Received 15 March 2021, accepted 4 Nov 2021, online 17 Nov 2021. Open access, CC BY-NC-ND.</a:t>
            </a:r>
          </a:p>
          <a:p>
            <a:r>
              <a:t>Mlipir: a Javanese term for walking at the side of the road to reach a destination safely (stated in the abstract). Three groups: high-quality big males (high exploitation, low exploration), middle-quality females (mate with the best male or parthenogenesis), low-quality small males (mlipir, following the big males in some dimensions).</a:t>
            </a:r>
          </a:p>
          <a:p>
            <a:r>
              <a:t>Tie to the course: this is a population metaheuristic like the GA and PSO of Weeks 10 to 11. Source code is public, so students can run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0:32 to 0:35 (3 min). Someone else read the KMA paper and improved it. IKMA-1 adapts the parthenogenesis radius of the females; IKMA-2 adds adaptive weighting factors to the mlipir movement. Published in IEEE Access 2022 (vol. 10).</a:t>
            </a:r>
          </a:p>
          <a:p>
            <a:r>
              <a:t>Teach the reading skill: 'diklaim' means these are the authors' numbers. A good reader asks: improved on which benchmark, against which baselines, tested how (Wilcoxon, Friedman)?</a:t>
            </a:r>
          </a:p>
          <a:p>
            <a:r>
              <a:t>Tie to the course: statistical tests and many runs appear in the final project protocol (10 or more runs).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to 0:38 (3 min). From benchmark functions (KMA) to travel routes (KomoTrip). Authors Baizal, Gumilang, Nurtantyana, Hendrawan. Published 12 Nov 2025 in PeerJ Computer Science (DOI 10.7717/peerj-cs.3350).</a:t>
            </a:r>
          </a:p>
          <a:p>
            <a:r>
              <a:t>The abstract (not on the slide, from the journal page) frames it as a team orienteering problem with time windows and combines the discrete KMA with Multi-Attribute Utility Theory; I did not open the full text, so stay with what the title says: problem = multi-day itinerary recommendation, method = discrete komodo mlipir algorithm.</a:t>
            </a:r>
          </a:p>
          <a:p>
            <a:r>
              <a:t>Connect to Week 11 (representation, TSP-like problems): a route is a permutation, not a real vector, so the algorithm had to be made discrete.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0:38 to 0:41 (3 min). A paper becomes a poster. This is the TENCON 2026 poster (B21) of 'Gradient-Free Token Eviction for Edge-Deployable Video-LLMs in Ecological Monitoring' (Siregar, Lhaksmana, Palupi, Telkom University). Photo taken at the conference.</a:t>
            </a:r>
          </a:p>
          <a:p>
            <a:r>
              <a:t>Show how a poster compresses a paper into seven boxes. Numbers from the poster: 19.1% of the token budget (BPSO), 52% fewer tokens than uniform sampling, 4.5 GB VRAM versus out-of-memory with full tokens, 37 Pareto-optimal solutions.</a:t>
            </a:r>
          </a:p>
          <a:p>
            <a:r>
              <a:t>Plant the idea: our Demo Day (Week 16) will be a mini poster session, and the technical note is a mini paper.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1:23 to 1:26 (3 min), after the break. The bridge from papers to this course: every element of a real, recent paper from our lab is something students will learn by Week 16.</a:t>
            </a:r>
          </a:p>
          <a:p>
            <a:r>
              <a:t>Be honest about scope: NSGA-II (multi-objective) is not in the 16-week plan; it is an optional extension (Luke chapter 7).</a:t>
            </a:r>
          </a:p>
          <a:p>
            <a:r>
              <a:t>Say: 'Di akhir 16 pekan kamu bisa membaca paper seperti ini, dan menulis versi mini-nya sendiri.'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0:43 to 0:48 (5 min). The same skin-tone abstract, now coloured: red = problem, gold = method, teal = results, violet = conclusion. The colour bands are drawn over the screenshot and are approximate at line edges.</a:t>
            </a:r>
          </a:p>
          <a:p>
            <a:r>
              <a:t>Say: 'Abstrak selalu mengikuti urutan ini. Setelah dua atau tiga paper, kamu bisa menemukannya dalam hitungan detik.'</a:t>
            </a:r>
          </a:p>
          <a:p>
            <a:r>
              <a:t>The IEEE page's own outline (visible in the screenshot) lists: I. Introduction, II. Related Work, III. Methodology, IV. Experiments, V. Results.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0:48 to 0:53 (5 min). Reading order for beginners: title, abstract, figures and tables, conclusion and limitations, and only then the method. The five questions are exactly what the Detective Card asks.</a:t>
            </a:r>
          </a:p>
          <a:p>
            <a:r>
              <a:t>Say: 'Kamu tidak membaca paper dari kata pertama sampai terakhir. Kamu menginterogasinya.' AI assistants can help summarize, but the numbers must be checked against the paper.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0:53 to 1:18 (25 min). Printed cards: fasilitator/kartu-detektif.pdf. 5 papers x 3 pairs = 15 cards (A skin-tone abstract, B CoT+PoT abstract, C KMA abstract, D IKMA abstract, E the TENCON poster).</a:t>
            </a:r>
          </a:p>
          <a:p>
            <a:r>
              <a:t>Timing: 3 min explain, 12 min pairs fill the card, 10 min share-out (5 papers x about 2 minutes, one pair per paper). Answer keys are in fasilitator/panduan-fasilitator.md section 6.</a:t>
            </a:r>
          </a:p>
          <a:p>
            <a:r>
              <a:t>AI is allowed, but ask for the number first: 'Di bagian mana angka itu tertulis di paper?'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1:18 to 1:23 (5 min). Break. Collect the detective cards if you want to read them later.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1:23 to 1:26 (3 min). Back to the course. Every paper you saw has three parts: an objective, a search space, and a budget.</a:t>
            </a:r>
          </a:p>
          <a:p>
            <a:r>
              <a:t>KMA: the objective is a benchmark function, the search space its variables, the budget the number of evaluations. KomoTrip: the objective is itinerary quality, the search space is all possible routes. Training a model is the same: find parameters with the lowest loss.</a:t>
            </a:r>
          </a:p>
          <a:p>
            <a:r>
              <a:t>Slide 14 (poster versus course) can be shown here if there is time; it is the bridge.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1:26 to 1:31 (5 min). LIVE DEMO (demo.html, speed Cepat, press Mulai before you talk). It is a tiny hill-climbing optimizer drawing a picture with 40 triangles.</a:t>
            </a:r>
          </a:p>
          <a:p>
            <a:r>
              <a:t>Ask: 'Kapan kurvanya turun cepat? Kapan melambat?' Then: 'Kurva seperti ini ada di hampir setiap paper optimasi, itu grafik konvergensi.' Hill climbing is formalized in Week 9.</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1:31 to 1:33 (2 min). Each week: read the book chapter and one paper (guided), class, practice. The 5 to 6 hour figure is an estimate. The paper-per-week idea is a proposal; see the next slide and the fasilitator guide.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1:33 to 1:36 (3 min). Books give the foundations; papers show the frontier. Both books are free from the authors; licenses forbid modification and translation, so mentors publish Indonesian reading guides as original commentary.</a:t>
            </a:r>
          </a:p>
          <a:p>
            <a:r>
              <a:t>PROPOSAL, confirm before class: the four anchor papers per week. They come from the papers shown today and match the course topics (evaluation, KMA lineage with metaheuristics, hybrid optimization, LLMs). Remove the right column if you have not decided.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1:36 to 1:38 (2 min). 40 / 10 / 50. Oral checks are about 7 minutes: explain your own code and predict the effect of a small change.</a:t>
            </a:r>
          </a:p>
          <a:p>
            <a:r>
              <a:t>CONFIRM BEFORE CLASS: the attendance threshold (13 of 16) is a proposal. If not confirmed say 'ambang kehadiran diumumkan minggu depan' and edit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1:38 to 1:42 (4 min). The final project mirrors what they saw today: the technical note is a mini paper (problem, method, evaluation, key number, limitation) and Demo Day is a mini poster session like the TENCON poster.</a:t>
            </a:r>
          </a:p>
          <a:p>
            <a:r>
              <a:t>Rules: teams of 3 formed by mentors in Week 8; the optimization layer must change the result and be compared with a baseline at the same budget over 10 or more runs; open or synthetic data only.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1:42 to 1:46 (4 min). Say: 'Pakai AI sesukamu. Tidak ada yang mencatat. AI sangat membantu merangkum paper, tapi ia bisa salah mengutip angka, jadi angkanya kamu cek ke paper.'</a:t>
            </a:r>
          </a:p>
          <a:p>
            <a:r>
              <a:t>Also: seven weeks carry a 'verify the assistant' task (weeks 2, 5, 7, 9, 10, 11, 14); oral checks are closed-device.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1:46 to 1:56 (10 min). Mentor 2 = A (Colab first), mentor 3 = B, mentor 1 = C. Fixes in fasilitator/panduan-fasilitator.md. Never cut this block.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1:56 to 2:00 (4 min). Page numbers are printed numbers (UDL printed 17 = PDF 31). The Python worksheet is now homework; Week 1 opens with the 'Optimizer 20 baris' game. Hand out slips, collect on the way out, read them the same evening.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 End. See you in Week 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svg"/><Relationship Id="rId11" Type="http://schemas.openxmlformats.org/officeDocument/2006/relationships/image" Target="../media/image10.png"/><Relationship Id="rId12" Type="http://schemas.openxmlformats.org/officeDocument/2006/relationships/image" Target="../media/image11.svg"/><Relationship Id="rId1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svg"/><Relationship Id="rId11" Type="http://schemas.openxmlformats.org/officeDocument/2006/relationships/image" Target="../media/image10.png"/><Relationship Id="rId12" Type="http://schemas.openxmlformats.org/officeDocument/2006/relationships/image" Target="../media/image11.svg"/><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svg"/><Relationship Id="rId11" Type="http://schemas.openxmlformats.org/officeDocument/2006/relationships/image" Target="../media/image10.png"/><Relationship Id="rId12" Type="http://schemas.openxmlformats.org/officeDocument/2006/relationships/image" Target="../media/image11.svg"/><Relationship Id="rId13" Type="http://schemas.openxmlformats.org/officeDocument/2006/relationships/image" Target="../media/image21.png"/><Relationship Id="rId14" Type="http://schemas.openxmlformats.org/officeDocument/2006/relationships/image" Target="../media/image22.png"/><Relationship Id="rId15" Type="http://schemas.openxmlformats.org/officeDocument/2006/relationships/image" Target="../media/image23.png"/><Relationship Id="rId16" Type="http://schemas.openxmlformats.org/officeDocument/2006/relationships/image" Target="../media/image24.png"/><Relationship Id="rId17" Type="http://schemas.openxmlformats.org/officeDocument/2006/relationships/image" Target="../media/image25.png"/><Relationship Id="rId18" Type="http://schemas.openxmlformats.org/officeDocument/2006/relationships/image" Target="../media/image26.png"/><Relationship Id="rId19" Type="http://schemas.openxmlformats.org/officeDocument/2006/relationships/image" Target="../media/image27.png"/><Relationship Id="rId20" Type="http://schemas.openxmlformats.org/officeDocument/2006/relationships/image" Target="../media/image28.png"/><Relationship Id="rId2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svg"/><Relationship Id="rId11" Type="http://schemas.openxmlformats.org/officeDocument/2006/relationships/image" Target="../media/image10.png"/><Relationship Id="rId12" Type="http://schemas.openxmlformats.org/officeDocument/2006/relationships/image" Target="../media/image11.svg"/><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svg"/><Relationship Id="rId11" Type="http://schemas.openxmlformats.org/officeDocument/2006/relationships/image" Target="../media/image10.png"/><Relationship Id="rId12" Type="http://schemas.openxmlformats.org/officeDocument/2006/relationships/image" Target="../media/image11.svg"/><Relationship Id="rId13" Type="http://schemas.openxmlformats.org/officeDocument/2006/relationships/image" Target="../media/image27.png"/><Relationship Id="rId14" Type="http://schemas.openxmlformats.org/officeDocument/2006/relationships/image" Target="../media/image23.png"/><Relationship Id="rId15" Type="http://schemas.openxmlformats.org/officeDocument/2006/relationships/image" Target="../media/image21.png"/><Relationship Id="rId16" Type="http://schemas.openxmlformats.org/officeDocument/2006/relationships/image" Target="../media/image29.jpg"/><Relationship Id="rId1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svg"/><Relationship Id="rId11" Type="http://schemas.openxmlformats.org/officeDocument/2006/relationships/image" Target="../media/image10.png"/><Relationship Id="rId12" Type="http://schemas.openxmlformats.org/officeDocument/2006/relationships/image" Target="../media/image11.svg"/><Relationship Id="rId13" Type="http://schemas.openxmlformats.org/officeDocument/2006/relationships/image" Target="../media/image27.png"/><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svg"/><Relationship Id="rId11" Type="http://schemas.openxmlformats.org/officeDocument/2006/relationships/image" Target="../media/image10.png"/><Relationship Id="rId12" Type="http://schemas.openxmlformats.org/officeDocument/2006/relationships/image" Target="../media/image11.svg"/><Relationship Id="rId13" Type="http://schemas.openxmlformats.org/officeDocument/2006/relationships/image" Target="../media/image23.png"/><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svg"/><Relationship Id="rId11" Type="http://schemas.openxmlformats.org/officeDocument/2006/relationships/image" Target="../media/image10.png"/><Relationship Id="rId12" Type="http://schemas.openxmlformats.org/officeDocument/2006/relationships/image" Target="../media/image11.svg"/><Relationship Id="rId13" Type="http://schemas.openxmlformats.org/officeDocument/2006/relationships/image" Target="../media/image25.png"/><Relationship Id="rId14" Type="http://schemas.openxmlformats.org/officeDocument/2006/relationships/image" Target="../media/image26.png"/><Relationship Id="rId15" Type="http://schemas.openxmlformats.org/officeDocument/2006/relationships/image" Target="../media/image24.png"/><Relationship Id="rId1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svg"/><Relationship Id="rId11" Type="http://schemas.openxmlformats.org/officeDocument/2006/relationships/image" Target="../media/image10.png"/><Relationship Id="rId12" Type="http://schemas.openxmlformats.org/officeDocument/2006/relationships/image" Target="../media/image11.svg"/><Relationship Id="rId13" Type="http://schemas.openxmlformats.org/officeDocument/2006/relationships/image" Target="../media/image21.png"/><Relationship Id="rId14" Type="http://schemas.openxmlformats.org/officeDocument/2006/relationships/image" Target="../media/image22.png"/><Relationship Id="rId15" Type="http://schemas.openxmlformats.org/officeDocument/2006/relationships/image" Target="../media/image30.png"/><Relationship Id="rId1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svg"/><Relationship Id="rId11" Type="http://schemas.openxmlformats.org/officeDocument/2006/relationships/image" Target="../media/image10.png"/><Relationship Id="rId12" Type="http://schemas.openxmlformats.org/officeDocument/2006/relationships/image" Target="../media/image11.svg"/><Relationship Id="rId13" Type="http://schemas.openxmlformats.org/officeDocument/2006/relationships/image" Target="../media/image21.png"/><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svg"/><Relationship Id="rId11" Type="http://schemas.openxmlformats.org/officeDocument/2006/relationships/image" Target="../media/image10.png"/><Relationship Id="rId12" Type="http://schemas.openxmlformats.org/officeDocument/2006/relationships/image" Target="../media/image11.svg"/><Relationship Id="rId13" Type="http://schemas.openxmlformats.org/officeDocument/2006/relationships/image" Target="../media/image22.png"/><Relationship Id="rId1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svg"/><Relationship Id="rId11" Type="http://schemas.openxmlformats.org/officeDocument/2006/relationships/image" Target="../media/image10.png"/><Relationship Id="rId12" Type="http://schemas.openxmlformats.org/officeDocument/2006/relationships/image" Target="../media/image11.svg"/><Relationship Id="rId13" Type="http://schemas.openxmlformats.org/officeDocument/2006/relationships/image" Target="../media/image30.png"/><Relationship Id="rId1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svg"/><Relationship Id="rId11" Type="http://schemas.openxmlformats.org/officeDocument/2006/relationships/image" Target="../media/image10.png"/><Relationship Id="rId12" Type="http://schemas.openxmlformats.org/officeDocument/2006/relationships/image" Target="../media/image11.svg"/><Relationship Id="rId13" Type="http://schemas.openxmlformats.org/officeDocument/2006/relationships/image" Target="../media/image29.jpg"/><Relationship Id="rId14" Type="http://schemas.openxmlformats.org/officeDocument/2006/relationships/image" Target="../media/image28.png"/><Relationship Id="rId1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svg"/><Relationship Id="rId11" Type="http://schemas.openxmlformats.org/officeDocument/2006/relationships/image" Target="../media/image10.png"/><Relationship Id="rId12" Type="http://schemas.openxmlformats.org/officeDocument/2006/relationships/image" Target="../media/image11.svg"/><Relationship Id="rId1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svg"/><Relationship Id="rId11" Type="http://schemas.openxmlformats.org/officeDocument/2006/relationships/image" Target="../media/image10.png"/><Relationship Id="rId12" Type="http://schemas.openxmlformats.org/officeDocument/2006/relationships/image" Target="../media/image11.svg"/><Relationship Id="rId13" Type="http://schemas.openxmlformats.org/officeDocument/2006/relationships/image" Target="../media/image23.png"/><Relationship Id="rId1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svg"/><Relationship Id="rId11" Type="http://schemas.openxmlformats.org/officeDocument/2006/relationships/image" Target="../media/image10.png"/><Relationship Id="rId12" Type="http://schemas.openxmlformats.org/officeDocument/2006/relationships/image" Target="../media/image11.svg"/><Relationship Id="rId1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svg"/><Relationship Id="rId11" Type="http://schemas.openxmlformats.org/officeDocument/2006/relationships/image" Target="../media/image10.png"/><Relationship Id="rId12" Type="http://schemas.openxmlformats.org/officeDocument/2006/relationships/image" Target="../media/image11.svg"/><Relationship Id="rId13" Type="http://schemas.openxmlformats.org/officeDocument/2006/relationships/image" Target="../media/image23.png"/><Relationship Id="rId14" Type="http://schemas.openxmlformats.org/officeDocument/2006/relationships/image" Target="../media/image24.png"/><Relationship Id="rId15" Type="http://schemas.openxmlformats.org/officeDocument/2006/relationships/image" Target="../media/image21.png"/><Relationship Id="rId16" Type="http://schemas.openxmlformats.org/officeDocument/2006/relationships/image" Target="../media/image22.png"/><Relationship Id="rId17" Type="http://schemas.openxmlformats.org/officeDocument/2006/relationships/image" Target="../media/image29.jpg"/><Relationship Id="rId1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svg"/><Relationship Id="rId11" Type="http://schemas.openxmlformats.org/officeDocument/2006/relationships/image" Target="../media/image14.png"/><Relationship Id="rId1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8.png"/><Relationship Id="rId7" Type="http://schemas.openxmlformats.org/officeDocument/2006/relationships/image" Target="../media/image9.svg"/><Relationship Id="rId8" Type="http://schemas.openxmlformats.org/officeDocument/2006/relationships/image" Target="../media/image16.png"/><Relationship Id="rId9" Type="http://schemas.openxmlformats.org/officeDocument/2006/relationships/image" Target="../media/image17.svg"/><Relationship Id="rId10" Type="http://schemas.openxmlformats.org/officeDocument/2006/relationships/image" Target="../media/image18.png"/><Relationship Id="rId11" Type="http://schemas.openxmlformats.org/officeDocument/2006/relationships/image" Target="../media/image19.svg"/><Relationship Id="rId12" Type="http://schemas.openxmlformats.org/officeDocument/2006/relationships/image" Target="../media/image20.png"/><Relationship Id="rId1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8.png"/><Relationship Id="rId7" Type="http://schemas.openxmlformats.org/officeDocument/2006/relationships/image" Target="../media/image9.sv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 Id="rId11"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2.png"/><Relationship Id="rId6" Type="http://schemas.openxmlformats.org/officeDocument/2006/relationships/image" Target="../media/image4.pn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image" Target="../media/image6.png"/><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svg"/><Relationship Id="rId11" Type="http://schemas.openxmlformats.org/officeDocument/2006/relationships/image" Target="../media/image10.png"/><Relationship Id="rId12" Type="http://schemas.openxmlformats.org/officeDocument/2006/relationships/image" Target="../media/image11.svg"/><Relationship Id="rId1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svg"/><Relationship Id="rId11" Type="http://schemas.openxmlformats.org/officeDocument/2006/relationships/image" Target="../media/image10.png"/><Relationship Id="rId12" Type="http://schemas.openxmlformats.org/officeDocument/2006/relationships/image" Target="../media/image11.svg"/><Relationship Id="rId1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svg"/><Relationship Id="rId11" Type="http://schemas.openxmlformats.org/officeDocument/2006/relationships/image" Target="../media/image10.png"/><Relationship Id="rId12" Type="http://schemas.openxmlformats.org/officeDocument/2006/relationships/image" Target="../media/image11.svg"/><Relationship Id="rId1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svg"/><Relationship Id="rId11" Type="http://schemas.openxmlformats.org/officeDocument/2006/relationships/image" Target="../media/image10.png"/><Relationship Id="rId12" Type="http://schemas.openxmlformats.org/officeDocument/2006/relationships/image" Target="../media/image11.svg"/><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svg"/><Relationship Id="rId11" Type="http://schemas.openxmlformats.org/officeDocument/2006/relationships/image" Target="../media/image10.png"/><Relationship Id="rId12" Type="http://schemas.openxmlformats.org/officeDocument/2006/relationships/image" Target="../media/image11.svg"/><Relationship Id="rId1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svg"/><Relationship Id="rId11" Type="http://schemas.openxmlformats.org/officeDocument/2006/relationships/image" Target="../media/image10.png"/><Relationship Id="rId12" Type="http://schemas.openxmlformats.org/officeDocument/2006/relationships/image" Target="../media/image11.svg"/><Relationship Id="rId1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svg"/><Relationship Id="rId11" Type="http://schemas.openxmlformats.org/officeDocument/2006/relationships/image" Target="../media/image14.png"/><Relationship Id="rId12" Type="http://schemas.openxmlformats.org/officeDocument/2006/relationships/notesSlide" Target="../notesSlides/notesSlide28.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7928" r="0" b="-67928"/>
            </a:stretch>
          </a:blipFill>
        </p:spPr>
      </p:sp>
      <p:sp>
        <p:nvSpPr>
          <p:cNvPr name="Freeform 3" id="3"/>
          <p:cNvSpPr/>
          <p:nvPr/>
        </p:nvSpPr>
        <p:spPr>
          <a:xfrm flipH="false" flipV="false" rot="0">
            <a:off x="12533569" y="-21055"/>
            <a:ext cx="5762298" cy="6532600"/>
          </a:xfrm>
          <a:custGeom>
            <a:avLst/>
            <a:gdLst/>
            <a:ahLst/>
            <a:cxnLst/>
            <a:rect r="r" b="b" t="t" l="l"/>
            <a:pathLst>
              <a:path h="6532600" w="5762298">
                <a:moveTo>
                  <a:pt x="0" y="0"/>
                </a:moveTo>
                <a:lnTo>
                  <a:pt x="5762298" y="0"/>
                </a:lnTo>
                <a:lnTo>
                  <a:pt x="5762298" y="6532600"/>
                </a:lnTo>
                <a:lnTo>
                  <a:pt x="0" y="6532600"/>
                </a:lnTo>
                <a:lnTo>
                  <a:pt x="0" y="0"/>
                </a:lnTo>
                <a:close/>
              </a:path>
            </a:pathLst>
          </a:custGeom>
          <a:blipFill>
            <a:blip r:embed="rId3"/>
            <a:stretch>
              <a:fillRect l="0" t="0" r="0" b="0"/>
            </a:stretch>
          </a:blipFill>
        </p:spPr>
      </p:sp>
      <p:sp>
        <p:nvSpPr>
          <p:cNvPr name="Freeform 4" id="4"/>
          <p:cNvSpPr/>
          <p:nvPr/>
        </p:nvSpPr>
        <p:spPr>
          <a:xfrm flipH="false" flipV="false" rot="0">
            <a:off x="12978766" y="2004481"/>
            <a:ext cx="5309234" cy="5465964"/>
          </a:xfrm>
          <a:custGeom>
            <a:avLst/>
            <a:gdLst/>
            <a:ahLst/>
            <a:cxnLst/>
            <a:rect r="r" b="b" t="t" l="l"/>
            <a:pathLst>
              <a:path h="5465964" w="5309234">
                <a:moveTo>
                  <a:pt x="0" y="0"/>
                </a:moveTo>
                <a:lnTo>
                  <a:pt x="5309234" y="0"/>
                </a:lnTo>
                <a:lnTo>
                  <a:pt x="5309234" y="5465965"/>
                </a:lnTo>
                <a:lnTo>
                  <a:pt x="0" y="5465965"/>
                </a:lnTo>
                <a:lnTo>
                  <a:pt x="0" y="0"/>
                </a:lnTo>
                <a:close/>
              </a:path>
            </a:pathLst>
          </a:custGeom>
          <a:blipFill>
            <a:blip r:embed="rId4"/>
            <a:stretch>
              <a:fillRect l="0" t="0" r="0" b="0"/>
            </a:stretch>
          </a:blipFill>
        </p:spPr>
      </p:sp>
      <p:sp>
        <p:nvSpPr>
          <p:cNvPr name="Freeform 5" id="5"/>
          <p:cNvSpPr/>
          <p:nvPr/>
        </p:nvSpPr>
        <p:spPr>
          <a:xfrm flipH="true" flipV="false" rot="0">
            <a:off x="-29416" y="0"/>
            <a:ext cx="5762298" cy="6532600"/>
          </a:xfrm>
          <a:custGeom>
            <a:avLst/>
            <a:gdLst/>
            <a:ahLst/>
            <a:cxnLst/>
            <a:rect r="r" b="b" t="t" l="l"/>
            <a:pathLst>
              <a:path h="6532600" w="5762298">
                <a:moveTo>
                  <a:pt x="5762298" y="0"/>
                </a:moveTo>
                <a:lnTo>
                  <a:pt x="0" y="0"/>
                </a:lnTo>
                <a:lnTo>
                  <a:pt x="0" y="6532600"/>
                </a:lnTo>
                <a:lnTo>
                  <a:pt x="5762298" y="6532600"/>
                </a:lnTo>
                <a:lnTo>
                  <a:pt x="5762298" y="0"/>
                </a:lnTo>
                <a:close/>
              </a:path>
            </a:pathLst>
          </a:custGeom>
          <a:blipFill>
            <a:blip r:embed="rId3"/>
            <a:stretch>
              <a:fillRect l="0" t="0" r="0" b="0"/>
            </a:stretch>
          </a:blipFill>
        </p:spPr>
      </p:sp>
      <p:sp>
        <p:nvSpPr>
          <p:cNvPr name="Freeform 6" id="6"/>
          <p:cNvSpPr/>
          <p:nvPr/>
        </p:nvSpPr>
        <p:spPr>
          <a:xfrm flipH="false" flipV="false" rot="0">
            <a:off x="423648" y="2410518"/>
            <a:ext cx="5309234" cy="5465964"/>
          </a:xfrm>
          <a:custGeom>
            <a:avLst/>
            <a:gdLst/>
            <a:ahLst/>
            <a:cxnLst/>
            <a:rect r="r" b="b" t="t" l="l"/>
            <a:pathLst>
              <a:path h="5465964" w="5309234">
                <a:moveTo>
                  <a:pt x="0" y="0"/>
                </a:moveTo>
                <a:lnTo>
                  <a:pt x="5309234" y="0"/>
                </a:lnTo>
                <a:lnTo>
                  <a:pt x="5309234" y="5465964"/>
                </a:lnTo>
                <a:lnTo>
                  <a:pt x="0" y="5465964"/>
                </a:lnTo>
                <a:lnTo>
                  <a:pt x="0" y="0"/>
                </a:lnTo>
                <a:close/>
              </a:path>
            </a:pathLst>
          </a:custGeom>
          <a:blipFill>
            <a:blip r:embed="rId4"/>
            <a:stretch>
              <a:fillRect l="0" t="0" r="0" b="0"/>
            </a:stretch>
          </a:blipFill>
        </p:spPr>
      </p:sp>
      <p:sp>
        <p:nvSpPr>
          <p:cNvPr name="Freeform 7" id="7"/>
          <p:cNvSpPr/>
          <p:nvPr/>
        </p:nvSpPr>
        <p:spPr>
          <a:xfrm flipH="false" flipV="false" rot="0">
            <a:off x="-317430" y="7660946"/>
            <a:ext cx="18613297" cy="3022078"/>
          </a:xfrm>
          <a:custGeom>
            <a:avLst/>
            <a:gdLst/>
            <a:ahLst/>
            <a:cxnLst/>
            <a:rect r="r" b="b" t="t" l="l"/>
            <a:pathLst>
              <a:path h="3022078" w="18613297">
                <a:moveTo>
                  <a:pt x="0" y="0"/>
                </a:moveTo>
                <a:lnTo>
                  <a:pt x="18613297" y="0"/>
                </a:lnTo>
                <a:lnTo>
                  <a:pt x="18613297" y="3022077"/>
                </a:lnTo>
                <a:lnTo>
                  <a:pt x="0" y="3022077"/>
                </a:lnTo>
                <a:lnTo>
                  <a:pt x="0" y="0"/>
                </a:lnTo>
                <a:close/>
              </a:path>
            </a:pathLst>
          </a:custGeom>
          <a:blipFill>
            <a:blip r:embed="rId5"/>
            <a:stretch>
              <a:fillRect l="-158" t="0" r="-158" b="-6838"/>
            </a:stretch>
          </a:blipFill>
        </p:spPr>
      </p:sp>
      <p:sp>
        <p:nvSpPr>
          <p:cNvPr name="Freeform 8" id="8"/>
          <p:cNvSpPr/>
          <p:nvPr/>
        </p:nvSpPr>
        <p:spPr>
          <a:xfrm flipH="true" flipV="false" rot="0">
            <a:off x="12591528" y="2004481"/>
            <a:ext cx="5427899" cy="1816870"/>
          </a:xfrm>
          <a:custGeom>
            <a:avLst/>
            <a:gdLst/>
            <a:ahLst/>
            <a:cxnLst/>
            <a:rect r="r" b="b" t="t" l="l"/>
            <a:pathLst>
              <a:path h="1816870" w="5427899">
                <a:moveTo>
                  <a:pt x="5427899" y="0"/>
                </a:moveTo>
                <a:lnTo>
                  <a:pt x="0" y="0"/>
                </a:lnTo>
                <a:lnTo>
                  <a:pt x="0" y="1816870"/>
                </a:lnTo>
                <a:lnTo>
                  <a:pt x="5427899" y="1816870"/>
                </a:lnTo>
                <a:lnTo>
                  <a:pt x="5427899" y="0"/>
                </a:lnTo>
                <a:close/>
              </a:path>
            </a:pathLst>
          </a:custGeom>
          <a:blipFill>
            <a:blip r:embed="rId6">
              <a:alphaModFix amt="65000"/>
            </a:blip>
            <a:stretch>
              <a:fillRect l="0" t="0" r="0" b="0"/>
            </a:stretch>
          </a:blipFill>
        </p:spPr>
      </p:sp>
      <p:sp>
        <p:nvSpPr>
          <p:cNvPr name="Freeform 9" id="9"/>
          <p:cNvSpPr/>
          <p:nvPr/>
        </p:nvSpPr>
        <p:spPr>
          <a:xfrm flipH="false" flipV="false" rot="0">
            <a:off x="12978766" y="2453423"/>
            <a:ext cx="7524206" cy="8229600"/>
          </a:xfrm>
          <a:custGeom>
            <a:avLst/>
            <a:gdLst/>
            <a:ahLst/>
            <a:cxnLst/>
            <a:rect r="r" b="b" t="t" l="l"/>
            <a:pathLst>
              <a:path h="8229600" w="7524206">
                <a:moveTo>
                  <a:pt x="0" y="0"/>
                </a:moveTo>
                <a:lnTo>
                  <a:pt x="7524205" y="0"/>
                </a:lnTo>
                <a:lnTo>
                  <a:pt x="7524205" y="8229600"/>
                </a:lnTo>
                <a:lnTo>
                  <a:pt x="0" y="8229600"/>
                </a:lnTo>
                <a:lnTo>
                  <a:pt x="0" y="0"/>
                </a:lnTo>
                <a:close/>
              </a:path>
            </a:pathLst>
          </a:custGeom>
          <a:blipFill>
            <a:blip r:embed="rId7"/>
            <a:stretch>
              <a:fillRect l="0" t="0" r="0" b="0"/>
            </a:stretch>
          </a:blipFill>
        </p:spPr>
      </p:sp>
      <p:sp>
        <p:nvSpPr>
          <p:cNvPr name="Freeform 10" id="10"/>
          <p:cNvSpPr/>
          <p:nvPr/>
        </p:nvSpPr>
        <p:spPr>
          <a:xfrm flipH="false" flipV="false" rot="0">
            <a:off x="-29416" y="2396745"/>
            <a:ext cx="4040554" cy="8229600"/>
          </a:xfrm>
          <a:custGeom>
            <a:avLst/>
            <a:gdLst/>
            <a:ahLst/>
            <a:cxnLst/>
            <a:rect r="r" b="b" t="t" l="l"/>
            <a:pathLst>
              <a:path h="8229600" w="4040554">
                <a:moveTo>
                  <a:pt x="0" y="0"/>
                </a:moveTo>
                <a:lnTo>
                  <a:pt x="4040554" y="0"/>
                </a:lnTo>
                <a:lnTo>
                  <a:pt x="4040554" y="8229600"/>
                </a:lnTo>
                <a:lnTo>
                  <a:pt x="0" y="8229600"/>
                </a:lnTo>
                <a:lnTo>
                  <a:pt x="0" y="0"/>
                </a:lnTo>
                <a:close/>
              </a:path>
            </a:pathLst>
          </a:custGeom>
          <a:blipFill>
            <a:blip r:embed="rId8"/>
            <a:stretch>
              <a:fillRect l="0" t="0" r="0" b="0"/>
            </a:stretch>
          </a:blipFill>
        </p:spPr>
      </p:sp>
      <p:sp>
        <p:nvSpPr>
          <p:cNvPr name="Freeform 11" id="11"/>
          <p:cNvSpPr/>
          <p:nvPr/>
        </p:nvSpPr>
        <p:spPr>
          <a:xfrm flipH="false" flipV="false" rot="0">
            <a:off x="681269" y="7470446"/>
            <a:ext cx="6083710" cy="4114800"/>
          </a:xfrm>
          <a:custGeom>
            <a:avLst/>
            <a:gdLst/>
            <a:ahLst/>
            <a:cxnLst/>
            <a:rect r="r" b="b" t="t" l="l"/>
            <a:pathLst>
              <a:path h="4114800" w="6083710">
                <a:moveTo>
                  <a:pt x="0" y="0"/>
                </a:moveTo>
                <a:lnTo>
                  <a:pt x="6083709" y="0"/>
                </a:lnTo>
                <a:lnTo>
                  <a:pt x="6083709"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3300005" y="6713575"/>
            <a:ext cx="7627961" cy="3716897"/>
          </a:xfrm>
          <a:custGeom>
            <a:avLst/>
            <a:gdLst/>
            <a:ahLst/>
            <a:cxnLst/>
            <a:rect r="r" b="b" t="t" l="l"/>
            <a:pathLst>
              <a:path h="3716897" w="7627961">
                <a:moveTo>
                  <a:pt x="0" y="0"/>
                </a:moveTo>
                <a:lnTo>
                  <a:pt x="7627961" y="0"/>
                </a:lnTo>
                <a:lnTo>
                  <a:pt x="7627961" y="3716898"/>
                </a:lnTo>
                <a:lnTo>
                  <a:pt x="0" y="371689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3" id="13"/>
          <p:cNvSpPr/>
          <p:nvPr/>
        </p:nvSpPr>
        <p:spPr>
          <a:xfrm flipH="false" flipV="false" rot="0">
            <a:off x="9549673" y="7660946"/>
            <a:ext cx="6083710" cy="4114800"/>
          </a:xfrm>
          <a:custGeom>
            <a:avLst/>
            <a:gdLst/>
            <a:ahLst/>
            <a:cxnLst/>
            <a:rect r="r" b="b" t="t" l="l"/>
            <a:pathLst>
              <a:path h="4114800" w="6083710">
                <a:moveTo>
                  <a:pt x="0" y="0"/>
                </a:moveTo>
                <a:lnTo>
                  <a:pt x="6083710" y="0"/>
                </a:lnTo>
                <a:lnTo>
                  <a:pt x="608371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0">
            <a:off x="1271868" y="458450"/>
            <a:ext cx="5790657" cy="1938295"/>
          </a:xfrm>
          <a:custGeom>
            <a:avLst/>
            <a:gdLst/>
            <a:ahLst/>
            <a:cxnLst/>
            <a:rect r="r" b="b" t="t" l="l"/>
            <a:pathLst>
              <a:path h="1938295" w="5790657">
                <a:moveTo>
                  <a:pt x="0" y="0"/>
                </a:moveTo>
                <a:lnTo>
                  <a:pt x="5790656" y="0"/>
                </a:lnTo>
                <a:lnTo>
                  <a:pt x="5790656" y="1938295"/>
                </a:lnTo>
                <a:lnTo>
                  <a:pt x="0" y="1938295"/>
                </a:lnTo>
                <a:lnTo>
                  <a:pt x="0" y="0"/>
                </a:lnTo>
                <a:close/>
              </a:path>
            </a:pathLst>
          </a:custGeom>
          <a:blipFill>
            <a:blip r:embed="rId6">
              <a:alphaModFix amt="65000"/>
            </a:blip>
            <a:stretch>
              <a:fillRect l="0" t="0" r="0" b="0"/>
            </a:stretch>
          </a:blipFill>
        </p:spPr>
      </p:sp>
      <p:sp>
        <p:nvSpPr>
          <p:cNvPr name="TextBox 15" id="15"/>
          <p:cNvSpPr txBox="true"/>
          <p:nvPr/>
        </p:nvSpPr>
        <p:spPr>
          <a:xfrm rot="0">
            <a:off x="5299875" y="2845945"/>
            <a:ext cx="7688251" cy="1920836"/>
          </a:xfrm>
          <a:prstGeom prst="rect">
            <a:avLst/>
          </a:prstGeom>
        </p:spPr>
        <p:txBody>
          <a:bodyPr anchor="t" rtlCol="false" tIns="0" lIns="0" bIns="0" rIns="0">
            <a:spAutoFit/>
          </a:bodyPr>
          <a:lstStyle/>
          <a:p>
            <a:pPr algn="ctr">
              <a:lnSpc>
                <a:spcPct val="100000"/>
              </a:lnSpc>
            </a:pPr>
            <a:r>
              <a:rPr lang="en-US" b="true" sz="11000">
                <a:solidFill>
                  <a:srgbClr val="EAC24B"/>
                </a:solidFill>
                <a:latin typeface="Playpen Sans Bold"/>
                <a:ea typeface="Playpen Sans Bold"/>
                <a:cs typeface="Playpen Sans Bold"/>
                <a:sym typeface="Playpen Sans Bold"/>
              </a:rPr>
              <a:t>Belajar AI</a:t>
            </a:r>
          </a:p>
        </p:txBody>
      </p:sp>
      <p:grpSp>
        <p:nvGrpSpPr>
          <p:cNvPr name="Group 16" id="16"/>
          <p:cNvGrpSpPr/>
          <p:nvPr/>
        </p:nvGrpSpPr>
        <p:grpSpPr>
          <a:xfrm rot="0">
            <a:off x="6680389" y="1456173"/>
            <a:ext cx="4927222" cy="791725"/>
            <a:chOff x="0" y="0"/>
            <a:chExt cx="1297705" cy="208520"/>
          </a:xfrm>
        </p:grpSpPr>
        <p:sp>
          <p:nvSpPr>
            <p:cNvPr name="Freeform 17" id="17"/>
            <p:cNvSpPr/>
            <p:nvPr/>
          </p:nvSpPr>
          <p:spPr>
            <a:xfrm flipH="false" flipV="false" rot="0">
              <a:off x="0" y="0"/>
              <a:ext cx="1297705" cy="208520"/>
            </a:xfrm>
            <a:custGeom>
              <a:avLst/>
              <a:gdLst/>
              <a:ahLst/>
              <a:cxnLst/>
              <a:rect r="r" b="b" t="t" l="l"/>
              <a:pathLst>
                <a:path h="208520" w="1297705">
                  <a:moveTo>
                    <a:pt x="104260" y="0"/>
                  </a:moveTo>
                  <a:lnTo>
                    <a:pt x="1193444" y="0"/>
                  </a:lnTo>
                  <a:cubicBezTo>
                    <a:pt x="1251026" y="0"/>
                    <a:pt x="1297705" y="46679"/>
                    <a:pt x="1297705" y="104260"/>
                  </a:cubicBezTo>
                  <a:lnTo>
                    <a:pt x="1297705" y="104260"/>
                  </a:lnTo>
                  <a:cubicBezTo>
                    <a:pt x="1297705" y="161841"/>
                    <a:pt x="1251026" y="208520"/>
                    <a:pt x="1193444" y="208520"/>
                  </a:cubicBezTo>
                  <a:lnTo>
                    <a:pt x="104260" y="208520"/>
                  </a:lnTo>
                  <a:cubicBezTo>
                    <a:pt x="46679" y="208520"/>
                    <a:pt x="0" y="161841"/>
                    <a:pt x="0" y="104260"/>
                  </a:cubicBezTo>
                  <a:lnTo>
                    <a:pt x="0" y="104260"/>
                  </a:lnTo>
                  <a:cubicBezTo>
                    <a:pt x="0" y="46679"/>
                    <a:pt x="46679" y="0"/>
                    <a:pt x="104260" y="0"/>
                  </a:cubicBezTo>
                  <a:close/>
                </a:path>
              </a:pathLst>
            </a:custGeom>
            <a:ln w="19050" cap="rnd">
              <a:solidFill>
                <a:srgbClr val="FFFFFF"/>
              </a:solidFill>
              <a:prstDash val="solid"/>
              <a:round/>
            </a:ln>
          </p:spPr>
        </p:sp>
        <p:sp>
          <p:nvSpPr>
            <p:cNvPr name="TextBox 18" id="18"/>
            <p:cNvSpPr txBox="true"/>
            <p:nvPr/>
          </p:nvSpPr>
          <p:spPr>
            <a:xfrm>
              <a:off x="0" y="-38100"/>
              <a:ext cx="1297705" cy="246620"/>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6889755" y="1710743"/>
            <a:ext cx="4508490" cy="330209"/>
          </a:xfrm>
          <a:prstGeom prst="rect">
            <a:avLst/>
          </a:prstGeom>
        </p:spPr>
        <p:txBody>
          <a:bodyPr anchor="t" rtlCol="false" tIns="0" lIns="0" bIns="0" rIns="0">
            <a:spAutoFit/>
          </a:bodyPr>
          <a:lstStyle/>
          <a:p>
            <a:pPr algn="ctr">
              <a:lnSpc>
                <a:spcPct val="100000"/>
              </a:lnSpc>
            </a:pPr>
            <a:r>
              <a:rPr lang="en-US" b="true" sz="2500">
                <a:solidFill>
                  <a:srgbClr val="FFFFFF"/>
                </a:solidFill>
                <a:latin typeface="Playpen Sans Bold"/>
                <a:ea typeface="Playpen Sans Bold"/>
                <a:cs typeface="Playpen Sans Bold"/>
                <a:sym typeface="Playpen Sans Bold"/>
              </a:rPr>
              <a:t>Advance Study Group</a:t>
            </a:r>
          </a:p>
        </p:txBody>
      </p:sp>
      <p:grpSp>
        <p:nvGrpSpPr>
          <p:cNvPr name="Group 20" id="20"/>
          <p:cNvGrpSpPr/>
          <p:nvPr/>
        </p:nvGrpSpPr>
        <p:grpSpPr>
          <a:xfrm rot="0">
            <a:off x="9894294" y="6869221"/>
            <a:ext cx="2441189" cy="791725"/>
            <a:chOff x="0" y="0"/>
            <a:chExt cx="642947" cy="208520"/>
          </a:xfrm>
        </p:grpSpPr>
        <p:sp>
          <p:nvSpPr>
            <p:cNvPr name="Freeform 21" id="21"/>
            <p:cNvSpPr/>
            <p:nvPr/>
          </p:nvSpPr>
          <p:spPr>
            <a:xfrm flipH="false" flipV="false" rot="0">
              <a:off x="0" y="0"/>
              <a:ext cx="642947" cy="208520"/>
            </a:xfrm>
            <a:custGeom>
              <a:avLst/>
              <a:gdLst/>
              <a:ahLst/>
              <a:cxnLst/>
              <a:rect r="r" b="b" t="t" l="l"/>
              <a:pathLst>
                <a:path h="208520" w="642947">
                  <a:moveTo>
                    <a:pt x="104260" y="0"/>
                  </a:moveTo>
                  <a:lnTo>
                    <a:pt x="538687" y="0"/>
                  </a:lnTo>
                  <a:cubicBezTo>
                    <a:pt x="596268" y="0"/>
                    <a:pt x="642947" y="46679"/>
                    <a:pt x="642947" y="104260"/>
                  </a:cubicBezTo>
                  <a:lnTo>
                    <a:pt x="642947" y="104260"/>
                  </a:lnTo>
                  <a:cubicBezTo>
                    <a:pt x="642947" y="161841"/>
                    <a:pt x="596268" y="208520"/>
                    <a:pt x="538687" y="208520"/>
                  </a:cubicBezTo>
                  <a:lnTo>
                    <a:pt x="104260" y="208520"/>
                  </a:lnTo>
                  <a:cubicBezTo>
                    <a:pt x="46679" y="208520"/>
                    <a:pt x="0" y="161841"/>
                    <a:pt x="0" y="104260"/>
                  </a:cubicBezTo>
                  <a:lnTo>
                    <a:pt x="0" y="104260"/>
                  </a:lnTo>
                  <a:cubicBezTo>
                    <a:pt x="0" y="46679"/>
                    <a:pt x="46679" y="0"/>
                    <a:pt x="104260" y="0"/>
                  </a:cubicBezTo>
                  <a:close/>
                </a:path>
              </a:pathLst>
            </a:custGeom>
            <a:solidFill>
              <a:srgbClr val="001769"/>
            </a:solidFill>
            <a:ln cap="rnd">
              <a:noFill/>
              <a:prstDash val="solid"/>
              <a:round/>
            </a:ln>
          </p:spPr>
        </p:sp>
        <p:sp>
          <p:nvSpPr>
            <p:cNvPr name="TextBox 22" id="22"/>
            <p:cNvSpPr txBox="true"/>
            <p:nvPr/>
          </p:nvSpPr>
          <p:spPr>
            <a:xfrm>
              <a:off x="0" y="-38100"/>
              <a:ext cx="642947" cy="246620"/>
            </a:xfrm>
            <a:prstGeom prst="rect">
              <a:avLst/>
            </a:prstGeom>
          </p:spPr>
          <p:txBody>
            <a:bodyPr anchor="ctr" rtlCol="false" tIns="50800" lIns="50800" bIns="50800" rIns="50800"/>
            <a:lstStyle/>
            <a:p>
              <a:pPr algn="ctr">
                <a:lnSpc>
                  <a:spcPts val="2659"/>
                </a:lnSpc>
                <a:spcBef>
                  <a:spcPct val="0"/>
                </a:spcBef>
              </a:pPr>
            </a:p>
          </p:txBody>
        </p:sp>
      </p:grpSp>
      <p:sp>
        <p:nvSpPr>
          <p:cNvPr name="TextBox 23" id="23"/>
          <p:cNvSpPr txBox="true"/>
          <p:nvPr/>
        </p:nvSpPr>
        <p:spPr>
          <a:xfrm rot="0">
            <a:off x="9998024" y="7123791"/>
            <a:ext cx="2233728" cy="330209"/>
          </a:xfrm>
          <a:prstGeom prst="rect">
            <a:avLst/>
          </a:prstGeom>
        </p:spPr>
        <p:txBody>
          <a:bodyPr anchor="t" rtlCol="false" tIns="0" lIns="0" bIns="0" rIns="0">
            <a:spAutoFit/>
          </a:bodyPr>
          <a:lstStyle/>
          <a:p>
            <a:pPr algn="ctr">
              <a:lnSpc>
                <a:spcPct val="100000"/>
              </a:lnSpc>
            </a:pPr>
            <a:r>
              <a:rPr lang="en-US" b="true" sz="2400">
                <a:solidFill>
                  <a:srgbClr val="FFFFFF"/>
                </a:solidFill>
                <a:latin typeface="Playpen Sans Bold"/>
                <a:ea typeface="Playpen Sans Bold"/>
                <a:cs typeface="Playpen Sans Bold"/>
                <a:sym typeface="Playpen Sans Bold"/>
              </a:rPr>
              <a:t>Pertemuan 0</a:t>
            </a:r>
          </a:p>
        </p:txBody>
      </p:sp>
      <p:sp>
        <p:nvSpPr>
          <p:cNvPr name="TextBox 24" id="24"/>
          <p:cNvSpPr txBox="true"/>
          <p:nvPr/>
        </p:nvSpPr>
        <p:spPr>
          <a:xfrm rot="0">
            <a:off x="3300005" y="4630814"/>
            <a:ext cx="11687990" cy="1920836"/>
          </a:xfrm>
          <a:prstGeom prst="rect">
            <a:avLst/>
          </a:prstGeom>
        </p:spPr>
        <p:txBody>
          <a:bodyPr anchor="t" rtlCol="false" tIns="0" lIns="0" bIns="0" rIns="0">
            <a:spAutoFit/>
          </a:bodyPr>
          <a:lstStyle/>
          <a:p>
            <a:pPr algn="ctr">
              <a:lnSpc>
                <a:spcPct val="100000"/>
              </a:lnSpc>
            </a:pPr>
            <a:r>
              <a:rPr lang="en-US" b="true" sz="11000">
                <a:solidFill>
                  <a:srgbClr val="FFFFFF"/>
                </a:solidFill>
                <a:latin typeface="Playpen Sans Bold"/>
                <a:ea typeface="Playpen Sans Bold"/>
                <a:cs typeface="Playpen Sans Bold"/>
                <a:sym typeface="Playpen Sans Bold"/>
              </a:rPr>
              <a:t>Lewat Paper</a:t>
            </a:r>
          </a:p>
        </p:txBody>
      </p:sp>
      <p:sp>
        <p:nvSpPr>
          <p:cNvPr id="25" name="Label lab"/>
          <p:cNvSpPr/>
          <p:nvPr/>
        </p:nvSpPr>
        <p:spPr>
          <a:xfrm>
            <a:off x="3474720" y="320040"/>
            <a:ext cx="11338560" cy="685800"/>
          </a:xfrm>
          <a:prstGeom prst="roundRect">
            <a:avLst>
              <a:gd name="adj" fmla="val 40000"/>
            </a:avLst>
          </a:prstGeom>
          <a:solidFill>
            <a:srgbClr val="0A254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ma lab"/>
          <p:cNvSpPr txBox="1"/>
          <p:nvPr/>
        </p:nvSpPr>
        <p:spPr>
          <a:xfrm>
            <a:off x="3474720" y="457200"/>
            <a:ext cx="11338560" cy="457200"/>
          </a:xfrm>
          <a:prstGeom prst="rect">
            <a:avLst/>
          </a:prstGeom>
          <a:noFill/>
        </p:spPr>
        <p:txBody>
          <a:bodyPr wrap="square" lIns="0" rIns="0" tIns="0" bIns="0" anchor="t">
            <a:spAutoFit/>
          </a:bodyPr>
          <a:lstStyle/>
          <a:p>
            <a:pPr algn="ctr">
              <a:spcAft>
                <a:spcPts val="0"/>
              </a:spcAft>
            </a:pPr>
            <a:r>
              <a:rPr sz="2200">
                <a:solidFill>
                  <a:srgbClr val="FFFFFF"/>
                </a:solidFill>
                <a:latin typeface="Playpen Sans"/>
              </a:rPr>
              <a:t>Computing Laboratory · Fakultas Informatika · Telkom University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7928" r="0" b="-67928"/>
            </a:stretch>
          </a:blipFill>
        </p:spPr>
      </p:sp>
      <p:sp>
        <p:nvSpPr>
          <p:cNvPr name="Freeform 3" id="3"/>
          <p:cNvSpPr/>
          <p:nvPr/>
        </p:nvSpPr>
        <p:spPr>
          <a:xfrm flipH="false" flipV="false" rot="0">
            <a:off x="12533569" y="-21055"/>
            <a:ext cx="5762298" cy="6532600"/>
          </a:xfrm>
          <a:custGeom>
            <a:avLst/>
            <a:gdLst/>
            <a:ahLst/>
            <a:cxnLst/>
            <a:rect r="r" b="b" t="t" l="l"/>
            <a:pathLst>
              <a:path h="6532600" w="5762298">
                <a:moveTo>
                  <a:pt x="0" y="0"/>
                </a:moveTo>
                <a:lnTo>
                  <a:pt x="5762298" y="0"/>
                </a:lnTo>
                <a:lnTo>
                  <a:pt x="5762298" y="6532600"/>
                </a:lnTo>
                <a:lnTo>
                  <a:pt x="0" y="6532600"/>
                </a:lnTo>
                <a:lnTo>
                  <a:pt x="0" y="0"/>
                </a:lnTo>
                <a:close/>
              </a:path>
            </a:pathLst>
          </a:custGeom>
          <a:blipFill>
            <a:blip r:embed="rId3"/>
            <a:stretch>
              <a:fillRect l="0" t="0" r="0" b="0"/>
            </a:stretch>
          </a:blipFill>
        </p:spPr>
      </p:sp>
      <p:sp>
        <p:nvSpPr>
          <p:cNvPr name="Freeform 4" id="4"/>
          <p:cNvSpPr/>
          <p:nvPr/>
        </p:nvSpPr>
        <p:spPr>
          <a:xfrm flipH="false" flipV="false" rot="0">
            <a:off x="12978766" y="2004481"/>
            <a:ext cx="5309234" cy="5465964"/>
          </a:xfrm>
          <a:custGeom>
            <a:avLst/>
            <a:gdLst/>
            <a:ahLst/>
            <a:cxnLst/>
            <a:rect r="r" b="b" t="t" l="l"/>
            <a:pathLst>
              <a:path h="5465964" w="5309234">
                <a:moveTo>
                  <a:pt x="0" y="0"/>
                </a:moveTo>
                <a:lnTo>
                  <a:pt x="5309234" y="0"/>
                </a:lnTo>
                <a:lnTo>
                  <a:pt x="5309234" y="5465965"/>
                </a:lnTo>
                <a:lnTo>
                  <a:pt x="0" y="5465965"/>
                </a:lnTo>
                <a:lnTo>
                  <a:pt x="0" y="0"/>
                </a:lnTo>
                <a:close/>
              </a:path>
            </a:pathLst>
          </a:custGeom>
          <a:blipFill>
            <a:blip r:embed="rId4"/>
            <a:stretch>
              <a:fillRect l="0" t="0" r="0" b="0"/>
            </a:stretch>
          </a:blipFill>
        </p:spPr>
      </p:sp>
      <p:sp>
        <p:nvSpPr>
          <p:cNvPr name="Freeform 5" id="5"/>
          <p:cNvSpPr/>
          <p:nvPr/>
        </p:nvSpPr>
        <p:spPr>
          <a:xfrm flipH="true" flipV="false" rot="0">
            <a:off x="-29416" y="0"/>
            <a:ext cx="5762298" cy="6532600"/>
          </a:xfrm>
          <a:custGeom>
            <a:avLst/>
            <a:gdLst/>
            <a:ahLst/>
            <a:cxnLst/>
            <a:rect r="r" b="b" t="t" l="l"/>
            <a:pathLst>
              <a:path h="6532600" w="5762298">
                <a:moveTo>
                  <a:pt x="5762298" y="0"/>
                </a:moveTo>
                <a:lnTo>
                  <a:pt x="0" y="0"/>
                </a:lnTo>
                <a:lnTo>
                  <a:pt x="0" y="6532600"/>
                </a:lnTo>
                <a:lnTo>
                  <a:pt x="5762298" y="6532600"/>
                </a:lnTo>
                <a:lnTo>
                  <a:pt x="5762298" y="0"/>
                </a:lnTo>
                <a:close/>
              </a:path>
            </a:pathLst>
          </a:custGeom>
          <a:blipFill>
            <a:blip r:embed="rId3"/>
            <a:stretch>
              <a:fillRect l="0" t="0" r="0" b="0"/>
            </a:stretch>
          </a:blipFill>
        </p:spPr>
      </p:sp>
      <p:sp>
        <p:nvSpPr>
          <p:cNvPr name="Freeform 6" id="6"/>
          <p:cNvSpPr/>
          <p:nvPr/>
        </p:nvSpPr>
        <p:spPr>
          <a:xfrm flipH="false" flipV="false" rot="0">
            <a:off x="423648" y="2410518"/>
            <a:ext cx="5309234" cy="5465964"/>
          </a:xfrm>
          <a:custGeom>
            <a:avLst/>
            <a:gdLst/>
            <a:ahLst/>
            <a:cxnLst/>
            <a:rect r="r" b="b" t="t" l="l"/>
            <a:pathLst>
              <a:path h="5465964" w="5309234">
                <a:moveTo>
                  <a:pt x="0" y="0"/>
                </a:moveTo>
                <a:lnTo>
                  <a:pt x="5309234" y="0"/>
                </a:lnTo>
                <a:lnTo>
                  <a:pt x="5309234" y="5465964"/>
                </a:lnTo>
                <a:lnTo>
                  <a:pt x="0" y="5465964"/>
                </a:lnTo>
                <a:lnTo>
                  <a:pt x="0" y="0"/>
                </a:lnTo>
                <a:close/>
              </a:path>
            </a:pathLst>
          </a:custGeom>
          <a:blipFill>
            <a:blip r:embed="rId4"/>
            <a:stretch>
              <a:fillRect l="0" t="0" r="0" b="0"/>
            </a:stretch>
          </a:blipFill>
        </p:spPr>
      </p:sp>
      <p:sp>
        <p:nvSpPr>
          <p:cNvPr name="Freeform 7" id="7"/>
          <p:cNvSpPr/>
          <p:nvPr/>
        </p:nvSpPr>
        <p:spPr>
          <a:xfrm flipH="false" flipV="false" rot="0">
            <a:off x="-317430" y="7660946"/>
            <a:ext cx="18613297" cy="3022078"/>
          </a:xfrm>
          <a:custGeom>
            <a:avLst/>
            <a:gdLst/>
            <a:ahLst/>
            <a:cxnLst/>
            <a:rect r="r" b="b" t="t" l="l"/>
            <a:pathLst>
              <a:path h="3022078" w="18613297">
                <a:moveTo>
                  <a:pt x="0" y="0"/>
                </a:moveTo>
                <a:lnTo>
                  <a:pt x="18613297" y="0"/>
                </a:lnTo>
                <a:lnTo>
                  <a:pt x="18613297" y="3022077"/>
                </a:lnTo>
                <a:lnTo>
                  <a:pt x="0" y="3022077"/>
                </a:lnTo>
                <a:lnTo>
                  <a:pt x="0" y="0"/>
                </a:lnTo>
                <a:close/>
              </a:path>
            </a:pathLst>
          </a:custGeom>
          <a:blipFill>
            <a:blip r:embed="rId5"/>
            <a:stretch>
              <a:fillRect l="-158" t="0" r="-158" b="-6838"/>
            </a:stretch>
          </a:blipFill>
        </p:spPr>
      </p:sp>
      <p:sp>
        <p:nvSpPr>
          <p:cNvPr name="Freeform 9" id="9"/>
          <p:cNvSpPr/>
          <p:nvPr/>
        </p:nvSpPr>
        <p:spPr>
          <a:xfrm flipH="false" flipV="false" rot="0">
            <a:off x="12978766" y="2453423"/>
            <a:ext cx="7524206" cy="8229600"/>
          </a:xfrm>
          <a:custGeom>
            <a:avLst/>
            <a:gdLst/>
            <a:ahLst/>
            <a:cxnLst/>
            <a:rect r="r" b="b" t="t" l="l"/>
            <a:pathLst>
              <a:path h="8229600" w="7524206">
                <a:moveTo>
                  <a:pt x="0" y="0"/>
                </a:moveTo>
                <a:lnTo>
                  <a:pt x="7524205" y="0"/>
                </a:lnTo>
                <a:lnTo>
                  <a:pt x="7524205" y="8229600"/>
                </a:lnTo>
                <a:lnTo>
                  <a:pt x="0" y="8229600"/>
                </a:lnTo>
                <a:lnTo>
                  <a:pt x="0" y="0"/>
                </a:lnTo>
                <a:close/>
              </a:path>
            </a:pathLst>
          </a:custGeom>
          <a:blipFill>
            <a:blip r:embed="rId7"/>
            <a:stretch>
              <a:fillRect l="0" t="0" r="0" b="0"/>
            </a:stretch>
          </a:blipFill>
        </p:spPr>
      </p:sp>
      <p:sp>
        <p:nvSpPr>
          <p:cNvPr name="Freeform 13" id="13"/>
          <p:cNvSpPr/>
          <p:nvPr/>
        </p:nvSpPr>
        <p:spPr>
          <a:xfrm flipH="false" flipV="false" rot="0">
            <a:off x="9549673" y="7660946"/>
            <a:ext cx="6083710" cy="4114800"/>
          </a:xfrm>
          <a:custGeom>
            <a:avLst/>
            <a:gdLst/>
            <a:ahLst/>
            <a:cxnLst/>
            <a:rect r="r" b="b" t="t" l="l"/>
            <a:pathLst>
              <a:path h="4114800" w="6083710">
                <a:moveTo>
                  <a:pt x="0" y="0"/>
                </a:moveTo>
                <a:lnTo>
                  <a:pt x="6083710" y="0"/>
                </a:lnTo>
                <a:lnTo>
                  <a:pt x="608371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id="14" name="Panel"/>
          <p:cNvSpPr/>
          <p:nvPr/>
        </p:nvSpPr>
        <p:spPr>
          <a:xfrm>
            <a:off x="914400" y="731520"/>
            <a:ext cx="11612880" cy="6675120"/>
          </a:xfrm>
          <a:prstGeom prst="roundRect">
            <a:avLst>
              <a:gd name="adj" fmla="val 5000"/>
            </a:avLst>
          </a:prstGeom>
          <a:solidFill>
            <a:srgbClr val="0A2540">
              <a:alpha val="8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Judul"/>
          <p:cNvSpPr txBox="1"/>
          <p:nvPr/>
        </p:nvSpPr>
        <p:spPr>
          <a:xfrm>
            <a:off x="1508760" y="1005840"/>
            <a:ext cx="10424159" cy="1188720"/>
          </a:xfrm>
          <a:prstGeom prst="rect">
            <a:avLst/>
          </a:prstGeom>
          <a:noFill/>
        </p:spPr>
        <p:txBody>
          <a:bodyPr wrap="square" lIns="0" rIns="0" tIns="0" bIns="0" anchor="t">
            <a:spAutoFit/>
          </a:bodyPr>
          <a:lstStyle/>
          <a:p>
            <a:pPr algn="l">
              <a:spcAft>
                <a:spcPts val="0"/>
              </a:spcAft>
            </a:pPr>
            <a:r>
              <a:rPr sz="6800">
                <a:solidFill>
                  <a:srgbClr val="F7B125"/>
                </a:solidFill>
                <a:latin typeface="Playpen Sans Bold"/>
              </a:rPr>
              <a:t>Pretest</a:t>
            </a:r>
          </a:p>
        </p:txBody>
      </p:sp>
      <p:sp>
        <p:nvSpPr>
          <p:cNvPr id="16" name="Waktu"/>
          <p:cNvSpPr txBox="1"/>
          <p:nvPr/>
        </p:nvSpPr>
        <p:spPr>
          <a:xfrm>
            <a:off x="1508760" y="2194560"/>
            <a:ext cx="10424159" cy="1280160"/>
          </a:xfrm>
          <a:prstGeom prst="rect">
            <a:avLst/>
          </a:prstGeom>
          <a:noFill/>
        </p:spPr>
        <p:txBody>
          <a:bodyPr wrap="square" lIns="0" rIns="0" tIns="0" bIns="0" anchor="t">
            <a:spAutoFit/>
          </a:bodyPr>
          <a:lstStyle/>
          <a:p>
            <a:pPr algn="l">
              <a:spcAft>
                <a:spcPts val="0"/>
              </a:spcAft>
            </a:pPr>
            <a:r>
              <a:rPr sz="8800">
                <a:solidFill>
                  <a:srgbClr val="F7B125"/>
                </a:solidFill>
                <a:latin typeface="Playpen Sans Bold"/>
              </a:rPr>
              <a:t>8 menit</a:t>
            </a:r>
          </a:p>
        </p:txBody>
      </p:sp>
      <p:sp>
        <p:nvSpPr>
          <p:cNvPr id="17" name="Teks"/>
          <p:cNvSpPr txBox="1"/>
          <p:nvPr/>
        </p:nvSpPr>
        <p:spPr>
          <a:xfrm>
            <a:off x="1508760" y="3794760"/>
            <a:ext cx="10424159" cy="3474720"/>
          </a:xfrm>
          <a:prstGeom prst="rect">
            <a:avLst/>
          </a:prstGeom>
          <a:noFill/>
        </p:spPr>
        <p:txBody>
          <a:bodyPr wrap="square" lIns="0" rIns="0" tIns="0" bIns="0" anchor="t">
            <a:spAutoFit/>
          </a:bodyPr>
          <a:lstStyle/>
          <a:p>
            <a:pPr algn="l" marL="502920" indent="-502920">
              <a:spcAft>
                <a:spcPts val="1200"/>
              </a:spcAft>
              <a:buClr>
                <a:srgbClr val="F7B125"/>
              </a:buClr>
              <a:buFont typeface="Arial"/>
              <a:buChar char="•"/>
            </a:pPr>
            <a:r>
              <a:rPr sz="3600">
                <a:solidFill>
                  <a:srgbClr val="FFFFFF"/>
                </a:solidFill>
                <a:latin typeface="Playpen Sans"/>
              </a:rPr>
              <a:t>12 soal pendek, tanpa perangkat</a:t>
            </a:r>
          </a:p>
          <a:p>
            <a:pPr algn="l" marL="502920" indent="-502920">
              <a:spcAft>
                <a:spcPts val="1200"/>
              </a:spcAft>
              <a:buClr>
                <a:srgbClr val="F7B125"/>
              </a:buClr>
              <a:buFont typeface="Arial"/>
              <a:buChar char="•"/>
            </a:pPr>
            <a:r>
              <a:rPr sz="3600">
                <a:solidFill>
                  <a:srgbClr val="FFFFFF"/>
                </a:solidFill>
                <a:latin typeface="Playpen Sans"/>
              </a:rPr>
              <a:t>Tanpa nilai. Pakai nama samaran</a:t>
            </a:r>
          </a:p>
          <a:p>
            <a:pPr algn="l" marL="502920" indent="-502920">
              <a:spcAft>
                <a:spcPts val="1200"/>
              </a:spcAft>
              <a:buClr>
                <a:srgbClr val="F7B125"/>
              </a:buClr>
              <a:buFont typeface="Arial"/>
              <a:buChar char="•"/>
            </a:pPr>
            <a:r>
              <a:rPr sz="3600">
                <a:solidFill>
                  <a:srgbClr val="FFFFFF"/>
                </a:solidFill>
                <a:latin typeface="Playpen Sans"/>
              </a:rPr>
              <a:t>Kosongkan soal yang tidak kamu tahu</a:t>
            </a:r>
          </a:p>
          <a:p>
            <a:pPr algn="l" marL="502920" indent="-502920">
              <a:spcAft>
                <a:spcPts val="0"/>
              </a:spcAft>
              <a:buClr>
                <a:srgbClr val="F7B125"/>
              </a:buClr>
              <a:buFont typeface="Arial"/>
              <a:buChar char="•"/>
            </a:pPr>
            <a:r>
              <a:rPr sz="3600">
                <a:solidFill>
                  <a:srgbClr val="FFFFFF"/>
                </a:solidFill>
                <a:latin typeface="Playpen Sans"/>
              </a:rPr>
              <a:t>Hasilnya hanya untuk merencanakan kelas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7928" r="0" b="-67928"/>
            </a:stretch>
          </a:blipFill>
        </p:spPr>
      </p:sp>
      <p:sp>
        <p:nvSpPr>
          <p:cNvPr name="Freeform 3" id="3"/>
          <p:cNvSpPr/>
          <p:nvPr/>
        </p:nvSpPr>
        <p:spPr>
          <a:xfrm flipH="false" flipV="false" rot="0">
            <a:off x="12533569" y="-21055"/>
            <a:ext cx="5762298" cy="6532600"/>
          </a:xfrm>
          <a:custGeom>
            <a:avLst/>
            <a:gdLst/>
            <a:ahLst/>
            <a:cxnLst/>
            <a:rect r="r" b="b" t="t" l="l"/>
            <a:pathLst>
              <a:path h="6532600" w="5762298">
                <a:moveTo>
                  <a:pt x="0" y="0"/>
                </a:moveTo>
                <a:lnTo>
                  <a:pt x="5762298" y="0"/>
                </a:lnTo>
                <a:lnTo>
                  <a:pt x="5762298" y="6532600"/>
                </a:lnTo>
                <a:lnTo>
                  <a:pt x="0" y="6532600"/>
                </a:lnTo>
                <a:lnTo>
                  <a:pt x="0" y="0"/>
                </a:lnTo>
                <a:close/>
              </a:path>
            </a:pathLst>
          </a:custGeom>
          <a:blipFill>
            <a:blip r:embed="rId3"/>
            <a:stretch>
              <a:fillRect l="0" t="0" r="0" b="0"/>
            </a:stretch>
          </a:blipFill>
        </p:spPr>
      </p:sp>
      <p:sp>
        <p:nvSpPr>
          <p:cNvPr name="Freeform 4" id="4"/>
          <p:cNvSpPr/>
          <p:nvPr/>
        </p:nvSpPr>
        <p:spPr>
          <a:xfrm flipH="false" flipV="false" rot="0">
            <a:off x="12978766" y="2004481"/>
            <a:ext cx="5309234" cy="5465964"/>
          </a:xfrm>
          <a:custGeom>
            <a:avLst/>
            <a:gdLst/>
            <a:ahLst/>
            <a:cxnLst/>
            <a:rect r="r" b="b" t="t" l="l"/>
            <a:pathLst>
              <a:path h="5465964" w="5309234">
                <a:moveTo>
                  <a:pt x="0" y="0"/>
                </a:moveTo>
                <a:lnTo>
                  <a:pt x="5309234" y="0"/>
                </a:lnTo>
                <a:lnTo>
                  <a:pt x="5309234" y="5465965"/>
                </a:lnTo>
                <a:lnTo>
                  <a:pt x="0" y="5465965"/>
                </a:lnTo>
                <a:lnTo>
                  <a:pt x="0" y="0"/>
                </a:lnTo>
                <a:close/>
              </a:path>
            </a:pathLst>
          </a:custGeom>
          <a:blipFill>
            <a:blip r:embed="rId4"/>
            <a:stretch>
              <a:fillRect l="0" t="0" r="0" b="0"/>
            </a:stretch>
          </a:blipFill>
        </p:spPr>
      </p:sp>
      <p:sp>
        <p:nvSpPr>
          <p:cNvPr name="Freeform 5" id="5"/>
          <p:cNvSpPr/>
          <p:nvPr/>
        </p:nvSpPr>
        <p:spPr>
          <a:xfrm flipH="true" flipV="false" rot="0">
            <a:off x="-29416" y="0"/>
            <a:ext cx="5762298" cy="6532600"/>
          </a:xfrm>
          <a:custGeom>
            <a:avLst/>
            <a:gdLst/>
            <a:ahLst/>
            <a:cxnLst/>
            <a:rect r="r" b="b" t="t" l="l"/>
            <a:pathLst>
              <a:path h="6532600" w="5762298">
                <a:moveTo>
                  <a:pt x="5762298" y="0"/>
                </a:moveTo>
                <a:lnTo>
                  <a:pt x="0" y="0"/>
                </a:lnTo>
                <a:lnTo>
                  <a:pt x="0" y="6532600"/>
                </a:lnTo>
                <a:lnTo>
                  <a:pt x="5762298" y="6532600"/>
                </a:lnTo>
                <a:lnTo>
                  <a:pt x="5762298" y="0"/>
                </a:lnTo>
                <a:close/>
              </a:path>
            </a:pathLst>
          </a:custGeom>
          <a:blipFill>
            <a:blip r:embed="rId3"/>
            <a:stretch>
              <a:fillRect l="0" t="0" r="0" b="0"/>
            </a:stretch>
          </a:blipFill>
        </p:spPr>
      </p:sp>
      <p:sp>
        <p:nvSpPr>
          <p:cNvPr name="Freeform 6" id="6"/>
          <p:cNvSpPr/>
          <p:nvPr/>
        </p:nvSpPr>
        <p:spPr>
          <a:xfrm flipH="false" flipV="false" rot="0">
            <a:off x="423648" y="2410518"/>
            <a:ext cx="5309234" cy="5465964"/>
          </a:xfrm>
          <a:custGeom>
            <a:avLst/>
            <a:gdLst/>
            <a:ahLst/>
            <a:cxnLst/>
            <a:rect r="r" b="b" t="t" l="l"/>
            <a:pathLst>
              <a:path h="5465964" w="5309234">
                <a:moveTo>
                  <a:pt x="0" y="0"/>
                </a:moveTo>
                <a:lnTo>
                  <a:pt x="5309234" y="0"/>
                </a:lnTo>
                <a:lnTo>
                  <a:pt x="5309234" y="5465964"/>
                </a:lnTo>
                <a:lnTo>
                  <a:pt x="0" y="5465964"/>
                </a:lnTo>
                <a:lnTo>
                  <a:pt x="0" y="0"/>
                </a:lnTo>
                <a:close/>
              </a:path>
            </a:pathLst>
          </a:custGeom>
          <a:blipFill>
            <a:blip r:embed="rId4"/>
            <a:stretch>
              <a:fillRect l="0" t="0" r="0" b="0"/>
            </a:stretch>
          </a:blipFill>
        </p:spPr>
      </p:sp>
      <p:sp>
        <p:nvSpPr>
          <p:cNvPr name="Freeform 7" id="7"/>
          <p:cNvSpPr/>
          <p:nvPr/>
        </p:nvSpPr>
        <p:spPr>
          <a:xfrm flipH="false" flipV="false" rot="0">
            <a:off x="-317430" y="7660946"/>
            <a:ext cx="18613297" cy="3022078"/>
          </a:xfrm>
          <a:custGeom>
            <a:avLst/>
            <a:gdLst/>
            <a:ahLst/>
            <a:cxnLst/>
            <a:rect r="r" b="b" t="t" l="l"/>
            <a:pathLst>
              <a:path h="3022078" w="18613297">
                <a:moveTo>
                  <a:pt x="0" y="0"/>
                </a:moveTo>
                <a:lnTo>
                  <a:pt x="18613297" y="0"/>
                </a:lnTo>
                <a:lnTo>
                  <a:pt x="18613297" y="3022077"/>
                </a:lnTo>
                <a:lnTo>
                  <a:pt x="0" y="3022077"/>
                </a:lnTo>
                <a:lnTo>
                  <a:pt x="0" y="0"/>
                </a:lnTo>
                <a:close/>
              </a:path>
            </a:pathLst>
          </a:custGeom>
          <a:blipFill>
            <a:blip r:embed="rId5"/>
            <a:stretch>
              <a:fillRect l="-158" t="0" r="-158" b="-6838"/>
            </a:stretch>
          </a:blipFill>
        </p:spPr>
      </p:sp>
      <p:sp>
        <p:nvSpPr>
          <p:cNvPr name="Freeform 11" id="11"/>
          <p:cNvSpPr/>
          <p:nvPr/>
        </p:nvSpPr>
        <p:spPr>
          <a:xfrm flipH="false" flipV="false" rot="0">
            <a:off x="681269" y="7470446"/>
            <a:ext cx="6083710" cy="4114800"/>
          </a:xfrm>
          <a:custGeom>
            <a:avLst/>
            <a:gdLst/>
            <a:ahLst/>
            <a:cxnLst/>
            <a:rect r="r" b="b" t="t" l="l"/>
            <a:pathLst>
              <a:path h="4114800" w="6083710">
                <a:moveTo>
                  <a:pt x="0" y="0"/>
                </a:moveTo>
                <a:lnTo>
                  <a:pt x="6083709" y="0"/>
                </a:lnTo>
                <a:lnTo>
                  <a:pt x="6083709"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9549673" y="7660946"/>
            <a:ext cx="6083710" cy="4114800"/>
          </a:xfrm>
          <a:custGeom>
            <a:avLst/>
            <a:gdLst/>
            <a:ahLst/>
            <a:cxnLst/>
            <a:rect r="r" b="b" t="t" l="l"/>
            <a:pathLst>
              <a:path h="4114800" w="6083710">
                <a:moveTo>
                  <a:pt x="0" y="0"/>
                </a:moveTo>
                <a:lnTo>
                  <a:pt x="6083710" y="0"/>
                </a:lnTo>
                <a:lnTo>
                  <a:pt x="608371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id="14" name="Panel"/>
          <p:cNvSpPr/>
          <p:nvPr/>
        </p:nvSpPr>
        <p:spPr>
          <a:xfrm>
            <a:off x="914400" y="731520"/>
            <a:ext cx="16459200" cy="6675120"/>
          </a:xfrm>
          <a:prstGeom prst="roundRect">
            <a:avLst>
              <a:gd name="adj" fmla="val 5000"/>
            </a:avLst>
          </a:prstGeom>
          <a:solidFill>
            <a:srgbClr val="0A2540">
              <a:alpha val="8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Judul"/>
          <p:cNvSpPr txBox="1"/>
          <p:nvPr/>
        </p:nvSpPr>
        <p:spPr>
          <a:xfrm>
            <a:off x="1508760" y="914400"/>
            <a:ext cx="15270480" cy="1097280"/>
          </a:xfrm>
          <a:prstGeom prst="rect">
            <a:avLst/>
          </a:prstGeom>
          <a:noFill/>
        </p:spPr>
        <p:txBody>
          <a:bodyPr wrap="square" lIns="0" rIns="0" tIns="0" bIns="0" anchor="t">
            <a:spAutoFit/>
          </a:bodyPr>
          <a:lstStyle/>
          <a:p>
            <a:pPr algn="ctr">
              <a:spcAft>
                <a:spcPts val="0"/>
              </a:spcAft>
            </a:pPr>
            <a:r>
              <a:rPr sz="6000">
                <a:solidFill>
                  <a:srgbClr val="F7B125"/>
                </a:solidFill>
                <a:latin typeface="Playpen Sans Bold"/>
              </a:rPr>
              <a:t>Semua AI bermula dari paper</a:t>
            </a:r>
          </a:p>
        </p:txBody>
      </p:sp>
      <p:pic>
        <p:nvPicPr>
          <p:cNvPr id="16" name="Paper kma" descr="Halaman depan sebuah paper"/>
          <p:cNvPicPr>
            <a:picLocks noChangeAspect="1"/>
          </p:cNvPicPr>
          <p:nvPr/>
        </p:nvPicPr>
        <p:blipFill>
          <a:blip r:embed="rId13"/>
          <a:stretch>
            <a:fillRect/>
          </a:stretch>
        </p:blipFill>
        <p:spPr>
          <a:xfrm rot="21480000">
            <a:off x="1508760" y="2148840"/>
            <a:ext cx="3413637" cy="2286000"/>
          </a:xfrm>
          <a:prstGeom prst="rect">
            <a:avLst/>
          </a:prstGeom>
          <a:ln w="38100">
            <a:solidFill>
              <a:srgbClr val="FFFFFF"/>
            </a:solidFill>
          </a:ln>
        </p:spPr>
      </p:pic>
      <p:pic>
        <p:nvPicPr>
          <p:cNvPr id="17" name="Paper ikma" descr="Halaman depan sebuah paper"/>
          <p:cNvPicPr>
            <a:picLocks noChangeAspect="1"/>
          </p:cNvPicPr>
          <p:nvPr/>
        </p:nvPicPr>
        <p:blipFill>
          <a:blip r:embed="rId14"/>
          <a:stretch>
            <a:fillRect/>
          </a:stretch>
        </p:blipFill>
        <p:spPr>
          <a:xfrm rot="90000">
            <a:off x="5284431" y="2148840"/>
            <a:ext cx="3159125" cy="2286000"/>
          </a:xfrm>
          <a:prstGeom prst="rect">
            <a:avLst/>
          </a:prstGeom>
          <a:ln w="38100">
            <a:solidFill>
              <a:srgbClr val="FFFFFF"/>
            </a:solidFill>
          </a:ln>
        </p:spPr>
      </p:pic>
      <p:pic>
        <p:nvPicPr>
          <p:cNvPr id="18" name="Paper skin" descr="Halaman depan sebuah paper"/>
          <p:cNvPicPr>
            <a:picLocks noChangeAspect="1"/>
          </p:cNvPicPr>
          <p:nvPr/>
        </p:nvPicPr>
        <p:blipFill>
          <a:blip r:embed="rId15"/>
          <a:stretch>
            <a:fillRect/>
          </a:stretch>
        </p:blipFill>
        <p:spPr>
          <a:xfrm rot="21540000">
            <a:off x="8805591" y="2148840"/>
            <a:ext cx="4023252" cy="2286000"/>
          </a:xfrm>
          <a:prstGeom prst="rect">
            <a:avLst/>
          </a:prstGeom>
          <a:ln w="38100">
            <a:solidFill>
              <a:srgbClr val="FFFFFF"/>
            </a:solidFill>
          </a:ln>
        </p:spPr>
      </p:pic>
      <p:pic>
        <p:nvPicPr>
          <p:cNvPr id="19" name="Paper cotpot" descr="Halaman depan sebuah paper"/>
          <p:cNvPicPr>
            <a:picLocks noChangeAspect="1"/>
          </p:cNvPicPr>
          <p:nvPr/>
        </p:nvPicPr>
        <p:blipFill>
          <a:blip r:embed="rId16"/>
          <a:stretch>
            <a:fillRect/>
          </a:stretch>
        </p:blipFill>
        <p:spPr>
          <a:xfrm rot="120000">
            <a:off x="13190879" y="2148840"/>
            <a:ext cx="3588360" cy="2286000"/>
          </a:xfrm>
          <a:prstGeom prst="rect">
            <a:avLst/>
          </a:prstGeom>
          <a:ln w="38100">
            <a:solidFill>
              <a:srgbClr val="FFFFFF"/>
            </a:solidFill>
          </a:ln>
        </p:spPr>
      </p:pic>
      <p:pic>
        <p:nvPicPr>
          <p:cNvPr id="20" name="Paper dfu" descr="Halaman depan sebuah paper"/>
          <p:cNvPicPr>
            <a:picLocks noChangeAspect="1"/>
          </p:cNvPicPr>
          <p:nvPr/>
        </p:nvPicPr>
        <p:blipFill>
          <a:blip r:embed="rId17"/>
          <a:stretch>
            <a:fillRect/>
          </a:stretch>
        </p:blipFill>
        <p:spPr>
          <a:xfrm rot="72000">
            <a:off x="1508760" y="4983479"/>
            <a:ext cx="3766278" cy="1143000"/>
          </a:xfrm>
          <a:prstGeom prst="rect">
            <a:avLst/>
          </a:prstGeom>
          <a:ln w="38100">
            <a:solidFill>
              <a:srgbClr val="FFFFFF"/>
            </a:solidFill>
          </a:ln>
        </p:spPr>
      </p:pic>
      <p:pic>
        <p:nvPicPr>
          <p:cNvPr id="21" name="Paper ncf" descr="Halaman depan sebuah paper"/>
          <p:cNvPicPr>
            <a:picLocks noChangeAspect="1"/>
          </p:cNvPicPr>
          <p:nvPr/>
        </p:nvPicPr>
        <p:blipFill>
          <a:blip r:embed="rId18"/>
          <a:stretch>
            <a:fillRect/>
          </a:stretch>
        </p:blipFill>
        <p:spPr>
          <a:xfrm rot="21510000">
            <a:off x="5803440" y="4983479"/>
            <a:ext cx="3544584" cy="1143000"/>
          </a:xfrm>
          <a:prstGeom prst="rect">
            <a:avLst/>
          </a:prstGeom>
          <a:ln w="38100">
            <a:solidFill>
              <a:srgbClr val="FFFFFF"/>
            </a:solidFill>
          </a:ln>
        </p:spPr>
      </p:pic>
      <p:pic>
        <p:nvPicPr>
          <p:cNvPr id="22" name="Paper ref" descr="Halaman depan sebuah paper"/>
          <p:cNvPicPr>
            <a:picLocks noChangeAspect="1"/>
          </p:cNvPicPr>
          <p:nvPr/>
        </p:nvPicPr>
        <p:blipFill>
          <a:blip r:embed="rId19"/>
          <a:stretch>
            <a:fillRect/>
          </a:stretch>
        </p:blipFill>
        <p:spPr>
          <a:xfrm rot="90000">
            <a:off x="9876425" y="4892040"/>
            <a:ext cx="3046451" cy="1325880"/>
          </a:xfrm>
          <a:prstGeom prst="rect">
            <a:avLst/>
          </a:prstGeom>
          <a:ln w="38100">
            <a:solidFill>
              <a:srgbClr val="FFFFFF"/>
            </a:solidFill>
          </a:ln>
        </p:spPr>
      </p:pic>
      <p:pic>
        <p:nvPicPr>
          <p:cNvPr id="23" name="Paper token" descr="Halaman depan sebuah paper"/>
          <p:cNvPicPr>
            <a:picLocks noChangeAspect="1"/>
          </p:cNvPicPr>
          <p:nvPr/>
        </p:nvPicPr>
        <p:blipFill>
          <a:blip r:embed="rId20"/>
          <a:stretch>
            <a:fillRect/>
          </a:stretch>
        </p:blipFill>
        <p:spPr>
          <a:xfrm rot="21528000">
            <a:off x="13451278" y="4983479"/>
            <a:ext cx="3327961" cy="1143000"/>
          </a:xfrm>
          <a:prstGeom prst="rect">
            <a:avLst/>
          </a:prstGeom>
          <a:ln w="38100">
            <a:solidFill>
              <a:srgbClr val="FFFFFF"/>
            </a:solidFill>
          </a:ln>
        </p:spPr>
      </p:pic>
      <p:sp>
        <p:nvSpPr>
          <p:cNvPr id="24" name="Penutup"/>
          <p:cNvSpPr txBox="1"/>
          <p:nvPr/>
        </p:nvSpPr>
        <p:spPr>
          <a:xfrm>
            <a:off x="1508760" y="6446520"/>
            <a:ext cx="15270480" cy="640080"/>
          </a:xfrm>
          <a:prstGeom prst="rect">
            <a:avLst/>
          </a:prstGeom>
          <a:noFill/>
        </p:spPr>
        <p:txBody>
          <a:bodyPr wrap="square" lIns="0" rIns="0" tIns="0" bIns="0" anchor="t">
            <a:spAutoFit/>
          </a:bodyPr>
          <a:lstStyle/>
          <a:p>
            <a:pPr algn="ctr">
              <a:spcAft>
                <a:spcPts val="0"/>
              </a:spcAft>
            </a:pPr>
            <a:r>
              <a:rPr sz="3200">
                <a:solidFill>
                  <a:srgbClr val="FFFFFF"/>
                </a:solidFill>
                <a:latin typeface="Playpen Sans"/>
              </a:rPr>
              <a:t>Hari ini kita belajar membaca dunia ini</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7928" r="0" b="-67928"/>
            </a:stretch>
          </a:blipFill>
        </p:spPr>
      </p:sp>
      <p:sp>
        <p:nvSpPr>
          <p:cNvPr name="Freeform 3" id="3"/>
          <p:cNvSpPr/>
          <p:nvPr/>
        </p:nvSpPr>
        <p:spPr>
          <a:xfrm flipH="false" flipV="false" rot="0">
            <a:off x="12533569" y="-21055"/>
            <a:ext cx="5762298" cy="6532600"/>
          </a:xfrm>
          <a:custGeom>
            <a:avLst/>
            <a:gdLst/>
            <a:ahLst/>
            <a:cxnLst/>
            <a:rect r="r" b="b" t="t" l="l"/>
            <a:pathLst>
              <a:path h="6532600" w="5762298">
                <a:moveTo>
                  <a:pt x="0" y="0"/>
                </a:moveTo>
                <a:lnTo>
                  <a:pt x="5762298" y="0"/>
                </a:lnTo>
                <a:lnTo>
                  <a:pt x="5762298" y="6532600"/>
                </a:lnTo>
                <a:lnTo>
                  <a:pt x="0" y="6532600"/>
                </a:lnTo>
                <a:lnTo>
                  <a:pt x="0" y="0"/>
                </a:lnTo>
                <a:close/>
              </a:path>
            </a:pathLst>
          </a:custGeom>
          <a:blipFill>
            <a:blip r:embed="rId3"/>
            <a:stretch>
              <a:fillRect l="0" t="0" r="0" b="0"/>
            </a:stretch>
          </a:blipFill>
        </p:spPr>
      </p:sp>
      <p:sp>
        <p:nvSpPr>
          <p:cNvPr name="Freeform 4" id="4"/>
          <p:cNvSpPr/>
          <p:nvPr/>
        </p:nvSpPr>
        <p:spPr>
          <a:xfrm flipH="false" flipV="false" rot="0">
            <a:off x="12978766" y="2004481"/>
            <a:ext cx="5309234" cy="5465964"/>
          </a:xfrm>
          <a:custGeom>
            <a:avLst/>
            <a:gdLst/>
            <a:ahLst/>
            <a:cxnLst/>
            <a:rect r="r" b="b" t="t" l="l"/>
            <a:pathLst>
              <a:path h="5465964" w="5309234">
                <a:moveTo>
                  <a:pt x="0" y="0"/>
                </a:moveTo>
                <a:lnTo>
                  <a:pt x="5309234" y="0"/>
                </a:lnTo>
                <a:lnTo>
                  <a:pt x="5309234" y="5465965"/>
                </a:lnTo>
                <a:lnTo>
                  <a:pt x="0" y="5465965"/>
                </a:lnTo>
                <a:lnTo>
                  <a:pt x="0" y="0"/>
                </a:lnTo>
                <a:close/>
              </a:path>
            </a:pathLst>
          </a:custGeom>
          <a:blipFill>
            <a:blip r:embed="rId4"/>
            <a:stretch>
              <a:fillRect l="0" t="0" r="0" b="0"/>
            </a:stretch>
          </a:blipFill>
        </p:spPr>
      </p:sp>
      <p:sp>
        <p:nvSpPr>
          <p:cNvPr name="Freeform 5" id="5"/>
          <p:cNvSpPr/>
          <p:nvPr/>
        </p:nvSpPr>
        <p:spPr>
          <a:xfrm flipH="true" flipV="false" rot="0">
            <a:off x="-29416" y="0"/>
            <a:ext cx="5762298" cy="6532600"/>
          </a:xfrm>
          <a:custGeom>
            <a:avLst/>
            <a:gdLst/>
            <a:ahLst/>
            <a:cxnLst/>
            <a:rect r="r" b="b" t="t" l="l"/>
            <a:pathLst>
              <a:path h="6532600" w="5762298">
                <a:moveTo>
                  <a:pt x="5762298" y="0"/>
                </a:moveTo>
                <a:lnTo>
                  <a:pt x="0" y="0"/>
                </a:lnTo>
                <a:lnTo>
                  <a:pt x="0" y="6532600"/>
                </a:lnTo>
                <a:lnTo>
                  <a:pt x="5762298" y="6532600"/>
                </a:lnTo>
                <a:lnTo>
                  <a:pt x="5762298" y="0"/>
                </a:lnTo>
                <a:close/>
              </a:path>
            </a:pathLst>
          </a:custGeom>
          <a:blipFill>
            <a:blip r:embed="rId3"/>
            <a:stretch>
              <a:fillRect l="0" t="0" r="0" b="0"/>
            </a:stretch>
          </a:blipFill>
        </p:spPr>
      </p:sp>
      <p:sp>
        <p:nvSpPr>
          <p:cNvPr name="Freeform 6" id="6"/>
          <p:cNvSpPr/>
          <p:nvPr/>
        </p:nvSpPr>
        <p:spPr>
          <a:xfrm flipH="false" flipV="false" rot="0">
            <a:off x="423648" y="2410518"/>
            <a:ext cx="5309234" cy="5465964"/>
          </a:xfrm>
          <a:custGeom>
            <a:avLst/>
            <a:gdLst/>
            <a:ahLst/>
            <a:cxnLst/>
            <a:rect r="r" b="b" t="t" l="l"/>
            <a:pathLst>
              <a:path h="5465964" w="5309234">
                <a:moveTo>
                  <a:pt x="0" y="0"/>
                </a:moveTo>
                <a:lnTo>
                  <a:pt x="5309234" y="0"/>
                </a:lnTo>
                <a:lnTo>
                  <a:pt x="5309234" y="5465964"/>
                </a:lnTo>
                <a:lnTo>
                  <a:pt x="0" y="5465964"/>
                </a:lnTo>
                <a:lnTo>
                  <a:pt x="0" y="0"/>
                </a:lnTo>
                <a:close/>
              </a:path>
            </a:pathLst>
          </a:custGeom>
          <a:blipFill>
            <a:blip r:embed="rId4"/>
            <a:stretch>
              <a:fillRect l="0" t="0" r="0" b="0"/>
            </a:stretch>
          </a:blipFill>
        </p:spPr>
      </p:sp>
      <p:sp>
        <p:nvSpPr>
          <p:cNvPr name="Freeform 7" id="7"/>
          <p:cNvSpPr/>
          <p:nvPr/>
        </p:nvSpPr>
        <p:spPr>
          <a:xfrm flipH="false" flipV="false" rot="0">
            <a:off x="-317430" y="7660946"/>
            <a:ext cx="18613297" cy="3022078"/>
          </a:xfrm>
          <a:custGeom>
            <a:avLst/>
            <a:gdLst/>
            <a:ahLst/>
            <a:cxnLst/>
            <a:rect r="r" b="b" t="t" l="l"/>
            <a:pathLst>
              <a:path h="3022078" w="18613297">
                <a:moveTo>
                  <a:pt x="0" y="0"/>
                </a:moveTo>
                <a:lnTo>
                  <a:pt x="18613297" y="0"/>
                </a:lnTo>
                <a:lnTo>
                  <a:pt x="18613297" y="3022077"/>
                </a:lnTo>
                <a:lnTo>
                  <a:pt x="0" y="3022077"/>
                </a:lnTo>
                <a:lnTo>
                  <a:pt x="0" y="0"/>
                </a:lnTo>
                <a:close/>
              </a:path>
            </a:pathLst>
          </a:custGeom>
          <a:blipFill>
            <a:blip r:embed="rId5"/>
            <a:stretch>
              <a:fillRect l="-158" t="0" r="-158" b="-6838"/>
            </a:stretch>
          </a:blipFill>
        </p:spPr>
      </p:sp>
      <p:sp>
        <p:nvSpPr>
          <p:cNvPr name="Freeform 10" id="10"/>
          <p:cNvSpPr/>
          <p:nvPr/>
        </p:nvSpPr>
        <p:spPr>
          <a:xfrm flipH="false" flipV="false" rot="0">
            <a:off x="-29416" y="2396745"/>
            <a:ext cx="4040554" cy="8229600"/>
          </a:xfrm>
          <a:custGeom>
            <a:avLst/>
            <a:gdLst/>
            <a:ahLst/>
            <a:cxnLst/>
            <a:rect r="r" b="b" t="t" l="l"/>
            <a:pathLst>
              <a:path h="8229600" w="4040554">
                <a:moveTo>
                  <a:pt x="0" y="0"/>
                </a:moveTo>
                <a:lnTo>
                  <a:pt x="4040554" y="0"/>
                </a:lnTo>
                <a:lnTo>
                  <a:pt x="4040554" y="8229600"/>
                </a:lnTo>
                <a:lnTo>
                  <a:pt x="0" y="8229600"/>
                </a:lnTo>
                <a:lnTo>
                  <a:pt x="0" y="0"/>
                </a:lnTo>
                <a:close/>
              </a:path>
            </a:pathLst>
          </a:custGeom>
          <a:blipFill>
            <a:blip r:embed="rId8"/>
            <a:stretch>
              <a:fillRect l="0" t="0" r="0" b="0"/>
            </a:stretch>
          </a:blipFill>
        </p:spPr>
      </p:sp>
      <p:sp>
        <p:nvSpPr>
          <p:cNvPr name="Freeform 11" id="11"/>
          <p:cNvSpPr/>
          <p:nvPr/>
        </p:nvSpPr>
        <p:spPr>
          <a:xfrm flipH="false" flipV="false" rot="0">
            <a:off x="681269" y="7470446"/>
            <a:ext cx="6083710" cy="4114800"/>
          </a:xfrm>
          <a:custGeom>
            <a:avLst/>
            <a:gdLst/>
            <a:ahLst/>
            <a:cxnLst/>
            <a:rect r="r" b="b" t="t" l="l"/>
            <a:pathLst>
              <a:path h="4114800" w="6083710">
                <a:moveTo>
                  <a:pt x="0" y="0"/>
                </a:moveTo>
                <a:lnTo>
                  <a:pt x="6083709" y="0"/>
                </a:lnTo>
                <a:lnTo>
                  <a:pt x="6083709"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id="12" name="Panel"/>
          <p:cNvSpPr/>
          <p:nvPr/>
        </p:nvSpPr>
        <p:spPr>
          <a:xfrm>
            <a:off x="4480560" y="731520"/>
            <a:ext cx="12893040" cy="6675120"/>
          </a:xfrm>
          <a:prstGeom prst="roundRect">
            <a:avLst>
              <a:gd name="adj" fmla="val 5000"/>
            </a:avLst>
          </a:prstGeom>
          <a:solidFill>
            <a:srgbClr val="0A2540">
              <a:alpha val="8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Judul"/>
          <p:cNvSpPr txBox="1"/>
          <p:nvPr/>
        </p:nvSpPr>
        <p:spPr>
          <a:xfrm>
            <a:off x="5074920" y="1005840"/>
            <a:ext cx="11704319" cy="1188720"/>
          </a:xfrm>
          <a:prstGeom prst="rect">
            <a:avLst/>
          </a:prstGeom>
          <a:noFill/>
        </p:spPr>
        <p:txBody>
          <a:bodyPr wrap="square" lIns="0" rIns="0" tIns="0" bIns="0" anchor="t">
            <a:spAutoFit/>
          </a:bodyPr>
          <a:lstStyle/>
          <a:p>
            <a:pPr algn="l">
              <a:spcAft>
                <a:spcPts val="0"/>
              </a:spcAft>
            </a:pPr>
            <a:r>
              <a:rPr sz="6400">
                <a:solidFill>
                  <a:srgbClr val="F7B125"/>
                </a:solidFill>
                <a:latin typeface="Playpen Sans Bold"/>
              </a:rPr>
              <a:t>Agenda Hari Ini</a:t>
            </a:r>
          </a:p>
        </p:txBody>
      </p:sp>
      <p:sp>
        <p:nvSpPr>
          <p:cNvPr id="14" name="Jam"/>
          <p:cNvSpPr txBox="1"/>
          <p:nvPr/>
        </p:nvSpPr>
        <p:spPr>
          <a:xfrm>
            <a:off x="5074920" y="2194560"/>
            <a:ext cx="1737360" cy="5120640"/>
          </a:xfrm>
          <a:prstGeom prst="rect">
            <a:avLst/>
          </a:prstGeom>
          <a:noFill/>
        </p:spPr>
        <p:txBody>
          <a:bodyPr wrap="square" lIns="0" rIns="0" tIns="0" bIns="0" anchor="t">
            <a:spAutoFit/>
          </a:bodyPr>
          <a:lstStyle/>
          <a:p>
            <a:pPr algn="l">
              <a:spcAft>
                <a:spcPts val="400"/>
              </a:spcAft>
            </a:pPr>
            <a:r>
              <a:rPr sz="2800">
                <a:solidFill>
                  <a:srgbClr val="F7B125"/>
                </a:solidFill>
                <a:latin typeface="Playpen Sans Bold"/>
              </a:rPr>
              <a:t>0:00</a:t>
            </a:r>
          </a:p>
          <a:p>
            <a:pPr algn="l">
              <a:spcAft>
                <a:spcPts val="400"/>
              </a:spcAft>
            </a:pPr>
            <a:r>
              <a:rPr sz="2800">
                <a:solidFill>
                  <a:srgbClr val="F7B125"/>
                </a:solidFill>
                <a:latin typeface="Playpen Sans Bold"/>
              </a:rPr>
              <a:t>0:08</a:t>
            </a:r>
          </a:p>
          <a:p>
            <a:pPr algn="l">
              <a:spcAft>
                <a:spcPts val="400"/>
              </a:spcAft>
            </a:pPr>
            <a:r>
              <a:rPr sz="2800">
                <a:solidFill>
                  <a:srgbClr val="F7B125"/>
                </a:solidFill>
                <a:latin typeface="Playpen Sans Bold"/>
              </a:rPr>
              <a:t>0:13</a:t>
            </a:r>
          </a:p>
          <a:p>
            <a:pPr algn="l">
              <a:spcAft>
                <a:spcPts val="400"/>
              </a:spcAft>
            </a:pPr>
            <a:r>
              <a:rPr sz="2800">
                <a:solidFill>
                  <a:srgbClr val="F7B125"/>
                </a:solidFill>
                <a:latin typeface="Playpen Sans Bold"/>
              </a:rPr>
              <a:t>0:43</a:t>
            </a:r>
          </a:p>
          <a:p>
            <a:pPr algn="l">
              <a:spcAft>
                <a:spcPts val="400"/>
              </a:spcAft>
            </a:pPr>
            <a:r>
              <a:rPr sz="2800">
                <a:solidFill>
                  <a:srgbClr val="F7B125"/>
                </a:solidFill>
                <a:latin typeface="Playpen Sans Bold"/>
              </a:rPr>
              <a:t>0:53</a:t>
            </a:r>
          </a:p>
          <a:p>
            <a:pPr algn="l">
              <a:spcAft>
                <a:spcPts val="400"/>
              </a:spcAft>
            </a:pPr>
            <a:r>
              <a:rPr sz="2800">
                <a:solidFill>
                  <a:srgbClr val="F7B125"/>
                </a:solidFill>
                <a:latin typeface="Playpen Sans Bold"/>
              </a:rPr>
              <a:t>1:18</a:t>
            </a:r>
          </a:p>
          <a:p>
            <a:pPr algn="l">
              <a:spcAft>
                <a:spcPts val="400"/>
              </a:spcAft>
            </a:pPr>
            <a:r>
              <a:rPr sz="2800">
                <a:solidFill>
                  <a:srgbClr val="F7B125"/>
                </a:solidFill>
                <a:latin typeface="Playpen Sans Bold"/>
              </a:rPr>
              <a:t>1:23</a:t>
            </a:r>
          </a:p>
          <a:p>
            <a:pPr algn="l">
              <a:spcAft>
                <a:spcPts val="400"/>
              </a:spcAft>
            </a:pPr>
            <a:r>
              <a:rPr sz="2800">
                <a:solidFill>
                  <a:srgbClr val="F7B125"/>
                </a:solidFill>
                <a:latin typeface="Playpen Sans Bold"/>
              </a:rPr>
              <a:t>1:31</a:t>
            </a:r>
          </a:p>
          <a:p>
            <a:pPr algn="l">
              <a:spcAft>
                <a:spcPts val="400"/>
              </a:spcAft>
            </a:pPr>
            <a:r>
              <a:rPr sz="2800">
                <a:solidFill>
                  <a:srgbClr val="F7B125"/>
                </a:solidFill>
                <a:latin typeface="Playpen Sans Bold"/>
              </a:rPr>
              <a:t>1:46</a:t>
            </a:r>
          </a:p>
          <a:p>
            <a:pPr algn="l">
              <a:spcAft>
                <a:spcPts val="400"/>
              </a:spcAft>
            </a:pPr>
            <a:r>
              <a:rPr sz="2800">
                <a:solidFill>
                  <a:srgbClr val="F7B125"/>
                </a:solidFill>
                <a:latin typeface="Playpen Sans Bold"/>
              </a:rPr>
              <a:t>1:56</a:t>
            </a:r>
          </a:p>
        </p:txBody>
      </p:sp>
      <p:sp>
        <p:nvSpPr>
          <p:cNvPr id="15" name="Kegiatan"/>
          <p:cNvSpPr txBox="1"/>
          <p:nvPr/>
        </p:nvSpPr>
        <p:spPr>
          <a:xfrm>
            <a:off x="6995160" y="2194560"/>
            <a:ext cx="9784080" cy="5120640"/>
          </a:xfrm>
          <a:prstGeom prst="rect">
            <a:avLst/>
          </a:prstGeom>
          <a:noFill/>
        </p:spPr>
        <p:txBody>
          <a:bodyPr wrap="square" lIns="0" rIns="0" tIns="0" bIns="0" anchor="t">
            <a:spAutoFit/>
          </a:bodyPr>
          <a:lstStyle/>
          <a:p>
            <a:pPr algn="l">
              <a:spcAft>
                <a:spcPts val="400"/>
              </a:spcAft>
            </a:pPr>
            <a:r>
              <a:rPr sz="2800">
                <a:solidFill>
                  <a:srgbClr val="FFFFFF"/>
                </a:solidFill>
                <a:latin typeface="Playpen Sans"/>
              </a:rPr>
              <a:t>Pretest (8 menit)</a:t>
            </a:r>
          </a:p>
          <a:p>
            <a:pPr algn="l">
              <a:spcAft>
                <a:spcPts val="400"/>
              </a:spcAft>
            </a:pPr>
            <a:r>
              <a:rPr sz="2800">
                <a:solidFill>
                  <a:srgbClr val="FFFFFF"/>
                </a:solidFill>
                <a:latin typeface="Playpen Sans"/>
              </a:rPr>
              <a:t>Dinding paper dan agenda (5)</a:t>
            </a:r>
          </a:p>
          <a:p>
            <a:pPr algn="l">
              <a:spcAft>
                <a:spcPts val="400"/>
              </a:spcAft>
            </a:pPr>
            <a:r>
              <a:rPr sz="2800">
                <a:solidFill>
                  <a:srgbClr val="FFFFFF"/>
                </a:solidFill>
                <a:latin typeface="Playpen Sans"/>
              </a:rPr>
              <a:t>Empat jenis paper (30)</a:t>
            </a:r>
          </a:p>
          <a:p>
            <a:pPr algn="l">
              <a:spcAft>
                <a:spcPts val="400"/>
              </a:spcAft>
            </a:pPr>
            <a:r>
              <a:rPr sz="2800">
                <a:solidFill>
                  <a:srgbClr val="FFFFFF"/>
                </a:solidFill>
                <a:latin typeface="Playpen Sans"/>
              </a:rPr>
              <a:t>Cara membaca paper (10)</a:t>
            </a:r>
          </a:p>
          <a:p>
            <a:pPr algn="l">
              <a:spcAft>
                <a:spcPts val="400"/>
              </a:spcAft>
            </a:pPr>
            <a:r>
              <a:rPr sz="2800">
                <a:solidFill>
                  <a:srgbClr val="FFFFFF"/>
                </a:solidFill>
                <a:latin typeface="Playpen Sans"/>
              </a:rPr>
              <a:t>Detektif Paper (25)</a:t>
            </a:r>
          </a:p>
          <a:p>
            <a:pPr algn="l">
              <a:spcAft>
                <a:spcPts val="400"/>
              </a:spcAft>
            </a:pPr>
            <a:r>
              <a:rPr sz="2800">
                <a:solidFill>
                  <a:srgbClr val="FFFFFF"/>
                </a:solidFill>
                <a:latin typeface="Playpen Sans"/>
              </a:rPr>
              <a:t>Istirahat (5)</a:t>
            </a:r>
          </a:p>
          <a:p>
            <a:pPr algn="l">
              <a:spcAft>
                <a:spcPts val="400"/>
              </a:spcAft>
            </a:pPr>
            <a:r>
              <a:rPr sz="2800">
                <a:solidFill>
                  <a:srgbClr val="FFFFFF"/>
                </a:solidFill>
                <a:latin typeface="Playpen Sans"/>
              </a:rPr>
              <a:t>Dari paper ke kelas ini (8)</a:t>
            </a:r>
          </a:p>
          <a:p>
            <a:pPr algn="l">
              <a:spcAft>
                <a:spcPts val="400"/>
              </a:spcAft>
            </a:pPr>
            <a:r>
              <a:rPr sz="2800">
                <a:solidFill>
                  <a:srgbClr val="FFFFFF"/>
                </a:solidFill>
                <a:latin typeface="Playpen Sans"/>
              </a:rPr>
              <a:t>Cara kerja kelas (15)</a:t>
            </a:r>
          </a:p>
          <a:p>
            <a:pPr algn="l">
              <a:spcAft>
                <a:spcPts val="400"/>
              </a:spcAft>
            </a:pPr>
            <a:r>
              <a:rPr sz="2800">
                <a:solidFill>
                  <a:srgbClr val="FFFFFF"/>
                </a:solidFill>
                <a:latin typeface="Playpen Sans"/>
              </a:rPr>
              <a:t>Stasiun persiapan (10)</a:t>
            </a:r>
          </a:p>
          <a:p>
            <a:pPr algn="l">
              <a:spcAft>
                <a:spcPts val="400"/>
              </a:spcAft>
            </a:pPr>
            <a:r>
              <a:rPr sz="2800">
                <a:solidFill>
                  <a:srgbClr val="FFFFFF"/>
                </a:solidFill>
                <a:latin typeface="Playpen Sans"/>
              </a:rPr>
              <a:t>Tiket keluar (4)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7928" r="0" b="-67928"/>
            </a:stretch>
          </a:blipFill>
        </p:spPr>
      </p:sp>
      <p:sp>
        <p:nvSpPr>
          <p:cNvPr name="Freeform 3" id="3"/>
          <p:cNvSpPr/>
          <p:nvPr/>
        </p:nvSpPr>
        <p:spPr>
          <a:xfrm flipH="false" flipV="false" rot="0">
            <a:off x="12533569" y="-21055"/>
            <a:ext cx="5762298" cy="6532600"/>
          </a:xfrm>
          <a:custGeom>
            <a:avLst/>
            <a:gdLst/>
            <a:ahLst/>
            <a:cxnLst/>
            <a:rect r="r" b="b" t="t" l="l"/>
            <a:pathLst>
              <a:path h="6532600" w="5762298">
                <a:moveTo>
                  <a:pt x="0" y="0"/>
                </a:moveTo>
                <a:lnTo>
                  <a:pt x="5762298" y="0"/>
                </a:lnTo>
                <a:lnTo>
                  <a:pt x="5762298" y="6532600"/>
                </a:lnTo>
                <a:lnTo>
                  <a:pt x="0" y="6532600"/>
                </a:lnTo>
                <a:lnTo>
                  <a:pt x="0" y="0"/>
                </a:lnTo>
                <a:close/>
              </a:path>
            </a:pathLst>
          </a:custGeom>
          <a:blipFill>
            <a:blip r:embed="rId3"/>
            <a:stretch>
              <a:fillRect l="0" t="0" r="0" b="0"/>
            </a:stretch>
          </a:blipFill>
        </p:spPr>
      </p:sp>
      <p:sp>
        <p:nvSpPr>
          <p:cNvPr name="Freeform 4" id="4"/>
          <p:cNvSpPr/>
          <p:nvPr/>
        </p:nvSpPr>
        <p:spPr>
          <a:xfrm flipH="false" flipV="false" rot="0">
            <a:off x="12978766" y="2004481"/>
            <a:ext cx="5309234" cy="5465964"/>
          </a:xfrm>
          <a:custGeom>
            <a:avLst/>
            <a:gdLst/>
            <a:ahLst/>
            <a:cxnLst/>
            <a:rect r="r" b="b" t="t" l="l"/>
            <a:pathLst>
              <a:path h="5465964" w="5309234">
                <a:moveTo>
                  <a:pt x="0" y="0"/>
                </a:moveTo>
                <a:lnTo>
                  <a:pt x="5309234" y="0"/>
                </a:lnTo>
                <a:lnTo>
                  <a:pt x="5309234" y="5465965"/>
                </a:lnTo>
                <a:lnTo>
                  <a:pt x="0" y="5465965"/>
                </a:lnTo>
                <a:lnTo>
                  <a:pt x="0" y="0"/>
                </a:lnTo>
                <a:close/>
              </a:path>
            </a:pathLst>
          </a:custGeom>
          <a:blipFill>
            <a:blip r:embed="rId4"/>
            <a:stretch>
              <a:fillRect l="0" t="0" r="0" b="0"/>
            </a:stretch>
          </a:blipFill>
        </p:spPr>
      </p:sp>
      <p:sp>
        <p:nvSpPr>
          <p:cNvPr name="Freeform 5" id="5"/>
          <p:cNvSpPr/>
          <p:nvPr/>
        </p:nvSpPr>
        <p:spPr>
          <a:xfrm flipH="true" flipV="false" rot="0">
            <a:off x="-29416" y="0"/>
            <a:ext cx="5762298" cy="6532600"/>
          </a:xfrm>
          <a:custGeom>
            <a:avLst/>
            <a:gdLst/>
            <a:ahLst/>
            <a:cxnLst/>
            <a:rect r="r" b="b" t="t" l="l"/>
            <a:pathLst>
              <a:path h="6532600" w="5762298">
                <a:moveTo>
                  <a:pt x="5762298" y="0"/>
                </a:moveTo>
                <a:lnTo>
                  <a:pt x="0" y="0"/>
                </a:lnTo>
                <a:lnTo>
                  <a:pt x="0" y="6532600"/>
                </a:lnTo>
                <a:lnTo>
                  <a:pt x="5762298" y="6532600"/>
                </a:lnTo>
                <a:lnTo>
                  <a:pt x="5762298" y="0"/>
                </a:lnTo>
                <a:close/>
              </a:path>
            </a:pathLst>
          </a:custGeom>
          <a:blipFill>
            <a:blip r:embed="rId3"/>
            <a:stretch>
              <a:fillRect l="0" t="0" r="0" b="0"/>
            </a:stretch>
          </a:blipFill>
        </p:spPr>
      </p:sp>
      <p:sp>
        <p:nvSpPr>
          <p:cNvPr name="Freeform 6" id="6"/>
          <p:cNvSpPr/>
          <p:nvPr/>
        </p:nvSpPr>
        <p:spPr>
          <a:xfrm flipH="false" flipV="false" rot="0">
            <a:off x="423648" y="2410518"/>
            <a:ext cx="5309234" cy="5465964"/>
          </a:xfrm>
          <a:custGeom>
            <a:avLst/>
            <a:gdLst/>
            <a:ahLst/>
            <a:cxnLst/>
            <a:rect r="r" b="b" t="t" l="l"/>
            <a:pathLst>
              <a:path h="5465964" w="5309234">
                <a:moveTo>
                  <a:pt x="0" y="0"/>
                </a:moveTo>
                <a:lnTo>
                  <a:pt x="5309234" y="0"/>
                </a:lnTo>
                <a:lnTo>
                  <a:pt x="5309234" y="5465964"/>
                </a:lnTo>
                <a:lnTo>
                  <a:pt x="0" y="5465964"/>
                </a:lnTo>
                <a:lnTo>
                  <a:pt x="0" y="0"/>
                </a:lnTo>
                <a:close/>
              </a:path>
            </a:pathLst>
          </a:custGeom>
          <a:blipFill>
            <a:blip r:embed="rId4"/>
            <a:stretch>
              <a:fillRect l="0" t="0" r="0" b="0"/>
            </a:stretch>
          </a:blipFill>
        </p:spPr>
      </p:sp>
      <p:sp>
        <p:nvSpPr>
          <p:cNvPr name="Freeform 7" id="7"/>
          <p:cNvSpPr/>
          <p:nvPr/>
        </p:nvSpPr>
        <p:spPr>
          <a:xfrm flipH="false" flipV="false" rot="0">
            <a:off x="-317430" y="7660946"/>
            <a:ext cx="18613297" cy="3022078"/>
          </a:xfrm>
          <a:custGeom>
            <a:avLst/>
            <a:gdLst/>
            <a:ahLst/>
            <a:cxnLst/>
            <a:rect r="r" b="b" t="t" l="l"/>
            <a:pathLst>
              <a:path h="3022078" w="18613297">
                <a:moveTo>
                  <a:pt x="0" y="0"/>
                </a:moveTo>
                <a:lnTo>
                  <a:pt x="18613297" y="0"/>
                </a:lnTo>
                <a:lnTo>
                  <a:pt x="18613297" y="3022077"/>
                </a:lnTo>
                <a:lnTo>
                  <a:pt x="0" y="3022077"/>
                </a:lnTo>
                <a:lnTo>
                  <a:pt x="0" y="0"/>
                </a:lnTo>
                <a:close/>
              </a:path>
            </a:pathLst>
          </a:custGeom>
          <a:blipFill>
            <a:blip r:embed="rId5"/>
            <a:stretch>
              <a:fillRect l="-158" t="0" r="-158" b="-6838"/>
            </a:stretch>
          </a:blipFill>
        </p:spPr>
      </p:sp>
      <p:sp>
        <p:nvSpPr>
          <p:cNvPr name="Freeform 11" id="11"/>
          <p:cNvSpPr/>
          <p:nvPr/>
        </p:nvSpPr>
        <p:spPr>
          <a:xfrm flipH="false" flipV="false" rot="0">
            <a:off x="681269" y="7470446"/>
            <a:ext cx="6083710" cy="4114800"/>
          </a:xfrm>
          <a:custGeom>
            <a:avLst/>
            <a:gdLst/>
            <a:ahLst/>
            <a:cxnLst/>
            <a:rect r="r" b="b" t="t" l="l"/>
            <a:pathLst>
              <a:path h="4114800" w="6083710">
                <a:moveTo>
                  <a:pt x="0" y="0"/>
                </a:moveTo>
                <a:lnTo>
                  <a:pt x="6083709" y="0"/>
                </a:lnTo>
                <a:lnTo>
                  <a:pt x="6083709"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9549673" y="7660946"/>
            <a:ext cx="6083710" cy="4114800"/>
          </a:xfrm>
          <a:custGeom>
            <a:avLst/>
            <a:gdLst/>
            <a:ahLst/>
            <a:cxnLst/>
            <a:rect r="r" b="b" t="t" l="l"/>
            <a:pathLst>
              <a:path h="4114800" w="6083710">
                <a:moveTo>
                  <a:pt x="0" y="0"/>
                </a:moveTo>
                <a:lnTo>
                  <a:pt x="6083710" y="0"/>
                </a:lnTo>
                <a:lnTo>
                  <a:pt x="608371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id="14" name="Panel"/>
          <p:cNvSpPr/>
          <p:nvPr/>
        </p:nvSpPr>
        <p:spPr>
          <a:xfrm>
            <a:off x="914400" y="731520"/>
            <a:ext cx="16459200" cy="6675120"/>
          </a:xfrm>
          <a:prstGeom prst="roundRect">
            <a:avLst>
              <a:gd name="adj" fmla="val 5000"/>
            </a:avLst>
          </a:prstGeom>
          <a:solidFill>
            <a:srgbClr val="0A2540">
              <a:alpha val="8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Judul"/>
          <p:cNvSpPr txBox="1"/>
          <p:nvPr/>
        </p:nvSpPr>
        <p:spPr>
          <a:xfrm>
            <a:off x="1508760" y="914400"/>
            <a:ext cx="15270480" cy="1097280"/>
          </a:xfrm>
          <a:prstGeom prst="rect">
            <a:avLst/>
          </a:prstGeom>
          <a:noFill/>
        </p:spPr>
        <p:txBody>
          <a:bodyPr wrap="square" lIns="0" rIns="0" tIns="0" bIns="0" anchor="t">
            <a:spAutoFit/>
          </a:bodyPr>
          <a:lstStyle/>
          <a:p>
            <a:pPr algn="l">
              <a:spcAft>
                <a:spcPts val="0"/>
              </a:spcAft>
            </a:pPr>
            <a:r>
              <a:rPr sz="6400">
                <a:solidFill>
                  <a:srgbClr val="F7B125"/>
                </a:solidFill>
                <a:latin typeface="Playpen Sans Bold"/>
              </a:rPr>
              <a:t>Empat Jenis Paper</a:t>
            </a:r>
          </a:p>
        </p:txBody>
      </p:sp>
      <p:sp>
        <p:nvSpPr>
          <p:cNvPr id="16" name="Kartu 1"/>
          <p:cNvSpPr/>
          <p:nvPr/>
        </p:nvSpPr>
        <p:spPr>
          <a:xfrm>
            <a:off x="1508760" y="2148840"/>
            <a:ext cx="3577589" cy="4892040"/>
          </a:xfrm>
          <a:prstGeom prst="roundRect">
            <a:avLst>
              <a:gd name="adj" fmla="val 5000"/>
            </a:avLst>
          </a:prstGeom>
          <a:solidFill>
            <a:srgbClr val="14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ag Riset murni"/>
          <p:cNvSpPr/>
          <p:nvPr/>
        </p:nvSpPr>
        <p:spPr>
          <a:xfrm>
            <a:off x="1691639" y="2286000"/>
            <a:ext cx="3211829" cy="640080"/>
          </a:xfrm>
          <a:prstGeom prst="roundRect">
            <a:avLst>
              <a:gd name="adj" fmla="val 50000"/>
            </a:avLst>
          </a:prstGeom>
          <a:solidFill>
            <a:srgbClr val="FF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ks tag Riset murni"/>
          <p:cNvSpPr txBox="1"/>
          <p:nvPr/>
        </p:nvSpPr>
        <p:spPr>
          <a:xfrm>
            <a:off x="1691639" y="2350008"/>
            <a:ext cx="3211829" cy="548640"/>
          </a:xfrm>
          <a:prstGeom prst="rect">
            <a:avLst/>
          </a:prstGeom>
          <a:noFill/>
        </p:spPr>
        <p:txBody>
          <a:bodyPr wrap="square" lIns="0" rIns="0" tIns="0" bIns="0" anchor="t">
            <a:spAutoFit/>
          </a:bodyPr>
          <a:lstStyle/>
          <a:p>
            <a:pPr algn="ctr">
              <a:spcAft>
                <a:spcPts val="0"/>
              </a:spcAft>
            </a:pPr>
            <a:r>
              <a:rPr sz="2000">
                <a:solidFill>
                  <a:srgbClr val="0A2540"/>
                </a:solidFill>
                <a:latin typeface="Playpen Sans Bold"/>
              </a:rPr>
              <a:t>Riset murni</a:t>
            </a:r>
          </a:p>
        </p:txBody>
      </p:sp>
      <p:pic>
        <p:nvPicPr>
          <p:cNvPr id="19" name="Paper ref" descr="Contoh paper"/>
          <p:cNvPicPr>
            <a:picLocks noChangeAspect="1"/>
          </p:cNvPicPr>
          <p:nvPr/>
        </p:nvPicPr>
        <p:blipFill>
          <a:blip r:embed="rId13"/>
          <a:stretch>
            <a:fillRect/>
          </a:stretch>
        </p:blipFill>
        <p:spPr>
          <a:xfrm>
            <a:off x="1691640" y="3507311"/>
            <a:ext cx="3211829" cy="1397856"/>
          </a:xfrm>
          <a:prstGeom prst="rect">
            <a:avLst/>
          </a:prstGeom>
          <a:ln w="38100">
            <a:solidFill>
              <a:srgbClr val="FFFFFF"/>
            </a:solidFill>
          </a:ln>
        </p:spPr>
      </p:pic>
      <p:sp>
        <p:nvSpPr>
          <p:cNvPr id="20" name="Isi kartu 1"/>
          <p:cNvSpPr txBox="1"/>
          <p:nvPr/>
        </p:nvSpPr>
        <p:spPr>
          <a:xfrm>
            <a:off x="1737360" y="5486400"/>
            <a:ext cx="3120389" cy="1463040"/>
          </a:xfrm>
          <a:prstGeom prst="rect">
            <a:avLst/>
          </a:prstGeom>
          <a:noFill/>
        </p:spPr>
        <p:txBody>
          <a:bodyPr wrap="square" lIns="0" rIns="0" tIns="0" bIns="0" anchor="t">
            <a:spAutoFit/>
          </a:bodyPr>
          <a:lstStyle/>
          <a:p>
            <a:pPr algn="l">
              <a:spcAft>
                <a:spcPts val="0"/>
              </a:spcAft>
            </a:pPr>
            <a:r>
              <a:rPr sz="2400">
                <a:solidFill>
                  <a:srgbClr val="FFFFFF"/>
                </a:solidFill>
                <a:latin typeface="Playpen Sans"/>
              </a:rPr>
              <a:t>Ide atau algoritma baru, diuji pada soal standar</a:t>
            </a:r>
          </a:p>
        </p:txBody>
      </p:sp>
      <p:sp>
        <p:nvSpPr>
          <p:cNvPr id="21" name="Kartu 2"/>
          <p:cNvSpPr/>
          <p:nvPr/>
        </p:nvSpPr>
        <p:spPr>
          <a:xfrm>
            <a:off x="5406390" y="2148840"/>
            <a:ext cx="3577589" cy="4892040"/>
          </a:xfrm>
          <a:prstGeom prst="roundRect">
            <a:avLst>
              <a:gd name="adj" fmla="val 5000"/>
            </a:avLst>
          </a:prstGeom>
          <a:solidFill>
            <a:srgbClr val="14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ag Riset terapan"/>
          <p:cNvSpPr/>
          <p:nvPr/>
        </p:nvSpPr>
        <p:spPr>
          <a:xfrm>
            <a:off x="5589270" y="2286000"/>
            <a:ext cx="3211829" cy="640080"/>
          </a:xfrm>
          <a:prstGeom prst="roundRect">
            <a:avLst>
              <a:gd name="adj" fmla="val 50000"/>
            </a:avLst>
          </a:prstGeom>
          <a:solidFill>
            <a:srgbClr val="3DD6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ks tag Riset terapan"/>
          <p:cNvSpPr txBox="1"/>
          <p:nvPr/>
        </p:nvSpPr>
        <p:spPr>
          <a:xfrm>
            <a:off x="5589270" y="2350008"/>
            <a:ext cx="3211829" cy="548640"/>
          </a:xfrm>
          <a:prstGeom prst="rect">
            <a:avLst/>
          </a:prstGeom>
          <a:noFill/>
        </p:spPr>
        <p:txBody>
          <a:bodyPr wrap="square" lIns="0" rIns="0" tIns="0" bIns="0" anchor="t">
            <a:spAutoFit/>
          </a:bodyPr>
          <a:lstStyle/>
          <a:p>
            <a:pPr algn="ctr">
              <a:spcAft>
                <a:spcPts val="0"/>
              </a:spcAft>
            </a:pPr>
            <a:r>
              <a:rPr sz="2000">
                <a:solidFill>
                  <a:srgbClr val="0A2540"/>
                </a:solidFill>
                <a:latin typeface="Playpen Sans Bold"/>
              </a:rPr>
              <a:t>Riset terapan</a:t>
            </a:r>
          </a:p>
        </p:txBody>
      </p:sp>
      <p:pic>
        <p:nvPicPr>
          <p:cNvPr id="24" name="Paper skin" descr="Contoh paper"/>
          <p:cNvPicPr>
            <a:picLocks noChangeAspect="1"/>
          </p:cNvPicPr>
          <p:nvPr/>
        </p:nvPicPr>
        <p:blipFill>
          <a:blip r:embed="rId14"/>
          <a:stretch>
            <a:fillRect/>
          </a:stretch>
        </p:blipFill>
        <p:spPr>
          <a:xfrm>
            <a:off x="5589270" y="3293764"/>
            <a:ext cx="3211829" cy="1824951"/>
          </a:xfrm>
          <a:prstGeom prst="rect">
            <a:avLst/>
          </a:prstGeom>
          <a:ln w="38100">
            <a:solidFill>
              <a:srgbClr val="FFFFFF"/>
            </a:solidFill>
          </a:ln>
        </p:spPr>
      </p:pic>
      <p:sp>
        <p:nvSpPr>
          <p:cNvPr id="25" name="Isi kartu 2"/>
          <p:cNvSpPr txBox="1"/>
          <p:nvPr/>
        </p:nvSpPr>
        <p:spPr>
          <a:xfrm>
            <a:off x="5634990" y="5486400"/>
            <a:ext cx="3120389" cy="1463040"/>
          </a:xfrm>
          <a:prstGeom prst="rect">
            <a:avLst/>
          </a:prstGeom>
          <a:noFill/>
        </p:spPr>
        <p:txBody>
          <a:bodyPr wrap="square" lIns="0" rIns="0" tIns="0" bIns="0" anchor="t">
            <a:spAutoFit/>
          </a:bodyPr>
          <a:lstStyle/>
          <a:p>
            <a:pPr algn="l">
              <a:spcAft>
                <a:spcPts val="0"/>
              </a:spcAft>
            </a:pPr>
            <a:r>
              <a:rPr sz="2400">
                <a:solidFill>
                  <a:srgbClr val="FFFFFF"/>
                </a:solidFill>
                <a:latin typeface="Playpen Sans"/>
              </a:rPr>
              <a:t>AI dipakai atau diaudit pada masalah nyata</a:t>
            </a:r>
          </a:p>
        </p:txBody>
      </p:sp>
      <p:sp>
        <p:nvSpPr>
          <p:cNvPr id="26" name="Kartu 3"/>
          <p:cNvSpPr/>
          <p:nvPr/>
        </p:nvSpPr>
        <p:spPr>
          <a:xfrm>
            <a:off x="9304019" y="2148840"/>
            <a:ext cx="3577589" cy="4892040"/>
          </a:xfrm>
          <a:prstGeom prst="roundRect">
            <a:avLst>
              <a:gd name="adj" fmla="val 5000"/>
            </a:avLst>
          </a:prstGeom>
          <a:solidFill>
            <a:srgbClr val="14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ag Bidang berkembang"/>
          <p:cNvSpPr/>
          <p:nvPr/>
        </p:nvSpPr>
        <p:spPr>
          <a:xfrm>
            <a:off x="9486899" y="2286000"/>
            <a:ext cx="3211829" cy="640080"/>
          </a:xfrm>
          <a:prstGeom prst="roundRect">
            <a:avLst>
              <a:gd name="adj" fmla="val 50000"/>
            </a:avLst>
          </a:prstGeom>
          <a:solidFill>
            <a:srgbClr val="F7B1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ks tag Bidang berkembang"/>
          <p:cNvSpPr txBox="1"/>
          <p:nvPr/>
        </p:nvSpPr>
        <p:spPr>
          <a:xfrm>
            <a:off x="9486899" y="2350008"/>
            <a:ext cx="3211829" cy="548640"/>
          </a:xfrm>
          <a:prstGeom prst="rect">
            <a:avLst/>
          </a:prstGeom>
          <a:noFill/>
        </p:spPr>
        <p:txBody>
          <a:bodyPr wrap="square" lIns="0" rIns="0" tIns="0" bIns="0" anchor="t">
            <a:spAutoFit/>
          </a:bodyPr>
          <a:lstStyle/>
          <a:p>
            <a:pPr algn="ctr">
              <a:spcAft>
                <a:spcPts val="0"/>
              </a:spcAft>
            </a:pPr>
            <a:r>
              <a:rPr sz="2000">
                <a:solidFill>
                  <a:srgbClr val="0A2540"/>
                </a:solidFill>
                <a:latin typeface="Playpen Sans Bold"/>
              </a:rPr>
              <a:t>Bidang berkembang</a:t>
            </a:r>
          </a:p>
        </p:txBody>
      </p:sp>
      <p:pic>
        <p:nvPicPr>
          <p:cNvPr id="29" name="Paper kma" descr="Contoh paper"/>
          <p:cNvPicPr>
            <a:picLocks noChangeAspect="1"/>
          </p:cNvPicPr>
          <p:nvPr/>
        </p:nvPicPr>
        <p:blipFill>
          <a:blip r:embed="rId15"/>
          <a:stretch>
            <a:fillRect/>
          </a:stretch>
        </p:blipFill>
        <p:spPr>
          <a:xfrm>
            <a:off x="9486899" y="3130811"/>
            <a:ext cx="3211829" cy="2150856"/>
          </a:xfrm>
          <a:prstGeom prst="rect">
            <a:avLst/>
          </a:prstGeom>
          <a:ln w="38100">
            <a:solidFill>
              <a:srgbClr val="FFFFFF"/>
            </a:solidFill>
          </a:ln>
        </p:spPr>
      </p:pic>
      <p:sp>
        <p:nvSpPr>
          <p:cNvPr id="30" name="Isi kartu 3"/>
          <p:cNvSpPr txBox="1"/>
          <p:nvPr/>
        </p:nvSpPr>
        <p:spPr>
          <a:xfrm>
            <a:off x="9532619" y="5486400"/>
            <a:ext cx="3120389" cy="1463040"/>
          </a:xfrm>
          <a:prstGeom prst="rect">
            <a:avLst/>
          </a:prstGeom>
          <a:noFill/>
        </p:spPr>
        <p:txBody>
          <a:bodyPr wrap="square" lIns="0" rIns="0" tIns="0" bIns="0" anchor="t">
            <a:spAutoFit/>
          </a:bodyPr>
          <a:lstStyle/>
          <a:p>
            <a:pPr algn="l">
              <a:spcAft>
                <a:spcPts val="0"/>
              </a:spcAft>
            </a:pPr>
            <a:r>
              <a:rPr sz="2400">
                <a:solidFill>
                  <a:srgbClr val="FFFFFF"/>
                </a:solidFill>
                <a:latin typeface="Playpen Sans"/>
              </a:rPr>
              <a:t>Satu ide diperbaiki dan dipakai orang lain</a:t>
            </a:r>
          </a:p>
        </p:txBody>
      </p:sp>
      <p:sp>
        <p:nvSpPr>
          <p:cNvPr id="31" name="Kartu 4"/>
          <p:cNvSpPr/>
          <p:nvPr/>
        </p:nvSpPr>
        <p:spPr>
          <a:xfrm>
            <a:off x="13201649" y="2148840"/>
            <a:ext cx="3577589" cy="4892040"/>
          </a:xfrm>
          <a:prstGeom prst="roundRect">
            <a:avLst>
              <a:gd name="adj" fmla="val 5000"/>
            </a:avLst>
          </a:prstGeom>
          <a:solidFill>
            <a:srgbClr val="14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ag Dari paper ke poster"/>
          <p:cNvSpPr/>
          <p:nvPr/>
        </p:nvSpPr>
        <p:spPr>
          <a:xfrm>
            <a:off x="13384529" y="2286000"/>
            <a:ext cx="3211829" cy="640080"/>
          </a:xfrm>
          <a:prstGeom prst="roundRect">
            <a:avLst>
              <a:gd name="adj" fmla="val 50000"/>
            </a:avLst>
          </a:prstGeom>
          <a:solidFill>
            <a:srgbClr val="B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ks tag Dari paper ke poster"/>
          <p:cNvSpPr txBox="1"/>
          <p:nvPr/>
        </p:nvSpPr>
        <p:spPr>
          <a:xfrm>
            <a:off x="13384529" y="2350008"/>
            <a:ext cx="3211829" cy="548640"/>
          </a:xfrm>
          <a:prstGeom prst="rect">
            <a:avLst/>
          </a:prstGeom>
          <a:noFill/>
        </p:spPr>
        <p:txBody>
          <a:bodyPr wrap="square" lIns="0" rIns="0" tIns="0" bIns="0" anchor="t">
            <a:spAutoFit/>
          </a:bodyPr>
          <a:lstStyle/>
          <a:p>
            <a:pPr algn="ctr">
              <a:spcAft>
                <a:spcPts val="0"/>
              </a:spcAft>
            </a:pPr>
            <a:r>
              <a:rPr sz="2000">
                <a:solidFill>
                  <a:srgbClr val="0A2540"/>
                </a:solidFill>
                <a:latin typeface="Playpen Sans Bold"/>
              </a:rPr>
              <a:t>Dari paper ke poster</a:t>
            </a:r>
          </a:p>
        </p:txBody>
      </p:sp>
      <p:pic>
        <p:nvPicPr>
          <p:cNvPr id="34" name="Paper poster" descr="Contoh paper"/>
          <p:cNvPicPr>
            <a:picLocks noChangeAspect="1"/>
          </p:cNvPicPr>
          <p:nvPr/>
        </p:nvPicPr>
        <p:blipFill>
          <a:blip r:embed="rId16"/>
          <a:stretch>
            <a:fillRect/>
          </a:stretch>
        </p:blipFill>
        <p:spPr>
          <a:xfrm>
            <a:off x="14133194" y="3063240"/>
            <a:ext cx="1714500" cy="2286000"/>
          </a:xfrm>
          <a:prstGeom prst="rect">
            <a:avLst/>
          </a:prstGeom>
          <a:ln w="38100">
            <a:solidFill>
              <a:srgbClr val="FFFFFF"/>
            </a:solidFill>
          </a:ln>
        </p:spPr>
      </p:pic>
      <p:sp>
        <p:nvSpPr>
          <p:cNvPr id="35" name="Isi kartu 4"/>
          <p:cNvSpPr txBox="1"/>
          <p:nvPr/>
        </p:nvSpPr>
        <p:spPr>
          <a:xfrm>
            <a:off x="13430249" y="5486400"/>
            <a:ext cx="3120389" cy="1463040"/>
          </a:xfrm>
          <a:prstGeom prst="rect">
            <a:avLst/>
          </a:prstGeom>
          <a:noFill/>
        </p:spPr>
        <p:txBody>
          <a:bodyPr wrap="square" lIns="0" rIns="0" tIns="0" bIns="0" anchor="t">
            <a:spAutoFit/>
          </a:bodyPr>
          <a:lstStyle/>
          <a:p>
            <a:pPr algn="l">
              <a:spcAft>
                <a:spcPts val="0"/>
              </a:spcAft>
            </a:pPr>
            <a:r>
              <a:rPr sz="2400">
                <a:solidFill>
                  <a:srgbClr val="FFFFFF"/>
                </a:solidFill>
                <a:latin typeface="Playpen Sans"/>
              </a:rPr>
              <a:t>Hasil riset dikomunikasikan di konferensi</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7928" r="0" b="-67928"/>
            </a:stretch>
          </a:blipFill>
        </p:spPr>
      </p:sp>
      <p:sp>
        <p:nvSpPr>
          <p:cNvPr name="Freeform 3" id="3"/>
          <p:cNvSpPr/>
          <p:nvPr/>
        </p:nvSpPr>
        <p:spPr>
          <a:xfrm flipH="false" flipV="false" rot="0">
            <a:off x="12533569" y="-21055"/>
            <a:ext cx="5762298" cy="6532600"/>
          </a:xfrm>
          <a:custGeom>
            <a:avLst/>
            <a:gdLst/>
            <a:ahLst/>
            <a:cxnLst/>
            <a:rect r="r" b="b" t="t" l="l"/>
            <a:pathLst>
              <a:path h="6532600" w="5762298">
                <a:moveTo>
                  <a:pt x="0" y="0"/>
                </a:moveTo>
                <a:lnTo>
                  <a:pt x="5762298" y="0"/>
                </a:lnTo>
                <a:lnTo>
                  <a:pt x="5762298" y="6532600"/>
                </a:lnTo>
                <a:lnTo>
                  <a:pt x="0" y="6532600"/>
                </a:lnTo>
                <a:lnTo>
                  <a:pt x="0" y="0"/>
                </a:lnTo>
                <a:close/>
              </a:path>
            </a:pathLst>
          </a:custGeom>
          <a:blipFill>
            <a:blip r:embed="rId3"/>
            <a:stretch>
              <a:fillRect l="0" t="0" r="0" b="0"/>
            </a:stretch>
          </a:blipFill>
        </p:spPr>
      </p:sp>
      <p:sp>
        <p:nvSpPr>
          <p:cNvPr name="Freeform 4" id="4"/>
          <p:cNvSpPr/>
          <p:nvPr/>
        </p:nvSpPr>
        <p:spPr>
          <a:xfrm flipH="false" flipV="false" rot="0">
            <a:off x="12978766" y="2004481"/>
            <a:ext cx="5309234" cy="5465964"/>
          </a:xfrm>
          <a:custGeom>
            <a:avLst/>
            <a:gdLst/>
            <a:ahLst/>
            <a:cxnLst/>
            <a:rect r="r" b="b" t="t" l="l"/>
            <a:pathLst>
              <a:path h="5465964" w="5309234">
                <a:moveTo>
                  <a:pt x="0" y="0"/>
                </a:moveTo>
                <a:lnTo>
                  <a:pt x="5309234" y="0"/>
                </a:lnTo>
                <a:lnTo>
                  <a:pt x="5309234" y="5465965"/>
                </a:lnTo>
                <a:lnTo>
                  <a:pt x="0" y="5465965"/>
                </a:lnTo>
                <a:lnTo>
                  <a:pt x="0" y="0"/>
                </a:lnTo>
                <a:close/>
              </a:path>
            </a:pathLst>
          </a:custGeom>
          <a:blipFill>
            <a:blip r:embed="rId4"/>
            <a:stretch>
              <a:fillRect l="0" t="0" r="0" b="0"/>
            </a:stretch>
          </a:blipFill>
        </p:spPr>
      </p:sp>
      <p:sp>
        <p:nvSpPr>
          <p:cNvPr name="Freeform 5" id="5"/>
          <p:cNvSpPr/>
          <p:nvPr/>
        </p:nvSpPr>
        <p:spPr>
          <a:xfrm flipH="true" flipV="false" rot="0">
            <a:off x="-29416" y="0"/>
            <a:ext cx="5762298" cy="6532600"/>
          </a:xfrm>
          <a:custGeom>
            <a:avLst/>
            <a:gdLst/>
            <a:ahLst/>
            <a:cxnLst/>
            <a:rect r="r" b="b" t="t" l="l"/>
            <a:pathLst>
              <a:path h="6532600" w="5762298">
                <a:moveTo>
                  <a:pt x="5762298" y="0"/>
                </a:moveTo>
                <a:lnTo>
                  <a:pt x="0" y="0"/>
                </a:lnTo>
                <a:lnTo>
                  <a:pt x="0" y="6532600"/>
                </a:lnTo>
                <a:lnTo>
                  <a:pt x="5762298" y="6532600"/>
                </a:lnTo>
                <a:lnTo>
                  <a:pt x="5762298" y="0"/>
                </a:lnTo>
                <a:close/>
              </a:path>
            </a:pathLst>
          </a:custGeom>
          <a:blipFill>
            <a:blip r:embed="rId3"/>
            <a:stretch>
              <a:fillRect l="0" t="0" r="0" b="0"/>
            </a:stretch>
          </a:blipFill>
        </p:spPr>
      </p:sp>
      <p:sp>
        <p:nvSpPr>
          <p:cNvPr name="Freeform 6" id="6"/>
          <p:cNvSpPr/>
          <p:nvPr/>
        </p:nvSpPr>
        <p:spPr>
          <a:xfrm flipH="false" flipV="false" rot="0">
            <a:off x="423648" y="2410518"/>
            <a:ext cx="5309234" cy="5465964"/>
          </a:xfrm>
          <a:custGeom>
            <a:avLst/>
            <a:gdLst/>
            <a:ahLst/>
            <a:cxnLst/>
            <a:rect r="r" b="b" t="t" l="l"/>
            <a:pathLst>
              <a:path h="5465964" w="5309234">
                <a:moveTo>
                  <a:pt x="0" y="0"/>
                </a:moveTo>
                <a:lnTo>
                  <a:pt x="5309234" y="0"/>
                </a:lnTo>
                <a:lnTo>
                  <a:pt x="5309234" y="5465964"/>
                </a:lnTo>
                <a:lnTo>
                  <a:pt x="0" y="5465964"/>
                </a:lnTo>
                <a:lnTo>
                  <a:pt x="0" y="0"/>
                </a:lnTo>
                <a:close/>
              </a:path>
            </a:pathLst>
          </a:custGeom>
          <a:blipFill>
            <a:blip r:embed="rId4"/>
            <a:stretch>
              <a:fillRect l="0" t="0" r="0" b="0"/>
            </a:stretch>
          </a:blipFill>
        </p:spPr>
      </p:sp>
      <p:sp>
        <p:nvSpPr>
          <p:cNvPr name="Freeform 7" id="7"/>
          <p:cNvSpPr/>
          <p:nvPr/>
        </p:nvSpPr>
        <p:spPr>
          <a:xfrm flipH="false" flipV="false" rot="0">
            <a:off x="-317430" y="7660946"/>
            <a:ext cx="18613297" cy="3022078"/>
          </a:xfrm>
          <a:custGeom>
            <a:avLst/>
            <a:gdLst/>
            <a:ahLst/>
            <a:cxnLst/>
            <a:rect r="r" b="b" t="t" l="l"/>
            <a:pathLst>
              <a:path h="3022078" w="18613297">
                <a:moveTo>
                  <a:pt x="0" y="0"/>
                </a:moveTo>
                <a:lnTo>
                  <a:pt x="18613297" y="0"/>
                </a:lnTo>
                <a:lnTo>
                  <a:pt x="18613297" y="3022077"/>
                </a:lnTo>
                <a:lnTo>
                  <a:pt x="0" y="3022077"/>
                </a:lnTo>
                <a:lnTo>
                  <a:pt x="0" y="0"/>
                </a:lnTo>
                <a:close/>
              </a:path>
            </a:pathLst>
          </a:custGeom>
          <a:blipFill>
            <a:blip r:embed="rId5"/>
            <a:stretch>
              <a:fillRect l="-158" t="0" r="-158" b="-6838"/>
            </a:stretch>
          </a:blipFill>
        </p:spPr>
      </p:sp>
      <p:sp>
        <p:nvSpPr>
          <p:cNvPr name="Freeform 11" id="11"/>
          <p:cNvSpPr/>
          <p:nvPr/>
        </p:nvSpPr>
        <p:spPr>
          <a:xfrm flipH="false" flipV="false" rot="0">
            <a:off x="681269" y="7470446"/>
            <a:ext cx="6083710" cy="4114800"/>
          </a:xfrm>
          <a:custGeom>
            <a:avLst/>
            <a:gdLst/>
            <a:ahLst/>
            <a:cxnLst/>
            <a:rect r="r" b="b" t="t" l="l"/>
            <a:pathLst>
              <a:path h="4114800" w="6083710">
                <a:moveTo>
                  <a:pt x="0" y="0"/>
                </a:moveTo>
                <a:lnTo>
                  <a:pt x="6083709" y="0"/>
                </a:lnTo>
                <a:lnTo>
                  <a:pt x="6083709"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9549673" y="7660946"/>
            <a:ext cx="6083710" cy="4114800"/>
          </a:xfrm>
          <a:custGeom>
            <a:avLst/>
            <a:gdLst/>
            <a:ahLst/>
            <a:cxnLst/>
            <a:rect r="r" b="b" t="t" l="l"/>
            <a:pathLst>
              <a:path h="4114800" w="6083710">
                <a:moveTo>
                  <a:pt x="0" y="0"/>
                </a:moveTo>
                <a:lnTo>
                  <a:pt x="6083710" y="0"/>
                </a:lnTo>
                <a:lnTo>
                  <a:pt x="608371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id="14" name="Panel"/>
          <p:cNvSpPr/>
          <p:nvPr/>
        </p:nvSpPr>
        <p:spPr>
          <a:xfrm>
            <a:off x="914400" y="731520"/>
            <a:ext cx="16459200" cy="6675120"/>
          </a:xfrm>
          <a:prstGeom prst="roundRect">
            <a:avLst>
              <a:gd name="adj" fmla="val 5000"/>
            </a:avLst>
          </a:prstGeom>
          <a:solidFill>
            <a:srgbClr val="0A2540">
              <a:alpha val="8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g RISET MURNI"/>
          <p:cNvSpPr/>
          <p:nvPr/>
        </p:nvSpPr>
        <p:spPr>
          <a:xfrm>
            <a:off x="1508760" y="960120"/>
            <a:ext cx="3005836" cy="640080"/>
          </a:xfrm>
          <a:prstGeom prst="roundRect">
            <a:avLst>
              <a:gd name="adj" fmla="val 50000"/>
            </a:avLst>
          </a:prstGeom>
          <a:solidFill>
            <a:srgbClr val="FF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ks tag RISET MURNI"/>
          <p:cNvSpPr txBox="1"/>
          <p:nvPr/>
        </p:nvSpPr>
        <p:spPr>
          <a:xfrm>
            <a:off x="1508760" y="1024128"/>
            <a:ext cx="3005836" cy="548640"/>
          </a:xfrm>
          <a:prstGeom prst="rect">
            <a:avLst/>
          </a:prstGeom>
          <a:noFill/>
        </p:spPr>
        <p:txBody>
          <a:bodyPr wrap="square" lIns="0" rIns="0" tIns="0" bIns="0" anchor="t">
            <a:spAutoFit/>
          </a:bodyPr>
          <a:lstStyle/>
          <a:p>
            <a:pPr algn="ctr">
              <a:spcAft>
                <a:spcPts val="0"/>
              </a:spcAft>
            </a:pPr>
            <a:r>
              <a:rPr sz="2200">
                <a:solidFill>
                  <a:srgbClr val="0A2540"/>
                </a:solidFill>
                <a:latin typeface="Playpen Sans Bold"/>
              </a:rPr>
              <a:t>RISET MURNI</a:t>
            </a:r>
          </a:p>
        </p:txBody>
      </p:sp>
      <p:sp>
        <p:nvSpPr>
          <p:cNvPr id="17" name="Judul"/>
          <p:cNvSpPr txBox="1"/>
          <p:nvPr/>
        </p:nvSpPr>
        <p:spPr>
          <a:xfrm>
            <a:off x="4880356" y="960120"/>
            <a:ext cx="11898883" cy="731520"/>
          </a:xfrm>
          <a:prstGeom prst="rect">
            <a:avLst/>
          </a:prstGeom>
          <a:noFill/>
        </p:spPr>
        <p:txBody>
          <a:bodyPr wrap="square" lIns="0" rIns="0" tIns="0" bIns="0" anchor="ctr">
            <a:spAutoFit/>
          </a:bodyPr>
          <a:lstStyle/>
          <a:p>
            <a:pPr algn="l">
              <a:spcAft>
                <a:spcPts val="0"/>
              </a:spcAft>
            </a:pPr>
            <a:r>
              <a:rPr sz="4400">
                <a:solidFill>
                  <a:srgbClr val="F7B125"/>
                </a:solidFill>
                <a:latin typeface="Playpen Sans Bold"/>
              </a:rPr>
              <a:t>Ide baru untuk sebuah algoritma</a:t>
            </a:r>
          </a:p>
        </p:txBody>
      </p:sp>
      <p:pic>
        <p:nvPicPr>
          <p:cNvPr id="18" name="Paper ref" descr="Halaman judul paper Reference-vector competitor pairing"/>
          <p:cNvPicPr>
            <a:picLocks noChangeAspect="1"/>
          </p:cNvPicPr>
          <p:nvPr/>
        </p:nvPicPr>
        <p:blipFill>
          <a:blip r:embed="rId13"/>
          <a:stretch>
            <a:fillRect/>
          </a:stretch>
        </p:blipFill>
        <p:spPr>
          <a:xfrm>
            <a:off x="1508760" y="2331720"/>
            <a:ext cx="7863840" cy="3422509"/>
          </a:xfrm>
          <a:prstGeom prst="rect">
            <a:avLst/>
          </a:prstGeom>
          <a:ln w="38100">
            <a:solidFill>
              <a:srgbClr val="F7B125"/>
            </a:solidFill>
          </a:ln>
        </p:spPr>
      </p:pic>
      <p:sp>
        <p:nvSpPr>
          <p:cNvPr id="19" name="Penulis"/>
          <p:cNvSpPr txBox="1"/>
          <p:nvPr/>
        </p:nvSpPr>
        <p:spPr>
          <a:xfrm>
            <a:off x="1508760" y="5897880"/>
            <a:ext cx="8412480" cy="1371600"/>
          </a:xfrm>
          <a:prstGeom prst="rect">
            <a:avLst/>
          </a:prstGeom>
          <a:noFill/>
        </p:spPr>
        <p:txBody>
          <a:bodyPr wrap="square" lIns="0" rIns="0" tIns="0" bIns="0" anchor="t">
            <a:spAutoFit/>
          </a:bodyPr>
          <a:lstStyle/>
          <a:p>
            <a:pPr algn="l">
              <a:spcAft>
                <a:spcPts val="400"/>
              </a:spcAft>
            </a:pPr>
            <a:r>
              <a:rPr sz="2400">
                <a:solidFill>
                  <a:srgbClr val="F7B125"/>
                </a:solidFill>
                <a:latin typeface="Playpen Sans Bold"/>
              </a:rPr>
              <a:t>Siregar dan Suyanto, Telkom University</a:t>
            </a:r>
          </a:p>
          <a:p>
            <a:pPr algn="l">
              <a:spcAft>
                <a:spcPts val="400"/>
              </a:spcAft>
            </a:pPr>
            <a:r>
              <a:rPr sz="2200">
                <a:solidFill>
                  <a:srgbClr val="FFFFFF"/>
                </a:solidFill>
                <a:latin typeface="Playpen Sans"/>
              </a:rPr>
              <a:t>Computing Laboratory, Telkom University</a:t>
            </a:r>
          </a:p>
          <a:p>
            <a:pPr algn="l">
              <a:spcAft>
                <a:spcPts val="0"/>
              </a:spcAft>
            </a:pPr>
            <a:r>
              <a:rPr sz="2000">
                <a:solidFill>
                  <a:srgbClr val="FFFFFF"/>
                </a:solidFill>
                <a:latin typeface="Playpen Sans"/>
              </a:rPr>
              <a:t>Pusat Keunggulan AI untuk Pembelajaran dan Optimasi</a:t>
            </a:r>
          </a:p>
        </p:txBody>
      </p:sp>
      <p:sp>
        <p:nvSpPr>
          <p:cNvPr id="20" name="Bedah"/>
          <p:cNvSpPr txBox="1"/>
          <p:nvPr/>
        </p:nvSpPr>
        <p:spPr>
          <a:xfrm>
            <a:off x="9966960" y="2286000"/>
            <a:ext cx="6858000" cy="548640"/>
          </a:xfrm>
          <a:prstGeom prst="rect">
            <a:avLst/>
          </a:prstGeom>
          <a:noFill/>
        </p:spPr>
        <p:txBody>
          <a:bodyPr wrap="square" lIns="0" rIns="0" tIns="0" bIns="0" anchor="t">
            <a:spAutoFit/>
          </a:bodyPr>
          <a:lstStyle/>
          <a:p>
            <a:pPr algn="l">
              <a:spcAft>
                <a:spcPts val="0"/>
              </a:spcAft>
            </a:pPr>
            <a:r>
              <a:rPr sz="3000">
                <a:solidFill>
                  <a:srgbClr val="F7B125"/>
                </a:solidFill>
                <a:latin typeface="Playpen Sans Bold"/>
              </a:rPr>
              <a:t>Bedah judulnya</a:t>
            </a:r>
          </a:p>
        </p:txBody>
      </p:sp>
      <p:sp>
        <p:nvSpPr>
          <p:cNvPr id="21" name="Chip"/>
          <p:cNvSpPr/>
          <p:nvPr/>
        </p:nvSpPr>
        <p:spPr>
          <a:xfrm>
            <a:off x="9966960" y="3017520"/>
            <a:ext cx="6858000" cy="749808"/>
          </a:xfrm>
          <a:prstGeom prst="roundRect">
            <a:avLst>
              <a:gd name="adj" fmla="val 20000"/>
            </a:avLst>
          </a:prstGeom>
          <a:solidFill>
            <a:srgbClr val="14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Warna chip"/>
          <p:cNvSpPr/>
          <p:nvPr/>
        </p:nvSpPr>
        <p:spPr>
          <a:xfrm>
            <a:off x="9966960" y="3017520"/>
            <a:ext cx="228600" cy="749808"/>
          </a:xfrm>
          <a:prstGeom prst="roundRect">
            <a:avLst>
              <a:gd name="adj" fmla="val 20000"/>
            </a:avLst>
          </a:prstGeom>
          <a:solidFill>
            <a:srgbClr val="FF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i chip"/>
          <p:cNvSpPr txBox="1"/>
          <p:nvPr/>
        </p:nvSpPr>
        <p:spPr>
          <a:xfrm>
            <a:off x="10378440" y="3072384"/>
            <a:ext cx="6309360" cy="685800"/>
          </a:xfrm>
          <a:prstGeom prst="rect">
            <a:avLst/>
          </a:prstGeom>
          <a:noFill/>
        </p:spPr>
        <p:txBody>
          <a:bodyPr wrap="square" lIns="0" rIns="0" tIns="0" bIns="0" anchor="t">
            <a:spAutoFit/>
          </a:bodyPr>
          <a:lstStyle/>
          <a:p>
            <a:pPr algn="l">
              <a:spcAft>
                <a:spcPts val="0"/>
              </a:spcAft>
            </a:pPr>
            <a:r>
              <a:rPr sz="2000">
                <a:solidFill>
                  <a:srgbClr val="FFFFFF"/>
                </a:solidFill>
                <a:latin typeface="Playpen Sans Bold"/>
              </a:rPr>
              <a:t>Reference-vector competitor pairing</a:t>
            </a:r>
          </a:p>
          <a:p>
            <a:pPr algn="l">
              <a:spcAft>
                <a:spcPts val="0"/>
              </a:spcAft>
            </a:pPr>
            <a:r>
              <a:rPr sz="2000">
                <a:solidFill>
                  <a:srgbClr val="F7B125"/>
                </a:solidFill>
                <a:latin typeface="Playpen Sans"/>
              </a:rPr>
              <a:t>ide barunya</a:t>
            </a:r>
          </a:p>
        </p:txBody>
      </p:sp>
      <p:sp>
        <p:nvSpPr>
          <p:cNvPr id="24" name="Chip"/>
          <p:cNvSpPr/>
          <p:nvPr/>
        </p:nvSpPr>
        <p:spPr>
          <a:xfrm>
            <a:off x="9966960" y="3840480"/>
            <a:ext cx="6858000" cy="749808"/>
          </a:xfrm>
          <a:prstGeom prst="roundRect">
            <a:avLst>
              <a:gd name="adj" fmla="val 20000"/>
            </a:avLst>
          </a:prstGeom>
          <a:solidFill>
            <a:srgbClr val="14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Warna chip"/>
          <p:cNvSpPr/>
          <p:nvPr/>
        </p:nvSpPr>
        <p:spPr>
          <a:xfrm>
            <a:off x="9966960" y="3840480"/>
            <a:ext cx="228600" cy="749808"/>
          </a:xfrm>
          <a:prstGeom prst="roundRect">
            <a:avLst>
              <a:gd name="adj" fmla="val 20000"/>
            </a:avLst>
          </a:prstGeom>
          <a:solidFill>
            <a:srgbClr val="F7B1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Isi chip"/>
          <p:cNvSpPr txBox="1"/>
          <p:nvPr/>
        </p:nvSpPr>
        <p:spPr>
          <a:xfrm>
            <a:off x="10378440" y="3895344"/>
            <a:ext cx="6309360" cy="685800"/>
          </a:xfrm>
          <a:prstGeom prst="rect">
            <a:avLst/>
          </a:prstGeom>
          <a:noFill/>
        </p:spPr>
        <p:txBody>
          <a:bodyPr wrap="square" lIns="0" rIns="0" tIns="0" bIns="0" anchor="t">
            <a:spAutoFit/>
          </a:bodyPr>
          <a:lstStyle/>
          <a:p>
            <a:pPr algn="l">
              <a:spcAft>
                <a:spcPts val="0"/>
              </a:spcAft>
            </a:pPr>
            <a:r>
              <a:rPr sz="2000">
                <a:solidFill>
                  <a:srgbClr val="FFFFFF"/>
                </a:solidFill>
                <a:latin typeface="Playpen Sans Bold"/>
              </a:rPr>
              <a:t>constrained</a:t>
            </a:r>
          </a:p>
          <a:p>
            <a:pPr algn="l">
              <a:spcAft>
                <a:spcPts val="0"/>
              </a:spcAft>
            </a:pPr>
            <a:r>
              <a:rPr sz="2000">
                <a:solidFill>
                  <a:srgbClr val="F7B125"/>
                </a:solidFill>
                <a:latin typeface="Playpen Sans"/>
              </a:rPr>
              <a:t>ada batasan</a:t>
            </a:r>
          </a:p>
        </p:txBody>
      </p:sp>
      <p:sp>
        <p:nvSpPr>
          <p:cNvPr id="27" name="Chip"/>
          <p:cNvSpPr/>
          <p:nvPr/>
        </p:nvSpPr>
        <p:spPr>
          <a:xfrm>
            <a:off x="9966960" y="4663440"/>
            <a:ext cx="6858000" cy="749808"/>
          </a:xfrm>
          <a:prstGeom prst="roundRect">
            <a:avLst>
              <a:gd name="adj" fmla="val 20000"/>
            </a:avLst>
          </a:prstGeom>
          <a:solidFill>
            <a:srgbClr val="14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Warna chip"/>
          <p:cNvSpPr/>
          <p:nvPr/>
        </p:nvSpPr>
        <p:spPr>
          <a:xfrm>
            <a:off x="9966960" y="4663440"/>
            <a:ext cx="228600" cy="749808"/>
          </a:xfrm>
          <a:prstGeom prst="roundRect">
            <a:avLst>
              <a:gd name="adj" fmla="val 20000"/>
            </a:avLst>
          </a:prstGeom>
          <a:solidFill>
            <a:srgbClr val="F7B1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i chip"/>
          <p:cNvSpPr txBox="1"/>
          <p:nvPr/>
        </p:nvSpPr>
        <p:spPr>
          <a:xfrm>
            <a:off x="10378440" y="4718304"/>
            <a:ext cx="6309360" cy="685800"/>
          </a:xfrm>
          <a:prstGeom prst="rect">
            <a:avLst/>
          </a:prstGeom>
          <a:noFill/>
        </p:spPr>
        <p:txBody>
          <a:bodyPr wrap="square" lIns="0" rIns="0" tIns="0" bIns="0" anchor="t">
            <a:spAutoFit/>
          </a:bodyPr>
          <a:lstStyle/>
          <a:p>
            <a:pPr algn="l">
              <a:spcAft>
                <a:spcPts val="0"/>
              </a:spcAft>
            </a:pPr>
            <a:r>
              <a:rPr sz="2000">
                <a:solidFill>
                  <a:srgbClr val="FFFFFF"/>
                </a:solidFill>
                <a:latin typeface="Playpen Sans Bold"/>
              </a:rPr>
              <a:t>large-scale</a:t>
            </a:r>
          </a:p>
          <a:p>
            <a:pPr algn="l">
              <a:spcAft>
                <a:spcPts val="0"/>
              </a:spcAft>
            </a:pPr>
            <a:r>
              <a:rPr sz="2000">
                <a:solidFill>
                  <a:srgbClr val="F7B125"/>
                </a:solidFill>
                <a:latin typeface="Playpen Sans"/>
              </a:rPr>
              <a:t>variabel sangat banyak</a:t>
            </a:r>
          </a:p>
        </p:txBody>
      </p:sp>
      <p:sp>
        <p:nvSpPr>
          <p:cNvPr id="30" name="Chip"/>
          <p:cNvSpPr/>
          <p:nvPr/>
        </p:nvSpPr>
        <p:spPr>
          <a:xfrm>
            <a:off x="9966960" y="5486400"/>
            <a:ext cx="6858000" cy="749808"/>
          </a:xfrm>
          <a:prstGeom prst="roundRect">
            <a:avLst>
              <a:gd name="adj" fmla="val 20000"/>
            </a:avLst>
          </a:prstGeom>
          <a:solidFill>
            <a:srgbClr val="14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Warna chip"/>
          <p:cNvSpPr/>
          <p:nvPr/>
        </p:nvSpPr>
        <p:spPr>
          <a:xfrm>
            <a:off x="9966960" y="5486400"/>
            <a:ext cx="228600" cy="749808"/>
          </a:xfrm>
          <a:prstGeom prst="roundRect">
            <a:avLst>
              <a:gd name="adj" fmla="val 20000"/>
            </a:avLst>
          </a:prstGeom>
          <a:solidFill>
            <a:srgbClr val="F7B1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i chip"/>
          <p:cNvSpPr txBox="1"/>
          <p:nvPr/>
        </p:nvSpPr>
        <p:spPr>
          <a:xfrm>
            <a:off x="10378440" y="5541264"/>
            <a:ext cx="6309360" cy="685800"/>
          </a:xfrm>
          <a:prstGeom prst="rect">
            <a:avLst/>
          </a:prstGeom>
          <a:noFill/>
        </p:spPr>
        <p:txBody>
          <a:bodyPr wrap="square" lIns="0" rIns="0" tIns="0" bIns="0" anchor="t">
            <a:spAutoFit/>
          </a:bodyPr>
          <a:lstStyle/>
          <a:p>
            <a:pPr algn="l">
              <a:spcAft>
                <a:spcPts val="0"/>
              </a:spcAft>
            </a:pPr>
            <a:r>
              <a:rPr sz="2000">
                <a:solidFill>
                  <a:srgbClr val="FFFFFF"/>
                </a:solidFill>
                <a:latin typeface="Playpen Sans Bold"/>
              </a:rPr>
              <a:t>multi-objective</a:t>
            </a:r>
          </a:p>
          <a:p>
            <a:pPr algn="l">
              <a:spcAft>
                <a:spcPts val="0"/>
              </a:spcAft>
            </a:pPr>
            <a:r>
              <a:rPr sz="2000">
                <a:solidFill>
                  <a:srgbClr val="F7B125"/>
                </a:solidFill>
                <a:latin typeface="Playpen Sans"/>
              </a:rPr>
              <a:t>beberapa tujuan sekaligus</a:t>
            </a:r>
          </a:p>
        </p:txBody>
      </p:sp>
      <p:sp>
        <p:nvSpPr>
          <p:cNvPr id="33" name="Chip"/>
          <p:cNvSpPr/>
          <p:nvPr/>
        </p:nvSpPr>
        <p:spPr>
          <a:xfrm>
            <a:off x="9966960" y="6309360"/>
            <a:ext cx="6858000" cy="749808"/>
          </a:xfrm>
          <a:prstGeom prst="roundRect">
            <a:avLst>
              <a:gd name="adj" fmla="val 20000"/>
            </a:avLst>
          </a:prstGeom>
          <a:solidFill>
            <a:srgbClr val="14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Warna chip"/>
          <p:cNvSpPr/>
          <p:nvPr/>
        </p:nvSpPr>
        <p:spPr>
          <a:xfrm>
            <a:off x="9966960" y="6309360"/>
            <a:ext cx="228600" cy="749808"/>
          </a:xfrm>
          <a:prstGeom prst="roundRect">
            <a:avLst>
              <a:gd name="adj" fmla="val 20000"/>
            </a:avLst>
          </a:prstGeom>
          <a:solidFill>
            <a:srgbClr val="3DD6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i chip"/>
          <p:cNvSpPr txBox="1"/>
          <p:nvPr/>
        </p:nvSpPr>
        <p:spPr>
          <a:xfrm>
            <a:off x="10378440" y="6364224"/>
            <a:ext cx="6309360" cy="685800"/>
          </a:xfrm>
          <a:prstGeom prst="rect">
            <a:avLst/>
          </a:prstGeom>
          <a:noFill/>
        </p:spPr>
        <p:txBody>
          <a:bodyPr wrap="square" lIns="0" rIns="0" tIns="0" bIns="0" anchor="t">
            <a:spAutoFit/>
          </a:bodyPr>
          <a:lstStyle/>
          <a:p>
            <a:pPr algn="l">
              <a:spcAft>
                <a:spcPts val="0"/>
              </a:spcAft>
            </a:pPr>
            <a:r>
              <a:rPr sz="2000">
                <a:solidFill>
                  <a:srgbClr val="FFFFFF"/>
                </a:solidFill>
                <a:latin typeface="Playpen Sans Bold"/>
              </a:rPr>
              <a:t>competitive swarm optimisation</a:t>
            </a:r>
          </a:p>
          <a:p>
            <a:pPr algn="l">
              <a:spcAft>
                <a:spcPts val="0"/>
              </a:spcAft>
            </a:pPr>
            <a:r>
              <a:rPr sz="2000">
                <a:solidFill>
                  <a:srgbClr val="F7B125"/>
                </a:solidFill>
                <a:latin typeface="Playpen Sans"/>
              </a:rPr>
              <a:t>algoritma dasar yang diperbaiki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7928" r="0" b="-67928"/>
            </a:stretch>
          </a:blipFill>
        </p:spPr>
      </p:sp>
      <p:sp>
        <p:nvSpPr>
          <p:cNvPr name="Freeform 3" id="3"/>
          <p:cNvSpPr/>
          <p:nvPr/>
        </p:nvSpPr>
        <p:spPr>
          <a:xfrm flipH="false" flipV="false" rot="0">
            <a:off x="12533569" y="-21055"/>
            <a:ext cx="5762298" cy="6532600"/>
          </a:xfrm>
          <a:custGeom>
            <a:avLst/>
            <a:gdLst/>
            <a:ahLst/>
            <a:cxnLst/>
            <a:rect r="r" b="b" t="t" l="l"/>
            <a:pathLst>
              <a:path h="6532600" w="5762298">
                <a:moveTo>
                  <a:pt x="0" y="0"/>
                </a:moveTo>
                <a:lnTo>
                  <a:pt x="5762298" y="0"/>
                </a:lnTo>
                <a:lnTo>
                  <a:pt x="5762298" y="6532600"/>
                </a:lnTo>
                <a:lnTo>
                  <a:pt x="0" y="6532600"/>
                </a:lnTo>
                <a:lnTo>
                  <a:pt x="0" y="0"/>
                </a:lnTo>
                <a:close/>
              </a:path>
            </a:pathLst>
          </a:custGeom>
          <a:blipFill>
            <a:blip r:embed="rId3"/>
            <a:stretch>
              <a:fillRect l="0" t="0" r="0" b="0"/>
            </a:stretch>
          </a:blipFill>
        </p:spPr>
      </p:sp>
      <p:sp>
        <p:nvSpPr>
          <p:cNvPr name="Freeform 4" id="4"/>
          <p:cNvSpPr/>
          <p:nvPr/>
        </p:nvSpPr>
        <p:spPr>
          <a:xfrm flipH="false" flipV="false" rot="0">
            <a:off x="12978766" y="2004481"/>
            <a:ext cx="5309234" cy="5465964"/>
          </a:xfrm>
          <a:custGeom>
            <a:avLst/>
            <a:gdLst/>
            <a:ahLst/>
            <a:cxnLst/>
            <a:rect r="r" b="b" t="t" l="l"/>
            <a:pathLst>
              <a:path h="5465964" w="5309234">
                <a:moveTo>
                  <a:pt x="0" y="0"/>
                </a:moveTo>
                <a:lnTo>
                  <a:pt x="5309234" y="0"/>
                </a:lnTo>
                <a:lnTo>
                  <a:pt x="5309234" y="5465965"/>
                </a:lnTo>
                <a:lnTo>
                  <a:pt x="0" y="5465965"/>
                </a:lnTo>
                <a:lnTo>
                  <a:pt x="0" y="0"/>
                </a:lnTo>
                <a:close/>
              </a:path>
            </a:pathLst>
          </a:custGeom>
          <a:blipFill>
            <a:blip r:embed="rId4"/>
            <a:stretch>
              <a:fillRect l="0" t="0" r="0" b="0"/>
            </a:stretch>
          </a:blipFill>
        </p:spPr>
      </p:sp>
      <p:sp>
        <p:nvSpPr>
          <p:cNvPr name="Freeform 5" id="5"/>
          <p:cNvSpPr/>
          <p:nvPr/>
        </p:nvSpPr>
        <p:spPr>
          <a:xfrm flipH="true" flipV="false" rot="0">
            <a:off x="-29416" y="0"/>
            <a:ext cx="5762298" cy="6532600"/>
          </a:xfrm>
          <a:custGeom>
            <a:avLst/>
            <a:gdLst/>
            <a:ahLst/>
            <a:cxnLst/>
            <a:rect r="r" b="b" t="t" l="l"/>
            <a:pathLst>
              <a:path h="6532600" w="5762298">
                <a:moveTo>
                  <a:pt x="5762298" y="0"/>
                </a:moveTo>
                <a:lnTo>
                  <a:pt x="0" y="0"/>
                </a:lnTo>
                <a:lnTo>
                  <a:pt x="0" y="6532600"/>
                </a:lnTo>
                <a:lnTo>
                  <a:pt x="5762298" y="6532600"/>
                </a:lnTo>
                <a:lnTo>
                  <a:pt x="5762298" y="0"/>
                </a:lnTo>
                <a:close/>
              </a:path>
            </a:pathLst>
          </a:custGeom>
          <a:blipFill>
            <a:blip r:embed="rId3"/>
            <a:stretch>
              <a:fillRect l="0" t="0" r="0" b="0"/>
            </a:stretch>
          </a:blipFill>
        </p:spPr>
      </p:sp>
      <p:sp>
        <p:nvSpPr>
          <p:cNvPr name="Freeform 6" id="6"/>
          <p:cNvSpPr/>
          <p:nvPr/>
        </p:nvSpPr>
        <p:spPr>
          <a:xfrm flipH="false" flipV="false" rot="0">
            <a:off x="423648" y="2410518"/>
            <a:ext cx="5309234" cy="5465964"/>
          </a:xfrm>
          <a:custGeom>
            <a:avLst/>
            <a:gdLst/>
            <a:ahLst/>
            <a:cxnLst/>
            <a:rect r="r" b="b" t="t" l="l"/>
            <a:pathLst>
              <a:path h="5465964" w="5309234">
                <a:moveTo>
                  <a:pt x="0" y="0"/>
                </a:moveTo>
                <a:lnTo>
                  <a:pt x="5309234" y="0"/>
                </a:lnTo>
                <a:lnTo>
                  <a:pt x="5309234" y="5465964"/>
                </a:lnTo>
                <a:lnTo>
                  <a:pt x="0" y="5465964"/>
                </a:lnTo>
                <a:lnTo>
                  <a:pt x="0" y="0"/>
                </a:lnTo>
                <a:close/>
              </a:path>
            </a:pathLst>
          </a:custGeom>
          <a:blipFill>
            <a:blip r:embed="rId4"/>
            <a:stretch>
              <a:fillRect l="0" t="0" r="0" b="0"/>
            </a:stretch>
          </a:blipFill>
        </p:spPr>
      </p:sp>
      <p:sp>
        <p:nvSpPr>
          <p:cNvPr name="Freeform 7" id="7"/>
          <p:cNvSpPr/>
          <p:nvPr/>
        </p:nvSpPr>
        <p:spPr>
          <a:xfrm flipH="false" flipV="false" rot="0">
            <a:off x="-317430" y="7660946"/>
            <a:ext cx="18613297" cy="3022078"/>
          </a:xfrm>
          <a:custGeom>
            <a:avLst/>
            <a:gdLst/>
            <a:ahLst/>
            <a:cxnLst/>
            <a:rect r="r" b="b" t="t" l="l"/>
            <a:pathLst>
              <a:path h="3022078" w="18613297">
                <a:moveTo>
                  <a:pt x="0" y="0"/>
                </a:moveTo>
                <a:lnTo>
                  <a:pt x="18613297" y="0"/>
                </a:lnTo>
                <a:lnTo>
                  <a:pt x="18613297" y="3022077"/>
                </a:lnTo>
                <a:lnTo>
                  <a:pt x="0" y="3022077"/>
                </a:lnTo>
                <a:lnTo>
                  <a:pt x="0" y="0"/>
                </a:lnTo>
                <a:close/>
              </a:path>
            </a:pathLst>
          </a:custGeom>
          <a:blipFill>
            <a:blip r:embed="rId5"/>
            <a:stretch>
              <a:fillRect l="-158" t="0" r="-158" b="-6838"/>
            </a:stretch>
          </a:blipFill>
        </p:spPr>
      </p:sp>
      <p:sp>
        <p:nvSpPr>
          <p:cNvPr name="Freeform 11" id="11"/>
          <p:cNvSpPr/>
          <p:nvPr/>
        </p:nvSpPr>
        <p:spPr>
          <a:xfrm flipH="false" flipV="false" rot="0">
            <a:off x="681269" y="7470446"/>
            <a:ext cx="6083710" cy="4114800"/>
          </a:xfrm>
          <a:custGeom>
            <a:avLst/>
            <a:gdLst/>
            <a:ahLst/>
            <a:cxnLst/>
            <a:rect r="r" b="b" t="t" l="l"/>
            <a:pathLst>
              <a:path h="4114800" w="6083710">
                <a:moveTo>
                  <a:pt x="0" y="0"/>
                </a:moveTo>
                <a:lnTo>
                  <a:pt x="6083709" y="0"/>
                </a:lnTo>
                <a:lnTo>
                  <a:pt x="6083709"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9549673" y="7660946"/>
            <a:ext cx="6083710" cy="4114800"/>
          </a:xfrm>
          <a:custGeom>
            <a:avLst/>
            <a:gdLst/>
            <a:ahLst/>
            <a:cxnLst/>
            <a:rect r="r" b="b" t="t" l="l"/>
            <a:pathLst>
              <a:path h="4114800" w="6083710">
                <a:moveTo>
                  <a:pt x="0" y="0"/>
                </a:moveTo>
                <a:lnTo>
                  <a:pt x="6083710" y="0"/>
                </a:lnTo>
                <a:lnTo>
                  <a:pt x="608371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id="14" name="Panel"/>
          <p:cNvSpPr/>
          <p:nvPr/>
        </p:nvSpPr>
        <p:spPr>
          <a:xfrm>
            <a:off x="914400" y="731520"/>
            <a:ext cx="16459200" cy="6675120"/>
          </a:xfrm>
          <a:prstGeom prst="roundRect">
            <a:avLst>
              <a:gd name="adj" fmla="val 5000"/>
            </a:avLst>
          </a:prstGeom>
          <a:solidFill>
            <a:srgbClr val="0A2540">
              <a:alpha val="8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g RISET TERAPAN"/>
          <p:cNvSpPr/>
          <p:nvPr/>
        </p:nvSpPr>
        <p:spPr>
          <a:xfrm>
            <a:off x="1508760" y="960120"/>
            <a:ext cx="3419348" cy="640080"/>
          </a:xfrm>
          <a:prstGeom prst="roundRect">
            <a:avLst>
              <a:gd name="adj" fmla="val 50000"/>
            </a:avLst>
          </a:prstGeom>
          <a:solidFill>
            <a:srgbClr val="3DD6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ks tag RISET TERAPAN"/>
          <p:cNvSpPr txBox="1"/>
          <p:nvPr/>
        </p:nvSpPr>
        <p:spPr>
          <a:xfrm>
            <a:off x="1508760" y="1024128"/>
            <a:ext cx="3419348" cy="548640"/>
          </a:xfrm>
          <a:prstGeom prst="rect">
            <a:avLst/>
          </a:prstGeom>
          <a:noFill/>
        </p:spPr>
        <p:txBody>
          <a:bodyPr wrap="square" lIns="0" rIns="0" tIns="0" bIns="0" anchor="t">
            <a:spAutoFit/>
          </a:bodyPr>
          <a:lstStyle/>
          <a:p>
            <a:pPr algn="ctr">
              <a:spcAft>
                <a:spcPts val="0"/>
              </a:spcAft>
            </a:pPr>
            <a:r>
              <a:rPr sz="2200">
                <a:solidFill>
                  <a:srgbClr val="0A2540"/>
                </a:solidFill>
                <a:latin typeface="Playpen Sans Bold"/>
              </a:rPr>
              <a:t>RISET TERAPAN</a:t>
            </a:r>
          </a:p>
        </p:txBody>
      </p:sp>
      <p:sp>
        <p:nvSpPr>
          <p:cNvPr id="17" name="Judul"/>
          <p:cNvSpPr txBox="1"/>
          <p:nvPr/>
        </p:nvSpPr>
        <p:spPr>
          <a:xfrm>
            <a:off x="5293868" y="960120"/>
            <a:ext cx="11485371" cy="731520"/>
          </a:xfrm>
          <a:prstGeom prst="rect">
            <a:avLst/>
          </a:prstGeom>
          <a:noFill/>
        </p:spPr>
        <p:txBody>
          <a:bodyPr wrap="square" lIns="0" rIns="0" tIns="0" bIns="0" anchor="ctr">
            <a:spAutoFit/>
          </a:bodyPr>
          <a:lstStyle/>
          <a:p>
            <a:pPr algn="l">
              <a:spcAft>
                <a:spcPts val="0"/>
              </a:spcAft>
            </a:pPr>
            <a:r>
              <a:rPr sz="4400">
                <a:solidFill>
                  <a:srgbClr val="F7B125"/>
                </a:solidFill>
                <a:latin typeface="Playpen Sans Bold"/>
              </a:rPr>
              <a:t>Mengaudit AI pada masalah nyata</a:t>
            </a:r>
          </a:p>
        </p:txBody>
      </p:sp>
      <p:pic>
        <p:nvPicPr>
          <p:cNvPr id="18" name="Paper skin" descr="Judul dan abstrak paper tentang bias warna kulit pada AI dermatologi"/>
          <p:cNvPicPr>
            <a:picLocks noChangeAspect="1"/>
          </p:cNvPicPr>
          <p:nvPr/>
        </p:nvPicPr>
        <p:blipFill>
          <a:blip r:embed="rId13"/>
          <a:stretch>
            <a:fillRect/>
          </a:stretch>
        </p:blipFill>
        <p:spPr>
          <a:xfrm>
            <a:off x="1508760" y="2286000"/>
            <a:ext cx="8448831" cy="4800600"/>
          </a:xfrm>
          <a:prstGeom prst="rect">
            <a:avLst/>
          </a:prstGeom>
          <a:ln w="38100">
            <a:solidFill>
              <a:srgbClr val="F7B125"/>
            </a:solidFill>
          </a:ln>
        </p:spPr>
      </p:pic>
      <p:sp>
        <p:nvSpPr>
          <p:cNvPr id="19" name="Temuan"/>
          <p:cNvSpPr txBox="1"/>
          <p:nvPr/>
        </p:nvSpPr>
        <p:spPr>
          <a:xfrm>
            <a:off x="10378440" y="2286000"/>
            <a:ext cx="6446519" cy="4937760"/>
          </a:xfrm>
          <a:prstGeom prst="rect">
            <a:avLst/>
          </a:prstGeom>
          <a:noFill/>
        </p:spPr>
        <p:txBody>
          <a:bodyPr wrap="square" lIns="0" rIns="0" tIns="0" bIns="0" anchor="t">
            <a:spAutoFit/>
          </a:bodyPr>
          <a:lstStyle/>
          <a:p>
            <a:pPr algn="l" marL="502920" indent="-502920">
              <a:spcAft>
                <a:spcPts val="1000"/>
              </a:spcAft>
              <a:buClr>
                <a:srgbClr val="F7B125"/>
              </a:buClr>
              <a:buFont typeface="Arial"/>
              <a:buChar char="•"/>
            </a:pPr>
            <a:r>
              <a:rPr sz="2400">
                <a:solidFill>
                  <a:srgbClr val="FFFFFF"/>
                </a:solidFill>
                <a:latin typeface="Playpen Sans"/>
              </a:rPr>
              <a:t>Model: EfficientNet-B0 untuk kanker kulit</a:t>
            </a:r>
          </a:p>
          <a:p>
            <a:pPr algn="l" marL="502920" indent="-502920">
              <a:spcAft>
                <a:spcPts val="1000"/>
              </a:spcAft>
              <a:buClr>
                <a:srgbClr val="F7B125"/>
              </a:buClr>
              <a:buFont typeface="Arial"/>
              <a:buChar char="•"/>
            </a:pPr>
            <a:r>
              <a:rPr sz="2400">
                <a:solidFill>
                  <a:srgbClr val="FFFFFF"/>
                </a:solidFill>
                <a:latin typeface="Playpen Sans"/>
              </a:rPr>
              <a:t>Data HAM10000: hanya sekitar 182 gambar kulit gelap (1,8%)</a:t>
            </a:r>
          </a:p>
          <a:p>
            <a:pPr algn="l" marL="502920" indent="-502920">
              <a:spcAft>
                <a:spcPts val="1000"/>
              </a:spcAft>
              <a:buClr>
                <a:srgbClr val="F7B125"/>
              </a:buClr>
              <a:buFont typeface="Arial"/>
              <a:buChar char="•"/>
            </a:pPr>
            <a:r>
              <a:rPr sz="2400">
                <a:solidFill>
                  <a:srgbClr val="FFFFFF"/>
                </a:solidFill>
                <a:latin typeface="Playpen Sans"/>
              </a:rPr>
              <a:t>Selisih recall (EOD) sekitar 0,11, tetapi selang kepercayaan 95% mencakup nol</a:t>
            </a:r>
          </a:p>
          <a:p>
            <a:pPr algn="l" marL="502920" indent="-502920">
              <a:spcAft>
                <a:spcPts val="0"/>
              </a:spcAft>
              <a:buClr>
                <a:srgbClr val="F7B125"/>
              </a:buClr>
              <a:buFont typeface="Arial"/>
              <a:buChar char="•"/>
            </a:pPr>
            <a:r>
              <a:rPr sz="2400">
                <a:solidFill>
                  <a:srgbClr val="F7B125"/>
                </a:solidFill>
                <a:latin typeface="Playpen Sans Bold"/>
              </a:rPr>
              <a:t>Kesimpulan: perbaikan data saja tidak cukup</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7928" r="0" b="-67928"/>
            </a:stretch>
          </a:blipFill>
        </p:spPr>
      </p:sp>
      <p:sp>
        <p:nvSpPr>
          <p:cNvPr name="Freeform 3" id="3"/>
          <p:cNvSpPr/>
          <p:nvPr/>
        </p:nvSpPr>
        <p:spPr>
          <a:xfrm flipH="false" flipV="false" rot="0">
            <a:off x="12533569" y="-21055"/>
            <a:ext cx="5762298" cy="6532600"/>
          </a:xfrm>
          <a:custGeom>
            <a:avLst/>
            <a:gdLst/>
            <a:ahLst/>
            <a:cxnLst/>
            <a:rect r="r" b="b" t="t" l="l"/>
            <a:pathLst>
              <a:path h="6532600" w="5762298">
                <a:moveTo>
                  <a:pt x="0" y="0"/>
                </a:moveTo>
                <a:lnTo>
                  <a:pt x="5762298" y="0"/>
                </a:lnTo>
                <a:lnTo>
                  <a:pt x="5762298" y="6532600"/>
                </a:lnTo>
                <a:lnTo>
                  <a:pt x="0" y="6532600"/>
                </a:lnTo>
                <a:lnTo>
                  <a:pt x="0" y="0"/>
                </a:lnTo>
                <a:close/>
              </a:path>
            </a:pathLst>
          </a:custGeom>
          <a:blipFill>
            <a:blip r:embed="rId3"/>
            <a:stretch>
              <a:fillRect l="0" t="0" r="0" b="0"/>
            </a:stretch>
          </a:blipFill>
        </p:spPr>
      </p:sp>
      <p:sp>
        <p:nvSpPr>
          <p:cNvPr name="Freeform 4" id="4"/>
          <p:cNvSpPr/>
          <p:nvPr/>
        </p:nvSpPr>
        <p:spPr>
          <a:xfrm flipH="false" flipV="false" rot="0">
            <a:off x="12978766" y="2004481"/>
            <a:ext cx="5309234" cy="5465964"/>
          </a:xfrm>
          <a:custGeom>
            <a:avLst/>
            <a:gdLst/>
            <a:ahLst/>
            <a:cxnLst/>
            <a:rect r="r" b="b" t="t" l="l"/>
            <a:pathLst>
              <a:path h="5465964" w="5309234">
                <a:moveTo>
                  <a:pt x="0" y="0"/>
                </a:moveTo>
                <a:lnTo>
                  <a:pt x="5309234" y="0"/>
                </a:lnTo>
                <a:lnTo>
                  <a:pt x="5309234" y="5465965"/>
                </a:lnTo>
                <a:lnTo>
                  <a:pt x="0" y="5465965"/>
                </a:lnTo>
                <a:lnTo>
                  <a:pt x="0" y="0"/>
                </a:lnTo>
                <a:close/>
              </a:path>
            </a:pathLst>
          </a:custGeom>
          <a:blipFill>
            <a:blip r:embed="rId4"/>
            <a:stretch>
              <a:fillRect l="0" t="0" r="0" b="0"/>
            </a:stretch>
          </a:blipFill>
        </p:spPr>
      </p:sp>
      <p:sp>
        <p:nvSpPr>
          <p:cNvPr name="Freeform 5" id="5"/>
          <p:cNvSpPr/>
          <p:nvPr/>
        </p:nvSpPr>
        <p:spPr>
          <a:xfrm flipH="true" flipV="false" rot="0">
            <a:off x="-29416" y="0"/>
            <a:ext cx="5762298" cy="6532600"/>
          </a:xfrm>
          <a:custGeom>
            <a:avLst/>
            <a:gdLst/>
            <a:ahLst/>
            <a:cxnLst/>
            <a:rect r="r" b="b" t="t" l="l"/>
            <a:pathLst>
              <a:path h="6532600" w="5762298">
                <a:moveTo>
                  <a:pt x="5762298" y="0"/>
                </a:moveTo>
                <a:lnTo>
                  <a:pt x="0" y="0"/>
                </a:lnTo>
                <a:lnTo>
                  <a:pt x="0" y="6532600"/>
                </a:lnTo>
                <a:lnTo>
                  <a:pt x="5762298" y="6532600"/>
                </a:lnTo>
                <a:lnTo>
                  <a:pt x="5762298" y="0"/>
                </a:lnTo>
                <a:close/>
              </a:path>
            </a:pathLst>
          </a:custGeom>
          <a:blipFill>
            <a:blip r:embed="rId3"/>
            <a:stretch>
              <a:fillRect l="0" t="0" r="0" b="0"/>
            </a:stretch>
          </a:blipFill>
        </p:spPr>
      </p:sp>
      <p:sp>
        <p:nvSpPr>
          <p:cNvPr name="Freeform 6" id="6"/>
          <p:cNvSpPr/>
          <p:nvPr/>
        </p:nvSpPr>
        <p:spPr>
          <a:xfrm flipH="false" flipV="false" rot="0">
            <a:off x="423648" y="2410518"/>
            <a:ext cx="5309234" cy="5465964"/>
          </a:xfrm>
          <a:custGeom>
            <a:avLst/>
            <a:gdLst/>
            <a:ahLst/>
            <a:cxnLst/>
            <a:rect r="r" b="b" t="t" l="l"/>
            <a:pathLst>
              <a:path h="5465964" w="5309234">
                <a:moveTo>
                  <a:pt x="0" y="0"/>
                </a:moveTo>
                <a:lnTo>
                  <a:pt x="5309234" y="0"/>
                </a:lnTo>
                <a:lnTo>
                  <a:pt x="5309234" y="5465964"/>
                </a:lnTo>
                <a:lnTo>
                  <a:pt x="0" y="5465964"/>
                </a:lnTo>
                <a:lnTo>
                  <a:pt x="0" y="0"/>
                </a:lnTo>
                <a:close/>
              </a:path>
            </a:pathLst>
          </a:custGeom>
          <a:blipFill>
            <a:blip r:embed="rId4"/>
            <a:stretch>
              <a:fillRect l="0" t="0" r="0" b="0"/>
            </a:stretch>
          </a:blipFill>
        </p:spPr>
      </p:sp>
      <p:sp>
        <p:nvSpPr>
          <p:cNvPr name="Freeform 7" id="7"/>
          <p:cNvSpPr/>
          <p:nvPr/>
        </p:nvSpPr>
        <p:spPr>
          <a:xfrm flipH="false" flipV="false" rot="0">
            <a:off x="-317430" y="7660946"/>
            <a:ext cx="18613297" cy="3022078"/>
          </a:xfrm>
          <a:custGeom>
            <a:avLst/>
            <a:gdLst/>
            <a:ahLst/>
            <a:cxnLst/>
            <a:rect r="r" b="b" t="t" l="l"/>
            <a:pathLst>
              <a:path h="3022078" w="18613297">
                <a:moveTo>
                  <a:pt x="0" y="0"/>
                </a:moveTo>
                <a:lnTo>
                  <a:pt x="18613297" y="0"/>
                </a:lnTo>
                <a:lnTo>
                  <a:pt x="18613297" y="3022077"/>
                </a:lnTo>
                <a:lnTo>
                  <a:pt x="0" y="3022077"/>
                </a:lnTo>
                <a:lnTo>
                  <a:pt x="0" y="0"/>
                </a:lnTo>
                <a:close/>
              </a:path>
            </a:pathLst>
          </a:custGeom>
          <a:blipFill>
            <a:blip r:embed="rId5"/>
            <a:stretch>
              <a:fillRect l="-158" t="0" r="-158" b="-6838"/>
            </a:stretch>
          </a:blipFill>
        </p:spPr>
      </p:sp>
      <p:sp>
        <p:nvSpPr>
          <p:cNvPr name="Freeform 11" id="11"/>
          <p:cNvSpPr/>
          <p:nvPr/>
        </p:nvSpPr>
        <p:spPr>
          <a:xfrm flipH="false" flipV="false" rot="0">
            <a:off x="681269" y="7470446"/>
            <a:ext cx="6083710" cy="4114800"/>
          </a:xfrm>
          <a:custGeom>
            <a:avLst/>
            <a:gdLst/>
            <a:ahLst/>
            <a:cxnLst/>
            <a:rect r="r" b="b" t="t" l="l"/>
            <a:pathLst>
              <a:path h="4114800" w="6083710">
                <a:moveTo>
                  <a:pt x="0" y="0"/>
                </a:moveTo>
                <a:lnTo>
                  <a:pt x="6083709" y="0"/>
                </a:lnTo>
                <a:lnTo>
                  <a:pt x="6083709"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9549673" y="7660946"/>
            <a:ext cx="6083710" cy="4114800"/>
          </a:xfrm>
          <a:custGeom>
            <a:avLst/>
            <a:gdLst/>
            <a:ahLst/>
            <a:cxnLst/>
            <a:rect r="r" b="b" t="t" l="l"/>
            <a:pathLst>
              <a:path h="4114800" w="6083710">
                <a:moveTo>
                  <a:pt x="0" y="0"/>
                </a:moveTo>
                <a:lnTo>
                  <a:pt x="6083710" y="0"/>
                </a:lnTo>
                <a:lnTo>
                  <a:pt x="608371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id="14" name="Panel"/>
          <p:cNvSpPr/>
          <p:nvPr/>
        </p:nvSpPr>
        <p:spPr>
          <a:xfrm>
            <a:off x="914400" y="731520"/>
            <a:ext cx="16459200" cy="6675120"/>
          </a:xfrm>
          <a:prstGeom prst="roundRect">
            <a:avLst>
              <a:gd name="adj" fmla="val 5000"/>
            </a:avLst>
          </a:prstGeom>
          <a:solidFill>
            <a:srgbClr val="0A2540">
              <a:alpha val="8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g RISET TERAPAN"/>
          <p:cNvSpPr/>
          <p:nvPr/>
        </p:nvSpPr>
        <p:spPr>
          <a:xfrm>
            <a:off x="1508760" y="960120"/>
            <a:ext cx="3419348" cy="640080"/>
          </a:xfrm>
          <a:prstGeom prst="roundRect">
            <a:avLst>
              <a:gd name="adj" fmla="val 50000"/>
            </a:avLst>
          </a:prstGeom>
          <a:solidFill>
            <a:srgbClr val="3DD6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ks tag RISET TERAPAN"/>
          <p:cNvSpPr txBox="1"/>
          <p:nvPr/>
        </p:nvSpPr>
        <p:spPr>
          <a:xfrm>
            <a:off x="1508760" y="1024128"/>
            <a:ext cx="3419348" cy="548640"/>
          </a:xfrm>
          <a:prstGeom prst="rect">
            <a:avLst/>
          </a:prstGeom>
          <a:noFill/>
        </p:spPr>
        <p:txBody>
          <a:bodyPr wrap="square" lIns="0" rIns="0" tIns="0" bIns="0" anchor="t">
            <a:spAutoFit/>
          </a:bodyPr>
          <a:lstStyle/>
          <a:p>
            <a:pPr algn="ctr">
              <a:spcAft>
                <a:spcPts val="0"/>
              </a:spcAft>
            </a:pPr>
            <a:r>
              <a:rPr sz="2200">
                <a:solidFill>
                  <a:srgbClr val="0A2540"/>
                </a:solidFill>
                <a:latin typeface="Playpen Sans Bold"/>
              </a:rPr>
              <a:t>RISET TERAPAN</a:t>
            </a:r>
          </a:p>
        </p:txBody>
      </p:sp>
      <p:sp>
        <p:nvSpPr>
          <p:cNvPr id="17" name="Judul"/>
          <p:cNvSpPr txBox="1"/>
          <p:nvPr/>
        </p:nvSpPr>
        <p:spPr>
          <a:xfrm>
            <a:off x="5293868" y="960120"/>
            <a:ext cx="11485371" cy="731520"/>
          </a:xfrm>
          <a:prstGeom prst="rect">
            <a:avLst/>
          </a:prstGeom>
          <a:noFill/>
        </p:spPr>
        <p:txBody>
          <a:bodyPr wrap="square" lIns="0" rIns="0" tIns="0" bIns="0" anchor="ctr">
            <a:spAutoFit/>
          </a:bodyPr>
          <a:lstStyle/>
          <a:p>
            <a:pPr algn="l">
              <a:spcAft>
                <a:spcPts val="0"/>
              </a:spcAft>
            </a:pPr>
            <a:r>
              <a:rPr sz="4400">
                <a:solidFill>
                  <a:srgbClr val="F7B125"/>
                </a:solidFill>
                <a:latin typeface="Playpen Sans Bold"/>
              </a:rPr>
              <a:t>Satu pola, banyak bidang</a:t>
            </a:r>
          </a:p>
        </p:txBody>
      </p:sp>
      <p:sp>
        <p:nvSpPr>
          <p:cNvPr id="18" name="Kartu 1"/>
          <p:cNvSpPr/>
          <p:nvPr/>
        </p:nvSpPr>
        <p:spPr>
          <a:xfrm>
            <a:off x="1508760" y="2148840"/>
            <a:ext cx="4846320" cy="3154680"/>
          </a:xfrm>
          <a:prstGeom prst="roundRect">
            <a:avLst>
              <a:gd name="adj" fmla="val 5000"/>
            </a:avLst>
          </a:prstGeom>
          <a:solidFill>
            <a:srgbClr val="14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aper dfu" descr="Segmentasi luka kaki diabetik dengan U-Net dan EfficientNet-B0"/>
          <p:cNvPicPr>
            <a:picLocks noChangeAspect="1"/>
          </p:cNvPicPr>
          <p:nvPr/>
        </p:nvPicPr>
        <p:blipFill>
          <a:blip r:embed="rId13"/>
          <a:stretch>
            <a:fillRect/>
          </a:stretch>
        </p:blipFill>
        <p:spPr>
          <a:xfrm>
            <a:off x="1691639" y="3046294"/>
            <a:ext cx="4480559" cy="1359771"/>
          </a:xfrm>
          <a:prstGeom prst="rect">
            <a:avLst/>
          </a:prstGeom>
          <a:ln w="38100">
            <a:solidFill>
              <a:srgbClr val="FFFFFF"/>
            </a:solidFill>
          </a:ln>
        </p:spPr>
      </p:pic>
      <p:sp>
        <p:nvSpPr>
          <p:cNvPr id="20" name="Judul kartu 1"/>
          <p:cNvSpPr txBox="1"/>
          <p:nvPr/>
        </p:nvSpPr>
        <p:spPr>
          <a:xfrm>
            <a:off x="1508760" y="5440680"/>
            <a:ext cx="4846320" cy="1463040"/>
          </a:xfrm>
          <a:prstGeom prst="rect">
            <a:avLst/>
          </a:prstGeom>
          <a:noFill/>
        </p:spPr>
        <p:txBody>
          <a:bodyPr wrap="square" lIns="0" rIns="0" tIns="0" bIns="0" anchor="t">
            <a:spAutoFit/>
          </a:bodyPr>
          <a:lstStyle/>
          <a:p>
            <a:pPr algn="l">
              <a:spcAft>
                <a:spcPts val="400"/>
              </a:spcAft>
            </a:pPr>
            <a:r>
              <a:rPr sz="2600">
                <a:solidFill>
                  <a:srgbClr val="F7B125"/>
                </a:solidFill>
                <a:latin typeface="Playpen Sans Bold"/>
              </a:rPr>
              <a:t>Citra medis</a:t>
            </a:r>
          </a:p>
          <a:p>
            <a:pPr algn="l">
              <a:spcAft>
                <a:spcPts val="0"/>
              </a:spcAft>
            </a:pPr>
            <a:r>
              <a:rPr sz="2200">
                <a:solidFill>
                  <a:srgbClr val="FFFFFF"/>
                </a:solidFill>
                <a:latin typeface="Playpen Sans"/>
              </a:rPr>
              <a:t>Segmentasi luka kaki diabetik dengan U-Net dan EfficientNet-B0</a:t>
            </a:r>
          </a:p>
        </p:txBody>
      </p:sp>
      <p:sp>
        <p:nvSpPr>
          <p:cNvPr id="21" name="Kartu 2"/>
          <p:cNvSpPr/>
          <p:nvPr/>
        </p:nvSpPr>
        <p:spPr>
          <a:xfrm>
            <a:off x="6720840" y="2148840"/>
            <a:ext cx="4846320" cy="3154680"/>
          </a:xfrm>
          <a:prstGeom prst="roundRect">
            <a:avLst>
              <a:gd name="adj" fmla="val 5000"/>
            </a:avLst>
          </a:prstGeom>
          <a:solidFill>
            <a:srgbClr val="14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aper ncf" descr="Keadilan pada rekomendasi, dengan augmentasi berbasis GAN"/>
          <p:cNvPicPr>
            <a:picLocks noChangeAspect="1"/>
          </p:cNvPicPr>
          <p:nvPr/>
        </p:nvPicPr>
        <p:blipFill>
          <a:blip r:embed="rId14"/>
          <a:stretch>
            <a:fillRect/>
          </a:stretch>
        </p:blipFill>
        <p:spPr>
          <a:xfrm>
            <a:off x="6903720" y="3003770"/>
            <a:ext cx="4480559" cy="1444818"/>
          </a:xfrm>
          <a:prstGeom prst="rect">
            <a:avLst/>
          </a:prstGeom>
          <a:ln w="38100">
            <a:solidFill>
              <a:srgbClr val="FFFFFF"/>
            </a:solidFill>
          </a:ln>
        </p:spPr>
      </p:pic>
      <p:sp>
        <p:nvSpPr>
          <p:cNvPr id="23" name="Judul kartu 2"/>
          <p:cNvSpPr txBox="1"/>
          <p:nvPr/>
        </p:nvSpPr>
        <p:spPr>
          <a:xfrm>
            <a:off x="6720840" y="5440680"/>
            <a:ext cx="4846320" cy="1463040"/>
          </a:xfrm>
          <a:prstGeom prst="rect">
            <a:avLst/>
          </a:prstGeom>
          <a:noFill/>
        </p:spPr>
        <p:txBody>
          <a:bodyPr wrap="square" lIns="0" rIns="0" tIns="0" bIns="0" anchor="t">
            <a:spAutoFit/>
          </a:bodyPr>
          <a:lstStyle/>
          <a:p>
            <a:pPr algn="l">
              <a:spcAft>
                <a:spcPts val="400"/>
              </a:spcAft>
            </a:pPr>
            <a:r>
              <a:rPr sz="2600">
                <a:solidFill>
                  <a:srgbClr val="F7B125"/>
                </a:solidFill>
                <a:latin typeface="Playpen Sans Bold"/>
              </a:rPr>
              <a:t>Sistem rekomendasi</a:t>
            </a:r>
          </a:p>
          <a:p>
            <a:pPr algn="l">
              <a:spcAft>
                <a:spcPts val="0"/>
              </a:spcAft>
            </a:pPr>
            <a:r>
              <a:rPr sz="2200">
                <a:solidFill>
                  <a:srgbClr val="FFFFFF"/>
                </a:solidFill>
                <a:latin typeface="Playpen Sans"/>
              </a:rPr>
              <a:t>Keadilan pada rekomendasi, dengan augmentasi berbasis GAN</a:t>
            </a:r>
          </a:p>
        </p:txBody>
      </p:sp>
      <p:sp>
        <p:nvSpPr>
          <p:cNvPr id="24" name="Kartu 3"/>
          <p:cNvSpPr/>
          <p:nvPr/>
        </p:nvSpPr>
        <p:spPr>
          <a:xfrm>
            <a:off x="11932920" y="2148840"/>
            <a:ext cx="4846320" cy="3154680"/>
          </a:xfrm>
          <a:prstGeom prst="roundRect">
            <a:avLst>
              <a:gd name="adj" fmla="val 5000"/>
            </a:avLst>
          </a:prstGeom>
          <a:solidFill>
            <a:srgbClr val="14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aper cotpot" descr="Penalaran soal keuangan pada model kecil 4-bit"/>
          <p:cNvPicPr>
            <a:picLocks noChangeAspect="1"/>
          </p:cNvPicPr>
          <p:nvPr/>
        </p:nvPicPr>
        <p:blipFill>
          <a:blip r:embed="rId15"/>
          <a:stretch>
            <a:fillRect/>
          </a:stretch>
        </p:blipFill>
        <p:spPr>
          <a:xfrm>
            <a:off x="12115800" y="2298987"/>
            <a:ext cx="4480559" cy="2854384"/>
          </a:xfrm>
          <a:prstGeom prst="rect">
            <a:avLst/>
          </a:prstGeom>
          <a:ln w="38100">
            <a:solidFill>
              <a:srgbClr val="FFFFFF"/>
            </a:solidFill>
          </a:ln>
        </p:spPr>
      </p:pic>
      <p:sp>
        <p:nvSpPr>
          <p:cNvPr id="26" name="Judul kartu 3"/>
          <p:cNvSpPr txBox="1"/>
          <p:nvPr/>
        </p:nvSpPr>
        <p:spPr>
          <a:xfrm>
            <a:off x="11932920" y="5440680"/>
            <a:ext cx="4846320" cy="1463040"/>
          </a:xfrm>
          <a:prstGeom prst="rect">
            <a:avLst/>
          </a:prstGeom>
          <a:noFill/>
        </p:spPr>
        <p:txBody>
          <a:bodyPr wrap="square" lIns="0" rIns="0" tIns="0" bIns="0" anchor="t">
            <a:spAutoFit/>
          </a:bodyPr>
          <a:lstStyle/>
          <a:p>
            <a:pPr algn="l">
              <a:spcAft>
                <a:spcPts val="400"/>
              </a:spcAft>
            </a:pPr>
            <a:r>
              <a:rPr sz="2600">
                <a:solidFill>
                  <a:srgbClr val="F7B125"/>
                </a:solidFill>
                <a:latin typeface="Playpen Sans Bold"/>
              </a:rPr>
              <a:t>Model bahasa</a:t>
            </a:r>
          </a:p>
          <a:p>
            <a:pPr algn="l">
              <a:spcAft>
                <a:spcPts val="0"/>
              </a:spcAft>
            </a:pPr>
            <a:r>
              <a:rPr sz="2200">
                <a:solidFill>
                  <a:srgbClr val="FFFFFF"/>
                </a:solidFill>
                <a:latin typeface="Playpen Sans"/>
              </a:rPr>
              <a:t>Penalaran soal keuangan pada model kecil 4-bit</a:t>
            </a:r>
          </a:p>
        </p:txBody>
      </p:sp>
      <p:sp>
        <p:nvSpPr>
          <p:cNvPr id="27" name="Pelajaran"/>
          <p:cNvSpPr txBox="1"/>
          <p:nvPr/>
        </p:nvSpPr>
        <p:spPr>
          <a:xfrm>
            <a:off x="1508760" y="6675120"/>
            <a:ext cx="15270480" cy="640080"/>
          </a:xfrm>
          <a:prstGeom prst="rect">
            <a:avLst/>
          </a:prstGeom>
          <a:noFill/>
        </p:spPr>
        <p:txBody>
          <a:bodyPr wrap="square" lIns="0" rIns="0" tIns="0" bIns="0" anchor="t">
            <a:spAutoFit/>
          </a:bodyPr>
          <a:lstStyle/>
          <a:p>
            <a:pPr algn="l">
              <a:spcAft>
                <a:spcPts val="0"/>
              </a:spcAft>
            </a:pPr>
            <a:r>
              <a:rPr sz="2200">
                <a:solidFill>
                  <a:srgbClr val="FFFFFF"/>
                </a:solidFill>
                <a:latin typeface="Playpen Sans Bold"/>
              </a:rPr>
              <a:t>Hasil campuran pun layak terbit: CoT menaikkan Llama-3-8B, tetapi menurunkan Mistral-7B</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7928" r="0" b="-67928"/>
            </a:stretch>
          </a:blipFill>
        </p:spPr>
      </p:sp>
      <p:sp>
        <p:nvSpPr>
          <p:cNvPr name="Freeform 3" id="3"/>
          <p:cNvSpPr/>
          <p:nvPr/>
        </p:nvSpPr>
        <p:spPr>
          <a:xfrm flipH="false" flipV="false" rot="0">
            <a:off x="12533569" y="-21055"/>
            <a:ext cx="5762298" cy="6532600"/>
          </a:xfrm>
          <a:custGeom>
            <a:avLst/>
            <a:gdLst/>
            <a:ahLst/>
            <a:cxnLst/>
            <a:rect r="r" b="b" t="t" l="l"/>
            <a:pathLst>
              <a:path h="6532600" w="5762298">
                <a:moveTo>
                  <a:pt x="0" y="0"/>
                </a:moveTo>
                <a:lnTo>
                  <a:pt x="5762298" y="0"/>
                </a:lnTo>
                <a:lnTo>
                  <a:pt x="5762298" y="6532600"/>
                </a:lnTo>
                <a:lnTo>
                  <a:pt x="0" y="6532600"/>
                </a:lnTo>
                <a:lnTo>
                  <a:pt x="0" y="0"/>
                </a:lnTo>
                <a:close/>
              </a:path>
            </a:pathLst>
          </a:custGeom>
          <a:blipFill>
            <a:blip r:embed="rId3"/>
            <a:stretch>
              <a:fillRect l="0" t="0" r="0" b="0"/>
            </a:stretch>
          </a:blipFill>
        </p:spPr>
      </p:sp>
      <p:sp>
        <p:nvSpPr>
          <p:cNvPr name="Freeform 4" id="4"/>
          <p:cNvSpPr/>
          <p:nvPr/>
        </p:nvSpPr>
        <p:spPr>
          <a:xfrm flipH="false" flipV="false" rot="0">
            <a:off x="12978766" y="2004481"/>
            <a:ext cx="5309234" cy="5465964"/>
          </a:xfrm>
          <a:custGeom>
            <a:avLst/>
            <a:gdLst/>
            <a:ahLst/>
            <a:cxnLst/>
            <a:rect r="r" b="b" t="t" l="l"/>
            <a:pathLst>
              <a:path h="5465964" w="5309234">
                <a:moveTo>
                  <a:pt x="0" y="0"/>
                </a:moveTo>
                <a:lnTo>
                  <a:pt x="5309234" y="0"/>
                </a:lnTo>
                <a:lnTo>
                  <a:pt x="5309234" y="5465965"/>
                </a:lnTo>
                <a:lnTo>
                  <a:pt x="0" y="5465965"/>
                </a:lnTo>
                <a:lnTo>
                  <a:pt x="0" y="0"/>
                </a:lnTo>
                <a:close/>
              </a:path>
            </a:pathLst>
          </a:custGeom>
          <a:blipFill>
            <a:blip r:embed="rId4"/>
            <a:stretch>
              <a:fillRect l="0" t="0" r="0" b="0"/>
            </a:stretch>
          </a:blipFill>
        </p:spPr>
      </p:sp>
      <p:sp>
        <p:nvSpPr>
          <p:cNvPr name="Freeform 5" id="5"/>
          <p:cNvSpPr/>
          <p:nvPr/>
        </p:nvSpPr>
        <p:spPr>
          <a:xfrm flipH="true" flipV="false" rot="0">
            <a:off x="-29416" y="0"/>
            <a:ext cx="5762298" cy="6532600"/>
          </a:xfrm>
          <a:custGeom>
            <a:avLst/>
            <a:gdLst/>
            <a:ahLst/>
            <a:cxnLst/>
            <a:rect r="r" b="b" t="t" l="l"/>
            <a:pathLst>
              <a:path h="6532600" w="5762298">
                <a:moveTo>
                  <a:pt x="5762298" y="0"/>
                </a:moveTo>
                <a:lnTo>
                  <a:pt x="0" y="0"/>
                </a:lnTo>
                <a:lnTo>
                  <a:pt x="0" y="6532600"/>
                </a:lnTo>
                <a:lnTo>
                  <a:pt x="5762298" y="6532600"/>
                </a:lnTo>
                <a:lnTo>
                  <a:pt x="5762298" y="0"/>
                </a:lnTo>
                <a:close/>
              </a:path>
            </a:pathLst>
          </a:custGeom>
          <a:blipFill>
            <a:blip r:embed="rId3"/>
            <a:stretch>
              <a:fillRect l="0" t="0" r="0" b="0"/>
            </a:stretch>
          </a:blipFill>
        </p:spPr>
      </p:sp>
      <p:sp>
        <p:nvSpPr>
          <p:cNvPr name="Freeform 6" id="6"/>
          <p:cNvSpPr/>
          <p:nvPr/>
        </p:nvSpPr>
        <p:spPr>
          <a:xfrm flipH="false" flipV="false" rot="0">
            <a:off x="423648" y="2410518"/>
            <a:ext cx="5309234" cy="5465964"/>
          </a:xfrm>
          <a:custGeom>
            <a:avLst/>
            <a:gdLst/>
            <a:ahLst/>
            <a:cxnLst/>
            <a:rect r="r" b="b" t="t" l="l"/>
            <a:pathLst>
              <a:path h="5465964" w="5309234">
                <a:moveTo>
                  <a:pt x="0" y="0"/>
                </a:moveTo>
                <a:lnTo>
                  <a:pt x="5309234" y="0"/>
                </a:lnTo>
                <a:lnTo>
                  <a:pt x="5309234" y="5465964"/>
                </a:lnTo>
                <a:lnTo>
                  <a:pt x="0" y="5465964"/>
                </a:lnTo>
                <a:lnTo>
                  <a:pt x="0" y="0"/>
                </a:lnTo>
                <a:close/>
              </a:path>
            </a:pathLst>
          </a:custGeom>
          <a:blipFill>
            <a:blip r:embed="rId4"/>
            <a:stretch>
              <a:fillRect l="0" t="0" r="0" b="0"/>
            </a:stretch>
          </a:blipFill>
        </p:spPr>
      </p:sp>
      <p:sp>
        <p:nvSpPr>
          <p:cNvPr name="Freeform 7" id="7"/>
          <p:cNvSpPr/>
          <p:nvPr/>
        </p:nvSpPr>
        <p:spPr>
          <a:xfrm flipH="false" flipV="false" rot="0">
            <a:off x="-317430" y="7660946"/>
            <a:ext cx="18613297" cy="3022078"/>
          </a:xfrm>
          <a:custGeom>
            <a:avLst/>
            <a:gdLst/>
            <a:ahLst/>
            <a:cxnLst/>
            <a:rect r="r" b="b" t="t" l="l"/>
            <a:pathLst>
              <a:path h="3022078" w="18613297">
                <a:moveTo>
                  <a:pt x="0" y="0"/>
                </a:moveTo>
                <a:lnTo>
                  <a:pt x="18613297" y="0"/>
                </a:lnTo>
                <a:lnTo>
                  <a:pt x="18613297" y="3022077"/>
                </a:lnTo>
                <a:lnTo>
                  <a:pt x="0" y="3022077"/>
                </a:lnTo>
                <a:lnTo>
                  <a:pt x="0" y="0"/>
                </a:lnTo>
                <a:close/>
              </a:path>
            </a:pathLst>
          </a:custGeom>
          <a:blipFill>
            <a:blip r:embed="rId5"/>
            <a:stretch>
              <a:fillRect l="-158" t="0" r="-158" b="-6838"/>
            </a:stretch>
          </a:blipFill>
        </p:spPr>
      </p:sp>
      <p:sp>
        <p:nvSpPr>
          <p:cNvPr name="Freeform 11" id="11"/>
          <p:cNvSpPr/>
          <p:nvPr/>
        </p:nvSpPr>
        <p:spPr>
          <a:xfrm flipH="false" flipV="false" rot="0">
            <a:off x="681269" y="7470446"/>
            <a:ext cx="6083710" cy="4114800"/>
          </a:xfrm>
          <a:custGeom>
            <a:avLst/>
            <a:gdLst/>
            <a:ahLst/>
            <a:cxnLst/>
            <a:rect r="r" b="b" t="t" l="l"/>
            <a:pathLst>
              <a:path h="4114800" w="6083710">
                <a:moveTo>
                  <a:pt x="0" y="0"/>
                </a:moveTo>
                <a:lnTo>
                  <a:pt x="6083709" y="0"/>
                </a:lnTo>
                <a:lnTo>
                  <a:pt x="6083709"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9549673" y="7660946"/>
            <a:ext cx="6083710" cy="4114800"/>
          </a:xfrm>
          <a:custGeom>
            <a:avLst/>
            <a:gdLst/>
            <a:ahLst/>
            <a:cxnLst/>
            <a:rect r="r" b="b" t="t" l="l"/>
            <a:pathLst>
              <a:path h="4114800" w="6083710">
                <a:moveTo>
                  <a:pt x="0" y="0"/>
                </a:moveTo>
                <a:lnTo>
                  <a:pt x="6083710" y="0"/>
                </a:lnTo>
                <a:lnTo>
                  <a:pt x="608371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id="14" name="Panel"/>
          <p:cNvSpPr/>
          <p:nvPr/>
        </p:nvSpPr>
        <p:spPr>
          <a:xfrm>
            <a:off x="914400" y="731520"/>
            <a:ext cx="16459200" cy="6675120"/>
          </a:xfrm>
          <a:prstGeom prst="roundRect">
            <a:avLst>
              <a:gd name="adj" fmla="val 5000"/>
            </a:avLst>
          </a:prstGeom>
          <a:solidFill>
            <a:srgbClr val="0A2540">
              <a:alpha val="8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g BIDANG BERKEMBANG"/>
          <p:cNvSpPr/>
          <p:nvPr/>
        </p:nvSpPr>
        <p:spPr>
          <a:xfrm>
            <a:off x="1508760" y="960120"/>
            <a:ext cx="4246372" cy="640080"/>
          </a:xfrm>
          <a:prstGeom prst="roundRect">
            <a:avLst>
              <a:gd name="adj" fmla="val 50000"/>
            </a:avLst>
          </a:prstGeom>
          <a:solidFill>
            <a:srgbClr val="F7B1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ks tag BIDANG BERKEMBANG"/>
          <p:cNvSpPr txBox="1"/>
          <p:nvPr/>
        </p:nvSpPr>
        <p:spPr>
          <a:xfrm>
            <a:off x="1508760" y="1024128"/>
            <a:ext cx="4246372" cy="548640"/>
          </a:xfrm>
          <a:prstGeom prst="rect">
            <a:avLst/>
          </a:prstGeom>
          <a:noFill/>
        </p:spPr>
        <p:txBody>
          <a:bodyPr wrap="square" lIns="0" rIns="0" tIns="0" bIns="0" anchor="t">
            <a:spAutoFit/>
          </a:bodyPr>
          <a:lstStyle/>
          <a:p>
            <a:pPr algn="ctr">
              <a:spcAft>
                <a:spcPts val="0"/>
              </a:spcAft>
            </a:pPr>
            <a:r>
              <a:rPr sz="2200">
                <a:solidFill>
                  <a:srgbClr val="0A2540"/>
                </a:solidFill>
                <a:latin typeface="Playpen Sans Bold"/>
              </a:rPr>
              <a:t>BIDANG BERKEMBANG</a:t>
            </a:r>
          </a:p>
        </p:txBody>
      </p:sp>
      <p:sp>
        <p:nvSpPr>
          <p:cNvPr id="17" name="Judul"/>
          <p:cNvSpPr txBox="1"/>
          <p:nvPr/>
        </p:nvSpPr>
        <p:spPr>
          <a:xfrm>
            <a:off x="6120892" y="960120"/>
            <a:ext cx="10658348" cy="731520"/>
          </a:xfrm>
          <a:prstGeom prst="rect">
            <a:avLst/>
          </a:prstGeom>
          <a:noFill/>
        </p:spPr>
        <p:txBody>
          <a:bodyPr wrap="square" lIns="0" rIns="0" tIns="0" bIns="0" anchor="ctr">
            <a:spAutoFit/>
          </a:bodyPr>
          <a:lstStyle/>
          <a:p>
            <a:pPr algn="l">
              <a:spcAft>
                <a:spcPts val="0"/>
              </a:spcAft>
            </a:pPr>
            <a:r>
              <a:rPr sz="4400">
                <a:solidFill>
                  <a:srgbClr val="F7B125"/>
                </a:solidFill>
                <a:latin typeface="Playpen Sans Bold"/>
              </a:rPr>
              <a:t>Satu ide, tiga paper</a:t>
            </a:r>
          </a:p>
        </p:txBody>
      </p:sp>
      <p:sp>
        <p:nvSpPr>
          <p:cNvPr id="18" name="Kartu 1"/>
          <p:cNvSpPr/>
          <p:nvPr/>
        </p:nvSpPr>
        <p:spPr>
          <a:xfrm>
            <a:off x="1508760" y="2148840"/>
            <a:ext cx="4480560" cy="4892040"/>
          </a:xfrm>
          <a:prstGeom prst="roundRect">
            <a:avLst>
              <a:gd name="adj" fmla="val 5000"/>
            </a:avLst>
          </a:prstGeom>
          <a:solidFill>
            <a:srgbClr val="14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hun"/>
          <p:cNvSpPr txBox="1"/>
          <p:nvPr/>
        </p:nvSpPr>
        <p:spPr>
          <a:xfrm>
            <a:off x="1737360" y="2240280"/>
            <a:ext cx="4023360" cy="822960"/>
          </a:xfrm>
          <a:prstGeom prst="rect">
            <a:avLst/>
          </a:prstGeom>
          <a:noFill/>
        </p:spPr>
        <p:txBody>
          <a:bodyPr wrap="square" lIns="0" rIns="0" tIns="0" bIns="0" anchor="t">
            <a:spAutoFit/>
          </a:bodyPr>
          <a:lstStyle/>
          <a:p>
            <a:pPr algn="l">
              <a:spcAft>
                <a:spcPts val="0"/>
              </a:spcAft>
            </a:pPr>
            <a:r>
              <a:rPr sz="4000">
                <a:solidFill>
                  <a:srgbClr val="F7B125"/>
                </a:solidFill>
                <a:latin typeface="Playpen Sans Bold"/>
              </a:rPr>
              <a:t>2021</a:t>
            </a:r>
          </a:p>
        </p:txBody>
      </p:sp>
      <p:pic>
        <p:nvPicPr>
          <p:cNvPr id="20" name="Paper kma" descr="Paper asli"/>
          <p:cNvPicPr>
            <a:picLocks noChangeAspect="1"/>
          </p:cNvPicPr>
          <p:nvPr/>
        </p:nvPicPr>
        <p:blipFill>
          <a:blip r:embed="rId13"/>
          <a:stretch>
            <a:fillRect/>
          </a:stretch>
        </p:blipFill>
        <p:spPr>
          <a:xfrm>
            <a:off x="2247039" y="3063240"/>
            <a:ext cx="3004000" cy="2011680"/>
          </a:xfrm>
          <a:prstGeom prst="rect">
            <a:avLst/>
          </a:prstGeom>
          <a:ln w="38100">
            <a:solidFill>
              <a:srgbClr val="FFFFFF"/>
            </a:solidFill>
          </a:ln>
        </p:spPr>
      </p:pic>
      <p:sp>
        <p:nvSpPr>
          <p:cNvPr id="21" name="Keterangan"/>
          <p:cNvSpPr txBox="1"/>
          <p:nvPr/>
        </p:nvSpPr>
        <p:spPr>
          <a:xfrm>
            <a:off x="1737360" y="5166360"/>
            <a:ext cx="4023360" cy="1828800"/>
          </a:xfrm>
          <a:prstGeom prst="rect">
            <a:avLst/>
          </a:prstGeom>
          <a:noFill/>
        </p:spPr>
        <p:txBody>
          <a:bodyPr wrap="square" lIns="0" rIns="0" tIns="0" bIns="0" anchor="t">
            <a:spAutoFit/>
          </a:bodyPr>
          <a:lstStyle/>
          <a:p>
            <a:pPr algn="l">
              <a:spcAft>
                <a:spcPts val="400"/>
              </a:spcAft>
            </a:pPr>
            <a:r>
              <a:rPr sz="2400">
                <a:solidFill>
                  <a:srgbClr val="FFFFFF"/>
                </a:solidFill>
                <a:latin typeface="Playpen Sans Bold"/>
              </a:rPr>
              <a:t>Paper asli</a:t>
            </a:r>
          </a:p>
          <a:p>
            <a:pPr algn="l">
              <a:spcAft>
                <a:spcPts val="200"/>
              </a:spcAft>
            </a:pPr>
            <a:r>
              <a:rPr sz="2000">
                <a:solidFill>
                  <a:srgbClr val="FFFFFF"/>
                </a:solidFill>
                <a:latin typeface="Playpen Sans"/>
              </a:rPr>
              <a:t>Applied Soft Computing</a:t>
            </a:r>
          </a:p>
          <a:p>
            <a:pPr algn="l">
              <a:spcAft>
                <a:spcPts val="0"/>
              </a:spcAft>
            </a:pPr>
            <a:r>
              <a:rPr sz="2000">
                <a:solidFill>
                  <a:srgbClr val="F7B125"/>
                </a:solidFill>
                <a:latin typeface="Playpen Sans"/>
              </a:rPr>
              <a:t>Telkom University</a:t>
            </a:r>
          </a:p>
        </p:txBody>
      </p:sp>
      <p:sp>
        <p:nvSpPr>
          <p:cNvPr id="22" name="Panah 1"/>
          <p:cNvSpPr/>
          <p:nvPr/>
        </p:nvSpPr>
        <p:spPr>
          <a:xfrm>
            <a:off x="6099048" y="4023360"/>
            <a:ext cx="603504" cy="640080"/>
          </a:xfrm>
          <a:prstGeom prst="rightArrow">
            <a:avLst/>
          </a:prstGeom>
          <a:solidFill>
            <a:srgbClr val="F7B1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Kartu 2"/>
          <p:cNvSpPr/>
          <p:nvPr/>
        </p:nvSpPr>
        <p:spPr>
          <a:xfrm>
            <a:off x="6812280" y="2148840"/>
            <a:ext cx="4480560" cy="4892040"/>
          </a:xfrm>
          <a:prstGeom prst="roundRect">
            <a:avLst>
              <a:gd name="adj" fmla="val 5000"/>
            </a:avLst>
          </a:prstGeom>
          <a:solidFill>
            <a:srgbClr val="14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ahun"/>
          <p:cNvSpPr txBox="1"/>
          <p:nvPr/>
        </p:nvSpPr>
        <p:spPr>
          <a:xfrm>
            <a:off x="7040880" y="2240280"/>
            <a:ext cx="4023360" cy="822960"/>
          </a:xfrm>
          <a:prstGeom prst="rect">
            <a:avLst/>
          </a:prstGeom>
          <a:noFill/>
        </p:spPr>
        <p:txBody>
          <a:bodyPr wrap="square" lIns="0" rIns="0" tIns="0" bIns="0" anchor="t">
            <a:spAutoFit/>
          </a:bodyPr>
          <a:lstStyle/>
          <a:p>
            <a:pPr algn="l">
              <a:spcAft>
                <a:spcPts val="0"/>
              </a:spcAft>
            </a:pPr>
            <a:r>
              <a:rPr sz="4000">
                <a:solidFill>
                  <a:srgbClr val="F7B125"/>
                </a:solidFill>
                <a:latin typeface="Playpen Sans Bold"/>
              </a:rPr>
              <a:t>2022</a:t>
            </a:r>
          </a:p>
        </p:txBody>
      </p:sp>
      <p:pic>
        <p:nvPicPr>
          <p:cNvPr id="25" name="Paper ikma" descr="Diperbaiki orang lain"/>
          <p:cNvPicPr>
            <a:picLocks noChangeAspect="1"/>
          </p:cNvPicPr>
          <p:nvPr/>
        </p:nvPicPr>
        <p:blipFill>
          <a:blip r:embed="rId14"/>
          <a:stretch>
            <a:fillRect/>
          </a:stretch>
        </p:blipFill>
        <p:spPr>
          <a:xfrm>
            <a:off x="7662545" y="3063240"/>
            <a:ext cx="2780030" cy="2011680"/>
          </a:xfrm>
          <a:prstGeom prst="rect">
            <a:avLst/>
          </a:prstGeom>
          <a:ln w="38100">
            <a:solidFill>
              <a:srgbClr val="FFFFFF"/>
            </a:solidFill>
          </a:ln>
        </p:spPr>
      </p:pic>
      <p:sp>
        <p:nvSpPr>
          <p:cNvPr id="26" name="Keterangan"/>
          <p:cNvSpPr txBox="1"/>
          <p:nvPr/>
        </p:nvSpPr>
        <p:spPr>
          <a:xfrm>
            <a:off x="7040880" y="5166360"/>
            <a:ext cx="4023360" cy="1828800"/>
          </a:xfrm>
          <a:prstGeom prst="rect">
            <a:avLst/>
          </a:prstGeom>
          <a:noFill/>
        </p:spPr>
        <p:txBody>
          <a:bodyPr wrap="square" lIns="0" rIns="0" tIns="0" bIns="0" anchor="t">
            <a:spAutoFit/>
          </a:bodyPr>
          <a:lstStyle/>
          <a:p>
            <a:pPr algn="l">
              <a:spcAft>
                <a:spcPts val="400"/>
              </a:spcAft>
            </a:pPr>
            <a:r>
              <a:rPr sz="2400">
                <a:solidFill>
                  <a:srgbClr val="FFFFFF"/>
                </a:solidFill>
                <a:latin typeface="Playpen Sans Bold"/>
              </a:rPr>
              <a:t>Diperbaiki orang lain</a:t>
            </a:r>
          </a:p>
          <a:p>
            <a:pPr algn="l">
              <a:spcAft>
                <a:spcPts val="200"/>
              </a:spcAft>
            </a:pPr>
            <a:r>
              <a:rPr sz="2000">
                <a:solidFill>
                  <a:srgbClr val="FFFFFF"/>
                </a:solidFill>
                <a:latin typeface="Playpen Sans"/>
              </a:rPr>
              <a:t>IEEE Access</a:t>
            </a:r>
          </a:p>
          <a:p>
            <a:pPr algn="l">
              <a:spcAft>
                <a:spcPts val="0"/>
              </a:spcAft>
            </a:pPr>
            <a:r>
              <a:rPr sz="2000">
                <a:solidFill>
                  <a:srgbClr val="F7B125"/>
                </a:solidFill>
                <a:latin typeface="Playpen Sans"/>
              </a:rPr>
              <a:t>Jilin University, Tiongkok</a:t>
            </a:r>
          </a:p>
        </p:txBody>
      </p:sp>
      <p:sp>
        <p:nvSpPr>
          <p:cNvPr id="27" name="Panah 2"/>
          <p:cNvSpPr/>
          <p:nvPr/>
        </p:nvSpPr>
        <p:spPr>
          <a:xfrm>
            <a:off x="11402568" y="4023360"/>
            <a:ext cx="603504" cy="640080"/>
          </a:xfrm>
          <a:prstGeom prst="rightArrow">
            <a:avLst/>
          </a:prstGeom>
          <a:solidFill>
            <a:srgbClr val="F7B1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Kartu 3"/>
          <p:cNvSpPr/>
          <p:nvPr/>
        </p:nvSpPr>
        <p:spPr>
          <a:xfrm>
            <a:off x="12115800" y="2148840"/>
            <a:ext cx="4480560" cy="4892040"/>
          </a:xfrm>
          <a:prstGeom prst="roundRect">
            <a:avLst>
              <a:gd name="adj" fmla="val 5000"/>
            </a:avLst>
          </a:prstGeom>
          <a:solidFill>
            <a:srgbClr val="14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ahun"/>
          <p:cNvSpPr txBox="1"/>
          <p:nvPr/>
        </p:nvSpPr>
        <p:spPr>
          <a:xfrm>
            <a:off x="12344400" y="2240280"/>
            <a:ext cx="4023360" cy="822960"/>
          </a:xfrm>
          <a:prstGeom prst="rect">
            <a:avLst/>
          </a:prstGeom>
          <a:noFill/>
        </p:spPr>
        <p:txBody>
          <a:bodyPr wrap="square" lIns="0" rIns="0" tIns="0" bIns="0" anchor="t">
            <a:spAutoFit/>
          </a:bodyPr>
          <a:lstStyle/>
          <a:p>
            <a:pPr algn="l">
              <a:spcAft>
                <a:spcPts val="0"/>
              </a:spcAft>
            </a:pPr>
            <a:r>
              <a:rPr sz="4000">
                <a:solidFill>
                  <a:srgbClr val="F7B125"/>
                </a:solidFill>
                <a:latin typeface="Playpen Sans Bold"/>
              </a:rPr>
              <a:t>2025</a:t>
            </a:r>
          </a:p>
        </p:txBody>
      </p:sp>
      <p:pic>
        <p:nvPicPr>
          <p:cNvPr id="30" name="Paper komotrip" descr="Dipakai untuk masalah nyata"/>
          <p:cNvPicPr>
            <a:picLocks noChangeAspect="1"/>
          </p:cNvPicPr>
          <p:nvPr/>
        </p:nvPicPr>
        <p:blipFill>
          <a:blip r:embed="rId15"/>
          <a:stretch>
            <a:fillRect/>
          </a:stretch>
        </p:blipFill>
        <p:spPr>
          <a:xfrm>
            <a:off x="12298680" y="3385315"/>
            <a:ext cx="4114800" cy="1367529"/>
          </a:xfrm>
          <a:prstGeom prst="rect">
            <a:avLst/>
          </a:prstGeom>
          <a:ln w="38100">
            <a:solidFill>
              <a:srgbClr val="FFFFFF"/>
            </a:solidFill>
          </a:ln>
        </p:spPr>
      </p:pic>
      <p:sp>
        <p:nvSpPr>
          <p:cNvPr id="31" name="Keterangan"/>
          <p:cNvSpPr txBox="1"/>
          <p:nvPr/>
        </p:nvSpPr>
        <p:spPr>
          <a:xfrm>
            <a:off x="12344400" y="5166360"/>
            <a:ext cx="4023360" cy="1828800"/>
          </a:xfrm>
          <a:prstGeom prst="rect">
            <a:avLst/>
          </a:prstGeom>
          <a:noFill/>
        </p:spPr>
        <p:txBody>
          <a:bodyPr wrap="square" lIns="0" rIns="0" tIns="0" bIns="0" anchor="t">
            <a:spAutoFit/>
          </a:bodyPr>
          <a:lstStyle/>
          <a:p>
            <a:pPr algn="l">
              <a:spcAft>
                <a:spcPts val="400"/>
              </a:spcAft>
            </a:pPr>
            <a:r>
              <a:rPr sz="2400">
                <a:solidFill>
                  <a:srgbClr val="FFFFFF"/>
                </a:solidFill>
                <a:latin typeface="Playpen Sans Bold"/>
              </a:rPr>
              <a:t>Dipakai untuk masalah nyata</a:t>
            </a:r>
          </a:p>
          <a:p>
            <a:pPr algn="l">
              <a:spcAft>
                <a:spcPts val="200"/>
              </a:spcAft>
            </a:pPr>
            <a:r>
              <a:rPr sz="2000">
                <a:solidFill>
                  <a:srgbClr val="FFFFFF"/>
                </a:solidFill>
                <a:latin typeface="Playpen Sans"/>
              </a:rPr>
              <a:t>PeerJ Computer Science</a:t>
            </a:r>
          </a:p>
          <a:p>
            <a:pPr algn="l">
              <a:spcAft>
                <a:spcPts val="0"/>
              </a:spcAft>
            </a:pPr>
            <a:r>
              <a:rPr sz="2000">
                <a:solidFill>
                  <a:srgbClr val="F7B125"/>
                </a:solidFill>
                <a:latin typeface="Playpen Sans"/>
              </a:rPr>
              <a:t>Telkom University dan mitra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7928" r="0" b="-67928"/>
            </a:stretch>
          </a:blipFill>
        </p:spPr>
      </p:sp>
      <p:sp>
        <p:nvSpPr>
          <p:cNvPr name="Freeform 3" id="3"/>
          <p:cNvSpPr/>
          <p:nvPr/>
        </p:nvSpPr>
        <p:spPr>
          <a:xfrm flipH="false" flipV="false" rot="0">
            <a:off x="12533569" y="-21055"/>
            <a:ext cx="5762298" cy="6532600"/>
          </a:xfrm>
          <a:custGeom>
            <a:avLst/>
            <a:gdLst/>
            <a:ahLst/>
            <a:cxnLst/>
            <a:rect r="r" b="b" t="t" l="l"/>
            <a:pathLst>
              <a:path h="6532600" w="5762298">
                <a:moveTo>
                  <a:pt x="0" y="0"/>
                </a:moveTo>
                <a:lnTo>
                  <a:pt x="5762298" y="0"/>
                </a:lnTo>
                <a:lnTo>
                  <a:pt x="5762298" y="6532600"/>
                </a:lnTo>
                <a:lnTo>
                  <a:pt x="0" y="6532600"/>
                </a:lnTo>
                <a:lnTo>
                  <a:pt x="0" y="0"/>
                </a:lnTo>
                <a:close/>
              </a:path>
            </a:pathLst>
          </a:custGeom>
          <a:blipFill>
            <a:blip r:embed="rId3"/>
            <a:stretch>
              <a:fillRect l="0" t="0" r="0" b="0"/>
            </a:stretch>
          </a:blipFill>
        </p:spPr>
      </p:sp>
      <p:sp>
        <p:nvSpPr>
          <p:cNvPr name="Freeform 4" id="4"/>
          <p:cNvSpPr/>
          <p:nvPr/>
        </p:nvSpPr>
        <p:spPr>
          <a:xfrm flipH="false" flipV="false" rot="0">
            <a:off x="12978766" y="2004481"/>
            <a:ext cx="5309234" cy="5465964"/>
          </a:xfrm>
          <a:custGeom>
            <a:avLst/>
            <a:gdLst/>
            <a:ahLst/>
            <a:cxnLst/>
            <a:rect r="r" b="b" t="t" l="l"/>
            <a:pathLst>
              <a:path h="5465964" w="5309234">
                <a:moveTo>
                  <a:pt x="0" y="0"/>
                </a:moveTo>
                <a:lnTo>
                  <a:pt x="5309234" y="0"/>
                </a:lnTo>
                <a:lnTo>
                  <a:pt x="5309234" y="5465965"/>
                </a:lnTo>
                <a:lnTo>
                  <a:pt x="0" y="5465965"/>
                </a:lnTo>
                <a:lnTo>
                  <a:pt x="0" y="0"/>
                </a:lnTo>
                <a:close/>
              </a:path>
            </a:pathLst>
          </a:custGeom>
          <a:blipFill>
            <a:blip r:embed="rId4"/>
            <a:stretch>
              <a:fillRect l="0" t="0" r="0" b="0"/>
            </a:stretch>
          </a:blipFill>
        </p:spPr>
      </p:sp>
      <p:sp>
        <p:nvSpPr>
          <p:cNvPr name="Freeform 5" id="5"/>
          <p:cNvSpPr/>
          <p:nvPr/>
        </p:nvSpPr>
        <p:spPr>
          <a:xfrm flipH="true" flipV="false" rot="0">
            <a:off x="-29416" y="0"/>
            <a:ext cx="5762298" cy="6532600"/>
          </a:xfrm>
          <a:custGeom>
            <a:avLst/>
            <a:gdLst/>
            <a:ahLst/>
            <a:cxnLst/>
            <a:rect r="r" b="b" t="t" l="l"/>
            <a:pathLst>
              <a:path h="6532600" w="5762298">
                <a:moveTo>
                  <a:pt x="5762298" y="0"/>
                </a:moveTo>
                <a:lnTo>
                  <a:pt x="0" y="0"/>
                </a:lnTo>
                <a:lnTo>
                  <a:pt x="0" y="6532600"/>
                </a:lnTo>
                <a:lnTo>
                  <a:pt x="5762298" y="6532600"/>
                </a:lnTo>
                <a:lnTo>
                  <a:pt x="5762298" y="0"/>
                </a:lnTo>
                <a:close/>
              </a:path>
            </a:pathLst>
          </a:custGeom>
          <a:blipFill>
            <a:blip r:embed="rId3"/>
            <a:stretch>
              <a:fillRect l="0" t="0" r="0" b="0"/>
            </a:stretch>
          </a:blipFill>
        </p:spPr>
      </p:sp>
      <p:sp>
        <p:nvSpPr>
          <p:cNvPr name="Freeform 6" id="6"/>
          <p:cNvSpPr/>
          <p:nvPr/>
        </p:nvSpPr>
        <p:spPr>
          <a:xfrm flipH="false" flipV="false" rot="0">
            <a:off x="423648" y="2410518"/>
            <a:ext cx="5309234" cy="5465964"/>
          </a:xfrm>
          <a:custGeom>
            <a:avLst/>
            <a:gdLst/>
            <a:ahLst/>
            <a:cxnLst/>
            <a:rect r="r" b="b" t="t" l="l"/>
            <a:pathLst>
              <a:path h="5465964" w="5309234">
                <a:moveTo>
                  <a:pt x="0" y="0"/>
                </a:moveTo>
                <a:lnTo>
                  <a:pt x="5309234" y="0"/>
                </a:lnTo>
                <a:lnTo>
                  <a:pt x="5309234" y="5465964"/>
                </a:lnTo>
                <a:lnTo>
                  <a:pt x="0" y="5465964"/>
                </a:lnTo>
                <a:lnTo>
                  <a:pt x="0" y="0"/>
                </a:lnTo>
                <a:close/>
              </a:path>
            </a:pathLst>
          </a:custGeom>
          <a:blipFill>
            <a:blip r:embed="rId4"/>
            <a:stretch>
              <a:fillRect l="0" t="0" r="0" b="0"/>
            </a:stretch>
          </a:blipFill>
        </p:spPr>
      </p:sp>
      <p:sp>
        <p:nvSpPr>
          <p:cNvPr name="Freeform 7" id="7"/>
          <p:cNvSpPr/>
          <p:nvPr/>
        </p:nvSpPr>
        <p:spPr>
          <a:xfrm flipH="false" flipV="false" rot="0">
            <a:off x="-317430" y="7660946"/>
            <a:ext cx="18613297" cy="3022078"/>
          </a:xfrm>
          <a:custGeom>
            <a:avLst/>
            <a:gdLst/>
            <a:ahLst/>
            <a:cxnLst/>
            <a:rect r="r" b="b" t="t" l="l"/>
            <a:pathLst>
              <a:path h="3022078" w="18613297">
                <a:moveTo>
                  <a:pt x="0" y="0"/>
                </a:moveTo>
                <a:lnTo>
                  <a:pt x="18613297" y="0"/>
                </a:lnTo>
                <a:lnTo>
                  <a:pt x="18613297" y="3022077"/>
                </a:lnTo>
                <a:lnTo>
                  <a:pt x="0" y="3022077"/>
                </a:lnTo>
                <a:lnTo>
                  <a:pt x="0" y="0"/>
                </a:lnTo>
                <a:close/>
              </a:path>
            </a:pathLst>
          </a:custGeom>
          <a:blipFill>
            <a:blip r:embed="rId5"/>
            <a:stretch>
              <a:fillRect l="-158" t="0" r="-158" b="-6838"/>
            </a:stretch>
          </a:blipFill>
        </p:spPr>
      </p:sp>
      <p:sp>
        <p:nvSpPr>
          <p:cNvPr name="Freeform 11" id="11"/>
          <p:cNvSpPr/>
          <p:nvPr/>
        </p:nvSpPr>
        <p:spPr>
          <a:xfrm flipH="false" flipV="false" rot="0">
            <a:off x="681269" y="7470446"/>
            <a:ext cx="6083710" cy="4114800"/>
          </a:xfrm>
          <a:custGeom>
            <a:avLst/>
            <a:gdLst/>
            <a:ahLst/>
            <a:cxnLst/>
            <a:rect r="r" b="b" t="t" l="l"/>
            <a:pathLst>
              <a:path h="4114800" w="6083710">
                <a:moveTo>
                  <a:pt x="0" y="0"/>
                </a:moveTo>
                <a:lnTo>
                  <a:pt x="6083709" y="0"/>
                </a:lnTo>
                <a:lnTo>
                  <a:pt x="6083709"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9549673" y="7660946"/>
            <a:ext cx="6083710" cy="4114800"/>
          </a:xfrm>
          <a:custGeom>
            <a:avLst/>
            <a:gdLst/>
            <a:ahLst/>
            <a:cxnLst/>
            <a:rect r="r" b="b" t="t" l="l"/>
            <a:pathLst>
              <a:path h="4114800" w="6083710">
                <a:moveTo>
                  <a:pt x="0" y="0"/>
                </a:moveTo>
                <a:lnTo>
                  <a:pt x="6083710" y="0"/>
                </a:lnTo>
                <a:lnTo>
                  <a:pt x="608371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id="14" name="Panel"/>
          <p:cNvSpPr/>
          <p:nvPr/>
        </p:nvSpPr>
        <p:spPr>
          <a:xfrm>
            <a:off x="914400" y="731520"/>
            <a:ext cx="16459200" cy="6675120"/>
          </a:xfrm>
          <a:prstGeom prst="roundRect">
            <a:avLst>
              <a:gd name="adj" fmla="val 5000"/>
            </a:avLst>
          </a:prstGeom>
          <a:solidFill>
            <a:srgbClr val="0A2540">
              <a:alpha val="8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g BIDANG BERKEMBANG"/>
          <p:cNvSpPr/>
          <p:nvPr/>
        </p:nvSpPr>
        <p:spPr>
          <a:xfrm>
            <a:off x="1508760" y="960120"/>
            <a:ext cx="4246372" cy="640080"/>
          </a:xfrm>
          <a:prstGeom prst="roundRect">
            <a:avLst>
              <a:gd name="adj" fmla="val 50000"/>
            </a:avLst>
          </a:prstGeom>
          <a:solidFill>
            <a:srgbClr val="F7B1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ks tag BIDANG BERKEMBANG"/>
          <p:cNvSpPr txBox="1"/>
          <p:nvPr/>
        </p:nvSpPr>
        <p:spPr>
          <a:xfrm>
            <a:off x="1508760" y="1024128"/>
            <a:ext cx="4246372" cy="548640"/>
          </a:xfrm>
          <a:prstGeom prst="rect">
            <a:avLst/>
          </a:prstGeom>
          <a:noFill/>
        </p:spPr>
        <p:txBody>
          <a:bodyPr wrap="square" lIns="0" rIns="0" tIns="0" bIns="0" anchor="t">
            <a:spAutoFit/>
          </a:bodyPr>
          <a:lstStyle/>
          <a:p>
            <a:pPr algn="ctr">
              <a:spcAft>
                <a:spcPts val="0"/>
              </a:spcAft>
            </a:pPr>
            <a:r>
              <a:rPr sz="2200">
                <a:solidFill>
                  <a:srgbClr val="0A2540"/>
                </a:solidFill>
                <a:latin typeface="Playpen Sans Bold"/>
              </a:rPr>
              <a:t>BIDANG BERKEMBANG</a:t>
            </a:r>
          </a:p>
        </p:txBody>
      </p:sp>
      <p:sp>
        <p:nvSpPr>
          <p:cNvPr id="17" name="Judul"/>
          <p:cNvSpPr txBox="1"/>
          <p:nvPr/>
        </p:nvSpPr>
        <p:spPr>
          <a:xfrm>
            <a:off x="6120892" y="960120"/>
            <a:ext cx="10658348" cy="731520"/>
          </a:xfrm>
          <a:prstGeom prst="rect">
            <a:avLst/>
          </a:prstGeom>
          <a:noFill/>
        </p:spPr>
        <p:txBody>
          <a:bodyPr wrap="square" lIns="0" rIns="0" tIns="0" bIns="0" anchor="ctr">
            <a:spAutoFit/>
          </a:bodyPr>
          <a:lstStyle/>
          <a:p>
            <a:pPr algn="l">
              <a:spcAft>
                <a:spcPts val="0"/>
              </a:spcAft>
            </a:pPr>
            <a:r>
              <a:rPr sz="4000">
                <a:solidFill>
                  <a:srgbClr val="F7B125"/>
                </a:solidFill>
                <a:latin typeface="Playpen Sans Bold"/>
              </a:rPr>
              <a:t>Paper asli: Komodo Mlipir Algorithm</a:t>
            </a:r>
          </a:p>
        </p:txBody>
      </p:sp>
      <p:pic>
        <p:nvPicPr>
          <p:cNvPr id="18" name="Paper kma" descr="Halaman pertama paper Komodo Mlipir Algorithm"/>
          <p:cNvPicPr>
            <a:picLocks noChangeAspect="1"/>
          </p:cNvPicPr>
          <p:nvPr/>
        </p:nvPicPr>
        <p:blipFill>
          <a:blip r:embed="rId13"/>
          <a:stretch>
            <a:fillRect/>
          </a:stretch>
        </p:blipFill>
        <p:spPr>
          <a:xfrm>
            <a:off x="1508760" y="2286000"/>
            <a:ext cx="7236910" cy="4846320"/>
          </a:xfrm>
          <a:prstGeom prst="rect">
            <a:avLst/>
          </a:prstGeom>
          <a:ln w="38100">
            <a:solidFill>
              <a:srgbClr val="F7B125"/>
            </a:solidFill>
          </a:ln>
        </p:spPr>
      </p:pic>
      <p:sp>
        <p:nvSpPr>
          <p:cNvPr id="19" name="Poin KMA"/>
          <p:cNvSpPr txBox="1"/>
          <p:nvPr/>
        </p:nvSpPr>
        <p:spPr>
          <a:xfrm>
            <a:off x="9189720" y="2286000"/>
            <a:ext cx="7635239" cy="4937760"/>
          </a:xfrm>
          <a:prstGeom prst="rect">
            <a:avLst/>
          </a:prstGeom>
          <a:noFill/>
        </p:spPr>
        <p:txBody>
          <a:bodyPr wrap="square" lIns="0" rIns="0" tIns="0" bIns="0" anchor="t">
            <a:spAutoFit/>
          </a:bodyPr>
          <a:lstStyle/>
          <a:p>
            <a:pPr algn="l" marL="502920" indent="-502920">
              <a:spcAft>
                <a:spcPts val="900"/>
              </a:spcAft>
              <a:buClr>
                <a:srgbClr val="F7B125"/>
              </a:buClr>
              <a:buFont typeface="Arial"/>
              <a:buChar char="•"/>
            </a:pPr>
            <a:r>
              <a:rPr sz="2400">
                <a:solidFill>
                  <a:srgbClr val="FFFFFF"/>
                </a:solidFill>
                <a:latin typeface="Playpen Sans"/>
              </a:rPr>
              <a:t>Terinspirasi komodo di NTT dan gaya jalan mlipir</a:t>
            </a:r>
          </a:p>
          <a:p>
            <a:pPr algn="l" marL="502920" indent="-502920">
              <a:spcAft>
                <a:spcPts val="900"/>
              </a:spcAft>
              <a:buClr>
                <a:srgbClr val="F7B125"/>
              </a:buClr>
              <a:buFont typeface="Arial"/>
              <a:buChar char="•"/>
            </a:pPr>
            <a:r>
              <a:rPr sz="2400">
                <a:solidFill>
                  <a:srgbClr val="FFFFFF"/>
                </a:solidFill>
                <a:latin typeface="Playpen Sans"/>
              </a:rPr>
              <a:t>Populasi dibagi tiga: jantan besar, betina, jantan kecil</a:t>
            </a:r>
          </a:p>
          <a:p>
            <a:pPr algn="l" marL="502920" indent="-502920">
              <a:spcAft>
                <a:spcPts val="900"/>
              </a:spcAft>
              <a:buClr>
                <a:srgbClr val="F7B125"/>
              </a:buClr>
              <a:buFont typeface="Arial"/>
              <a:buChar char="•"/>
            </a:pPr>
            <a:r>
              <a:rPr sz="2400">
                <a:solidFill>
                  <a:srgbClr val="FFFFFF"/>
                </a:solidFill>
                <a:latin typeface="Playpen Sans"/>
              </a:rPr>
              <a:t>Diuji pada 23 fungsi benchmark</a:t>
            </a:r>
          </a:p>
          <a:p>
            <a:pPr algn="l" marL="502920" indent="-502920">
              <a:spcAft>
                <a:spcPts val="900"/>
              </a:spcAft>
              <a:buClr>
                <a:srgbClr val="F7B125"/>
              </a:buClr>
              <a:buFont typeface="Arial"/>
              <a:buChar char="•"/>
            </a:pPr>
            <a:r>
              <a:rPr sz="2400">
                <a:solidFill>
                  <a:srgbClr val="FFFFFF"/>
                </a:solidFill>
                <a:latin typeface="Playpen Sans"/>
              </a:rPr>
              <a:t>Kode sumber dibuka untuk umum</a:t>
            </a:r>
          </a:p>
          <a:p>
            <a:pPr algn="l" marL="502920" indent="-502920">
              <a:spcAft>
                <a:spcPts val="0"/>
              </a:spcAft>
              <a:buClr>
                <a:srgbClr val="F7B125"/>
              </a:buClr>
              <a:buFont typeface="Arial"/>
              <a:buChar char="•"/>
            </a:pPr>
            <a:r>
              <a:rPr sz="2400">
                <a:solidFill>
                  <a:srgbClr val="F7B125"/>
                </a:solidFill>
                <a:latin typeface="Playpen Sans Bold"/>
              </a:rPr>
              <a:t>Open access, lahir di School of Computing, Telkom University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7928" r="0" b="-67928"/>
            </a:stretch>
          </a:blipFill>
        </p:spPr>
      </p:sp>
      <p:sp>
        <p:nvSpPr>
          <p:cNvPr name="Freeform 3" id="3"/>
          <p:cNvSpPr/>
          <p:nvPr/>
        </p:nvSpPr>
        <p:spPr>
          <a:xfrm flipH="false" flipV="false" rot="0">
            <a:off x="12533569" y="-21055"/>
            <a:ext cx="5762298" cy="6532600"/>
          </a:xfrm>
          <a:custGeom>
            <a:avLst/>
            <a:gdLst/>
            <a:ahLst/>
            <a:cxnLst/>
            <a:rect r="r" b="b" t="t" l="l"/>
            <a:pathLst>
              <a:path h="6532600" w="5762298">
                <a:moveTo>
                  <a:pt x="0" y="0"/>
                </a:moveTo>
                <a:lnTo>
                  <a:pt x="5762298" y="0"/>
                </a:lnTo>
                <a:lnTo>
                  <a:pt x="5762298" y="6532600"/>
                </a:lnTo>
                <a:lnTo>
                  <a:pt x="0" y="6532600"/>
                </a:lnTo>
                <a:lnTo>
                  <a:pt x="0" y="0"/>
                </a:lnTo>
                <a:close/>
              </a:path>
            </a:pathLst>
          </a:custGeom>
          <a:blipFill>
            <a:blip r:embed="rId3"/>
            <a:stretch>
              <a:fillRect l="0" t="0" r="0" b="0"/>
            </a:stretch>
          </a:blipFill>
        </p:spPr>
      </p:sp>
      <p:sp>
        <p:nvSpPr>
          <p:cNvPr name="Freeform 4" id="4"/>
          <p:cNvSpPr/>
          <p:nvPr/>
        </p:nvSpPr>
        <p:spPr>
          <a:xfrm flipH="false" flipV="false" rot="0">
            <a:off x="12978766" y="2004481"/>
            <a:ext cx="5309234" cy="5465964"/>
          </a:xfrm>
          <a:custGeom>
            <a:avLst/>
            <a:gdLst/>
            <a:ahLst/>
            <a:cxnLst/>
            <a:rect r="r" b="b" t="t" l="l"/>
            <a:pathLst>
              <a:path h="5465964" w="5309234">
                <a:moveTo>
                  <a:pt x="0" y="0"/>
                </a:moveTo>
                <a:lnTo>
                  <a:pt x="5309234" y="0"/>
                </a:lnTo>
                <a:lnTo>
                  <a:pt x="5309234" y="5465965"/>
                </a:lnTo>
                <a:lnTo>
                  <a:pt x="0" y="5465965"/>
                </a:lnTo>
                <a:lnTo>
                  <a:pt x="0" y="0"/>
                </a:lnTo>
                <a:close/>
              </a:path>
            </a:pathLst>
          </a:custGeom>
          <a:blipFill>
            <a:blip r:embed="rId4"/>
            <a:stretch>
              <a:fillRect l="0" t="0" r="0" b="0"/>
            </a:stretch>
          </a:blipFill>
        </p:spPr>
      </p:sp>
      <p:sp>
        <p:nvSpPr>
          <p:cNvPr name="Freeform 5" id="5"/>
          <p:cNvSpPr/>
          <p:nvPr/>
        </p:nvSpPr>
        <p:spPr>
          <a:xfrm flipH="true" flipV="false" rot="0">
            <a:off x="-29416" y="0"/>
            <a:ext cx="5762298" cy="6532600"/>
          </a:xfrm>
          <a:custGeom>
            <a:avLst/>
            <a:gdLst/>
            <a:ahLst/>
            <a:cxnLst/>
            <a:rect r="r" b="b" t="t" l="l"/>
            <a:pathLst>
              <a:path h="6532600" w="5762298">
                <a:moveTo>
                  <a:pt x="5762298" y="0"/>
                </a:moveTo>
                <a:lnTo>
                  <a:pt x="0" y="0"/>
                </a:lnTo>
                <a:lnTo>
                  <a:pt x="0" y="6532600"/>
                </a:lnTo>
                <a:lnTo>
                  <a:pt x="5762298" y="6532600"/>
                </a:lnTo>
                <a:lnTo>
                  <a:pt x="5762298" y="0"/>
                </a:lnTo>
                <a:close/>
              </a:path>
            </a:pathLst>
          </a:custGeom>
          <a:blipFill>
            <a:blip r:embed="rId3"/>
            <a:stretch>
              <a:fillRect l="0" t="0" r="0" b="0"/>
            </a:stretch>
          </a:blipFill>
        </p:spPr>
      </p:sp>
      <p:sp>
        <p:nvSpPr>
          <p:cNvPr name="Freeform 6" id="6"/>
          <p:cNvSpPr/>
          <p:nvPr/>
        </p:nvSpPr>
        <p:spPr>
          <a:xfrm flipH="false" flipV="false" rot="0">
            <a:off x="423648" y="2410518"/>
            <a:ext cx="5309234" cy="5465964"/>
          </a:xfrm>
          <a:custGeom>
            <a:avLst/>
            <a:gdLst/>
            <a:ahLst/>
            <a:cxnLst/>
            <a:rect r="r" b="b" t="t" l="l"/>
            <a:pathLst>
              <a:path h="5465964" w="5309234">
                <a:moveTo>
                  <a:pt x="0" y="0"/>
                </a:moveTo>
                <a:lnTo>
                  <a:pt x="5309234" y="0"/>
                </a:lnTo>
                <a:lnTo>
                  <a:pt x="5309234" y="5465964"/>
                </a:lnTo>
                <a:lnTo>
                  <a:pt x="0" y="5465964"/>
                </a:lnTo>
                <a:lnTo>
                  <a:pt x="0" y="0"/>
                </a:lnTo>
                <a:close/>
              </a:path>
            </a:pathLst>
          </a:custGeom>
          <a:blipFill>
            <a:blip r:embed="rId4"/>
            <a:stretch>
              <a:fillRect l="0" t="0" r="0" b="0"/>
            </a:stretch>
          </a:blipFill>
        </p:spPr>
      </p:sp>
      <p:sp>
        <p:nvSpPr>
          <p:cNvPr name="Freeform 7" id="7"/>
          <p:cNvSpPr/>
          <p:nvPr/>
        </p:nvSpPr>
        <p:spPr>
          <a:xfrm flipH="false" flipV="false" rot="0">
            <a:off x="-317430" y="7660946"/>
            <a:ext cx="18613297" cy="3022078"/>
          </a:xfrm>
          <a:custGeom>
            <a:avLst/>
            <a:gdLst/>
            <a:ahLst/>
            <a:cxnLst/>
            <a:rect r="r" b="b" t="t" l="l"/>
            <a:pathLst>
              <a:path h="3022078" w="18613297">
                <a:moveTo>
                  <a:pt x="0" y="0"/>
                </a:moveTo>
                <a:lnTo>
                  <a:pt x="18613297" y="0"/>
                </a:lnTo>
                <a:lnTo>
                  <a:pt x="18613297" y="3022077"/>
                </a:lnTo>
                <a:lnTo>
                  <a:pt x="0" y="3022077"/>
                </a:lnTo>
                <a:lnTo>
                  <a:pt x="0" y="0"/>
                </a:lnTo>
                <a:close/>
              </a:path>
            </a:pathLst>
          </a:custGeom>
          <a:blipFill>
            <a:blip r:embed="rId5"/>
            <a:stretch>
              <a:fillRect l="-158" t="0" r="-158" b="-6838"/>
            </a:stretch>
          </a:blipFill>
        </p:spPr>
      </p:sp>
      <p:sp>
        <p:nvSpPr>
          <p:cNvPr name="Freeform 11" id="11"/>
          <p:cNvSpPr/>
          <p:nvPr/>
        </p:nvSpPr>
        <p:spPr>
          <a:xfrm flipH="false" flipV="false" rot="0">
            <a:off x="681269" y="7470446"/>
            <a:ext cx="6083710" cy="4114800"/>
          </a:xfrm>
          <a:custGeom>
            <a:avLst/>
            <a:gdLst/>
            <a:ahLst/>
            <a:cxnLst/>
            <a:rect r="r" b="b" t="t" l="l"/>
            <a:pathLst>
              <a:path h="4114800" w="6083710">
                <a:moveTo>
                  <a:pt x="0" y="0"/>
                </a:moveTo>
                <a:lnTo>
                  <a:pt x="6083709" y="0"/>
                </a:lnTo>
                <a:lnTo>
                  <a:pt x="6083709"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9549673" y="7660946"/>
            <a:ext cx="6083710" cy="4114800"/>
          </a:xfrm>
          <a:custGeom>
            <a:avLst/>
            <a:gdLst/>
            <a:ahLst/>
            <a:cxnLst/>
            <a:rect r="r" b="b" t="t" l="l"/>
            <a:pathLst>
              <a:path h="4114800" w="6083710">
                <a:moveTo>
                  <a:pt x="0" y="0"/>
                </a:moveTo>
                <a:lnTo>
                  <a:pt x="6083710" y="0"/>
                </a:lnTo>
                <a:lnTo>
                  <a:pt x="608371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id="14" name="Panel"/>
          <p:cNvSpPr/>
          <p:nvPr/>
        </p:nvSpPr>
        <p:spPr>
          <a:xfrm>
            <a:off x="914400" y="731520"/>
            <a:ext cx="16459200" cy="6675120"/>
          </a:xfrm>
          <a:prstGeom prst="roundRect">
            <a:avLst>
              <a:gd name="adj" fmla="val 5000"/>
            </a:avLst>
          </a:prstGeom>
          <a:solidFill>
            <a:srgbClr val="0A2540">
              <a:alpha val="8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g BIDANG BERKEMBANG"/>
          <p:cNvSpPr/>
          <p:nvPr/>
        </p:nvSpPr>
        <p:spPr>
          <a:xfrm>
            <a:off x="1508760" y="960120"/>
            <a:ext cx="4246372" cy="640080"/>
          </a:xfrm>
          <a:prstGeom prst="roundRect">
            <a:avLst>
              <a:gd name="adj" fmla="val 50000"/>
            </a:avLst>
          </a:prstGeom>
          <a:solidFill>
            <a:srgbClr val="F7B1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ks tag BIDANG BERKEMBANG"/>
          <p:cNvSpPr txBox="1"/>
          <p:nvPr/>
        </p:nvSpPr>
        <p:spPr>
          <a:xfrm>
            <a:off x="1508760" y="1024128"/>
            <a:ext cx="4246372" cy="548640"/>
          </a:xfrm>
          <a:prstGeom prst="rect">
            <a:avLst/>
          </a:prstGeom>
          <a:noFill/>
        </p:spPr>
        <p:txBody>
          <a:bodyPr wrap="square" lIns="0" rIns="0" tIns="0" bIns="0" anchor="t">
            <a:spAutoFit/>
          </a:bodyPr>
          <a:lstStyle/>
          <a:p>
            <a:pPr algn="ctr">
              <a:spcAft>
                <a:spcPts val="0"/>
              </a:spcAft>
            </a:pPr>
            <a:r>
              <a:rPr sz="2200">
                <a:solidFill>
                  <a:srgbClr val="0A2540"/>
                </a:solidFill>
                <a:latin typeface="Playpen Sans Bold"/>
              </a:rPr>
              <a:t>BIDANG BERKEMBANG</a:t>
            </a:r>
          </a:p>
        </p:txBody>
      </p:sp>
      <p:sp>
        <p:nvSpPr>
          <p:cNvPr id="17" name="Judul"/>
          <p:cNvSpPr txBox="1"/>
          <p:nvPr/>
        </p:nvSpPr>
        <p:spPr>
          <a:xfrm>
            <a:off x="6120892" y="960120"/>
            <a:ext cx="10658348" cy="731520"/>
          </a:xfrm>
          <a:prstGeom prst="rect">
            <a:avLst/>
          </a:prstGeom>
          <a:noFill/>
        </p:spPr>
        <p:txBody>
          <a:bodyPr wrap="square" lIns="0" rIns="0" tIns="0" bIns="0" anchor="ctr">
            <a:spAutoFit/>
          </a:bodyPr>
          <a:lstStyle/>
          <a:p>
            <a:pPr algn="l">
              <a:spcAft>
                <a:spcPts val="0"/>
              </a:spcAft>
            </a:pPr>
            <a:r>
              <a:rPr sz="4000">
                <a:solidFill>
                  <a:srgbClr val="F7B125"/>
                </a:solidFill>
                <a:latin typeface="Playpen Sans Bold"/>
              </a:rPr>
              <a:t>Diperbaiki: Improved Adaptive KMA</a:t>
            </a:r>
          </a:p>
        </p:txBody>
      </p:sp>
      <p:pic>
        <p:nvPicPr>
          <p:cNvPr id="18" name="Paper ikma" descr="Halaman pertama paper Improved Adaptive Komodo Mlipir Algorithm"/>
          <p:cNvPicPr>
            <a:picLocks noChangeAspect="1"/>
          </p:cNvPicPr>
          <p:nvPr/>
        </p:nvPicPr>
        <p:blipFill>
          <a:blip r:embed="rId13"/>
          <a:stretch>
            <a:fillRect/>
          </a:stretch>
        </p:blipFill>
        <p:spPr>
          <a:xfrm>
            <a:off x="1508760" y="2286000"/>
            <a:ext cx="6697345" cy="4846320"/>
          </a:xfrm>
          <a:prstGeom prst="rect">
            <a:avLst/>
          </a:prstGeom>
          <a:ln w="38100">
            <a:solidFill>
              <a:srgbClr val="F7B125"/>
            </a:solidFill>
          </a:ln>
        </p:spPr>
      </p:pic>
      <p:sp>
        <p:nvSpPr>
          <p:cNvPr id="19" name="Poin IKMA"/>
          <p:cNvSpPr txBox="1"/>
          <p:nvPr/>
        </p:nvSpPr>
        <p:spPr>
          <a:xfrm>
            <a:off x="8641080" y="2286000"/>
            <a:ext cx="8183879" cy="4937760"/>
          </a:xfrm>
          <a:prstGeom prst="rect">
            <a:avLst/>
          </a:prstGeom>
          <a:noFill/>
        </p:spPr>
        <p:txBody>
          <a:bodyPr wrap="square" lIns="0" rIns="0" tIns="0" bIns="0" anchor="t">
            <a:spAutoFit/>
          </a:bodyPr>
          <a:lstStyle/>
          <a:p>
            <a:pPr algn="l" marL="502920" indent="-502920">
              <a:spcAft>
                <a:spcPts val="900"/>
              </a:spcAft>
              <a:buClr>
                <a:srgbClr val="F7B125"/>
              </a:buClr>
              <a:buFont typeface="Arial"/>
              <a:buChar char="•"/>
            </a:pPr>
            <a:r>
              <a:rPr sz="2400">
                <a:solidFill>
                  <a:srgbClr val="FFFFFF"/>
                </a:solidFill>
                <a:latin typeface="Playpen Sans"/>
              </a:rPr>
              <a:t>Dua varian: IKMA-1 dan IKMA-2</a:t>
            </a:r>
          </a:p>
          <a:p>
            <a:pPr algn="l" marL="502920" indent="-502920">
              <a:spcAft>
                <a:spcPts val="900"/>
              </a:spcAft>
              <a:buClr>
                <a:srgbClr val="F7B125"/>
              </a:buClr>
              <a:buFont typeface="Arial"/>
              <a:buChar char="•"/>
            </a:pPr>
            <a:r>
              <a:rPr sz="2400">
                <a:solidFill>
                  <a:srgbClr val="F7B125"/>
                </a:solidFill>
                <a:latin typeface="Playpen Sans Bold"/>
              </a:rPr>
              <a:t>Diklaim memperbaiki KMA: 17,58% (IKMA-1) dan 10,99% (IKMA-2)</a:t>
            </a:r>
          </a:p>
          <a:p>
            <a:pPr algn="l" marL="502920" indent="-502920">
              <a:spcAft>
                <a:spcPts val="900"/>
              </a:spcAft>
              <a:buClr>
                <a:srgbClr val="F7B125"/>
              </a:buClr>
              <a:buFont typeface="Arial"/>
              <a:buChar char="•"/>
            </a:pPr>
            <a:r>
              <a:rPr sz="2400">
                <a:solidFill>
                  <a:srgbClr val="FFFFFF"/>
                </a:solidFill>
                <a:latin typeface="Playpen Sans"/>
              </a:rPr>
              <a:t>Diuji pada 23 fungsi CEC2013 dan dua masalah rekayasa</a:t>
            </a:r>
          </a:p>
          <a:p>
            <a:pPr algn="l" marL="502920" indent="-502920">
              <a:spcAft>
                <a:spcPts val="900"/>
              </a:spcAft>
              <a:buClr>
                <a:srgbClr val="F7B125"/>
              </a:buClr>
              <a:buFont typeface="Arial"/>
              <a:buChar char="•"/>
            </a:pPr>
            <a:r>
              <a:rPr sz="2400">
                <a:solidFill>
                  <a:srgbClr val="FFFFFF"/>
                </a:solidFill>
                <a:latin typeface="Playpen Sans"/>
              </a:rPr>
              <a:t>Dibandingkan dengan tujuh algoritma lain, dengan uji Wilcoxon dan Friedman</a:t>
            </a:r>
          </a:p>
          <a:p>
            <a:pPr algn="l" marL="502920" indent="-502920">
              <a:spcAft>
                <a:spcPts val="0"/>
              </a:spcAft>
              <a:buClr>
                <a:srgbClr val="F7B125"/>
              </a:buClr>
              <a:buFont typeface="Arial"/>
              <a:buChar char="•"/>
            </a:pPr>
            <a:r>
              <a:rPr sz="2400">
                <a:solidFill>
                  <a:srgbClr val="FFFFFF"/>
                </a:solidFill>
                <a:latin typeface="Playpen Sans"/>
              </a:rPr>
              <a:t>Ditulis oleh peneliti Jilin University, Tiongkok</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7928" r="0" b="-67928"/>
            </a:stretch>
          </a:blipFill>
        </p:spPr>
      </p:sp>
      <p:sp>
        <p:nvSpPr>
          <p:cNvPr name="Freeform 3" id="3"/>
          <p:cNvSpPr/>
          <p:nvPr/>
        </p:nvSpPr>
        <p:spPr>
          <a:xfrm flipH="false" flipV="false" rot="0">
            <a:off x="12533569" y="-21055"/>
            <a:ext cx="5762298" cy="6532600"/>
          </a:xfrm>
          <a:custGeom>
            <a:avLst/>
            <a:gdLst/>
            <a:ahLst/>
            <a:cxnLst/>
            <a:rect r="r" b="b" t="t" l="l"/>
            <a:pathLst>
              <a:path h="6532600" w="5762298">
                <a:moveTo>
                  <a:pt x="0" y="0"/>
                </a:moveTo>
                <a:lnTo>
                  <a:pt x="5762298" y="0"/>
                </a:lnTo>
                <a:lnTo>
                  <a:pt x="5762298" y="6532600"/>
                </a:lnTo>
                <a:lnTo>
                  <a:pt x="0" y="6532600"/>
                </a:lnTo>
                <a:lnTo>
                  <a:pt x="0" y="0"/>
                </a:lnTo>
                <a:close/>
              </a:path>
            </a:pathLst>
          </a:custGeom>
          <a:blipFill>
            <a:blip r:embed="rId3"/>
            <a:stretch>
              <a:fillRect l="0" t="0" r="0" b="0"/>
            </a:stretch>
          </a:blipFill>
        </p:spPr>
      </p:sp>
      <p:sp>
        <p:nvSpPr>
          <p:cNvPr name="Freeform 4" id="4"/>
          <p:cNvSpPr/>
          <p:nvPr/>
        </p:nvSpPr>
        <p:spPr>
          <a:xfrm flipH="false" flipV="false" rot="0">
            <a:off x="12978766" y="2004481"/>
            <a:ext cx="5309234" cy="5465964"/>
          </a:xfrm>
          <a:custGeom>
            <a:avLst/>
            <a:gdLst/>
            <a:ahLst/>
            <a:cxnLst/>
            <a:rect r="r" b="b" t="t" l="l"/>
            <a:pathLst>
              <a:path h="5465964" w="5309234">
                <a:moveTo>
                  <a:pt x="0" y="0"/>
                </a:moveTo>
                <a:lnTo>
                  <a:pt x="5309234" y="0"/>
                </a:lnTo>
                <a:lnTo>
                  <a:pt x="5309234" y="5465965"/>
                </a:lnTo>
                <a:lnTo>
                  <a:pt x="0" y="5465965"/>
                </a:lnTo>
                <a:lnTo>
                  <a:pt x="0" y="0"/>
                </a:lnTo>
                <a:close/>
              </a:path>
            </a:pathLst>
          </a:custGeom>
          <a:blipFill>
            <a:blip r:embed="rId4"/>
            <a:stretch>
              <a:fillRect l="0" t="0" r="0" b="0"/>
            </a:stretch>
          </a:blipFill>
        </p:spPr>
      </p:sp>
      <p:sp>
        <p:nvSpPr>
          <p:cNvPr name="Freeform 5" id="5"/>
          <p:cNvSpPr/>
          <p:nvPr/>
        </p:nvSpPr>
        <p:spPr>
          <a:xfrm flipH="true" flipV="false" rot="0">
            <a:off x="-29416" y="0"/>
            <a:ext cx="5762298" cy="6532600"/>
          </a:xfrm>
          <a:custGeom>
            <a:avLst/>
            <a:gdLst/>
            <a:ahLst/>
            <a:cxnLst/>
            <a:rect r="r" b="b" t="t" l="l"/>
            <a:pathLst>
              <a:path h="6532600" w="5762298">
                <a:moveTo>
                  <a:pt x="5762298" y="0"/>
                </a:moveTo>
                <a:lnTo>
                  <a:pt x="0" y="0"/>
                </a:lnTo>
                <a:lnTo>
                  <a:pt x="0" y="6532600"/>
                </a:lnTo>
                <a:lnTo>
                  <a:pt x="5762298" y="6532600"/>
                </a:lnTo>
                <a:lnTo>
                  <a:pt x="5762298" y="0"/>
                </a:lnTo>
                <a:close/>
              </a:path>
            </a:pathLst>
          </a:custGeom>
          <a:blipFill>
            <a:blip r:embed="rId3"/>
            <a:stretch>
              <a:fillRect l="0" t="0" r="0" b="0"/>
            </a:stretch>
          </a:blipFill>
        </p:spPr>
      </p:sp>
      <p:sp>
        <p:nvSpPr>
          <p:cNvPr name="Freeform 6" id="6"/>
          <p:cNvSpPr/>
          <p:nvPr/>
        </p:nvSpPr>
        <p:spPr>
          <a:xfrm flipH="false" flipV="false" rot="0">
            <a:off x="423648" y="2410518"/>
            <a:ext cx="5309234" cy="5465964"/>
          </a:xfrm>
          <a:custGeom>
            <a:avLst/>
            <a:gdLst/>
            <a:ahLst/>
            <a:cxnLst/>
            <a:rect r="r" b="b" t="t" l="l"/>
            <a:pathLst>
              <a:path h="5465964" w="5309234">
                <a:moveTo>
                  <a:pt x="0" y="0"/>
                </a:moveTo>
                <a:lnTo>
                  <a:pt x="5309234" y="0"/>
                </a:lnTo>
                <a:lnTo>
                  <a:pt x="5309234" y="5465964"/>
                </a:lnTo>
                <a:lnTo>
                  <a:pt x="0" y="5465964"/>
                </a:lnTo>
                <a:lnTo>
                  <a:pt x="0" y="0"/>
                </a:lnTo>
                <a:close/>
              </a:path>
            </a:pathLst>
          </a:custGeom>
          <a:blipFill>
            <a:blip r:embed="rId4"/>
            <a:stretch>
              <a:fillRect l="0" t="0" r="0" b="0"/>
            </a:stretch>
          </a:blipFill>
        </p:spPr>
      </p:sp>
      <p:sp>
        <p:nvSpPr>
          <p:cNvPr name="Freeform 7" id="7"/>
          <p:cNvSpPr/>
          <p:nvPr/>
        </p:nvSpPr>
        <p:spPr>
          <a:xfrm flipH="false" flipV="false" rot="0">
            <a:off x="-317430" y="7660946"/>
            <a:ext cx="18613297" cy="3022078"/>
          </a:xfrm>
          <a:custGeom>
            <a:avLst/>
            <a:gdLst/>
            <a:ahLst/>
            <a:cxnLst/>
            <a:rect r="r" b="b" t="t" l="l"/>
            <a:pathLst>
              <a:path h="3022078" w="18613297">
                <a:moveTo>
                  <a:pt x="0" y="0"/>
                </a:moveTo>
                <a:lnTo>
                  <a:pt x="18613297" y="0"/>
                </a:lnTo>
                <a:lnTo>
                  <a:pt x="18613297" y="3022077"/>
                </a:lnTo>
                <a:lnTo>
                  <a:pt x="0" y="3022077"/>
                </a:lnTo>
                <a:lnTo>
                  <a:pt x="0" y="0"/>
                </a:lnTo>
                <a:close/>
              </a:path>
            </a:pathLst>
          </a:custGeom>
          <a:blipFill>
            <a:blip r:embed="rId5"/>
            <a:stretch>
              <a:fillRect l="-158" t="0" r="-158" b="-6838"/>
            </a:stretch>
          </a:blipFill>
        </p:spPr>
      </p:sp>
      <p:sp>
        <p:nvSpPr>
          <p:cNvPr name="Freeform 11" id="11"/>
          <p:cNvSpPr/>
          <p:nvPr/>
        </p:nvSpPr>
        <p:spPr>
          <a:xfrm flipH="false" flipV="false" rot="0">
            <a:off x="681269" y="7470446"/>
            <a:ext cx="6083710" cy="4114800"/>
          </a:xfrm>
          <a:custGeom>
            <a:avLst/>
            <a:gdLst/>
            <a:ahLst/>
            <a:cxnLst/>
            <a:rect r="r" b="b" t="t" l="l"/>
            <a:pathLst>
              <a:path h="4114800" w="6083710">
                <a:moveTo>
                  <a:pt x="0" y="0"/>
                </a:moveTo>
                <a:lnTo>
                  <a:pt x="6083709" y="0"/>
                </a:lnTo>
                <a:lnTo>
                  <a:pt x="6083709"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9549673" y="7660946"/>
            <a:ext cx="6083710" cy="4114800"/>
          </a:xfrm>
          <a:custGeom>
            <a:avLst/>
            <a:gdLst/>
            <a:ahLst/>
            <a:cxnLst/>
            <a:rect r="r" b="b" t="t" l="l"/>
            <a:pathLst>
              <a:path h="4114800" w="6083710">
                <a:moveTo>
                  <a:pt x="0" y="0"/>
                </a:moveTo>
                <a:lnTo>
                  <a:pt x="6083710" y="0"/>
                </a:lnTo>
                <a:lnTo>
                  <a:pt x="608371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id="14" name="Panel"/>
          <p:cNvSpPr/>
          <p:nvPr/>
        </p:nvSpPr>
        <p:spPr>
          <a:xfrm>
            <a:off x="914400" y="731520"/>
            <a:ext cx="16459200" cy="6675120"/>
          </a:xfrm>
          <a:prstGeom prst="roundRect">
            <a:avLst>
              <a:gd name="adj" fmla="val 5000"/>
            </a:avLst>
          </a:prstGeom>
          <a:solidFill>
            <a:srgbClr val="0A2540">
              <a:alpha val="8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g BIDANG BERKEMBANG"/>
          <p:cNvSpPr/>
          <p:nvPr/>
        </p:nvSpPr>
        <p:spPr>
          <a:xfrm>
            <a:off x="1508760" y="960120"/>
            <a:ext cx="4246372" cy="640080"/>
          </a:xfrm>
          <a:prstGeom prst="roundRect">
            <a:avLst>
              <a:gd name="adj" fmla="val 50000"/>
            </a:avLst>
          </a:prstGeom>
          <a:solidFill>
            <a:srgbClr val="F7B1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ks tag BIDANG BERKEMBANG"/>
          <p:cNvSpPr txBox="1"/>
          <p:nvPr/>
        </p:nvSpPr>
        <p:spPr>
          <a:xfrm>
            <a:off x="1508760" y="1024128"/>
            <a:ext cx="4246372" cy="548640"/>
          </a:xfrm>
          <a:prstGeom prst="rect">
            <a:avLst/>
          </a:prstGeom>
          <a:noFill/>
        </p:spPr>
        <p:txBody>
          <a:bodyPr wrap="square" lIns="0" rIns="0" tIns="0" bIns="0" anchor="t">
            <a:spAutoFit/>
          </a:bodyPr>
          <a:lstStyle/>
          <a:p>
            <a:pPr algn="ctr">
              <a:spcAft>
                <a:spcPts val="0"/>
              </a:spcAft>
            </a:pPr>
            <a:r>
              <a:rPr sz="2200">
                <a:solidFill>
                  <a:srgbClr val="0A2540"/>
                </a:solidFill>
                <a:latin typeface="Playpen Sans Bold"/>
              </a:rPr>
              <a:t>BIDANG BERKEMBANG</a:t>
            </a:r>
          </a:p>
        </p:txBody>
      </p:sp>
      <p:sp>
        <p:nvSpPr>
          <p:cNvPr id="17" name="Judul"/>
          <p:cNvSpPr txBox="1"/>
          <p:nvPr/>
        </p:nvSpPr>
        <p:spPr>
          <a:xfrm>
            <a:off x="6120892" y="960120"/>
            <a:ext cx="10658348" cy="731520"/>
          </a:xfrm>
          <a:prstGeom prst="rect">
            <a:avLst/>
          </a:prstGeom>
          <a:noFill/>
        </p:spPr>
        <p:txBody>
          <a:bodyPr wrap="square" lIns="0" rIns="0" tIns="0" bIns="0" anchor="ctr">
            <a:spAutoFit/>
          </a:bodyPr>
          <a:lstStyle/>
          <a:p>
            <a:pPr algn="l">
              <a:spcAft>
                <a:spcPts val="0"/>
              </a:spcAft>
            </a:pPr>
            <a:r>
              <a:rPr sz="4400">
                <a:solidFill>
                  <a:srgbClr val="F7B125"/>
                </a:solidFill>
                <a:latin typeface="Playpen Sans Bold"/>
              </a:rPr>
              <a:t>Dipakai: KomoTrip</a:t>
            </a:r>
          </a:p>
        </p:txBody>
      </p:sp>
      <p:pic>
        <p:nvPicPr>
          <p:cNvPr id="18" name="Paper komotrip" descr="Judul paper KomoTrip"/>
          <p:cNvPicPr>
            <a:picLocks noChangeAspect="1"/>
          </p:cNvPicPr>
          <p:nvPr/>
        </p:nvPicPr>
        <p:blipFill>
          <a:blip r:embed="rId13"/>
          <a:stretch>
            <a:fillRect/>
          </a:stretch>
        </p:blipFill>
        <p:spPr>
          <a:xfrm>
            <a:off x="1508760" y="2331720"/>
            <a:ext cx="9692640" cy="3221292"/>
          </a:xfrm>
          <a:prstGeom prst="rect">
            <a:avLst/>
          </a:prstGeom>
          <a:ln w="38100">
            <a:solidFill>
              <a:srgbClr val="F7B125"/>
            </a:solidFill>
          </a:ln>
        </p:spPr>
      </p:pic>
      <p:sp>
        <p:nvSpPr>
          <p:cNvPr id="19" name="Sumber"/>
          <p:cNvSpPr txBox="1"/>
          <p:nvPr/>
        </p:nvSpPr>
        <p:spPr>
          <a:xfrm>
            <a:off x="1508760" y="5852160"/>
            <a:ext cx="9692640" cy="1371600"/>
          </a:xfrm>
          <a:prstGeom prst="rect">
            <a:avLst/>
          </a:prstGeom>
          <a:noFill/>
        </p:spPr>
        <p:txBody>
          <a:bodyPr wrap="square" lIns="0" rIns="0" tIns="0" bIns="0" anchor="t">
            <a:spAutoFit/>
          </a:bodyPr>
          <a:lstStyle/>
          <a:p>
            <a:pPr algn="l">
              <a:spcAft>
                <a:spcPts val="600"/>
              </a:spcAft>
            </a:pPr>
            <a:r>
              <a:rPr sz="2400">
                <a:solidFill>
                  <a:srgbClr val="FFFFFF"/>
                </a:solidFill>
                <a:latin typeface="Playpen Sans"/>
              </a:rPr>
              <a:t>Telkom University, BRIN, dan Telkom Indonesia</a:t>
            </a:r>
          </a:p>
          <a:p>
            <a:pPr algn="l">
              <a:spcAft>
                <a:spcPts val="0"/>
              </a:spcAft>
            </a:pPr>
            <a:r>
              <a:rPr sz="2400">
                <a:solidFill>
                  <a:srgbClr val="F7B125"/>
                </a:solidFill>
                <a:latin typeface="Playpen Sans Bold"/>
              </a:rPr>
              <a:t>PeerJ Computer Science, 12 November 2025</a:t>
            </a:r>
          </a:p>
        </p:txBody>
      </p:sp>
      <p:sp>
        <p:nvSpPr>
          <p:cNvPr id="20" name="Masalah dan metode"/>
          <p:cNvSpPr txBox="1"/>
          <p:nvPr/>
        </p:nvSpPr>
        <p:spPr>
          <a:xfrm>
            <a:off x="11750040" y="2286000"/>
            <a:ext cx="5074919" cy="4937760"/>
          </a:xfrm>
          <a:prstGeom prst="rect">
            <a:avLst/>
          </a:prstGeom>
          <a:noFill/>
        </p:spPr>
        <p:txBody>
          <a:bodyPr wrap="square" lIns="0" rIns="0" tIns="0" bIns="0" anchor="t">
            <a:spAutoFit/>
          </a:bodyPr>
          <a:lstStyle/>
          <a:p>
            <a:pPr algn="l">
              <a:spcAft>
                <a:spcPts val="400"/>
              </a:spcAft>
            </a:pPr>
            <a:r>
              <a:rPr sz="2600">
                <a:solidFill>
                  <a:srgbClr val="F7B125"/>
                </a:solidFill>
                <a:latin typeface="Playpen Sans Bold"/>
              </a:rPr>
              <a:t>Masalah nyata</a:t>
            </a:r>
          </a:p>
          <a:p>
            <a:pPr algn="l">
              <a:spcAft>
                <a:spcPts val="1400"/>
              </a:spcAft>
            </a:pPr>
            <a:r>
              <a:rPr sz="2400">
                <a:solidFill>
                  <a:srgbClr val="FFFFFF"/>
                </a:solidFill>
                <a:latin typeface="Playpen Sans"/>
              </a:rPr>
              <a:t>Menyusun itinerari wisata beberapa hari</a:t>
            </a:r>
          </a:p>
          <a:p>
            <a:pPr algn="l">
              <a:spcAft>
                <a:spcPts val="400"/>
              </a:spcAft>
            </a:pPr>
            <a:r>
              <a:rPr sz="2600">
                <a:solidFill>
                  <a:srgbClr val="F7B125"/>
                </a:solidFill>
                <a:latin typeface="Playpen Sans Bold"/>
              </a:rPr>
              <a:t>Metode</a:t>
            </a:r>
          </a:p>
          <a:p>
            <a:pPr algn="l">
              <a:spcAft>
                <a:spcPts val="1400"/>
              </a:spcAft>
            </a:pPr>
            <a:r>
              <a:rPr sz="2400">
                <a:solidFill>
                  <a:srgbClr val="FFFFFF"/>
                </a:solidFill>
                <a:latin typeface="Playpen Sans"/>
              </a:rPr>
              <a:t>KMA versi diskret</a:t>
            </a:r>
          </a:p>
          <a:p>
            <a:pPr algn="l">
              <a:spcAft>
                <a:spcPts val="0"/>
              </a:spcAft>
            </a:pPr>
            <a:r>
              <a:rPr sz="2200">
                <a:solidFill>
                  <a:srgbClr val="FFFFFF"/>
                </a:solidFill>
                <a:latin typeface="Playpen Sans"/>
              </a:rPr>
              <a:t>Judul sudah memberi tahu keduanya</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7928" r="0" b="-67928"/>
            </a:stretch>
          </a:blipFill>
        </p:spPr>
      </p:sp>
      <p:sp>
        <p:nvSpPr>
          <p:cNvPr name="Freeform 3" id="3"/>
          <p:cNvSpPr/>
          <p:nvPr/>
        </p:nvSpPr>
        <p:spPr>
          <a:xfrm flipH="false" flipV="false" rot="0">
            <a:off x="12533569" y="-21055"/>
            <a:ext cx="5762298" cy="6532600"/>
          </a:xfrm>
          <a:custGeom>
            <a:avLst/>
            <a:gdLst/>
            <a:ahLst/>
            <a:cxnLst/>
            <a:rect r="r" b="b" t="t" l="l"/>
            <a:pathLst>
              <a:path h="6532600" w="5762298">
                <a:moveTo>
                  <a:pt x="0" y="0"/>
                </a:moveTo>
                <a:lnTo>
                  <a:pt x="5762298" y="0"/>
                </a:lnTo>
                <a:lnTo>
                  <a:pt x="5762298" y="6532600"/>
                </a:lnTo>
                <a:lnTo>
                  <a:pt x="0" y="6532600"/>
                </a:lnTo>
                <a:lnTo>
                  <a:pt x="0" y="0"/>
                </a:lnTo>
                <a:close/>
              </a:path>
            </a:pathLst>
          </a:custGeom>
          <a:blipFill>
            <a:blip r:embed="rId3"/>
            <a:stretch>
              <a:fillRect l="0" t="0" r="0" b="0"/>
            </a:stretch>
          </a:blipFill>
        </p:spPr>
      </p:sp>
      <p:sp>
        <p:nvSpPr>
          <p:cNvPr name="Freeform 4" id="4"/>
          <p:cNvSpPr/>
          <p:nvPr/>
        </p:nvSpPr>
        <p:spPr>
          <a:xfrm flipH="false" flipV="false" rot="0">
            <a:off x="12978766" y="2004481"/>
            <a:ext cx="5309234" cy="5465964"/>
          </a:xfrm>
          <a:custGeom>
            <a:avLst/>
            <a:gdLst/>
            <a:ahLst/>
            <a:cxnLst/>
            <a:rect r="r" b="b" t="t" l="l"/>
            <a:pathLst>
              <a:path h="5465964" w="5309234">
                <a:moveTo>
                  <a:pt x="0" y="0"/>
                </a:moveTo>
                <a:lnTo>
                  <a:pt x="5309234" y="0"/>
                </a:lnTo>
                <a:lnTo>
                  <a:pt x="5309234" y="5465965"/>
                </a:lnTo>
                <a:lnTo>
                  <a:pt x="0" y="5465965"/>
                </a:lnTo>
                <a:lnTo>
                  <a:pt x="0" y="0"/>
                </a:lnTo>
                <a:close/>
              </a:path>
            </a:pathLst>
          </a:custGeom>
          <a:blipFill>
            <a:blip r:embed="rId4"/>
            <a:stretch>
              <a:fillRect l="0" t="0" r="0" b="0"/>
            </a:stretch>
          </a:blipFill>
        </p:spPr>
      </p:sp>
      <p:sp>
        <p:nvSpPr>
          <p:cNvPr name="Freeform 5" id="5"/>
          <p:cNvSpPr/>
          <p:nvPr/>
        </p:nvSpPr>
        <p:spPr>
          <a:xfrm flipH="true" flipV="false" rot="0">
            <a:off x="-29416" y="0"/>
            <a:ext cx="5762298" cy="6532600"/>
          </a:xfrm>
          <a:custGeom>
            <a:avLst/>
            <a:gdLst/>
            <a:ahLst/>
            <a:cxnLst/>
            <a:rect r="r" b="b" t="t" l="l"/>
            <a:pathLst>
              <a:path h="6532600" w="5762298">
                <a:moveTo>
                  <a:pt x="5762298" y="0"/>
                </a:moveTo>
                <a:lnTo>
                  <a:pt x="0" y="0"/>
                </a:lnTo>
                <a:lnTo>
                  <a:pt x="0" y="6532600"/>
                </a:lnTo>
                <a:lnTo>
                  <a:pt x="5762298" y="6532600"/>
                </a:lnTo>
                <a:lnTo>
                  <a:pt x="5762298" y="0"/>
                </a:lnTo>
                <a:close/>
              </a:path>
            </a:pathLst>
          </a:custGeom>
          <a:blipFill>
            <a:blip r:embed="rId3"/>
            <a:stretch>
              <a:fillRect l="0" t="0" r="0" b="0"/>
            </a:stretch>
          </a:blipFill>
        </p:spPr>
      </p:sp>
      <p:sp>
        <p:nvSpPr>
          <p:cNvPr name="Freeform 6" id="6"/>
          <p:cNvSpPr/>
          <p:nvPr/>
        </p:nvSpPr>
        <p:spPr>
          <a:xfrm flipH="false" flipV="false" rot="0">
            <a:off x="423648" y="2410518"/>
            <a:ext cx="5309234" cy="5465964"/>
          </a:xfrm>
          <a:custGeom>
            <a:avLst/>
            <a:gdLst/>
            <a:ahLst/>
            <a:cxnLst/>
            <a:rect r="r" b="b" t="t" l="l"/>
            <a:pathLst>
              <a:path h="5465964" w="5309234">
                <a:moveTo>
                  <a:pt x="0" y="0"/>
                </a:moveTo>
                <a:lnTo>
                  <a:pt x="5309234" y="0"/>
                </a:lnTo>
                <a:lnTo>
                  <a:pt x="5309234" y="5465964"/>
                </a:lnTo>
                <a:lnTo>
                  <a:pt x="0" y="5465964"/>
                </a:lnTo>
                <a:lnTo>
                  <a:pt x="0" y="0"/>
                </a:lnTo>
                <a:close/>
              </a:path>
            </a:pathLst>
          </a:custGeom>
          <a:blipFill>
            <a:blip r:embed="rId4"/>
            <a:stretch>
              <a:fillRect l="0" t="0" r="0" b="0"/>
            </a:stretch>
          </a:blipFill>
        </p:spPr>
      </p:sp>
      <p:sp>
        <p:nvSpPr>
          <p:cNvPr name="Freeform 7" id="7"/>
          <p:cNvSpPr/>
          <p:nvPr/>
        </p:nvSpPr>
        <p:spPr>
          <a:xfrm flipH="false" flipV="false" rot="0">
            <a:off x="-317430" y="7660946"/>
            <a:ext cx="18613297" cy="3022078"/>
          </a:xfrm>
          <a:custGeom>
            <a:avLst/>
            <a:gdLst/>
            <a:ahLst/>
            <a:cxnLst/>
            <a:rect r="r" b="b" t="t" l="l"/>
            <a:pathLst>
              <a:path h="3022078" w="18613297">
                <a:moveTo>
                  <a:pt x="0" y="0"/>
                </a:moveTo>
                <a:lnTo>
                  <a:pt x="18613297" y="0"/>
                </a:lnTo>
                <a:lnTo>
                  <a:pt x="18613297" y="3022077"/>
                </a:lnTo>
                <a:lnTo>
                  <a:pt x="0" y="3022077"/>
                </a:lnTo>
                <a:lnTo>
                  <a:pt x="0" y="0"/>
                </a:lnTo>
                <a:close/>
              </a:path>
            </a:pathLst>
          </a:custGeom>
          <a:blipFill>
            <a:blip r:embed="rId5"/>
            <a:stretch>
              <a:fillRect l="-158" t="0" r="-158" b="-6838"/>
            </a:stretch>
          </a:blipFill>
        </p:spPr>
      </p:sp>
      <p:sp>
        <p:nvSpPr>
          <p:cNvPr name="Freeform 11" id="11"/>
          <p:cNvSpPr/>
          <p:nvPr/>
        </p:nvSpPr>
        <p:spPr>
          <a:xfrm flipH="false" flipV="false" rot="0">
            <a:off x="681269" y="7470446"/>
            <a:ext cx="6083710" cy="4114800"/>
          </a:xfrm>
          <a:custGeom>
            <a:avLst/>
            <a:gdLst/>
            <a:ahLst/>
            <a:cxnLst/>
            <a:rect r="r" b="b" t="t" l="l"/>
            <a:pathLst>
              <a:path h="4114800" w="6083710">
                <a:moveTo>
                  <a:pt x="0" y="0"/>
                </a:moveTo>
                <a:lnTo>
                  <a:pt x="6083709" y="0"/>
                </a:lnTo>
                <a:lnTo>
                  <a:pt x="6083709"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9549673" y="7660946"/>
            <a:ext cx="6083710" cy="4114800"/>
          </a:xfrm>
          <a:custGeom>
            <a:avLst/>
            <a:gdLst/>
            <a:ahLst/>
            <a:cxnLst/>
            <a:rect r="r" b="b" t="t" l="l"/>
            <a:pathLst>
              <a:path h="4114800" w="6083710">
                <a:moveTo>
                  <a:pt x="0" y="0"/>
                </a:moveTo>
                <a:lnTo>
                  <a:pt x="6083710" y="0"/>
                </a:lnTo>
                <a:lnTo>
                  <a:pt x="608371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id="14" name="Panel"/>
          <p:cNvSpPr/>
          <p:nvPr/>
        </p:nvSpPr>
        <p:spPr>
          <a:xfrm>
            <a:off x="914400" y="731520"/>
            <a:ext cx="16459200" cy="6675120"/>
          </a:xfrm>
          <a:prstGeom prst="roundRect">
            <a:avLst>
              <a:gd name="adj" fmla="val 5000"/>
            </a:avLst>
          </a:prstGeom>
          <a:solidFill>
            <a:srgbClr val="0A2540">
              <a:alpha val="8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g DARI PAPER KE POSTER"/>
          <p:cNvSpPr/>
          <p:nvPr/>
        </p:nvSpPr>
        <p:spPr>
          <a:xfrm>
            <a:off x="1508760" y="960120"/>
            <a:ext cx="4866640" cy="640080"/>
          </a:xfrm>
          <a:prstGeom prst="roundRect">
            <a:avLst>
              <a:gd name="adj" fmla="val 50000"/>
            </a:avLst>
          </a:prstGeom>
          <a:solidFill>
            <a:srgbClr val="B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ks tag DARI PAPER KE POSTER"/>
          <p:cNvSpPr txBox="1"/>
          <p:nvPr/>
        </p:nvSpPr>
        <p:spPr>
          <a:xfrm>
            <a:off x="1508760" y="1024128"/>
            <a:ext cx="4866640" cy="548640"/>
          </a:xfrm>
          <a:prstGeom prst="rect">
            <a:avLst/>
          </a:prstGeom>
          <a:noFill/>
        </p:spPr>
        <p:txBody>
          <a:bodyPr wrap="square" lIns="0" rIns="0" tIns="0" bIns="0" anchor="t">
            <a:spAutoFit/>
          </a:bodyPr>
          <a:lstStyle/>
          <a:p>
            <a:pPr algn="ctr">
              <a:spcAft>
                <a:spcPts val="0"/>
              </a:spcAft>
            </a:pPr>
            <a:r>
              <a:rPr sz="2200">
                <a:solidFill>
                  <a:srgbClr val="0A2540"/>
                </a:solidFill>
                <a:latin typeface="Playpen Sans Bold"/>
              </a:rPr>
              <a:t>DARI PAPER KE POSTER</a:t>
            </a:r>
          </a:p>
        </p:txBody>
      </p:sp>
      <p:sp>
        <p:nvSpPr>
          <p:cNvPr id="17" name="Judul"/>
          <p:cNvSpPr txBox="1"/>
          <p:nvPr/>
        </p:nvSpPr>
        <p:spPr>
          <a:xfrm>
            <a:off x="6741160" y="960120"/>
            <a:ext cx="10038079" cy="731520"/>
          </a:xfrm>
          <a:prstGeom prst="rect">
            <a:avLst/>
          </a:prstGeom>
          <a:noFill/>
        </p:spPr>
        <p:txBody>
          <a:bodyPr wrap="square" lIns="0" rIns="0" tIns="0" bIns="0" anchor="ctr">
            <a:spAutoFit/>
          </a:bodyPr>
          <a:lstStyle/>
          <a:p>
            <a:pPr algn="l">
              <a:spcAft>
                <a:spcPts val="0"/>
              </a:spcAft>
            </a:pPr>
            <a:r>
              <a:rPr sz="4400">
                <a:solidFill>
                  <a:srgbClr val="F7B125"/>
                </a:solidFill>
                <a:latin typeface="Playpen Sans Bold"/>
              </a:rPr>
              <a:t>Hasil riset di konferensi</a:t>
            </a:r>
          </a:p>
        </p:txBody>
      </p:sp>
      <p:pic>
        <p:nvPicPr>
          <p:cNvPr id="18" name="Paper poster" descr="Foto poster TENCON 2026: Gradient-Free Token Eviction for Edge-Deployable Video-LLMs"/>
          <p:cNvPicPr>
            <a:picLocks noChangeAspect="1"/>
          </p:cNvPicPr>
          <p:nvPr/>
        </p:nvPicPr>
        <p:blipFill>
          <a:blip r:embed="rId13"/>
          <a:stretch>
            <a:fillRect/>
          </a:stretch>
        </p:blipFill>
        <p:spPr>
          <a:xfrm>
            <a:off x="1508760" y="2103120"/>
            <a:ext cx="3806189" cy="5074920"/>
          </a:xfrm>
          <a:prstGeom prst="rect">
            <a:avLst/>
          </a:prstGeom>
          <a:ln w="38100">
            <a:solidFill>
              <a:srgbClr val="F7B125"/>
            </a:solidFill>
          </a:ln>
        </p:spPr>
      </p:pic>
      <p:pic>
        <p:nvPicPr>
          <p:cNvPr id="19" name="Paper token" descr="Judul paper Gradient-Free Token Eviction for Edge-Deployable Video-LLMs in Ecological Monitoring"/>
          <p:cNvPicPr>
            <a:picLocks noChangeAspect="1"/>
          </p:cNvPicPr>
          <p:nvPr/>
        </p:nvPicPr>
        <p:blipFill>
          <a:blip r:embed="rId14"/>
          <a:stretch>
            <a:fillRect/>
          </a:stretch>
        </p:blipFill>
        <p:spPr>
          <a:xfrm>
            <a:off x="5852159" y="2148840"/>
            <a:ext cx="7315200" cy="2512431"/>
          </a:xfrm>
          <a:prstGeom prst="rect">
            <a:avLst/>
          </a:prstGeom>
          <a:ln w="38100">
            <a:solidFill>
              <a:srgbClr val="F7B125"/>
            </a:solidFill>
          </a:ln>
        </p:spPr>
      </p:pic>
      <p:sp>
        <p:nvSpPr>
          <p:cNvPr id="20" name="Poin poster"/>
          <p:cNvSpPr txBox="1"/>
          <p:nvPr/>
        </p:nvSpPr>
        <p:spPr>
          <a:xfrm>
            <a:off x="5852159" y="5029200"/>
            <a:ext cx="10972800" cy="2286000"/>
          </a:xfrm>
          <a:prstGeom prst="rect">
            <a:avLst/>
          </a:prstGeom>
          <a:noFill/>
        </p:spPr>
        <p:txBody>
          <a:bodyPr wrap="square" lIns="0" rIns="0" tIns="0" bIns="0" anchor="t">
            <a:spAutoFit/>
          </a:bodyPr>
          <a:lstStyle/>
          <a:p>
            <a:pPr algn="l">
              <a:spcAft>
                <a:spcPts val="800"/>
              </a:spcAft>
            </a:pPr>
            <a:r>
              <a:rPr sz="2400">
                <a:solidFill>
                  <a:srgbClr val="F7B125"/>
                </a:solidFill>
                <a:latin typeface="Playpen Sans Bold"/>
              </a:rPr>
              <a:t>Satu paper, satu poster di IEEE TENCON 2026</a:t>
            </a:r>
          </a:p>
          <a:p>
            <a:pPr algn="l">
              <a:spcAft>
                <a:spcPts val="800"/>
              </a:spcAft>
            </a:pPr>
            <a:r>
              <a:rPr sz="2200">
                <a:solidFill>
                  <a:srgbClr val="FFFFFF"/>
                </a:solidFill>
                <a:latin typeface="Playpen Sans"/>
              </a:rPr>
              <a:t>Tujuh kotak: Motivasi, Ide kunci, Metode, Setup, Hasil, Takeaways, Limitations</a:t>
            </a:r>
          </a:p>
          <a:p>
            <a:pPr algn="l">
              <a:spcAft>
                <a:spcPts val="0"/>
              </a:spcAft>
            </a:pPr>
            <a:r>
              <a:rPr sz="2200">
                <a:solidFill>
                  <a:srgbClr val="FFFFFF"/>
                </a:solidFill>
                <a:latin typeface="Playpen Sans"/>
              </a:rPr>
              <a:t>Angka utama dibuat besar: 19,1% budget token, 52% lebih sedikit token, 4,5 GB VRAM</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7928" r="0" b="-67928"/>
            </a:stretch>
          </a:blipFill>
        </p:spPr>
      </p:sp>
      <p:sp>
        <p:nvSpPr>
          <p:cNvPr name="Freeform 3" id="3"/>
          <p:cNvSpPr/>
          <p:nvPr/>
        </p:nvSpPr>
        <p:spPr>
          <a:xfrm flipH="false" flipV="false" rot="0">
            <a:off x="12533569" y="-21055"/>
            <a:ext cx="5762298" cy="6532600"/>
          </a:xfrm>
          <a:custGeom>
            <a:avLst/>
            <a:gdLst/>
            <a:ahLst/>
            <a:cxnLst/>
            <a:rect r="r" b="b" t="t" l="l"/>
            <a:pathLst>
              <a:path h="6532600" w="5762298">
                <a:moveTo>
                  <a:pt x="0" y="0"/>
                </a:moveTo>
                <a:lnTo>
                  <a:pt x="5762298" y="0"/>
                </a:lnTo>
                <a:lnTo>
                  <a:pt x="5762298" y="6532600"/>
                </a:lnTo>
                <a:lnTo>
                  <a:pt x="0" y="6532600"/>
                </a:lnTo>
                <a:lnTo>
                  <a:pt x="0" y="0"/>
                </a:lnTo>
                <a:close/>
              </a:path>
            </a:pathLst>
          </a:custGeom>
          <a:blipFill>
            <a:blip r:embed="rId3"/>
            <a:stretch>
              <a:fillRect l="0" t="0" r="0" b="0"/>
            </a:stretch>
          </a:blipFill>
        </p:spPr>
      </p:sp>
      <p:sp>
        <p:nvSpPr>
          <p:cNvPr name="Freeform 4" id="4"/>
          <p:cNvSpPr/>
          <p:nvPr/>
        </p:nvSpPr>
        <p:spPr>
          <a:xfrm flipH="false" flipV="false" rot="0">
            <a:off x="12978766" y="2004481"/>
            <a:ext cx="5309234" cy="5465964"/>
          </a:xfrm>
          <a:custGeom>
            <a:avLst/>
            <a:gdLst/>
            <a:ahLst/>
            <a:cxnLst/>
            <a:rect r="r" b="b" t="t" l="l"/>
            <a:pathLst>
              <a:path h="5465964" w="5309234">
                <a:moveTo>
                  <a:pt x="0" y="0"/>
                </a:moveTo>
                <a:lnTo>
                  <a:pt x="5309234" y="0"/>
                </a:lnTo>
                <a:lnTo>
                  <a:pt x="5309234" y="5465965"/>
                </a:lnTo>
                <a:lnTo>
                  <a:pt x="0" y="5465965"/>
                </a:lnTo>
                <a:lnTo>
                  <a:pt x="0" y="0"/>
                </a:lnTo>
                <a:close/>
              </a:path>
            </a:pathLst>
          </a:custGeom>
          <a:blipFill>
            <a:blip r:embed="rId4"/>
            <a:stretch>
              <a:fillRect l="0" t="0" r="0" b="0"/>
            </a:stretch>
          </a:blipFill>
        </p:spPr>
      </p:sp>
      <p:sp>
        <p:nvSpPr>
          <p:cNvPr name="Freeform 5" id="5"/>
          <p:cNvSpPr/>
          <p:nvPr/>
        </p:nvSpPr>
        <p:spPr>
          <a:xfrm flipH="true" flipV="false" rot="0">
            <a:off x="-29416" y="0"/>
            <a:ext cx="5762298" cy="6532600"/>
          </a:xfrm>
          <a:custGeom>
            <a:avLst/>
            <a:gdLst/>
            <a:ahLst/>
            <a:cxnLst/>
            <a:rect r="r" b="b" t="t" l="l"/>
            <a:pathLst>
              <a:path h="6532600" w="5762298">
                <a:moveTo>
                  <a:pt x="5762298" y="0"/>
                </a:moveTo>
                <a:lnTo>
                  <a:pt x="0" y="0"/>
                </a:lnTo>
                <a:lnTo>
                  <a:pt x="0" y="6532600"/>
                </a:lnTo>
                <a:lnTo>
                  <a:pt x="5762298" y="6532600"/>
                </a:lnTo>
                <a:lnTo>
                  <a:pt x="5762298" y="0"/>
                </a:lnTo>
                <a:close/>
              </a:path>
            </a:pathLst>
          </a:custGeom>
          <a:blipFill>
            <a:blip r:embed="rId3"/>
            <a:stretch>
              <a:fillRect l="0" t="0" r="0" b="0"/>
            </a:stretch>
          </a:blipFill>
        </p:spPr>
      </p:sp>
      <p:sp>
        <p:nvSpPr>
          <p:cNvPr name="Freeform 6" id="6"/>
          <p:cNvSpPr/>
          <p:nvPr/>
        </p:nvSpPr>
        <p:spPr>
          <a:xfrm flipH="false" flipV="false" rot="0">
            <a:off x="423648" y="2410518"/>
            <a:ext cx="5309234" cy="5465964"/>
          </a:xfrm>
          <a:custGeom>
            <a:avLst/>
            <a:gdLst/>
            <a:ahLst/>
            <a:cxnLst/>
            <a:rect r="r" b="b" t="t" l="l"/>
            <a:pathLst>
              <a:path h="5465964" w="5309234">
                <a:moveTo>
                  <a:pt x="0" y="0"/>
                </a:moveTo>
                <a:lnTo>
                  <a:pt x="5309234" y="0"/>
                </a:lnTo>
                <a:lnTo>
                  <a:pt x="5309234" y="5465964"/>
                </a:lnTo>
                <a:lnTo>
                  <a:pt x="0" y="5465964"/>
                </a:lnTo>
                <a:lnTo>
                  <a:pt x="0" y="0"/>
                </a:lnTo>
                <a:close/>
              </a:path>
            </a:pathLst>
          </a:custGeom>
          <a:blipFill>
            <a:blip r:embed="rId4"/>
            <a:stretch>
              <a:fillRect l="0" t="0" r="0" b="0"/>
            </a:stretch>
          </a:blipFill>
        </p:spPr>
      </p:sp>
      <p:sp>
        <p:nvSpPr>
          <p:cNvPr name="Freeform 7" id="7"/>
          <p:cNvSpPr/>
          <p:nvPr/>
        </p:nvSpPr>
        <p:spPr>
          <a:xfrm flipH="false" flipV="false" rot="0">
            <a:off x="-317430" y="7660946"/>
            <a:ext cx="18613297" cy="3022078"/>
          </a:xfrm>
          <a:custGeom>
            <a:avLst/>
            <a:gdLst/>
            <a:ahLst/>
            <a:cxnLst/>
            <a:rect r="r" b="b" t="t" l="l"/>
            <a:pathLst>
              <a:path h="3022078" w="18613297">
                <a:moveTo>
                  <a:pt x="0" y="0"/>
                </a:moveTo>
                <a:lnTo>
                  <a:pt x="18613297" y="0"/>
                </a:lnTo>
                <a:lnTo>
                  <a:pt x="18613297" y="3022077"/>
                </a:lnTo>
                <a:lnTo>
                  <a:pt x="0" y="3022077"/>
                </a:lnTo>
                <a:lnTo>
                  <a:pt x="0" y="0"/>
                </a:lnTo>
                <a:close/>
              </a:path>
            </a:pathLst>
          </a:custGeom>
          <a:blipFill>
            <a:blip r:embed="rId5"/>
            <a:stretch>
              <a:fillRect l="-158" t="0" r="-158" b="-6838"/>
            </a:stretch>
          </a:blipFill>
        </p:spPr>
      </p:sp>
      <p:sp>
        <p:nvSpPr>
          <p:cNvPr name="Freeform 11" id="11"/>
          <p:cNvSpPr/>
          <p:nvPr/>
        </p:nvSpPr>
        <p:spPr>
          <a:xfrm flipH="false" flipV="false" rot="0">
            <a:off x="681269" y="7470446"/>
            <a:ext cx="6083710" cy="4114800"/>
          </a:xfrm>
          <a:custGeom>
            <a:avLst/>
            <a:gdLst/>
            <a:ahLst/>
            <a:cxnLst/>
            <a:rect r="r" b="b" t="t" l="l"/>
            <a:pathLst>
              <a:path h="4114800" w="6083710">
                <a:moveTo>
                  <a:pt x="0" y="0"/>
                </a:moveTo>
                <a:lnTo>
                  <a:pt x="6083709" y="0"/>
                </a:lnTo>
                <a:lnTo>
                  <a:pt x="6083709"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9549673" y="7660946"/>
            <a:ext cx="6083710" cy="4114800"/>
          </a:xfrm>
          <a:custGeom>
            <a:avLst/>
            <a:gdLst/>
            <a:ahLst/>
            <a:cxnLst/>
            <a:rect r="r" b="b" t="t" l="l"/>
            <a:pathLst>
              <a:path h="4114800" w="6083710">
                <a:moveTo>
                  <a:pt x="0" y="0"/>
                </a:moveTo>
                <a:lnTo>
                  <a:pt x="6083710" y="0"/>
                </a:lnTo>
                <a:lnTo>
                  <a:pt x="608371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id="14" name="Panel"/>
          <p:cNvSpPr/>
          <p:nvPr/>
        </p:nvSpPr>
        <p:spPr>
          <a:xfrm>
            <a:off x="914400" y="731520"/>
            <a:ext cx="16459200" cy="6675120"/>
          </a:xfrm>
          <a:prstGeom prst="roundRect">
            <a:avLst>
              <a:gd name="adj" fmla="val 5000"/>
            </a:avLst>
          </a:prstGeom>
          <a:solidFill>
            <a:srgbClr val="0A2540">
              <a:alpha val="8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g DARI PAPER KE KELAS"/>
          <p:cNvSpPr/>
          <p:nvPr/>
        </p:nvSpPr>
        <p:spPr>
          <a:xfrm>
            <a:off x="1508760" y="960120"/>
            <a:ext cx="4659884" cy="640080"/>
          </a:xfrm>
          <a:prstGeom prst="roundRect">
            <a:avLst>
              <a:gd name="adj" fmla="val 50000"/>
            </a:avLst>
          </a:prstGeom>
          <a:solidFill>
            <a:srgbClr val="B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ks tag DARI PAPER KE KELAS"/>
          <p:cNvSpPr txBox="1"/>
          <p:nvPr/>
        </p:nvSpPr>
        <p:spPr>
          <a:xfrm>
            <a:off x="1508760" y="1024128"/>
            <a:ext cx="4659884" cy="548640"/>
          </a:xfrm>
          <a:prstGeom prst="rect">
            <a:avLst/>
          </a:prstGeom>
          <a:noFill/>
        </p:spPr>
        <p:txBody>
          <a:bodyPr wrap="square" lIns="0" rIns="0" tIns="0" bIns="0" anchor="t">
            <a:spAutoFit/>
          </a:bodyPr>
          <a:lstStyle/>
          <a:p>
            <a:pPr algn="ctr">
              <a:spcAft>
                <a:spcPts val="0"/>
              </a:spcAft>
            </a:pPr>
            <a:r>
              <a:rPr sz="2200">
                <a:solidFill>
                  <a:srgbClr val="0A2540"/>
                </a:solidFill>
                <a:latin typeface="Playpen Sans Bold"/>
              </a:rPr>
              <a:t>DARI PAPER KE KELAS</a:t>
            </a:r>
          </a:p>
        </p:txBody>
      </p:sp>
      <p:sp>
        <p:nvSpPr>
          <p:cNvPr id="17" name="Judul"/>
          <p:cNvSpPr txBox="1"/>
          <p:nvPr/>
        </p:nvSpPr>
        <p:spPr>
          <a:xfrm>
            <a:off x="6534404" y="960120"/>
            <a:ext cx="10244836" cy="731520"/>
          </a:xfrm>
          <a:prstGeom prst="rect">
            <a:avLst/>
          </a:prstGeom>
          <a:noFill/>
        </p:spPr>
        <p:txBody>
          <a:bodyPr wrap="square" lIns="0" rIns="0" tIns="0" bIns="0" anchor="ctr">
            <a:spAutoFit/>
          </a:bodyPr>
          <a:lstStyle/>
          <a:p>
            <a:pPr algn="l">
              <a:spcAft>
                <a:spcPts val="0"/>
              </a:spcAft>
            </a:pPr>
            <a:r>
              <a:rPr sz="4200">
                <a:solidFill>
                  <a:srgbClr val="F7B125"/>
                </a:solidFill>
                <a:latin typeface="Playpen Sans Bold"/>
              </a:rPr>
              <a:t>Poster ini memakai isi kelas kita</a:t>
            </a:r>
          </a:p>
        </p:txBody>
      </p:sp>
      <p:graphicFrame>
        <p:nvGraphicFramePr>
          <p:cNvPr id="18" name="Tabel poster dan kelas"/>
          <p:cNvGraphicFramePr>
            <a:graphicFrameLocks noGrp="1"/>
          </p:cNvGraphicFramePr>
          <p:nvPr/>
        </p:nvGraphicFramePr>
        <p:xfrm>
          <a:off x="1508760" y="2011680"/>
          <a:ext cx="15270479" cy="4974336"/>
        </p:xfrm>
        <a:graphic>
          <a:graphicData uri="http://schemas.openxmlformats.org/drawingml/2006/table">
            <a:tbl>
              <a:tblPr firstRow="1" bandRow="1">
                <a:tableStyleId>{5C22544A-7EE6-4342-B048-85BDC9FD1C3A}</a:tableStyleId>
              </a:tblPr>
              <a:tblGrid>
                <a:gridCol w="7955279"/>
                <a:gridCol w="7315200"/>
              </a:tblGrid>
              <a:tr h="621792">
                <a:tc>
                  <a:txBody>
                    <a:bodyPr/>
                    <a:lstStyle/>
                    <a:p>
                      <a:r>
                        <a:rPr sz="2600">
                          <a:solidFill>
                            <a:srgbClr val="0A2540"/>
                          </a:solidFill>
                          <a:latin typeface="Playpen Sans Bold"/>
                        </a:rPr>
                        <a:t>Di poster</a:t>
                      </a:r>
                    </a:p>
                  </a:txBody>
                  <a:tcPr marL="137160" marR="137160" marT="27432" marB="27432" anchor="ctr">
                    <a:solidFill>
                      <a:srgbClr val="F7B125"/>
                    </a:solidFill>
                  </a:tcPr>
                </a:tc>
                <a:tc>
                  <a:txBody>
                    <a:bodyPr/>
                    <a:lstStyle/>
                    <a:p>
                      <a:r>
                        <a:rPr sz="2600">
                          <a:solidFill>
                            <a:srgbClr val="0A2540"/>
                          </a:solidFill>
                          <a:latin typeface="Playpen Sans Bold"/>
                        </a:rPr>
                        <a:t>Di kelas ini</a:t>
                      </a:r>
                    </a:p>
                  </a:txBody>
                  <a:tcPr marL="137160" marR="137160" marT="27432" marB="27432" anchor="ctr">
                    <a:solidFill>
                      <a:srgbClr val="F7B125"/>
                    </a:solidFill>
                  </a:tcPr>
                </a:tc>
              </a:tr>
              <a:tr h="621792">
                <a:tc>
                  <a:txBody>
                    <a:bodyPr/>
                    <a:lstStyle/>
                    <a:p>
                      <a:r>
                        <a:rPr sz="2100">
                          <a:solidFill>
                            <a:srgbClr val="FFFFFF"/>
                          </a:solidFill>
                          <a:latin typeface="Playpen Sans"/>
                        </a:rPr>
                        <a:t>Pilih frame dan patch mana yang disimpan: soal biner</a:t>
                      </a:r>
                    </a:p>
                  </a:txBody>
                  <a:tcPr marL="137160" marR="137160" marT="27432" marB="27432" anchor="ctr">
                    <a:solidFill>
                      <a:srgbClr val="143A63"/>
                    </a:solidFill>
                  </a:tcPr>
                </a:tc>
                <a:tc>
                  <a:txBody>
                    <a:bodyPr/>
                    <a:lstStyle/>
                    <a:p>
                      <a:r>
                        <a:rPr sz="2100">
                          <a:solidFill>
                            <a:srgbClr val="F7B125"/>
                          </a:solidFill>
                          <a:latin typeface="Playpen Sans"/>
                        </a:rPr>
                        <a:t>Representasi solusi (Pekan 11)</a:t>
                      </a:r>
                    </a:p>
                  </a:txBody>
                  <a:tcPr marL="137160" marR="137160" marT="27432" marB="27432" anchor="ctr">
                    <a:solidFill>
                      <a:srgbClr val="143A63"/>
                    </a:solidFill>
                  </a:tcPr>
                </a:tc>
              </a:tr>
              <a:tr h="621792">
                <a:tc>
                  <a:txBody>
                    <a:bodyPr/>
                    <a:lstStyle/>
                    <a:p>
                      <a:r>
                        <a:rPr sz="2100">
                          <a:solidFill>
                            <a:srgbClr val="FFFFFF"/>
                          </a:solidFill>
                          <a:latin typeface="Playpen Sans"/>
                        </a:rPr>
                        <a:t>BPSO: binary particle swarm</a:t>
                      </a:r>
                    </a:p>
                  </a:txBody>
                  <a:tcPr marL="137160" marR="137160" marT="27432" marB="27432" anchor="ctr">
                    <a:solidFill>
                      <a:srgbClr val="0A2540"/>
                    </a:solidFill>
                  </a:tcPr>
                </a:tc>
                <a:tc>
                  <a:txBody>
                    <a:bodyPr/>
                    <a:lstStyle/>
                    <a:p>
                      <a:r>
                        <a:rPr sz="2100">
                          <a:solidFill>
                            <a:srgbClr val="F7B125"/>
                          </a:solidFill>
                          <a:latin typeface="Playpen Sans"/>
                        </a:rPr>
                        <a:t>Metaheuristik populasi, PSO (Pekan 10)</a:t>
                      </a:r>
                    </a:p>
                  </a:txBody>
                  <a:tcPr marL="137160" marR="137160" marT="27432" marB="27432" anchor="ctr">
                    <a:solidFill>
                      <a:srgbClr val="0A2540"/>
                    </a:solidFill>
                  </a:tcPr>
                </a:tc>
              </a:tr>
              <a:tr h="621792">
                <a:tc>
                  <a:txBody>
                    <a:bodyPr/>
                    <a:lstStyle/>
                    <a:p>
                      <a:r>
                        <a:rPr sz="2100">
                          <a:solidFill>
                            <a:srgbClr val="FFFFFF"/>
                          </a:solidFill>
                          <a:latin typeface="Playpen Sans"/>
                        </a:rPr>
                        <a:t>NSGA-II: banyak tujuan, solusi Pareto</a:t>
                      </a:r>
                    </a:p>
                  </a:txBody>
                  <a:tcPr marL="137160" marR="137160" marT="27432" marB="27432" anchor="ctr">
                    <a:solidFill>
                      <a:srgbClr val="143A63"/>
                    </a:solidFill>
                  </a:tcPr>
                </a:tc>
                <a:tc>
                  <a:txBody>
                    <a:bodyPr/>
                    <a:lstStyle/>
                    <a:p>
                      <a:r>
                        <a:rPr sz="2100">
                          <a:solidFill>
                            <a:srgbClr val="F7B125"/>
                          </a:solidFill>
                          <a:latin typeface="Playpen Sans"/>
                        </a:rPr>
                        <a:t>Multi-objektif (topik lanjutan, opsional)</a:t>
                      </a:r>
                    </a:p>
                  </a:txBody>
                  <a:tcPr marL="137160" marR="137160" marT="27432" marB="27432" anchor="ctr">
                    <a:solidFill>
                      <a:srgbClr val="143A63"/>
                    </a:solidFill>
                  </a:tcPr>
                </a:tc>
              </a:tr>
              <a:tr h="621792">
                <a:tc>
                  <a:txBody>
                    <a:bodyPr/>
                    <a:lstStyle/>
                    <a:p>
                      <a:r>
                        <a:rPr sz="2100">
                          <a:solidFill>
                            <a:srgbClr val="FFFFFF"/>
                          </a:solidFill>
                          <a:latin typeface="Playpen Sans"/>
                        </a:rPr>
                        <a:t>Gradient-free: model dianggap kotak hitam</a:t>
                      </a:r>
                    </a:p>
                  </a:txBody>
                  <a:tcPr marL="137160" marR="137160" marT="27432" marB="27432" anchor="ctr">
                    <a:solidFill>
                      <a:srgbClr val="0A2540"/>
                    </a:solidFill>
                  </a:tcPr>
                </a:tc>
                <a:tc>
                  <a:txBody>
                    <a:bodyPr/>
                    <a:lstStyle/>
                    <a:p>
                      <a:r>
                        <a:rPr sz="2100">
                          <a:solidFill>
                            <a:srgbClr val="F7B125"/>
                          </a:solidFill>
                          <a:latin typeface="Playpen Sans"/>
                        </a:rPr>
                        <a:t>Optimasi tanpa gradien (Pekan 9 sampai 12)</a:t>
                      </a:r>
                    </a:p>
                  </a:txBody>
                  <a:tcPr marL="137160" marR="137160" marT="27432" marB="27432" anchor="ctr">
                    <a:solidFill>
                      <a:srgbClr val="0A2540"/>
                    </a:solidFill>
                  </a:tcPr>
                </a:tc>
              </a:tr>
              <a:tr h="621792">
                <a:tc>
                  <a:txBody>
                    <a:bodyPr/>
                    <a:lstStyle/>
                    <a:p>
                      <a:r>
                        <a:rPr sz="2100">
                          <a:solidFill>
                            <a:srgbClr val="FFFFFF"/>
                          </a:solidFill>
                          <a:latin typeface="Playpen Sans"/>
                        </a:rPr>
                        <a:t>5 seed, rata-rata ± simpangan baku, uji Wilcoxon</a:t>
                      </a:r>
                    </a:p>
                  </a:txBody>
                  <a:tcPr marL="137160" marR="137160" marT="27432" marB="27432" anchor="ctr">
                    <a:solidFill>
                      <a:srgbClr val="143A63"/>
                    </a:solidFill>
                  </a:tcPr>
                </a:tc>
                <a:tc>
                  <a:txBody>
                    <a:bodyPr/>
                    <a:lstStyle/>
                    <a:p>
                      <a:r>
                        <a:rPr sz="2100">
                          <a:solidFill>
                            <a:srgbClr val="F7B125"/>
                          </a:solidFill>
                          <a:latin typeface="Playpen Sans"/>
                        </a:rPr>
                        <a:t>Protokol eksperimen (Pekan 9 dan proyek akhir)</a:t>
                      </a:r>
                    </a:p>
                  </a:txBody>
                  <a:tcPr marL="137160" marR="137160" marT="27432" marB="27432" anchor="ctr">
                    <a:solidFill>
                      <a:srgbClr val="143A63"/>
                    </a:solidFill>
                  </a:tcPr>
                </a:tc>
              </a:tr>
              <a:tr h="621792">
                <a:tc>
                  <a:txBody>
                    <a:bodyPr/>
                    <a:lstStyle/>
                    <a:p>
                      <a:r>
                        <a:rPr sz="2100">
                          <a:solidFill>
                            <a:srgbClr val="FFFFFF"/>
                          </a:solidFill>
                          <a:latin typeface="Playpen Sans"/>
                        </a:rPr>
                        <a:t>Video-LLM beku, LLaVA-1.5-7B 4-bit</a:t>
                      </a:r>
                    </a:p>
                  </a:txBody>
                  <a:tcPr marL="137160" marR="137160" marT="27432" marB="27432" anchor="ctr">
                    <a:solidFill>
                      <a:srgbClr val="0A2540"/>
                    </a:solidFill>
                  </a:tcPr>
                </a:tc>
                <a:tc>
                  <a:txBody>
                    <a:bodyPr/>
                    <a:lstStyle/>
                    <a:p>
                      <a:r>
                        <a:rPr sz="2100">
                          <a:solidFill>
                            <a:srgbClr val="F7B125"/>
                          </a:solidFill>
                          <a:latin typeface="Playpen Sans"/>
                        </a:rPr>
                        <a:t>Transformer dan LLM (Pekan 14)</a:t>
                      </a:r>
                    </a:p>
                  </a:txBody>
                  <a:tcPr marL="137160" marR="137160" marT="27432" marB="27432" anchor="ctr">
                    <a:solidFill>
                      <a:srgbClr val="0A2540"/>
                    </a:solidFill>
                  </a:tcPr>
                </a:tc>
              </a:tr>
              <a:tr h="621792">
                <a:tc>
                  <a:txBody>
                    <a:bodyPr/>
                    <a:lstStyle/>
                    <a:p>
                      <a:r>
                        <a:rPr sz="2100">
                          <a:solidFill>
                            <a:srgbClr val="FFFFFF"/>
                          </a:solidFill>
                          <a:latin typeface="Playpen Sans"/>
                        </a:rPr>
                        <a:t>Kotak Limitations</a:t>
                      </a:r>
                    </a:p>
                  </a:txBody>
                  <a:tcPr marL="137160" marR="137160" marT="27432" marB="27432" anchor="ctr">
                    <a:solidFill>
                      <a:srgbClr val="143A63"/>
                    </a:solidFill>
                  </a:tcPr>
                </a:tc>
                <a:tc>
                  <a:txBody>
                    <a:bodyPr/>
                    <a:lstStyle/>
                    <a:p>
                      <a:r>
                        <a:rPr sz="2100">
                          <a:solidFill>
                            <a:srgbClr val="F7B125"/>
                          </a:solidFill>
                          <a:latin typeface="Playpen Sans"/>
                        </a:rPr>
                        <a:t>Catatan teknis dengan satu kasus gagal</a:t>
                      </a:r>
                    </a:p>
                  </a:txBody>
                  <a:tcPr marL="137160" marR="137160" marT="27432" marB="27432" anchor="ctr">
                    <a:solidFill>
                      <a:srgbClr val="143A63"/>
                    </a:solidFill>
                  </a:tcPr>
                </a:tc>
              </a:tr>
            </a:tbl>
          </a:graphicData>
        </a:graphic>
      </p:graphicFrame>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7928" r="0" b="-67928"/>
            </a:stretch>
          </a:blipFill>
        </p:spPr>
      </p:sp>
      <p:sp>
        <p:nvSpPr>
          <p:cNvPr name="Freeform 3" id="3"/>
          <p:cNvSpPr/>
          <p:nvPr/>
        </p:nvSpPr>
        <p:spPr>
          <a:xfrm flipH="false" flipV="false" rot="0">
            <a:off x="12533569" y="-21055"/>
            <a:ext cx="5762298" cy="6532600"/>
          </a:xfrm>
          <a:custGeom>
            <a:avLst/>
            <a:gdLst/>
            <a:ahLst/>
            <a:cxnLst/>
            <a:rect r="r" b="b" t="t" l="l"/>
            <a:pathLst>
              <a:path h="6532600" w="5762298">
                <a:moveTo>
                  <a:pt x="0" y="0"/>
                </a:moveTo>
                <a:lnTo>
                  <a:pt x="5762298" y="0"/>
                </a:lnTo>
                <a:lnTo>
                  <a:pt x="5762298" y="6532600"/>
                </a:lnTo>
                <a:lnTo>
                  <a:pt x="0" y="6532600"/>
                </a:lnTo>
                <a:lnTo>
                  <a:pt x="0" y="0"/>
                </a:lnTo>
                <a:close/>
              </a:path>
            </a:pathLst>
          </a:custGeom>
          <a:blipFill>
            <a:blip r:embed="rId3"/>
            <a:stretch>
              <a:fillRect l="0" t="0" r="0" b="0"/>
            </a:stretch>
          </a:blipFill>
        </p:spPr>
      </p:sp>
      <p:sp>
        <p:nvSpPr>
          <p:cNvPr name="Freeform 4" id="4"/>
          <p:cNvSpPr/>
          <p:nvPr/>
        </p:nvSpPr>
        <p:spPr>
          <a:xfrm flipH="false" flipV="false" rot="0">
            <a:off x="12978766" y="2004481"/>
            <a:ext cx="5309234" cy="5465964"/>
          </a:xfrm>
          <a:custGeom>
            <a:avLst/>
            <a:gdLst/>
            <a:ahLst/>
            <a:cxnLst/>
            <a:rect r="r" b="b" t="t" l="l"/>
            <a:pathLst>
              <a:path h="5465964" w="5309234">
                <a:moveTo>
                  <a:pt x="0" y="0"/>
                </a:moveTo>
                <a:lnTo>
                  <a:pt x="5309234" y="0"/>
                </a:lnTo>
                <a:lnTo>
                  <a:pt x="5309234" y="5465965"/>
                </a:lnTo>
                <a:lnTo>
                  <a:pt x="0" y="5465965"/>
                </a:lnTo>
                <a:lnTo>
                  <a:pt x="0" y="0"/>
                </a:lnTo>
                <a:close/>
              </a:path>
            </a:pathLst>
          </a:custGeom>
          <a:blipFill>
            <a:blip r:embed="rId4"/>
            <a:stretch>
              <a:fillRect l="0" t="0" r="0" b="0"/>
            </a:stretch>
          </a:blipFill>
        </p:spPr>
      </p:sp>
      <p:sp>
        <p:nvSpPr>
          <p:cNvPr name="Freeform 5" id="5"/>
          <p:cNvSpPr/>
          <p:nvPr/>
        </p:nvSpPr>
        <p:spPr>
          <a:xfrm flipH="true" flipV="false" rot="0">
            <a:off x="-29416" y="0"/>
            <a:ext cx="5762298" cy="6532600"/>
          </a:xfrm>
          <a:custGeom>
            <a:avLst/>
            <a:gdLst/>
            <a:ahLst/>
            <a:cxnLst/>
            <a:rect r="r" b="b" t="t" l="l"/>
            <a:pathLst>
              <a:path h="6532600" w="5762298">
                <a:moveTo>
                  <a:pt x="5762298" y="0"/>
                </a:moveTo>
                <a:lnTo>
                  <a:pt x="0" y="0"/>
                </a:lnTo>
                <a:lnTo>
                  <a:pt x="0" y="6532600"/>
                </a:lnTo>
                <a:lnTo>
                  <a:pt x="5762298" y="6532600"/>
                </a:lnTo>
                <a:lnTo>
                  <a:pt x="5762298" y="0"/>
                </a:lnTo>
                <a:close/>
              </a:path>
            </a:pathLst>
          </a:custGeom>
          <a:blipFill>
            <a:blip r:embed="rId3"/>
            <a:stretch>
              <a:fillRect l="0" t="0" r="0" b="0"/>
            </a:stretch>
          </a:blipFill>
        </p:spPr>
      </p:sp>
      <p:sp>
        <p:nvSpPr>
          <p:cNvPr name="Freeform 6" id="6"/>
          <p:cNvSpPr/>
          <p:nvPr/>
        </p:nvSpPr>
        <p:spPr>
          <a:xfrm flipH="false" flipV="false" rot="0">
            <a:off x="423648" y="2410518"/>
            <a:ext cx="5309234" cy="5465964"/>
          </a:xfrm>
          <a:custGeom>
            <a:avLst/>
            <a:gdLst/>
            <a:ahLst/>
            <a:cxnLst/>
            <a:rect r="r" b="b" t="t" l="l"/>
            <a:pathLst>
              <a:path h="5465964" w="5309234">
                <a:moveTo>
                  <a:pt x="0" y="0"/>
                </a:moveTo>
                <a:lnTo>
                  <a:pt x="5309234" y="0"/>
                </a:lnTo>
                <a:lnTo>
                  <a:pt x="5309234" y="5465964"/>
                </a:lnTo>
                <a:lnTo>
                  <a:pt x="0" y="5465964"/>
                </a:lnTo>
                <a:lnTo>
                  <a:pt x="0" y="0"/>
                </a:lnTo>
                <a:close/>
              </a:path>
            </a:pathLst>
          </a:custGeom>
          <a:blipFill>
            <a:blip r:embed="rId4"/>
            <a:stretch>
              <a:fillRect l="0" t="0" r="0" b="0"/>
            </a:stretch>
          </a:blipFill>
        </p:spPr>
      </p:sp>
      <p:sp>
        <p:nvSpPr>
          <p:cNvPr name="Freeform 7" id="7"/>
          <p:cNvSpPr/>
          <p:nvPr/>
        </p:nvSpPr>
        <p:spPr>
          <a:xfrm flipH="false" flipV="false" rot="0">
            <a:off x="-317430" y="7660946"/>
            <a:ext cx="18613297" cy="3022078"/>
          </a:xfrm>
          <a:custGeom>
            <a:avLst/>
            <a:gdLst/>
            <a:ahLst/>
            <a:cxnLst/>
            <a:rect r="r" b="b" t="t" l="l"/>
            <a:pathLst>
              <a:path h="3022078" w="18613297">
                <a:moveTo>
                  <a:pt x="0" y="0"/>
                </a:moveTo>
                <a:lnTo>
                  <a:pt x="18613297" y="0"/>
                </a:lnTo>
                <a:lnTo>
                  <a:pt x="18613297" y="3022077"/>
                </a:lnTo>
                <a:lnTo>
                  <a:pt x="0" y="3022077"/>
                </a:lnTo>
                <a:lnTo>
                  <a:pt x="0" y="0"/>
                </a:lnTo>
                <a:close/>
              </a:path>
            </a:pathLst>
          </a:custGeom>
          <a:blipFill>
            <a:blip r:embed="rId5"/>
            <a:stretch>
              <a:fillRect l="-158" t="0" r="-158" b="-6838"/>
            </a:stretch>
          </a:blipFill>
        </p:spPr>
      </p:sp>
      <p:sp>
        <p:nvSpPr>
          <p:cNvPr name="Freeform 11" id="11"/>
          <p:cNvSpPr/>
          <p:nvPr/>
        </p:nvSpPr>
        <p:spPr>
          <a:xfrm flipH="false" flipV="false" rot="0">
            <a:off x="681269" y="7470446"/>
            <a:ext cx="6083710" cy="4114800"/>
          </a:xfrm>
          <a:custGeom>
            <a:avLst/>
            <a:gdLst/>
            <a:ahLst/>
            <a:cxnLst/>
            <a:rect r="r" b="b" t="t" l="l"/>
            <a:pathLst>
              <a:path h="4114800" w="6083710">
                <a:moveTo>
                  <a:pt x="0" y="0"/>
                </a:moveTo>
                <a:lnTo>
                  <a:pt x="6083709" y="0"/>
                </a:lnTo>
                <a:lnTo>
                  <a:pt x="6083709"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9549673" y="7660946"/>
            <a:ext cx="6083710" cy="4114800"/>
          </a:xfrm>
          <a:custGeom>
            <a:avLst/>
            <a:gdLst/>
            <a:ahLst/>
            <a:cxnLst/>
            <a:rect r="r" b="b" t="t" l="l"/>
            <a:pathLst>
              <a:path h="4114800" w="6083710">
                <a:moveTo>
                  <a:pt x="0" y="0"/>
                </a:moveTo>
                <a:lnTo>
                  <a:pt x="6083710" y="0"/>
                </a:lnTo>
                <a:lnTo>
                  <a:pt x="608371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id="14" name="Panel"/>
          <p:cNvSpPr/>
          <p:nvPr/>
        </p:nvSpPr>
        <p:spPr>
          <a:xfrm>
            <a:off x="914400" y="731520"/>
            <a:ext cx="16459200" cy="6675120"/>
          </a:xfrm>
          <a:prstGeom prst="roundRect">
            <a:avLst>
              <a:gd name="adj" fmla="val 5000"/>
            </a:avLst>
          </a:prstGeom>
          <a:solidFill>
            <a:srgbClr val="0A2540">
              <a:alpha val="8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g CARA MEMBACA"/>
          <p:cNvSpPr/>
          <p:nvPr/>
        </p:nvSpPr>
        <p:spPr>
          <a:xfrm>
            <a:off x="1508760" y="960120"/>
            <a:ext cx="3212592" cy="640080"/>
          </a:xfrm>
          <a:prstGeom prst="roundRect">
            <a:avLst>
              <a:gd name="adj" fmla="val 50000"/>
            </a:avLst>
          </a:prstGeom>
          <a:solidFill>
            <a:srgbClr val="F7B1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ks tag CARA MEMBACA"/>
          <p:cNvSpPr txBox="1"/>
          <p:nvPr/>
        </p:nvSpPr>
        <p:spPr>
          <a:xfrm>
            <a:off x="1508760" y="1024128"/>
            <a:ext cx="3212592" cy="548640"/>
          </a:xfrm>
          <a:prstGeom prst="rect">
            <a:avLst/>
          </a:prstGeom>
          <a:noFill/>
        </p:spPr>
        <p:txBody>
          <a:bodyPr wrap="square" lIns="0" rIns="0" tIns="0" bIns="0" anchor="t">
            <a:spAutoFit/>
          </a:bodyPr>
          <a:lstStyle/>
          <a:p>
            <a:pPr algn="ctr">
              <a:spcAft>
                <a:spcPts val="0"/>
              </a:spcAft>
            </a:pPr>
            <a:r>
              <a:rPr sz="2200">
                <a:solidFill>
                  <a:srgbClr val="0A2540"/>
                </a:solidFill>
                <a:latin typeface="Playpen Sans Bold"/>
              </a:rPr>
              <a:t>CARA MEMBACA</a:t>
            </a:r>
          </a:p>
        </p:txBody>
      </p:sp>
      <p:sp>
        <p:nvSpPr>
          <p:cNvPr id="17" name="Judul"/>
          <p:cNvSpPr txBox="1"/>
          <p:nvPr/>
        </p:nvSpPr>
        <p:spPr>
          <a:xfrm>
            <a:off x="5087112" y="960120"/>
            <a:ext cx="11692127" cy="731520"/>
          </a:xfrm>
          <a:prstGeom prst="rect">
            <a:avLst/>
          </a:prstGeom>
          <a:noFill/>
        </p:spPr>
        <p:txBody>
          <a:bodyPr wrap="square" lIns="0" rIns="0" tIns="0" bIns="0" anchor="ctr">
            <a:spAutoFit/>
          </a:bodyPr>
          <a:lstStyle/>
          <a:p>
            <a:pPr algn="l">
              <a:spcAft>
                <a:spcPts val="0"/>
              </a:spcAft>
            </a:pPr>
            <a:r>
              <a:rPr sz="4400">
                <a:solidFill>
                  <a:srgbClr val="F7B125"/>
                </a:solidFill>
                <a:latin typeface="Playpen Sans Bold"/>
              </a:rPr>
              <a:t>Satu abstrak, empat bagian</a:t>
            </a:r>
          </a:p>
        </p:txBody>
      </p:sp>
      <p:pic>
        <p:nvPicPr>
          <p:cNvPr id="18" name="Paper skin" descr="Abstrak paper bias warna kulit dengan empat bagian diberi warna"/>
          <p:cNvPicPr>
            <a:picLocks noChangeAspect="1"/>
          </p:cNvPicPr>
          <p:nvPr/>
        </p:nvPicPr>
        <p:blipFill>
          <a:blip r:embed="rId13"/>
          <a:stretch>
            <a:fillRect/>
          </a:stretch>
        </p:blipFill>
        <p:spPr>
          <a:xfrm>
            <a:off x="1508760" y="2103120"/>
            <a:ext cx="9235440" cy="5247548"/>
          </a:xfrm>
          <a:prstGeom prst="rect">
            <a:avLst/>
          </a:prstGeom>
          <a:ln w="38100">
            <a:solidFill>
              <a:srgbClr val="FFFFFF"/>
            </a:solidFill>
          </a:ln>
        </p:spPr>
      </p:pic>
      <p:sp>
        <p:nvSpPr>
          <p:cNvPr id="19" name="Masalah"/>
          <p:cNvSpPr/>
          <p:nvPr/>
        </p:nvSpPr>
        <p:spPr>
          <a:xfrm>
            <a:off x="3585658" y="4634724"/>
            <a:ext cx="7054081" cy="184340"/>
          </a:xfrm>
          <a:prstGeom prst="rect">
            <a:avLst/>
          </a:prstGeom>
          <a:solidFill>
            <a:srgbClr val="FF8A80">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Masalah"/>
          <p:cNvSpPr/>
          <p:nvPr/>
        </p:nvSpPr>
        <p:spPr>
          <a:xfrm>
            <a:off x="3585658" y="4842106"/>
            <a:ext cx="7054081" cy="184340"/>
          </a:xfrm>
          <a:prstGeom prst="rect">
            <a:avLst/>
          </a:prstGeom>
          <a:solidFill>
            <a:srgbClr val="FF8A80">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Masalah"/>
          <p:cNvSpPr/>
          <p:nvPr/>
        </p:nvSpPr>
        <p:spPr>
          <a:xfrm>
            <a:off x="3585658" y="5049489"/>
            <a:ext cx="2715944" cy="184340"/>
          </a:xfrm>
          <a:prstGeom prst="rect">
            <a:avLst/>
          </a:prstGeom>
          <a:solidFill>
            <a:srgbClr val="FF8A80">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Metode"/>
          <p:cNvSpPr/>
          <p:nvPr/>
        </p:nvSpPr>
        <p:spPr>
          <a:xfrm>
            <a:off x="6301603" y="5049489"/>
            <a:ext cx="4338137" cy="184340"/>
          </a:xfrm>
          <a:prstGeom prst="rect">
            <a:avLst/>
          </a:prstGeom>
          <a:solidFill>
            <a:srgbClr val="F7B125">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Metode"/>
          <p:cNvSpPr/>
          <p:nvPr/>
        </p:nvSpPr>
        <p:spPr>
          <a:xfrm>
            <a:off x="3585658" y="5256872"/>
            <a:ext cx="7054081" cy="184340"/>
          </a:xfrm>
          <a:prstGeom prst="rect">
            <a:avLst/>
          </a:prstGeom>
          <a:solidFill>
            <a:srgbClr val="F7B125">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Metode"/>
          <p:cNvSpPr/>
          <p:nvPr/>
        </p:nvSpPr>
        <p:spPr>
          <a:xfrm>
            <a:off x="3585658" y="5464254"/>
            <a:ext cx="7054081" cy="184340"/>
          </a:xfrm>
          <a:prstGeom prst="rect">
            <a:avLst/>
          </a:prstGeom>
          <a:solidFill>
            <a:srgbClr val="F7B125">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Metode"/>
          <p:cNvSpPr/>
          <p:nvPr/>
        </p:nvSpPr>
        <p:spPr>
          <a:xfrm>
            <a:off x="3585658" y="5671637"/>
            <a:ext cx="2967875" cy="184340"/>
          </a:xfrm>
          <a:prstGeom prst="rect">
            <a:avLst/>
          </a:prstGeom>
          <a:solidFill>
            <a:srgbClr val="F7B125">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Hasil"/>
          <p:cNvSpPr/>
          <p:nvPr/>
        </p:nvSpPr>
        <p:spPr>
          <a:xfrm>
            <a:off x="6553534" y="5671637"/>
            <a:ext cx="4086205" cy="184340"/>
          </a:xfrm>
          <a:prstGeom prst="rect">
            <a:avLst/>
          </a:prstGeom>
          <a:solidFill>
            <a:srgbClr val="3DD6C6">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Hasil"/>
          <p:cNvSpPr/>
          <p:nvPr/>
        </p:nvSpPr>
        <p:spPr>
          <a:xfrm>
            <a:off x="3585658" y="5879020"/>
            <a:ext cx="7054081" cy="184340"/>
          </a:xfrm>
          <a:prstGeom prst="rect">
            <a:avLst/>
          </a:prstGeom>
          <a:solidFill>
            <a:srgbClr val="3DD6C6">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Hasil"/>
          <p:cNvSpPr/>
          <p:nvPr/>
        </p:nvSpPr>
        <p:spPr>
          <a:xfrm>
            <a:off x="3585658" y="6086402"/>
            <a:ext cx="7054081" cy="184340"/>
          </a:xfrm>
          <a:prstGeom prst="rect">
            <a:avLst/>
          </a:prstGeom>
          <a:solidFill>
            <a:srgbClr val="3DD6C6">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Hasil"/>
          <p:cNvSpPr/>
          <p:nvPr/>
        </p:nvSpPr>
        <p:spPr>
          <a:xfrm>
            <a:off x="3585658" y="6293785"/>
            <a:ext cx="7054081" cy="184340"/>
          </a:xfrm>
          <a:prstGeom prst="rect">
            <a:avLst/>
          </a:prstGeom>
          <a:solidFill>
            <a:srgbClr val="3DD6C6">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Hasil"/>
          <p:cNvSpPr/>
          <p:nvPr/>
        </p:nvSpPr>
        <p:spPr>
          <a:xfrm>
            <a:off x="3585658" y="6501168"/>
            <a:ext cx="7054081" cy="184340"/>
          </a:xfrm>
          <a:prstGeom prst="rect">
            <a:avLst/>
          </a:prstGeom>
          <a:solidFill>
            <a:srgbClr val="3DD6C6">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Hasil"/>
          <p:cNvSpPr/>
          <p:nvPr/>
        </p:nvSpPr>
        <p:spPr>
          <a:xfrm>
            <a:off x="3585658" y="6708550"/>
            <a:ext cx="7054081" cy="184340"/>
          </a:xfrm>
          <a:prstGeom prst="rect">
            <a:avLst/>
          </a:prstGeom>
          <a:solidFill>
            <a:srgbClr val="3DD6C6">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Hasil"/>
          <p:cNvSpPr/>
          <p:nvPr/>
        </p:nvSpPr>
        <p:spPr>
          <a:xfrm>
            <a:off x="3585658" y="6915933"/>
            <a:ext cx="4067771" cy="184340"/>
          </a:xfrm>
          <a:prstGeom prst="rect">
            <a:avLst/>
          </a:prstGeom>
          <a:solidFill>
            <a:srgbClr val="3DD6C6">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Kesimpulan"/>
          <p:cNvSpPr/>
          <p:nvPr/>
        </p:nvSpPr>
        <p:spPr>
          <a:xfrm>
            <a:off x="7653430" y="6915933"/>
            <a:ext cx="2986309" cy="184340"/>
          </a:xfrm>
          <a:prstGeom prst="rect">
            <a:avLst/>
          </a:prstGeom>
          <a:solidFill>
            <a:srgbClr val="B8A6FF">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Kesimpulan"/>
          <p:cNvSpPr/>
          <p:nvPr/>
        </p:nvSpPr>
        <p:spPr>
          <a:xfrm>
            <a:off x="3585658" y="7123315"/>
            <a:ext cx="5235259" cy="184340"/>
          </a:xfrm>
          <a:prstGeom prst="rect">
            <a:avLst/>
          </a:prstGeom>
          <a:solidFill>
            <a:srgbClr val="B8A6FF">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Judul legenda"/>
          <p:cNvSpPr txBox="1"/>
          <p:nvPr/>
        </p:nvSpPr>
        <p:spPr>
          <a:xfrm>
            <a:off x="11292840" y="2148840"/>
            <a:ext cx="5532119" cy="640080"/>
          </a:xfrm>
          <a:prstGeom prst="rect">
            <a:avLst/>
          </a:prstGeom>
          <a:noFill/>
        </p:spPr>
        <p:txBody>
          <a:bodyPr wrap="square" lIns="0" rIns="0" tIns="0" bIns="0" anchor="t">
            <a:spAutoFit/>
          </a:bodyPr>
          <a:lstStyle/>
          <a:p>
            <a:pPr algn="l">
              <a:spcAft>
                <a:spcPts val="0"/>
              </a:spcAft>
            </a:pPr>
            <a:r>
              <a:rPr sz="2600">
                <a:solidFill>
                  <a:srgbClr val="FFFFFF"/>
                </a:solidFill>
                <a:latin typeface="Playpen Sans Bold"/>
              </a:rPr>
              <a:t>Baca abstrak seperti ini</a:t>
            </a:r>
          </a:p>
        </p:txBody>
      </p:sp>
      <p:sp>
        <p:nvSpPr>
          <p:cNvPr id="36" name="Warna Masalah"/>
          <p:cNvSpPr/>
          <p:nvPr/>
        </p:nvSpPr>
        <p:spPr>
          <a:xfrm>
            <a:off x="11292840" y="2834640"/>
            <a:ext cx="502920" cy="502920"/>
          </a:xfrm>
          <a:prstGeom prst="roundRect">
            <a:avLst>
              <a:gd name="adj" fmla="val 20000"/>
            </a:avLst>
          </a:prstGeom>
          <a:solidFill>
            <a:srgbClr val="FF8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Legenda Masalah"/>
          <p:cNvSpPr txBox="1"/>
          <p:nvPr/>
        </p:nvSpPr>
        <p:spPr>
          <a:xfrm>
            <a:off x="11978640" y="2788920"/>
            <a:ext cx="4846319" cy="914400"/>
          </a:xfrm>
          <a:prstGeom prst="rect">
            <a:avLst/>
          </a:prstGeom>
          <a:noFill/>
        </p:spPr>
        <p:txBody>
          <a:bodyPr wrap="square" lIns="0" rIns="0" tIns="0" bIns="0" anchor="t">
            <a:spAutoFit/>
          </a:bodyPr>
          <a:lstStyle/>
          <a:p>
            <a:pPr algn="l">
              <a:spcAft>
                <a:spcPts val="0"/>
              </a:spcAft>
            </a:pPr>
            <a:r>
              <a:rPr sz="2400">
                <a:solidFill>
                  <a:srgbClr val="FFFFFF"/>
                </a:solidFill>
                <a:latin typeface="Playpen Sans Bold"/>
              </a:rPr>
              <a:t>Masalah</a:t>
            </a:r>
          </a:p>
          <a:p>
            <a:pPr algn="l">
              <a:spcAft>
                <a:spcPts val="0"/>
              </a:spcAft>
            </a:pPr>
            <a:r>
              <a:rPr sz="2000">
                <a:solidFill>
                  <a:srgbClr val="F7B125"/>
                </a:solidFill>
                <a:latin typeface="Playpen Sans"/>
              </a:rPr>
              <a:t>Apa yang bermasalah?</a:t>
            </a:r>
          </a:p>
        </p:txBody>
      </p:sp>
      <p:sp>
        <p:nvSpPr>
          <p:cNvPr id="38" name="Warna Metode"/>
          <p:cNvSpPr/>
          <p:nvPr/>
        </p:nvSpPr>
        <p:spPr>
          <a:xfrm>
            <a:off x="11292840" y="3749039"/>
            <a:ext cx="502920" cy="502920"/>
          </a:xfrm>
          <a:prstGeom prst="roundRect">
            <a:avLst>
              <a:gd name="adj" fmla="val 20000"/>
            </a:avLst>
          </a:prstGeom>
          <a:solidFill>
            <a:srgbClr val="F7B1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egenda Metode"/>
          <p:cNvSpPr txBox="1"/>
          <p:nvPr/>
        </p:nvSpPr>
        <p:spPr>
          <a:xfrm>
            <a:off x="11978640" y="3703320"/>
            <a:ext cx="4846319" cy="914400"/>
          </a:xfrm>
          <a:prstGeom prst="rect">
            <a:avLst/>
          </a:prstGeom>
          <a:noFill/>
        </p:spPr>
        <p:txBody>
          <a:bodyPr wrap="square" lIns="0" rIns="0" tIns="0" bIns="0" anchor="t">
            <a:spAutoFit/>
          </a:bodyPr>
          <a:lstStyle/>
          <a:p>
            <a:pPr algn="l">
              <a:spcAft>
                <a:spcPts val="0"/>
              </a:spcAft>
            </a:pPr>
            <a:r>
              <a:rPr sz="2400">
                <a:solidFill>
                  <a:srgbClr val="FFFFFF"/>
                </a:solidFill>
                <a:latin typeface="Playpen Sans Bold"/>
              </a:rPr>
              <a:t>Metode</a:t>
            </a:r>
          </a:p>
          <a:p>
            <a:pPr algn="l">
              <a:spcAft>
                <a:spcPts val="0"/>
              </a:spcAft>
            </a:pPr>
            <a:r>
              <a:rPr sz="2000">
                <a:solidFill>
                  <a:srgbClr val="F7B125"/>
                </a:solidFill>
                <a:latin typeface="Playpen Sans"/>
              </a:rPr>
              <a:t>Apa yang dikerjakan?</a:t>
            </a:r>
          </a:p>
        </p:txBody>
      </p:sp>
      <p:sp>
        <p:nvSpPr>
          <p:cNvPr id="40" name="Warna Hasil"/>
          <p:cNvSpPr/>
          <p:nvPr/>
        </p:nvSpPr>
        <p:spPr>
          <a:xfrm>
            <a:off x="11292840" y="4663440"/>
            <a:ext cx="502920" cy="502920"/>
          </a:xfrm>
          <a:prstGeom prst="roundRect">
            <a:avLst>
              <a:gd name="adj" fmla="val 20000"/>
            </a:avLst>
          </a:prstGeom>
          <a:solidFill>
            <a:srgbClr val="3DD6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Legenda Hasil"/>
          <p:cNvSpPr txBox="1"/>
          <p:nvPr/>
        </p:nvSpPr>
        <p:spPr>
          <a:xfrm>
            <a:off x="11978640" y="4617720"/>
            <a:ext cx="4846319" cy="914400"/>
          </a:xfrm>
          <a:prstGeom prst="rect">
            <a:avLst/>
          </a:prstGeom>
          <a:noFill/>
        </p:spPr>
        <p:txBody>
          <a:bodyPr wrap="square" lIns="0" rIns="0" tIns="0" bIns="0" anchor="t">
            <a:spAutoFit/>
          </a:bodyPr>
          <a:lstStyle/>
          <a:p>
            <a:pPr algn="l">
              <a:spcAft>
                <a:spcPts val="0"/>
              </a:spcAft>
            </a:pPr>
            <a:r>
              <a:rPr sz="2400">
                <a:solidFill>
                  <a:srgbClr val="FFFFFF"/>
                </a:solidFill>
                <a:latin typeface="Playpen Sans Bold"/>
              </a:rPr>
              <a:t>Hasil</a:t>
            </a:r>
          </a:p>
          <a:p>
            <a:pPr algn="l">
              <a:spcAft>
                <a:spcPts val="0"/>
              </a:spcAft>
            </a:pPr>
            <a:r>
              <a:rPr sz="2000">
                <a:solidFill>
                  <a:srgbClr val="F7B125"/>
                </a:solidFill>
                <a:latin typeface="Playpen Sans"/>
              </a:rPr>
              <a:t>Apa temuannya? Angkanya?</a:t>
            </a:r>
          </a:p>
        </p:txBody>
      </p:sp>
      <p:sp>
        <p:nvSpPr>
          <p:cNvPr id="42" name="Warna Kesimpulan"/>
          <p:cNvSpPr/>
          <p:nvPr/>
        </p:nvSpPr>
        <p:spPr>
          <a:xfrm>
            <a:off x="11292840" y="5577840"/>
            <a:ext cx="502920" cy="502920"/>
          </a:xfrm>
          <a:prstGeom prst="roundRect">
            <a:avLst>
              <a:gd name="adj" fmla="val 20000"/>
            </a:avLst>
          </a:prstGeom>
          <a:solidFill>
            <a:srgbClr val="B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egenda Kesimpulan"/>
          <p:cNvSpPr txBox="1"/>
          <p:nvPr/>
        </p:nvSpPr>
        <p:spPr>
          <a:xfrm>
            <a:off x="11978640" y="5532120"/>
            <a:ext cx="4846319" cy="914400"/>
          </a:xfrm>
          <a:prstGeom prst="rect">
            <a:avLst/>
          </a:prstGeom>
          <a:noFill/>
        </p:spPr>
        <p:txBody>
          <a:bodyPr wrap="square" lIns="0" rIns="0" tIns="0" bIns="0" anchor="t">
            <a:spAutoFit/>
          </a:bodyPr>
          <a:lstStyle/>
          <a:p>
            <a:pPr algn="l">
              <a:spcAft>
                <a:spcPts val="0"/>
              </a:spcAft>
            </a:pPr>
            <a:r>
              <a:rPr sz="2400">
                <a:solidFill>
                  <a:srgbClr val="FFFFFF"/>
                </a:solidFill>
                <a:latin typeface="Playpen Sans Bold"/>
              </a:rPr>
              <a:t>Kesimpulan</a:t>
            </a:r>
          </a:p>
          <a:p>
            <a:pPr algn="l">
              <a:spcAft>
                <a:spcPts val="0"/>
              </a:spcAft>
            </a:pPr>
            <a:r>
              <a:rPr sz="2000">
                <a:solidFill>
                  <a:srgbClr val="F7B125"/>
                </a:solidFill>
                <a:latin typeface="Playpen Sans"/>
              </a:rPr>
              <a:t>Apa artinya, dan batasnya?</a:t>
            </a:r>
          </a:p>
        </p:txBody>
      </p:sp>
      <p:sp>
        <p:nvSpPr>
          <p:cNvPr id="44" name="Bagian paper"/>
          <p:cNvSpPr txBox="1"/>
          <p:nvPr/>
        </p:nvSpPr>
        <p:spPr>
          <a:xfrm>
            <a:off x="11292840" y="6629400"/>
            <a:ext cx="5532119" cy="640080"/>
          </a:xfrm>
          <a:prstGeom prst="rect">
            <a:avLst/>
          </a:prstGeom>
          <a:noFill/>
        </p:spPr>
        <p:txBody>
          <a:bodyPr wrap="square" lIns="0" rIns="0" tIns="0" bIns="0" anchor="t">
            <a:spAutoFit/>
          </a:bodyPr>
          <a:lstStyle/>
          <a:p>
            <a:pPr algn="l">
              <a:spcAft>
                <a:spcPts val="0"/>
              </a:spcAft>
            </a:pPr>
            <a:r>
              <a:rPr sz="1800">
                <a:solidFill>
                  <a:srgbClr val="FFFFFF"/>
                </a:solidFill>
                <a:latin typeface="Playpen Sans"/>
              </a:rPr>
              <a:t>Bagian paper: Pendahuluan, Related Work, Metodologi, Eksperimen, Hasil</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7928" r="0" b="-67928"/>
            </a:stretch>
          </a:blipFill>
        </p:spPr>
      </p:sp>
      <p:sp>
        <p:nvSpPr>
          <p:cNvPr name="Freeform 3" id="3"/>
          <p:cNvSpPr/>
          <p:nvPr/>
        </p:nvSpPr>
        <p:spPr>
          <a:xfrm flipH="false" flipV="false" rot="0">
            <a:off x="12533569" y="-21055"/>
            <a:ext cx="5762298" cy="6532600"/>
          </a:xfrm>
          <a:custGeom>
            <a:avLst/>
            <a:gdLst/>
            <a:ahLst/>
            <a:cxnLst/>
            <a:rect r="r" b="b" t="t" l="l"/>
            <a:pathLst>
              <a:path h="6532600" w="5762298">
                <a:moveTo>
                  <a:pt x="0" y="0"/>
                </a:moveTo>
                <a:lnTo>
                  <a:pt x="5762298" y="0"/>
                </a:lnTo>
                <a:lnTo>
                  <a:pt x="5762298" y="6532600"/>
                </a:lnTo>
                <a:lnTo>
                  <a:pt x="0" y="6532600"/>
                </a:lnTo>
                <a:lnTo>
                  <a:pt x="0" y="0"/>
                </a:lnTo>
                <a:close/>
              </a:path>
            </a:pathLst>
          </a:custGeom>
          <a:blipFill>
            <a:blip r:embed="rId3"/>
            <a:stretch>
              <a:fillRect l="0" t="0" r="0" b="0"/>
            </a:stretch>
          </a:blipFill>
        </p:spPr>
      </p:sp>
      <p:sp>
        <p:nvSpPr>
          <p:cNvPr name="Freeform 4" id="4"/>
          <p:cNvSpPr/>
          <p:nvPr/>
        </p:nvSpPr>
        <p:spPr>
          <a:xfrm flipH="false" flipV="false" rot="0">
            <a:off x="12978766" y="2004481"/>
            <a:ext cx="5309234" cy="5465964"/>
          </a:xfrm>
          <a:custGeom>
            <a:avLst/>
            <a:gdLst/>
            <a:ahLst/>
            <a:cxnLst/>
            <a:rect r="r" b="b" t="t" l="l"/>
            <a:pathLst>
              <a:path h="5465964" w="5309234">
                <a:moveTo>
                  <a:pt x="0" y="0"/>
                </a:moveTo>
                <a:lnTo>
                  <a:pt x="5309234" y="0"/>
                </a:lnTo>
                <a:lnTo>
                  <a:pt x="5309234" y="5465965"/>
                </a:lnTo>
                <a:lnTo>
                  <a:pt x="0" y="5465965"/>
                </a:lnTo>
                <a:lnTo>
                  <a:pt x="0" y="0"/>
                </a:lnTo>
                <a:close/>
              </a:path>
            </a:pathLst>
          </a:custGeom>
          <a:blipFill>
            <a:blip r:embed="rId4"/>
            <a:stretch>
              <a:fillRect l="0" t="0" r="0" b="0"/>
            </a:stretch>
          </a:blipFill>
        </p:spPr>
      </p:sp>
      <p:sp>
        <p:nvSpPr>
          <p:cNvPr name="Freeform 5" id="5"/>
          <p:cNvSpPr/>
          <p:nvPr/>
        </p:nvSpPr>
        <p:spPr>
          <a:xfrm flipH="true" flipV="false" rot="0">
            <a:off x="-29416" y="0"/>
            <a:ext cx="5762298" cy="6532600"/>
          </a:xfrm>
          <a:custGeom>
            <a:avLst/>
            <a:gdLst/>
            <a:ahLst/>
            <a:cxnLst/>
            <a:rect r="r" b="b" t="t" l="l"/>
            <a:pathLst>
              <a:path h="6532600" w="5762298">
                <a:moveTo>
                  <a:pt x="5762298" y="0"/>
                </a:moveTo>
                <a:lnTo>
                  <a:pt x="0" y="0"/>
                </a:lnTo>
                <a:lnTo>
                  <a:pt x="0" y="6532600"/>
                </a:lnTo>
                <a:lnTo>
                  <a:pt x="5762298" y="6532600"/>
                </a:lnTo>
                <a:lnTo>
                  <a:pt x="5762298" y="0"/>
                </a:lnTo>
                <a:close/>
              </a:path>
            </a:pathLst>
          </a:custGeom>
          <a:blipFill>
            <a:blip r:embed="rId3"/>
            <a:stretch>
              <a:fillRect l="0" t="0" r="0" b="0"/>
            </a:stretch>
          </a:blipFill>
        </p:spPr>
      </p:sp>
      <p:sp>
        <p:nvSpPr>
          <p:cNvPr name="Freeform 6" id="6"/>
          <p:cNvSpPr/>
          <p:nvPr/>
        </p:nvSpPr>
        <p:spPr>
          <a:xfrm flipH="false" flipV="false" rot="0">
            <a:off x="423648" y="2410518"/>
            <a:ext cx="5309234" cy="5465964"/>
          </a:xfrm>
          <a:custGeom>
            <a:avLst/>
            <a:gdLst/>
            <a:ahLst/>
            <a:cxnLst/>
            <a:rect r="r" b="b" t="t" l="l"/>
            <a:pathLst>
              <a:path h="5465964" w="5309234">
                <a:moveTo>
                  <a:pt x="0" y="0"/>
                </a:moveTo>
                <a:lnTo>
                  <a:pt x="5309234" y="0"/>
                </a:lnTo>
                <a:lnTo>
                  <a:pt x="5309234" y="5465964"/>
                </a:lnTo>
                <a:lnTo>
                  <a:pt x="0" y="5465964"/>
                </a:lnTo>
                <a:lnTo>
                  <a:pt x="0" y="0"/>
                </a:lnTo>
                <a:close/>
              </a:path>
            </a:pathLst>
          </a:custGeom>
          <a:blipFill>
            <a:blip r:embed="rId4"/>
            <a:stretch>
              <a:fillRect l="0" t="0" r="0" b="0"/>
            </a:stretch>
          </a:blipFill>
        </p:spPr>
      </p:sp>
      <p:sp>
        <p:nvSpPr>
          <p:cNvPr name="Freeform 7" id="7"/>
          <p:cNvSpPr/>
          <p:nvPr/>
        </p:nvSpPr>
        <p:spPr>
          <a:xfrm flipH="false" flipV="false" rot="0">
            <a:off x="-317430" y="7660946"/>
            <a:ext cx="18613297" cy="3022078"/>
          </a:xfrm>
          <a:custGeom>
            <a:avLst/>
            <a:gdLst/>
            <a:ahLst/>
            <a:cxnLst/>
            <a:rect r="r" b="b" t="t" l="l"/>
            <a:pathLst>
              <a:path h="3022078" w="18613297">
                <a:moveTo>
                  <a:pt x="0" y="0"/>
                </a:moveTo>
                <a:lnTo>
                  <a:pt x="18613297" y="0"/>
                </a:lnTo>
                <a:lnTo>
                  <a:pt x="18613297" y="3022077"/>
                </a:lnTo>
                <a:lnTo>
                  <a:pt x="0" y="3022077"/>
                </a:lnTo>
                <a:lnTo>
                  <a:pt x="0" y="0"/>
                </a:lnTo>
                <a:close/>
              </a:path>
            </a:pathLst>
          </a:custGeom>
          <a:blipFill>
            <a:blip r:embed="rId5"/>
            <a:stretch>
              <a:fillRect l="-158" t="0" r="-158" b="-6838"/>
            </a:stretch>
          </a:blipFill>
        </p:spPr>
      </p:sp>
      <p:sp>
        <p:nvSpPr>
          <p:cNvPr name="Freeform 11" id="11"/>
          <p:cNvSpPr/>
          <p:nvPr/>
        </p:nvSpPr>
        <p:spPr>
          <a:xfrm flipH="false" flipV="false" rot="0">
            <a:off x="681269" y="7470446"/>
            <a:ext cx="6083710" cy="4114800"/>
          </a:xfrm>
          <a:custGeom>
            <a:avLst/>
            <a:gdLst/>
            <a:ahLst/>
            <a:cxnLst/>
            <a:rect r="r" b="b" t="t" l="l"/>
            <a:pathLst>
              <a:path h="4114800" w="6083710">
                <a:moveTo>
                  <a:pt x="0" y="0"/>
                </a:moveTo>
                <a:lnTo>
                  <a:pt x="6083709" y="0"/>
                </a:lnTo>
                <a:lnTo>
                  <a:pt x="6083709"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9549673" y="7660946"/>
            <a:ext cx="6083710" cy="4114800"/>
          </a:xfrm>
          <a:custGeom>
            <a:avLst/>
            <a:gdLst/>
            <a:ahLst/>
            <a:cxnLst/>
            <a:rect r="r" b="b" t="t" l="l"/>
            <a:pathLst>
              <a:path h="4114800" w="6083710">
                <a:moveTo>
                  <a:pt x="0" y="0"/>
                </a:moveTo>
                <a:lnTo>
                  <a:pt x="6083710" y="0"/>
                </a:lnTo>
                <a:lnTo>
                  <a:pt x="608371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id="14" name="Panel"/>
          <p:cNvSpPr/>
          <p:nvPr/>
        </p:nvSpPr>
        <p:spPr>
          <a:xfrm>
            <a:off x="914400" y="731520"/>
            <a:ext cx="16459200" cy="6675120"/>
          </a:xfrm>
          <a:prstGeom prst="roundRect">
            <a:avLst>
              <a:gd name="adj" fmla="val 5000"/>
            </a:avLst>
          </a:prstGeom>
          <a:solidFill>
            <a:srgbClr val="0A2540">
              <a:alpha val="8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Judul"/>
          <p:cNvSpPr txBox="1"/>
          <p:nvPr/>
        </p:nvSpPr>
        <p:spPr>
          <a:xfrm>
            <a:off x="1508760" y="1005840"/>
            <a:ext cx="15270480" cy="1188720"/>
          </a:xfrm>
          <a:prstGeom prst="rect">
            <a:avLst/>
          </a:prstGeom>
          <a:noFill/>
        </p:spPr>
        <p:txBody>
          <a:bodyPr wrap="square" lIns="0" rIns="0" tIns="0" bIns="0" anchor="t">
            <a:spAutoFit/>
          </a:bodyPr>
          <a:lstStyle/>
          <a:p>
            <a:pPr algn="l">
              <a:spcAft>
                <a:spcPts val="0"/>
              </a:spcAft>
            </a:pPr>
            <a:r>
              <a:rPr sz="5600">
                <a:solidFill>
                  <a:srgbClr val="F7B125"/>
                </a:solidFill>
                <a:latin typeface="Playpen Sans Bold"/>
              </a:rPr>
              <a:t>Membaca Paper dalam 10 Menit</a:t>
            </a:r>
          </a:p>
        </p:txBody>
      </p:sp>
      <p:sp>
        <p:nvSpPr>
          <p:cNvPr id="16" name="Urutan"/>
          <p:cNvSpPr/>
          <p:nvPr/>
        </p:nvSpPr>
        <p:spPr>
          <a:xfrm>
            <a:off x="1508760" y="2103120"/>
            <a:ext cx="7360919" cy="4297680"/>
          </a:xfrm>
          <a:prstGeom prst="roundRect">
            <a:avLst>
              <a:gd name="adj" fmla="val 4000"/>
            </a:avLst>
          </a:prstGeom>
          <a:solidFill>
            <a:srgbClr val="14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Urutan membaca"/>
          <p:cNvSpPr txBox="1"/>
          <p:nvPr/>
        </p:nvSpPr>
        <p:spPr>
          <a:xfrm>
            <a:off x="1828800" y="2240280"/>
            <a:ext cx="6720839" cy="4754880"/>
          </a:xfrm>
          <a:prstGeom prst="rect">
            <a:avLst/>
          </a:prstGeom>
          <a:noFill/>
        </p:spPr>
        <p:txBody>
          <a:bodyPr wrap="square" lIns="0" rIns="0" tIns="0" bIns="0" anchor="t">
            <a:spAutoFit/>
          </a:bodyPr>
          <a:lstStyle/>
          <a:p>
            <a:pPr algn="l">
              <a:spcAft>
                <a:spcPts val="1000"/>
              </a:spcAft>
            </a:pPr>
            <a:r>
              <a:rPr sz="3000">
                <a:solidFill>
                  <a:srgbClr val="F7B125"/>
                </a:solidFill>
                <a:latin typeface="Playpen Sans Bold"/>
              </a:rPr>
              <a:t>Urutan membaca</a:t>
            </a:r>
          </a:p>
          <a:p>
            <a:pPr algn="l" marL="502920" indent="-502920">
              <a:spcAft>
                <a:spcPts val="800"/>
              </a:spcAft>
              <a:buClr>
                <a:srgbClr val="F7B125"/>
              </a:buClr>
              <a:buFont typeface="Playpen Sans Bold"/>
              <a:buAutoNum type="arabicPeriod"/>
            </a:pPr>
            <a:r>
              <a:rPr sz="2800">
                <a:solidFill>
                  <a:srgbClr val="FFFFFF"/>
                </a:solidFill>
                <a:latin typeface="Playpen Sans"/>
              </a:rPr>
              <a:t>Judul</a:t>
            </a:r>
          </a:p>
          <a:p>
            <a:pPr algn="l" marL="502920" indent="-502920">
              <a:spcAft>
                <a:spcPts val="800"/>
              </a:spcAft>
              <a:buClr>
                <a:srgbClr val="F7B125"/>
              </a:buClr>
              <a:buFont typeface="Playpen Sans Bold"/>
              <a:buAutoNum type="arabicPeriod"/>
            </a:pPr>
            <a:r>
              <a:rPr sz="2800">
                <a:solidFill>
                  <a:srgbClr val="FFFFFF"/>
                </a:solidFill>
                <a:latin typeface="Playpen Sans"/>
              </a:rPr>
              <a:t>Abstrak</a:t>
            </a:r>
          </a:p>
          <a:p>
            <a:pPr algn="l" marL="502920" indent="-502920">
              <a:spcAft>
                <a:spcPts val="800"/>
              </a:spcAft>
              <a:buClr>
                <a:srgbClr val="F7B125"/>
              </a:buClr>
              <a:buFont typeface="Playpen Sans Bold"/>
              <a:buAutoNum type="arabicPeriod"/>
            </a:pPr>
            <a:r>
              <a:rPr sz="2800">
                <a:solidFill>
                  <a:srgbClr val="FFFFFF"/>
                </a:solidFill>
                <a:latin typeface="Playpen Sans"/>
              </a:rPr>
              <a:t>Gambar dan tabel</a:t>
            </a:r>
          </a:p>
          <a:p>
            <a:pPr algn="l" marL="502920" indent="-502920">
              <a:spcAft>
                <a:spcPts val="800"/>
              </a:spcAft>
              <a:buClr>
                <a:srgbClr val="F7B125"/>
              </a:buClr>
              <a:buFont typeface="Playpen Sans Bold"/>
              <a:buAutoNum type="arabicPeriod"/>
            </a:pPr>
            <a:r>
              <a:rPr sz="2800">
                <a:solidFill>
                  <a:srgbClr val="FFFFFF"/>
                </a:solidFill>
                <a:latin typeface="Playpen Sans"/>
              </a:rPr>
              <a:t>Kesimpulan dan keterbatasan</a:t>
            </a:r>
          </a:p>
          <a:p>
            <a:pPr algn="l" marL="502920" indent="-502920">
              <a:spcAft>
                <a:spcPts val="0"/>
              </a:spcAft>
              <a:buClr>
                <a:srgbClr val="F7B125"/>
              </a:buClr>
              <a:buFont typeface="Playpen Sans Bold"/>
              <a:buAutoNum type="arabicPeriod"/>
            </a:pPr>
            <a:r>
              <a:rPr sz="2800">
                <a:solidFill>
                  <a:srgbClr val="FFFFFF"/>
                </a:solidFill>
                <a:latin typeface="Playpen Sans"/>
              </a:rPr>
              <a:t>Metode, hanya jika perlu</a:t>
            </a:r>
          </a:p>
        </p:txBody>
      </p:sp>
      <p:sp>
        <p:nvSpPr>
          <p:cNvPr id="18" name="Pertanyaan"/>
          <p:cNvSpPr/>
          <p:nvPr/>
        </p:nvSpPr>
        <p:spPr>
          <a:xfrm>
            <a:off x="9418319" y="2103120"/>
            <a:ext cx="7360919" cy="4297680"/>
          </a:xfrm>
          <a:prstGeom prst="roundRect">
            <a:avLst>
              <a:gd name="adj" fmla="val 4000"/>
            </a:avLst>
          </a:prstGeom>
          <a:solidFill>
            <a:srgbClr val="14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Lima pertanyaan"/>
          <p:cNvSpPr txBox="1"/>
          <p:nvPr/>
        </p:nvSpPr>
        <p:spPr>
          <a:xfrm>
            <a:off x="9738359" y="2240280"/>
            <a:ext cx="6720839" cy="4754880"/>
          </a:xfrm>
          <a:prstGeom prst="rect">
            <a:avLst/>
          </a:prstGeom>
          <a:noFill/>
        </p:spPr>
        <p:txBody>
          <a:bodyPr wrap="square" lIns="0" rIns="0" tIns="0" bIns="0" anchor="t">
            <a:spAutoFit/>
          </a:bodyPr>
          <a:lstStyle/>
          <a:p>
            <a:pPr algn="l">
              <a:spcAft>
                <a:spcPts val="1000"/>
              </a:spcAft>
            </a:pPr>
            <a:r>
              <a:rPr sz="3000">
                <a:solidFill>
                  <a:srgbClr val="F7B125"/>
                </a:solidFill>
                <a:latin typeface="Playpen Sans Bold"/>
              </a:rPr>
              <a:t>Lima pertanyaan</a:t>
            </a:r>
          </a:p>
          <a:p>
            <a:pPr algn="l" marL="502920" indent="-502920">
              <a:spcAft>
                <a:spcPts val="800"/>
              </a:spcAft>
              <a:buClr>
                <a:srgbClr val="F7B125"/>
              </a:buClr>
              <a:buFont typeface="Playpen Sans Bold"/>
              <a:buAutoNum type="arabicPeriod"/>
            </a:pPr>
            <a:r>
              <a:rPr sz="2800">
                <a:solidFill>
                  <a:srgbClr val="FFFFFF"/>
                </a:solidFill>
                <a:latin typeface="Playpen Sans"/>
              </a:rPr>
              <a:t>Masalah apa yang dikerjakan?</a:t>
            </a:r>
          </a:p>
          <a:p>
            <a:pPr algn="l" marL="502920" indent="-502920">
              <a:spcAft>
                <a:spcPts val="800"/>
              </a:spcAft>
              <a:buClr>
                <a:srgbClr val="F7B125"/>
              </a:buClr>
              <a:buFont typeface="Playpen Sans Bold"/>
              <a:buAutoNum type="arabicPeriod"/>
            </a:pPr>
            <a:r>
              <a:rPr sz="2800">
                <a:solidFill>
                  <a:srgbClr val="FFFFFF"/>
                </a:solidFill>
                <a:latin typeface="Playpen Sans"/>
              </a:rPr>
              <a:t>Apa yang diusulkan atau dilakukan?</a:t>
            </a:r>
          </a:p>
          <a:p>
            <a:pPr algn="l" marL="502920" indent="-502920">
              <a:spcAft>
                <a:spcPts val="800"/>
              </a:spcAft>
              <a:buClr>
                <a:srgbClr val="F7B125"/>
              </a:buClr>
              <a:buFont typeface="Playpen Sans Bold"/>
              <a:buAutoNum type="arabicPeriod"/>
            </a:pPr>
            <a:r>
              <a:rPr sz="2800">
                <a:solidFill>
                  <a:srgbClr val="FFFFFF"/>
                </a:solidFill>
                <a:latin typeface="Playpen Sans"/>
              </a:rPr>
              <a:t>Bagaimana diuji?</a:t>
            </a:r>
          </a:p>
          <a:p>
            <a:pPr algn="l" marL="502920" indent="-502920">
              <a:spcAft>
                <a:spcPts val="800"/>
              </a:spcAft>
              <a:buClr>
                <a:srgbClr val="F7B125"/>
              </a:buClr>
              <a:buFont typeface="Playpen Sans Bold"/>
              <a:buAutoNum type="arabicPeriod"/>
            </a:pPr>
            <a:r>
              <a:rPr sz="2800">
                <a:solidFill>
                  <a:srgbClr val="FFFFFF"/>
                </a:solidFill>
                <a:latin typeface="Playpen Sans"/>
              </a:rPr>
              <a:t>Apa angka kuncinya?</a:t>
            </a:r>
          </a:p>
          <a:p>
            <a:pPr algn="l" marL="502920" indent="-502920">
              <a:spcAft>
                <a:spcPts val="0"/>
              </a:spcAft>
              <a:buClr>
                <a:srgbClr val="F7B125"/>
              </a:buClr>
              <a:buFont typeface="Playpen Sans Bold"/>
              <a:buAutoNum type="arabicPeriod"/>
            </a:pPr>
            <a:r>
              <a:rPr sz="2800">
                <a:solidFill>
                  <a:srgbClr val="FFFFFF"/>
                </a:solidFill>
                <a:latin typeface="Playpen Sans"/>
              </a:rPr>
              <a:t>Apa keterbatasannya?</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7928" r="0" b="-67928"/>
            </a:stretch>
          </a:blipFill>
        </p:spPr>
      </p:sp>
      <p:sp>
        <p:nvSpPr>
          <p:cNvPr name="Freeform 3" id="3"/>
          <p:cNvSpPr/>
          <p:nvPr/>
        </p:nvSpPr>
        <p:spPr>
          <a:xfrm flipH="false" flipV="false" rot="0">
            <a:off x="12533569" y="-21055"/>
            <a:ext cx="5762298" cy="6532600"/>
          </a:xfrm>
          <a:custGeom>
            <a:avLst/>
            <a:gdLst/>
            <a:ahLst/>
            <a:cxnLst/>
            <a:rect r="r" b="b" t="t" l="l"/>
            <a:pathLst>
              <a:path h="6532600" w="5762298">
                <a:moveTo>
                  <a:pt x="0" y="0"/>
                </a:moveTo>
                <a:lnTo>
                  <a:pt x="5762298" y="0"/>
                </a:lnTo>
                <a:lnTo>
                  <a:pt x="5762298" y="6532600"/>
                </a:lnTo>
                <a:lnTo>
                  <a:pt x="0" y="6532600"/>
                </a:lnTo>
                <a:lnTo>
                  <a:pt x="0" y="0"/>
                </a:lnTo>
                <a:close/>
              </a:path>
            </a:pathLst>
          </a:custGeom>
          <a:blipFill>
            <a:blip r:embed="rId3"/>
            <a:stretch>
              <a:fillRect l="0" t="0" r="0" b="0"/>
            </a:stretch>
          </a:blipFill>
        </p:spPr>
      </p:sp>
      <p:sp>
        <p:nvSpPr>
          <p:cNvPr name="Freeform 4" id="4"/>
          <p:cNvSpPr/>
          <p:nvPr/>
        </p:nvSpPr>
        <p:spPr>
          <a:xfrm flipH="false" flipV="false" rot="0">
            <a:off x="12978766" y="2004481"/>
            <a:ext cx="5309234" cy="5465964"/>
          </a:xfrm>
          <a:custGeom>
            <a:avLst/>
            <a:gdLst/>
            <a:ahLst/>
            <a:cxnLst/>
            <a:rect r="r" b="b" t="t" l="l"/>
            <a:pathLst>
              <a:path h="5465964" w="5309234">
                <a:moveTo>
                  <a:pt x="0" y="0"/>
                </a:moveTo>
                <a:lnTo>
                  <a:pt x="5309234" y="0"/>
                </a:lnTo>
                <a:lnTo>
                  <a:pt x="5309234" y="5465965"/>
                </a:lnTo>
                <a:lnTo>
                  <a:pt x="0" y="5465965"/>
                </a:lnTo>
                <a:lnTo>
                  <a:pt x="0" y="0"/>
                </a:lnTo>
                <a:close/>
              </a:path>
            </a:pathLst>
          </a:custGeom>
          <a:blipFill>
            <a:blip r:embed="rId4"/>
            <a:stretch>
              <a:fillRect l="0" t="0" r="0" b="0"/>
            </a:stretch>
          </a:blipFill>
        </p:spPr>
      </p:sp>
      <p:sp>
        <p:nvSpPr>
          <p:cNvPr name="Freeform 5" id="5"/>
          <p:cNvSpPr/>
          <p:nvPr/>
        </p:nvSpPr>
        <p:spPr>
          <a:xfrm flipH="true" flipV="false" rot="0">
            <a:off x="-29416" y="0"/>
            <a:ext cx="5762298" cy="6532600"/>
          </a:xfrm>
          <a:custGeom>
            <a:avLst/>
            <a:gdLst/>
            <a:ahLst/>
            <a:cxnLst/>
            <a:rect r="r" b="b" t="t" l="l"/>
            <a:pathLst>
              <a:path h="6532600" w="5762298">
                <a:moveTo>
                  <a:pt x="5762298" y="0"/>
                </a:moveTo>
                <a:lnTo>
                  <a:pt x="0" y="0"/>
                </a:lnTo>
                <a:lnTo>
                  <a:pt x="0" y="6532600"/>
                </a:lnTo>
                <a:lnTo>
                  <a:pt x="5762298" y="6532600"/>
                </a:lnTo>
                <a:lnTo>
                  <a:pt x="5762298" y="0"/>
                </a:lnTo>
                <a:close/>
              </a:path>
            </a:pathLst>
          </a:custGeom>
          <a:blipFill>
            <a:blip r:embed="rId3"/>
            <a:stretch>
              <a:fillRect l="0" t="0" r="0" b="0"/>
            </a:stretch>
          </a:blipFill>
        </p:spPr>
      </p:sp>
      <p:sp>
        <p:nvSpPr>
          <p:cNvPr name="Freeform 6" id="6"/>
          <p:cNvSpPr/>
          <p:nvPr/>
        </p:nvSpPr>
        <p:spPr>
          <a:xfrm flipH="false" flipV="false" rot="0">
            <a:off x="423648" y="2410518"/>
            <a:ext cx="5309234" cy="5465964"/>
          </a:xfrm>
          <a:custGeom>
            <a:avLst/>
            <a:gdLst/>
            <a:ahLst/>
            <a:cxnLst/>
            <a:rect r="r" b="b" t="t" l="l"/>
            <a:pathLst>
              <a:path h="5465964" w="5309234">
                <a:moveTo>
                  <a:pt x="0" y="0"/>
                </a:moveTo>
                <a:lnTo>
                  <a:pt x="5309234" y="0"/>
                </a:lnTo>
                <a:lnTo>
                  <a:pt x="5309234" y="5465964"/>
                </a:lnTo>
                <a:lnTo>
                  <a:pt x="0" y="5465964"/>
                </a:lnTo>
                <a:lnTo>
                  <a:pt x="0" y="0"/>
                </a:lnTo>
                <a:close/>
              </a:path>
            </a:pathLst>
          </a:custGeom>
          <a:blipFill>
            <a:blip r:embed="rId4"/>
            <a:stretch>
              <a:fillRect l="0" t="0" r="0" b="0"/>
            </a:stretch>
          </a:blipFill>
        </p:spPr>
      </p:sp>
      <p:sp>
        <p:nvSpPr>
          <p:cNvPr name="Freeform 7" id="7"/>
          <p:cNvSpPr/>
          <p:nvPr/>
        </p:nvSpPr>
        <p:spPr>
          <a:xfrm flipH="false" flipV="false" rot="0">
            <a:off x="-317430" y="7660946"/>
            <a:ext cx="18613297" cy="3022078"/>
          </a:xfrm>
          <a:custGeom>
            <a:avLst/>
            <a:gdLst/>
            <a:ahLst/>
            <a:cxnLst/>
            <a:rect r="r" b="b" t="t" l="l"/>
            <a:pathLst>
              <a:path h="3022078" w="18613297">
                <a:moveTo>
                  <a:pt x="0" y="0"/>
                </a:moveTo>
                <a:lnTo>
                  <a:pt x="18613297" y="0"/>
                </a:lnTo>
                <a:lnTo>
                  <a:pt x="18613297" y="3022077"/>
                </a:lnTo>
                <a:lnTo>
                  <a:pt x="0" y="3022077"/>
                </a:lnTo>
                <a:lnTo>
                  <a:pt x="0" y="0"/>
                </a:lnTo>
                <a:close/>
              </a:path>
            </a:pathLst>
          </a:custGeom>
          <a:blipFill>
            <a:blip r:embed="rId5"/>
            <a:stretch>
              <a:fillRect l="-158" t="0" r="-158" b="-6838"/>
            </a:stretch>
          </a:blipFill>
        </p:spPr>
      </p:sp>
      <p:sp>
        <p:nvSpPr>
          <p:cNvPr name="Freeform 11" id="11"/>
          <p:cNvSpPr/>
          <p:nvPr/>
        </p:nvSpPr>
        <p:spPr>
          <a:xfrm flipH="false" flipV="false" rot="0">
            <a:off x="681269" y="7470446"/>
            <a:ext cx="6083710" cy="4114800"/>
          </a:xfrm>
          <a:custGeom>
            <a:avLst/>
            <a:gdLst/>
            <a:ahLst/>
            <a:cxnLst/>
            <a:rect r="r" b="b" t="t" l="l"/>
            <a:pathLst>
              <a:path h="4114800" w="6083710">
                <a:moveTo>
                  <a:pt x="0" y="0"/>
                </a:moveTo>
                <a:lnTo>
                  <a:pt x="6083709" y="0"/>
                </a:lnTo>
                <a:lnTo>
                  <a:pt x="6083709"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9549673" y="7660946"/>
            <a:ext cx="6083710" cy="4114800"/>
          </a:xfrm>
          <a:custGeom>
            <a:avLst/>
            <a:gdLst/>
            <a:ahLst/>
            <a:cxnLst/>
            <a:rect r="r" b="b" t="t" l="l"/>
            <a:pathLst>
              <a:path h="4114800" w="6083710">
                <a:moveTo>
                  <a:pt x="0" y="0"/>
                </a:moveTo>
                <a:lnTo>
                  <a:pt x="6083710" y="0"/>
                </a:lnTo>
                <a:lnTo>
                  <a:pt x="608371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id="14" name="Panel"/>
          <p:cNvSpPr/>
          <p:nvPr/>
        </p:nvSpPr>
        <p:spPr>
          <a:xfrm>
            <a:off x="914400" y="731520"/>
            <a:ext cx="16459200" cy="6675120"/>
          </a:xfrm>
          <a:prstGeom prst="roundRect">
            <a:avLst>
              <a:gd name="adj" fmla="val 5000"/>
            </a:avLst>
          </a:prstGeom>
          <a:solidFill>
            <a:srgbClr val="0A2540">
              <a:alpha val="8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Judul"/>
          <p:cNvSpPr txBox="1"/>
          <p:nvPr/>
        </p:nvSpPr>
        <p:spPr>
          <a:xfrm>
            <a:off x="1508760" y="1005840"/>
            <a:ext cx="15270480" cy="1188720"/>
          </a:xfrm>
          <a:prstGeom prst="rect">
            <a:avLst/>
          </a:prstGeom>
          <a:noFill/>
        </p:spPr>
        <p:txBody>
          <a:bodyPr wrap="square" lIns="0" rIns="0" tIns="0" bIns="0" anchor="t">
            <a:spAutoFit/>
          </a:bodyPr>
          <a:lstStyle/>
          <a:p>
            <a:pPr algn="l">
              <a:spcAft>
                <a:spcPts val="0"/>
              </a:spcAft>
            </a:pPr>
            <a:r>
              <a:rPr sz="6400">
                <a:solidFill>
                  <a:srgbClr val="F7B125"/>
                </a:solidFill>
                <a:latin typeface="Playpen Sans Bold"/>
              </a:rPr>
              <a:t>Detektif Paper</a:t>
            </a:r>
          </a:p>
        </p:txBody>
      </p:sp>
      <p:sp>
        <p:nvSpPr>
          <p:cNvPr id="16" name="Waktu"/>
          <p:cNvSpPr txBox="1"/>
          <p:nvPr/>
        </p:nvSpPr>
        <p:spPr>
          <a:xfrm>
            <a:off x="1508760" y="2057400"/>
            <a:ext cx="15270480" cy="640080"/>
          </a:xfrm>
          <a:prstGeom prst="rect">
            <a:avLst/>
          </a:prstGeom>
          <a:noFill/>
        </p:spPr>
        <p:txBody>
          <a:bodyPr wrap="square" lIns="0" rIns="0" tIns="0" bIns="0" anchor="t">
            <a:spAutoFit/>
          </a:bodyPr>
          <a:lstStyle/>
          <a:p>
            <a:pPr algn="l">
              <a:spcAft>
                <a:spcPts val="0"/>
              </a:spcAft>
            </a:pPr>
            <a:r>
              <a:rPr sz="3000">
                <a:solidFill>
                  <a:srgbClr val="FFFFFF"/>
                </a:solidFill>
                <a:latin typeface="Playpen Sans Bold"/>
              </a:rPr>
              <a:t>25 menit · berpasangan</a:t>
            </a:r>
          </a:p>
        </p:txBody>
      </p:sp>
      <p:sp>
        <p:nvSpPr>
          <p:cNvPr id="17" name="Langkah"/>
          <p:cNvSpPr txBox="1"/>
          <p:nvPr/>
        </p:nvSpPr>
        <p:spPr>
          <a:xfrm>
            <a:off x="1508760" y="2926080"/>
            <a:ext cx="7680960" cy="4206240"/>
          </a:xfrm>
          <a:prstGeom prst="rect">
            <a:avLst/>
          </a:prstGeom>
          <a:noFill/>
        </p:spPr>
        <p:txBody>
          <a:bodyPr wrap="square" lIns="0" rIns="0" tIns="0" bIns="0" anchor="t">
            <a:spAutoFit/>
          </a:bodyPr>
          <a:lstStyle/>
          <a:p>
            <a:pPr algn="l" marL="502920" indent="-502920">
              <a:spcAft>
                <a:spcPts val="1000"/>
              </a:spcAft>
              <a:buClr>
                <a:srgbClr val="F7B125"/>
              </a:buClr>
              <a:buFont typeface="Playpen Sans Bold"/>
              <a:buAutoNum type="arabicPeriod"/>
            </a:pPr>
            <a:r>
              <a:rPr sz="2800">
                <a:solidFill>
                  <a:srgbClr val="FFFFFF"/>
                </a:solidFill>
                <a:latin typeface="Playpen Sans"/>
              </a:rPr>
              <a:t>Ambil satu kartu paper (A sampai E)</a:t>
            </a:r>
          </a:p>
          <a:p>
            <a:pPr algn="l" marL="502920" indent="-502920">
              <a:spcAft>
                <a:spcPts val="1000"/>
              </a:spcAft>
              <a:buClr>
                <a:srgbClr val="F7B125"/>
              </a:buClr>
              <a:buFont typeface="Playpen Sans Bold"/>
              <a:buAutoNum type="arabicPeriod"/>
            </a:pPr>
            <a:r>
              <a:rPr sz="2800">
                <a:solidFill>
                  <a:srgbClr val="FFFFFF"/>
                </a:solidFill>
                <a:latin typeface="Playpen Sans"/>
              </a:rPr>
              <a:t>Jawab lima pertanyaan di kartu, 12 menit</a:t>
            </a:r>
          </a:p>
          <a:p>
            <a:pPr algn="l" marL="502920" indent="-502920">
              <a:spcAft>
                <a:spcPts val="1000"/>
              </a:spcAft>
              <a:buClr>
                <a:srgbClr val="F7B125"/>
              </a:buClr>
              <a:buFont typeface="Playpen Sans Bold"/>
              <a:buAutoNum type="arabicPeriod"/>
            </a:pPr>
            <a:r>
              <a:rPr sz="2800">
                <a:solidFill>
                  <a:srgbClr val="FFFFFF"/>
                </a:solidFill>
                <a:latin typeface="Playpen Sans"/>
              </a:rPr>
              <a:t>Tandai angka kunci dan satu keterbatasan</a:t>
            </a:r>
          </a:p>
          <a:p>
            <a:pPr algn="l" marL="502920" indent="-502920">
              <a:spcAft>
                <a:spcPts val="0"/>
              </a:spcAft>
              <a:buClr>
                <a:srgbClr val="F7B125"/>
              </a:buClr>
              <a:buFont typeface="Playpen Sans Bold"/>
              <a:buAutoNum type="arabicPeriod"/>
            </a:pPr>
            <a:r>
              <a:rPr sz="2800">
                <a:solidFill>
                  <a:srgbClr val="FFFFFF"/>
                </a:solidFill>
                <a:latin typeface="Playpen Sans"/>
              </a:rPr>
              <a:t>Bagikan hasilnya: satu menit per paper</a:t>
            </a:r>
          </a:p>
        </p:txBody>
      </p:sp>
      <p:pic>
        <p:nvPicPr>
          <p:cNvPr id="18" name="Paper skin" descr="Kartu paper A"/>
          <p:cNvPicPr>
            <a:picLocks noChangeAspect="1"/>
          </p:cNvPicPr>
          <p:nvPr/>
        </p:nvPicPr>
        <p:blipFill>
          <a:blip r:embed="rId13"/>
          <a:stretch>
            <a:fillRect/>
          </a:stretch>
        </p:blipFill>
        <p:spPr>
          <a:xfrm>
            <a:off x="9829800" y="2988408"/>
            <a:ext cx="2194560" cy="1246942"/>
          </a:xfrm>
          <a:prstGeom prst="rect">
            <a:avLst/>
          </a:prstGeom>
          <a:ln w="38100">
            <a:solidFill>
              <a:srgbClr val="FFFFFF"/>
            </a:solidFill>
          </a:ln>
        </p:spPr>
      </p:pic>
      <p:sp>
        <p:nvSpPr>
          <p:cNvPr id="19" name="Huruf A"/>
          <p:cNvSpPr/>
          <p:nvPr/>
        </p:nvSpPr>
        <p:spPr>
          <a:xfrm>
            <a:off x="10561319" y="4480559"/>
            <a:ext cx="731520" cy="457200"/>
          </a:xfrm>
          <a:prstGeom prst="roundRect">
            <a:avLst>
              <a:gd name="adj" fmla="val 50000"/>
            </a:avLst>
          </a:prstGeom>
          <a:solidFill>
            <a:srgbClr val="F7B1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ks huruf A"/>
          <p:cNvSpPr txBox="1"/>
          <p:nvPr/>
        </p:nvSpPr>
        <p:spPr>
          <a:xfrm>
            <a:off x="10561319" y="4507992"/>
            <a:ext cx="731520" cy="411480"/>
          </a:xfrm>
          <a:prstGeom prst="rect">
            <a:avLst/>
          </a:prstGeom>
          <a:noFill/>
        </p:spPr>
        <p:txBody>
          <a:bodyPr wrap="square" lIns="0" rIns="0" tIns="0" bIns="0" anchor="t">
            <a:spAutoFit/>
          </a:bodyPr>
          <a:lstStyle/>
          <a:p>
            <a:pPr algn="ctr">
              <a:spcAft>
                <a:spcPts val="0"/>
              </a:spcAft>
            </a:pPr>
            <a:r>
              <a:rPr sz="2400">
                <a:solidFill>
                  <a:srgbClr val="0A2540"/>
                </a:solidFill>
                <a:latin typeface="Playpen Sans Bold"/>
              </a:rPr>
              <a:t>A</a:t>
            </a:r>
          </a:p>
        </p:txBody>
      </p:sp>
      <p:pic>
        <p:nvPicPr>
          <p:cNvPr id="21" name="Paper cotpot" descr="Kartu paper B"/>
          <p:cNvPicPr>
            <a:picLocks noChangeAspect="1"/>
          </p:cNvPicPr>
          <p:nvPr/>
        </p:nvPicPr>
        <p:blipFill>
          <a:blip r:embed="rId14"/>
          <a:stretch>
            <a:fillRect/>
          </a:stretch>
        </p:blipFill>
        <p:spPr>
          <a:xfrm>
            <a:off x="12161520" y="2912847"/>
            <a:ext cx="2194560" cy="1398065"/>
          </a:xfrm>
          <a:prstGeom prst="rect">
            <a:avLst/>
          </a:prstGeom>
          <a:ln w="38100">
            <a:solidFill>
              <a:srgbClr val="FFFFFF"/>
            </a:solidFill>
          </a:ln>
        </p:spPr>
      </p:pic>
      <p:sp>
        <p:nvSpPr>
          <p:cNvPr id="22" name="Huruf B"/>
          <p:cNvSpPr/>
          <p:nvPr/>
        </p:nvSpPr>
        <p:spPr>
          <a:xfrm>
            <a:off x="12893040" y="4480559"/>
            <a:ext cx="731520" cy="457200"/>
          </a:xfrm>
          <a:prstGeom prst="roundRect">
            <a:avLst>
              <a:gd name="adj" fmla="val 50000"/>
            </a:avLst>
          </a:prstGeom>
          <a:solidFill>
            <a:srgbClr val="F7B1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ks huruf B"/>
          <p:cNvSpPr txBox="1"/>
          <p:nvPr/>
        </p:nvSpPr>
        <p:spPr>
          <a:xfrm>
            <a:off x="12893040" y="4507992"/>
            <a:ext cx="731520" cy="411480"/>
          </a:xfrm>
          <a:prstGeom prst="rect">
            <a:avLst/>
          </a:prstGeom>
          <a:noFill/>
        </p:spPr>
        <p:txBody>
          <a:bodyPr wrap="square" lIns="0" rIns="0" tIns="0" bIns="0" anchor="t">
            <a:spAutoFit/>
          </a:bodyPr>
          <a:lstStyle/>
          <a:p>
            <a:pPr algn="ctr">
              <a:spcAft>
                <a:spcPts val="0"/>
              </a:spcAft>
            </a:pPr>
            <a:r>
              <a:rPr sz="2400">
                <a:solidFill>
                  <a:srgbClr val="0A2540"/>
                </a:solidFill>
                <a:latin typeface="Playpen Sans Bold"/>
              </a:rPr>
              <a:t>B</a:t>
            </a:r>
          </a:p>
        </p:txBody>
      </p:sp>
      <p:pic>
        <p:nvPicPr>
          <p:cNvPr id="24" name="Paper kma" descr="Kartu paper C"/>
          <p:cNvPicPr>
            <a:picLocks noChangeAspect="1"/>
          </p:cNvPicPr>
          <p:nvPr/>
        </p:nvPicPr>
        <p:blipFill>
          <a:blip r:embed="rId15"/>
          <a:stretch>
            <a:fillRect/>
          </a:stretch>
        </p:blipFill>
        <p:spPr>
          <a:xfrm>
            <a:off x="14493240" y="2877067"/>
            <a:ext cx="2194560" cy="1469624"/>
          </a:xfrm>
          <a:prstGeom prst="rect">
            <a:avLst/>
          </a:prstGeom>
          <a:ln w="38100">
            <a:solidFill>
              <a:srgbClr val="FFFFFF"/>
            </a:solidFill>
          </a:ln>
        </p:spPr>
      </p:pic>
      <p:sp>
        <p:nvSpPr>
          <p:cNvPr id="25" name="Huruf C"/>
          <p:cNvSpPr/>
          <p:nvPr/>
        </p:nvSpPr>
        <p:spPr>
          <a:xfrm>
            <a:off x="15224760" y="4480559"/>
            <a:ext cx="731520" cy="457200"/>
          </a:xfrm>
          <a:prstGeom prst="roundRect">
            <a:avLst>
              <a:gd name="adj" fmla="val 50000"/>
            </a:avLst>
          </a:prstGeom>
          <a:solidFill>
            <a:srgbClr val="F7B1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ks huruf C"/>
          <p:cNvSpPr txBox="1"/>
          <p:nvPr/>
        </p:nvSpPr>
        <p:spPr>
          <a:xfrm>
            <a:off x="15224760" y="4507992"/>
            <a:ext cx="731520" cy="411480"/>
          </a:xfrm>
          <a:prstGeom prst="rect">
            <a:avLst/>
          </a:prstGeom>
          <a:noFill/>
        </p:spPr>
        <p:txBody>
          <a:bodyPr wrap="square" lIns="0" rIns="0" tIns="0" bIns="0" anchor="t">
            <a:spAutoFit/>
          </a:bodyPr>
          <a:lstStyle/>
          <a:p>
            <a:pPr algn="ctr">
              <a:spcAft>
                <a:spcPts val="0"/>
              </a:spcAft>
            </a:pPr>
            <a:r>
              <a:rPr sz="2400">
                <a:solidFill>
                  <a:srgbClr val="0A2540"/>
                </a:solidFill>
                <a:latin typeface="Playpen Sans Bold"/>
              </a:rPr>
              <a:t>C</a:t>
            </a:r>
          </a:p>
        </p:txBody>
      </p:sp>
      <p:pic>
        <p:nvPicPr>
          <p:cNvPr id="27" name="Paper ikma" descr="Kartu paper D"/>
          <p:cNvPicPr>
            <a:picLocks noChangeAspect="1"/>
          </p:cNvPicPr>
          <p:nvPr/>
        </p:nvPicPr>
        <p:blipFill>
          <a:blip r:embed="rId16"/>
          <a:stretch>
            <a:fillRect/>
          </a:stretch>
        </p:blipFill>
        <p:spPr>
          <a:xfrm>
            <a:off x="9829800" y="5241028"/>
            <a:ext cx="2194560" cy="1588023"/>
          </a:xfrm>
          <a:prstGeom prst="rect">
            <a:avLst/>
          </a:prstGeom>
          <a:ln w="38100">
            <a:solidFill>
              <a:srgbClr val="FFFFFF"/>
            </a:solidFill>
          </a:ln>
        </p:spPr>
      </p:pic>
      <p:sp>
        <p:nvSpPr>
          <p:cNvPr id="28" name="Huruf D"/>
          <p:cNvSpPr/>
          <p:nvPr/>
        </p:nvSpPr>
        <p:spPr>
          <a:xfrm>
            <a:off x="10561319" y="6903720"/>
            <a:ext cx="731520" cy="457200"/>
          </a:xfrm>
          <a:prstGeom prst="roundRect">
            <a:avLst>
              <a:gd name="adj" fmla="val 50000"/>
            </a:avLst>
          </a:prstGeom>
          <a:solidFill>
            <a:srgbClr val="F7B1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ks huruf D"/>
          <p:cNvSpPr txBox="1"/>
          <p:nvPr/>
        </p:nvSpPr>
        <p:spPr>
          <a:xfrm>
            <a:off x="10561319" y="6931152"/>
            <a:ext cx="731520" cy="411480"/>
          </a:xfrm>
          <a:prstGeom prst="rect">
            <a:avLst/>
          </a:prstGeom>
          <a:noFill/>
        </p:spPr>
        <p:txBody>
          <a:bodyPr wrap="square" lIns="0" rIns="0" tIns="0" bIns="0" anchor="t">
            <a:spAutoFit/>
          </a:bodyPr>
          <a:lstStyle/>
          <a:p>
            <a:pPr algn="ctr">
              <a:spcAft>
                <a:spcPts val="0"/>
              </a:spcAft>
            </a:pPr>
            <a:r>
              <a:rPr sz="2400">
                <a:solidFill>
                  <a:srgbClr val="0A2540"/>
                </a:solidFill>
                <a:latin typeface="Playpen Sans Bold"/>
              </a:rPr>
              <a:t>D</a:t>
            </a:r>
          </a:p>
        </p:txBody>
      </p:sp>
      <p:pic>
        <p:nvPicPr>
          <p:cNvPr id="30" name="Paper poster" descr="Kartu paper E"/>
          <p:cNvPicPr>
            <a:picLocks noChangeAspect="1"/>
          </p:cNvPicPr>
          <p:nvPr/>
        </p:nvPicPr>
        <p:blipFill>
          <a:blip r:embed="rId17"/>
          <a:stretch>
            <a:fillRect/>
          </a:stretch>
        </p:blipFill>
        <p:spPr>
          <a:xfrm>
            <a:off x="12607290" y="5166360"/>
            <a:ext cx="1303020" cy="1737360"/>
          </a:xfrm>
          <a:prstGeom prst="rect">
            <a:avLst/>
          </a:prstGeom>
          <a:ln w="38100">
            <a:solidFill>
              <a:srgbClr val="FFFFFF"/>
            </a:solidFill>
          </a:ln>
        </p:spPr>
      </p:pic>
      <p:sp>
        <p:nvSpPr>
          <p:cNvPr id="31" name="Huruf E"/>
          <p:cNvSpPr/>
          <p:nvPr/>
        </p:nvSpPr>
        <p:spPr>
          <a:xfrm>
            <a:off x="12893040" y="6903720"/>
            <a:ext cx="731520" cy="457200"/>
          </a:xfrm>
          <a:prstGeom prst="roundRect">
            <a:avLst>
              <a:gd name="adj" fmla="val 50000"/>
            </a:avLst>
          </a:prstGeom>
          <a:solidFill>
            <a:srgbClr val="F7B1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ks huruf E"/>
          <p:cNvSpPr txBox="1"/>
          <p:nvPr/>
        </p:nvSpPr>
        <p:spPr>
          <a:xfrm>
            <a:off x="12893040" y="6931152"/>
            <a:ext cx="731520" cy="411480"/>
          </a:xfrm>
          <a:prstGeom prst="rect">
            <a:avLst/>
          </a:prstGeom>
          <a:noFill/>
        </p:spPr>
        <p:txBody>
          <a:bodyPr wrap="square" lIns="0" rIns="0" tIns="0" bIns="0" anchor="t">
            <a:spAutoFit/>
          </a:bodyPr>
          <a:lstStyle/>
          <a:p>
            <a:pPr algn="ctr">
              <a:spcAft>
                <a:spcPts val="0"/>
              </a:spcAft>
            </a:pPr>
            <a:r>
              <a:rPr sz="2400">
                <a:solidFill>
                  <a:srgbClr val="0A2540"/>
                </a:solidFill>
                <a:latin typeface="Playpen Sans Bold"/>
              </a:rPr>
              <a:t>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7928" r="0" b="-67928"/>
            </a:stretch>
          </a:blipFill>
        </p:spPr>
      </p:sp>
      <p:sp>
        <p:nvSpPr>
          <p:cNvPr name="Freeform 3" id="3"/>
          <p:cNvSpPr/>
          <p:nvPr/>
        </p:nvSpPr>
        <p:spPr>
          <a:xfrm flipH="false" flipV="false" rot="0">
            <a:off x="9577136" y="3199705"/>
            <a:ext cx="5309234" cy="5465964"/>
          </a:xfrm>
          <a:custGeom>
            <a:avLst/>
            <a:gdLst/>
            <a:ahLst/>
            <a:cxnLst/>
            <a:rect r="r" b="b" t="t" l="l"/>
            <a:pathLst>
              <a:path h="5465964" w="5309234">
                <a:moveTo>
                  <a:pt x="0" y="0"/>
                </a:moveTo>
                <a:lnTo>
                  <a:pt x="5309234" y="0"/>
                </a:lnTo>
                <a:lnTo>
                  <a:pt x="5309234" y="5465965"/>
                </a:lnTo>
                <a:lnTo>
                  <a:pt x="0" y="5465965"/>
                </a:lnTo>
                <a:lnTo>
                  <a:pt x="0" y="0"/>
                </a:lnTo>
                <a:close/>
              </a:path>
            </a:pathLst>
          </a:custGeom>
          <a:blipFill>
            <a:blip r:embed="rId3"/>
            <a:stretch>
              <a:fillRect l="0" t="0" r="0" b="0"/>
            </a:stretch>
          </a:blipFill>
        </p:spPr>
      </p:sp>
      <p:sp>
        <p:nvSpPr>
          <p:cNvPr name="Freeform 4" id="4"/>
          <p:cNvSpPr/>
          <p:nvPr/>
        </p:nvSpPr>
        <p:spPr>
          <a:xfrm flipH="false" flipV="false" rot="0">
            <a:off x="12533569" y="-21055"/>
            <a:ext cx="5762298" cy="6532600"/>
          </a:xfrm>
          <a:custGeom>
            <a:avLst/>
            <a:gdLst/>
            <a:ahLst/>
            <a:cxnLst/>
            <a:rect r="r" b="b" t="t" l="l"/>
            <a:pathLst>
              <a:path h="6532600" w="5762298">
                <a:moveTo>
                  <a:pt x="0" y="0"/>
                </a:moveTo>
                <a:lnTo>
                  <a:pt x="5762298" y="0"/>
                </a:lnTo>
                <a:lnTo>
                  <a:pt x="5762298" y="6532600"/>
                </a:lnTo>
                <a:lnTo>
                  <a:pt x="0" y="6532600"/>
                </a:lnTo>
                <a:lnTo>
                  <a:pt x="0" y="0"/>
                </a:lnTo>
                <a:close/>
              </a:path>
            </a:pathLst>
          </a:custGeom>
          <a:blipFill>
            <a:blip r:embed="rId4"/>
            <a:stretch>
              <a:fillRect l="0" t="0" r="0" b="0"/>
            </a:stretch>
          </a:blipFill>
        </p:spPr>
      </p:sp>
      <p:sp>
        <p:nvSpPr>
          <p:cNvPr name="Freeform 5" id="5"/>
          <p:cNvSpPr/>
          <p:nvPr/>
        </p:nvSpPr>
        <p:spPr>
          <a:xfrm flipH="true" flipV="false" rot="0">
            <a:off x="-29416" y="0"/>
            <a:ext cx="5762298" cy="6532600"/>
          </a:xfrm>
          <a:custGeom>
            <a:avLst/>
            <a:gdLst/>
            <a:ahLst/>
            <a:cxnLst/>
            <a:rect r="r" b="b" t="t" l="l"/>
            <a:pathLst>
              <a:path h="6532600" w="5762298">
                <a:moveTo>
                  <a:pt x="5762298" y="0"/>
                </a:moveTo>
                <a:lnTo>
                  <a:pt x="0" y="0"/>
                </a:lnTo>
                <a:lnTo>
                  <a:pt x="0" y="6532600"/>
                </a:lnTo>
                <a:lnTo>
                  <a:pt x="5762298" y="6532600"/>
                </a:lnTo>
                <a:lnTo>
                  <a:pt x="5762298" y="0"/>
                </a:lnTo>
                <a:close/>
              </a:path>
            </a:pathLst>
          </a:custGeom>
          <a:blipFill>
            <a:blip r:embed="rId4"/>
            <a:stretch>
              <a:fillRect l="0" t="0" r="0" b="0"/>
            </a:stretch>
          </a:blipFill>
        </p:spPr>
      </p:sp>
      <p:sp>
        <p:nvSpPr>
          <p:cNvPr name="Freeform 6" id="6"/>
          <p:cNvSpPr/>
          <p:nvPr/>
        </p:nvSpPr>
        <p:spPr>
          <a:xfrm flipH="false" flipV="false" rot="0">
            <a:off x="2244885" y="1988036"/>
            <a:ext cx="5309234" cy="5465964"/>
          </a:xfrm>
          <a:custGeom>
            <a:avLst/>
            <a:gdLst/>
            <a:ahLst/>
            <a:cxnLst/>
            <a:rect r="r" b="b" t="t" l="l"/>
            <a:pathLst>
              <a:path h="5465964" w="5309234">
                <a:moveTo>
                  <a:pt x="0" y="0"/>
                </a:moveTo>
                <a:lnTo>
                  <a:pt x="5309235" y="0"/>
                </a:lnTo>
                <a:lnTo>
                  <a:pt x="5309235" y="5465964"/>
                </a:lnTo>
                <a:lnTo>
                  <a:pt x="0" y="5465964"/>
                </a:lnTo>
                <a:lnTo>
                  <a:pt x="0" y="0"/>
                </a:lnTo>
                <a:close/>
              </a:path>
            </a:pathLst>
          </a:custGeom>
          <a:blipFill>
            <a:blip r:embed="rId3"/>
            <a:stretch>
              <a:fillRect l="0" t="0" r="0" b="0"/>
            </a:stretch>
          </a:blipFill>
        </p:spPr>
      </p:sp>
      <p:sp>
        <p:nvSpPr>
          <p:cNvPr name="Freeform 7" id="7"/>
          <p:cNvSpPr/>
          <p:nvPr/>
        </p:nvSpPr>
        <p:spPr>
          <a:xfrm flipH="false" flipV="false" rot="0">
            <a:off x="-317430" y="7660946"/>
            <a:ext cx="18613297" cy="3022078"/>
          </a:xfrm>
          <a:custGeom>
            <a:avLst/>
            <a:gdLst/>
            <a:ahLst/>
            <a:cxnLst/>
            <a:rect r="r" b="b" t="t" l="l"/>
            <a:pathLst>
              <a:path h="3022078" w="18613297">
                <a:moveTo>
                  <a:pt x="0" y="0"/>
                </a:moveTo>
                <a:lnTo>
                  <a:pt x="18613297" y="0"/>
                </a:lnTo>
                <a:lnTo>
                  <a:pt x="18613297" y="3022077"/>
                </a:lnTo>
                <a:lnTo>
                  <a:pt x="0" y="3022077"/>
                </a:lnTo>
                <a:lnTo>
                  <a:pt x="0" y="0"/>
                </a:lnTo>
                <a:close/>
              </a:path>
            </a:pathLst>
          </a:custGeom>
          <a:blipFill>
            <a:blip r:embed="rId5"/>
            <a:stretch>
              <a:fillRect l="-158" t="0" r="-158" b="-6838"/>
            </a:stretch>
          </a:blipFill>
        </p:spPr>
      </p:sp>
      <p:sp>
        <p:nvSpPr>
          <p:cNvPr name="Freeform 8" id="8"/>
          <p:cNvSpPr/>
          <p:nvPr/>
        </p:nvSpPr>
        <p:spPr>
          <a:xfrm flipH="true" flipV="false" rot="0">
            <a:off x="13751443" y="1408594"/>
            <a:ext cx="5427899" cy="1816870"/>
          </a:xfrm>
          <a:custGeom>
            <a:avLst/>
            <a:gdLst/>
            <a:ahLst/>
            <a:cxnLst/>
            <a:rect r="r" b="b" t="t" l="l"/>
            <a:pathLst>
              <a:path h="1816870" w="5427899">
                <a:moveTo>
                  <a:pt x="5427899" y="0"/>
                </a:moveTo>
                <a:lnTo>
                  <a:pt x="0" y="0"/>
                </a:lnTo>
                <a:lnTo>
                  <a:pt x="0" y="1816870"/>
                </a:lnTo>
                <a:lnTo>
                  <a:pt x="5427899" y="1816870"/>
                </a:lnTo>
                <a:lnTo>
                  <a:pt x="5427899" y="0"/>
                </a:lnTo>
                <a:close/>
              </a:path>
            </a:pathLst>
          </a:custGeom>
          <a:blipFill>
            <a:blip r:embed="rId6">
              <a:alphaModFix amt="65000"/>
            </a:blip>
            <a:stretch>
              <a:fillRect l="0" t="0" r="0" b="0"/>
            </a:stretch>
          </a:blipFill>
        </p:spPr>
      </p:sp>
      <p:sp>
        <p:nvSpPr>
          <p:cNvPr name="Freeform 9" id="9"/>
          <p:cNvSpPr/>
          <p:nvPr/>
        </p:nvSpPr>
        <p:spPr>
          <a:xfrm flipH="false" flipV="false" rot="0">
            <a:off x="13240358" y="2417800"/>
            <a:ext cx="7524206" cy="8229600"/>
          </a:xfrm>
          <a:custGeom>
            <a:avLst/>
            <a:gdLst/>
            <a:ahLst/>
            <a:cxnLst/>
            <a:rect r="r" b="b" t="t" l="l"/>
            <a:pathLst>
              <a:path h="8229600" w="7524206">
                <a:moveTo>
                  <a:pt x="0" y="0"/>
                </a:moveTo>
                <a:lnTo>
                  <a:pt x="7524206" y="0"/>
                </a:lnTo>
                <a:lnTo>
                  <a:pt x="7524206" y="8229600"/>
                </a:lnTo>
                <a:lnTo>
                  <a:pt x="0" y="8229600"/>
                </a:lnTo>
                <a:lnTo>
                  <a:pt x="0" y="0"/>
                </a:lnTo>
                <a:close/>
              </a:path>
            </a:pathLst>
          </a:custGeom>
          <a:blipFill>
            <a:blip r:embed="rId7"/>
            <a:stretch>
              <a:fillRect l="0" t="0" r="0" b="0"/>
            </a:stretch>
          </a:blipFill>
        </p:spPr>
      </p:sp>
      <p:sp>
        <p:nvSpPr>
          <p:cNvPr name="Freeform 10" id="10"/>
          <p:cNvSpPr/>
          <p:nvPr/>
        </p:nvSpPr>
        <p:spPr>
          <a:xfrm flipH="false" flipV="false" rot="0">
            <a:off x="-940574" y="2396745"/>
            <a:ext cx="4040554" cy="8229600"/>
          </a:xfrm>
          <a:custGeom>
            <a:avLst/>
            <a:gdLst/>
            <a:ahLst/>
            <a:cxnLst/>
            <a:rect r="r" b="b" t="t" l="l"/>
            <a:pathLst>
              <a:path h="8229600" w="4040554">
                <a:moveTo>
                  <a:pt x="0" y="0"/>
                </a:moveTo>
                <a:lnTo>
                  <a:pt x="4040554" y="0"/>
                </a:lnTo>
                <a:lnTo>
                  <a:pt x="4040554" y="8229600"/>
                </a:lnTo>
                <a:lnTo>
                  <a:pt x="0" y="8229600"/>
                </a:lnTo>
                <a:lnTo>
                  <a:pt x="0" y="0"/>
                </a:lnTo>
                <a:close/>
              </a:path>
            </a:pathLst>
          </a:custGeom>
          <a:blipFill>
            <a:blip r:embed="rId8"/>
            <a:stretch>
              <a:fillRect l="0" t="0" r="0" b="0"/>
            </a:stretch>
          </a:blipFill>
        </p:spPr>
      </p:sp>
      <p:sp>
        <p:nvSpPr>
          <p:cNvPr name="Freeform 11" id="11"/>
          <p:cNvSpPr/>
          <p:nvPr/>
        </p:nvSpPr>
        <p:spPr>
          <a:xfrm flipH="false" flipV="false" rot="0">
            <a:off x="-190122" y="7454000"/>
            <a:ext cx="6083710" cy="4114800"/>
          </a:xfrm>
          <a:custGeom>
            <a:avLst/>
            <a:gdLst/>
            <a:ahLst/>
            <a:cxnLst/>
            <a:rect r="r" b="b" t="t" l="l"/>
            <a:pathLst>
              <a:path h="4114800" w="6083710">
                <a:moveTo>
                  <a:pt x="0" y="0"/>
                </a:moveTo>
                <a:lnTo>
                  <a:pt x="6083710" y="0"/>
                </a:lnTo>
                <a:lnTo>
                  <a:pt x="608371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9549673" y="7660946"/>
            <a:ext cx="6083710" cy="4114800"/>
          </a:xfrm>
          <a:custGeom>
            <a:avLst/>
            <a:gdLst/>
            <a:ahLst/>
            <a:cxnLst/>
            <a:rect r="r" b="b" t="t" l="l"/>
            <a:pathLst>
              <a:path h="4114800" w="6083710">
                <a:moveTo>
                  <a:pt x="0" y="0"/>
                </a:moveTo>
                <a:lnTo>
                  <a:pt x="6083710" y="0"/>
                </a:lnTo>
                <a:lnTo>
                  <a:pt x="608371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423648" y="576981"/>
            <a:ext cx="5790657" cy="1938295"/>
          </a:xfrm>
          <a:custGeom>
            <a:avLst/>
            <a:gdLst/>
            <a:ahLst/>
            <a:cxnLst/>
            <a:rect r="r" b="b" t="t" l="l"/>
            <a:pathLst>
              <a:path h="1938295" w="5790657">
                <a:moveTo>
                  <a:pt x="0" y="0"/>
                </a:moveTo>
                <a:lnTo>
                  <a:pt x="5790656" y="0"/>
                </a:lnTo>
                <a:lnTo>
                  <a:pt x="5790656" y="1938296"/>
                </a:lnTo>
                <a:lnTo>
                  <a:pt x="0" y="1938296"/>
                </a:lnTo>
                <a:lnTo>
                  <a:pt x="0" y="0"/>
                </a:lnTo>
                <a:close/>
              </a:path>
            </a:pathLst>
          </a:custGeom>
          <a:blipFill>
            <a:blip r:embed="rId6">
              <a:alphaModFix amt="65000"/>
            </a:blip>
            <a:stretch>
              <a:fillRect l="0" t="0" r="0" b="0"/>
            </a:stretch>
          </a:blipFill>
        </p:spPr>
      </p:sp>
      <p:grpSp>
        <p:nvGrpSpPr>
          <p:cNvPr name="Group 14" id="14"/>
          <p:cNvGrpSpPr/>
          <p:nvPr/>
        </p:nvGrpSpPr>
        <p:grpSpPr>
          <a:xfrm rot="0">
            <a:off x="4061996" y="2829602"/>
            <a:ext cx="4927222" cy="791725"/>
            <a:chOff x="0" y="0"/>
            <a:chExt cx="1297705" cy="208520"/>
          </a:xfrm>
        </p:grpSpPr>
        <p:sp>
          <p:nvSpPr>
            <p:cNvPr name="Freeform 15" id="15"/>
            <p:cNvSpPr/>
            <p:nvPr/>
          </p:nvSpPr>
          <p:spPr>
            <a:xfrm flipH="false" flipV="false" rot="0">
              <a:off x="0" y="0"/>
              <a:ext cx="1297705" cy="208520"/>
            </a:xfrm>
            <a:custGeom>
              <a:avLst/>
              <a:gdLst/>
              <a:ahLst/>
              <a:cxnLst/>
              <a:rect r="r" b="b" t="t" l="l"/>
              <a:pathLst>
                <a:path h="208520" w="1297705">
                  <a:moveTo>
                    <a:pt x="104260" y="0"/>
                  </a:moveTo>
                  <a:lnTo>
                    <a:pt x="1193444" y="0"/>
                  </a:lnTo>
                  <a:cubicBezTo>
                    <a:pt x="1251026" y="0"/>
                    <a:pt x="1297705" y="46679"/>
                    <a:pt x="1297705" y="104260"/>
                  </a:cubicBezTo>
                  <a:lnTo>
                    <a:pt x="1297705" y="104260"/>
                  </a:lnTo>
                  <a:cubicBezTo>
                    <a:pt x="1297705" y="161841"/>
                    <a:pt x="1251026" y="208520"/>
                    <a:pt x="1193444" y="208520"/>
                  </a:cubicBezTo>
                  <a:lnTo>
                    <a:pt x="104260" y="208520"/>
                  </a:lnTo>
                  <a:cubicBezTo>
                    <a:pt x="46679" y="208520"/>
                    <a:pt x="0" y="161841"/>
                    <a:pt x="0" y="104260"/>
                  </a:cubicBezTo>
                  <a:lnTo>
                    <a:pt x="0" y="104260"/>
                  </a:lnTo>
                  <a:cubicBezTo>
                    <a:pt x="0" y="46679"/>
                    <a:pt x="46679" y="0"/>
                    <a:pt x="104260" y="0"/>
                  </a:cubicBezTo>
                  <a:close/>
                </a:path>
              </a:pathLst>
            </a:custGeom>
            <a:ln w="19050" cap="rnd">
              <a:solidFill>
                <a:srgbClr val="FFFFFF"/>
              </a:solidFill>
              <a:prstDash val="solid"/>
              <a:round/>
            </a:ln>
          </p:spPr>
        </p:sp>
        <p:sp>
          <p:nvSpPr>
            <p:cNvPr name="TextBox 16" id="16"/>
            <p:cNvSpPr txBox="true"/>
            <p:nvPr/>
          </p:nvSpPr>
          <p:spPr>
            <a:xfrm>
              <a:off x="0" y="-38100"/>
              <a:ext cx="1297705" cy="24662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3107461" y="6036889"/>
            <a:ext cx="6890564" cy="3775455"/>
          </a:xfrm>
          <a:custGeom>
            <a:avLst/>
            <a:gdLst/>
            <a:ahLst/>
            <a:cxnLst/>
            <a:rect r="r" b="b" t="t" l="l"/>
            <a:pathLst>
              <a:path h="3775455" w="6890564">
                <a:moveTo>
                  <a:pt x="0" y="0"/>
                </a:moveTo>
                <a:lnTo>
                  <a:pt x="6890563" y="0"/>
                </a:lnTo>
                <a:lnTo>
                  <a:pt x="6890563" y="3775454"/>
                </a:lnTo>
                <a:lnTo>
                  <a:pt x="0" y="3775454"/>
                </a:lnTo>
                <a:lnTo>
                  <a:pt x="0" y="0"/>
                </a:lnTo>
                <a:close/>
              </a:path>
            </a:pathLst>
          </a:custGeom>
          <a:blipFill>
            <a:blip r:embed="rId11"/>
            <a:stretch>
              <a:fillRect l="0" t="0" r="0" b="0"/>
            </a:stretch>
          </a:blipFill>
        </p:spPr>
      </p:sp>
      <p:sp>
        <p:nvSpPr>
          <p:cNvPr name="Freeform 21" id="21"/>
          <p:cNvSpPr/>
          <p:nvPr/>
        </p:nvSpPr>
        <p:spPr>
          <a:xfrm flipH="true" flipV="false" rot="0">
            <a:off x="12007845" y="1772904"/>
            <a:ext cx="3857149" cy="2113396"/>
          </a:xfrm>
          <a:custGeom>
            <a:avLst/>
            <a:gdLst/>
            <a:ahLst/>
            <a:cxnLst/>
            <a:rect r="r" b="b" t="t" l="l"/>
            <a:pathLst>
              <a:path h="2113396" w="3857149">
                <a:moveTo>
                  <a:pt x="3857149" y="0"/>
                </a:moveTo>
                <a:lnTo>
                  <a:pt x="0" y="0"/>
                </a:lnTo>
                <a:lnTo>
                  <a:pt x="0" y="2113396"/>
                </a:lnTo>
                <a:lnTo>
                  <a:pt x="3857149" y="2113396"/>
                </a:lnTo>
                <a:lnTo>
                  <a:pt x="3857149" y="0"/>
                </a:lnTo>
                <a:close/>
              </a:path>
            </a:pathLst>
          </a:custGeom>
          <a:blipFill>
            <a:blip r:embed="rId11"/>
            <a:stretch>
              <a:fillRect l="0" t="0" r="0" b="0"/>
            </a:stretch>
          </a:blipFill>
        </p:spPr>
      </p:sp>
      <p:sp>
        <p:nvSpPr>
          <p:cNvPr name="TextBox 22" id="22"/>
          <p:cNvSpPr txBox="true"/>
          <p:nvPr/>
        </p:nvSpPr>
        <p:spPr>
          <a:xfrm rot="0">
            <a:off x="3709994" y="4011851"/>
            <a:ext cx="7688251" cy="1920836"/>
          </a:xfrm>
          <a:prstGeom prst="rect">
            <a:avLst/>
          </a:prstGeom>
        </p:spPr>
        <p:txBody>
          <a:bodyPr anchor="t" rtlCol="false" tIns="0" lIns="0" bIns="0" rIns="0">
            <a:spAutoFit/>
          </a:bodyPr>
          <a:lstStyle/>
          <a:p>
            <a:pPr algn="l">
              <a:lnSpc>
                <a:spcPct val="100000"/>
              </a:lnSpc>
            </a:pPr>
            <a:r>
              <a:rPr lang="en-US" sz="8000" b="true">
                <a:solidFill>
                  <a:srgbClr val="EAC24B"/>
                </a:solidFill>
                <a:latin typeface="Playpen Sans Bold"/>
                <a:ea typeface="Playpen Sans Bold"/>
                <a:cs typeface="Playpen Sans Bold"/>
                <a:sym typeface="Playpen Sans Bold"/>
              </a:rPr>
              <a:t>Istirahat</a:t>
            </a:r>
          </a:p>
        </p:txBody>
      </p:sp>
      <p:sp>
        <p:nvSpPr>
          <p:cNvPr name="TextBox 23" id="23"/>
          <p:cNvSpPr txBox="true"/>
          <p:nvPr/>
        </p:nvSpPr>
        <p:spPr>
          <a:xfrm rot="0">
            <a:off x="4271362" y="3084172"/>
            <a:ext cx="4508490" cy="330209"/>
          </a:xfrm>
          <a:prstGeom prst="rect">
            <a:avLst/>
          </a:prstGeom>
        </p:spPr>
        <p:txBody>
          <a:bodyPr anchor="t" rtlCol="false" tIns="0" lIns="0" bIns="0" rIns="0">
            <a:spAutoFit/>
          </a:bodyPr>
          <a:lstStyle/>
          <a:p>
            <a:pPr algn="ctr">
              <a:lnSpc>
                <a:spcPct val="100000"/>
              </a:lnSpc>
            </a:pPr>
            <a:r>
              <a:rPr lang="en-US" b="true" sz="2200">
                <a:solidFill>
                  <a:srgbClr val="FFFFFF"/>
                </a:solidFill>
                <a:latin typeface="Playpen Sans Bold"/>
                <a:ea typeface="Playpen Sans Bold"/>
                <a:cs typeface="Playpen Sans Bold"/>
                <a:sym typeface="Playpen Sans Bold"/>
              </a:rPr>
              <a:t>Lalu: dari paper ke kelas</a:t>
            </a:r>
          </a:p>
        </p:txBody>
      </p:sp>
      <p:sp>
        <p:nvSpPr>
          <p:cNvPr name="TextBox 25" id="25"/>
          <p:cNvSpPr txBox="true"/>
          <p:nvPr/>
        </p:nvSpPr>
        <p:spPr>
          <a:xfrm rot="0">
            <a:off x="10391035" y="4011851"/>
            <a:ext cx="4914443" cy="1920836"/>
          </a:xfrm>
          <a:prstGeom prst="rect">
            <a:avLst/>
          </a:prstGeom>
        </p:spPr>
        <p:txBody>
          <a:bodyPr anchor="t" rtlCol="false" tIns="0" lIns="0" bIns="0" rIns="0">
            <a:spAutoFit/>
          </a:bodyPr>
          <a:lstStyle/>
          <a:p>
            <a:pPr algn="l">
              <a:lnSpc>
                <a:spcPct val="100000"/>
              </a:lnSpc>
            </a:pPr>
            <a:r>
              <a:rPr lang="en-US" sz="8000" b="true">
                <a:solidFill>
                  <a:srgbClr val="FFFFFF"/>
                </a:solidFill>
                <a:latin typeface="Playpen Sans Bold"/>
                <a:ea typeface="Playpen Sans Bold"/>
                <a:cs typeface="Playpen Sans Bold"/>
                <a:sym typeface="Playpen Sans Bold"/>
              </a:rPr>
              <a:t>5 menit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7928" r="0" b="-67928"/>
            </a:stretch>
          </a:blipFill>
        </p:spPr>
      </p:sp>
      <p:sp>
        <p:nvSpPr>
          <p:cNvPr name="Freeform 3" id="3"/>
          <p:cNvSpPr/>
          <p:nvPr/>
        </p:nvSpPr>
        <p:spPr>
          <a:xfrm flipH="false" flipV="false" rot="0">
            <a:off x="14148474" y="-5929"/>
            <a:ext cx="4139526" cy="4692896"/>
          </a:xfrm>
          <a:custGeom>
            <a:avLst/>
            <a:gdLst/>
            <a:ahLst/>
            <a:cxnLst/>
            <a:rect r="r" b="b" t="t" l="l"/>
            <a:pathLst>
              <a:path h="4692896" w="4139526">
                <a:moveTo>
                  <a:pt x="0" y="0"/>
                </a:moveTo>
                <a:lnTo>
                  <a:pt x="4139526" y="0"/>
                </a:lnTo>
                <a:lnTo>
                  <a:pt x="4139526" y="4692896"/>
                </a:lnTo>
                <a:lnTo>
                  <a:pt x="0" y="4692896"/>
                </a:lnTo>
                <a:lnTo>
                  <a:pt x="0" y="0"/>
                </a:lnTo>
                <a:close/>
              </a:path>
            </a:pathLst>
          </a:custGeom>
          <a:blipFill>
            <a:blip r:embed="rId3"/>
            <a:stretch>
              <a:fillRect l="0" t="0" r="0" b="0"/>
            </a:stretch>
          </a:blipFill>
        </p:spPr>
      </p:sp>
      <p:sp>
        <p:nvSpPr>
          <p:cNvPr name="Freeform 4" id="4"/>
          <p:cNvSpPr/>
          <p:nvPr/>
        </p:nvSpPr>
        <p:spPr>
          <a:xfrm flipH="false" flipV="false" rot="0">
            <a:off x="12978766" y="2004481"/>
            <a:ext cx="5309234" cy="5465964"/>
          </a:xfrm>
          <a:custGeom>
            <a:avLst/>
            <a:gdLst/>
            <a:ahLst/>
            <a:cxnLst/>
            <a:rect r="r" b="b" t="t" l="l"/>
            <a:pathLst>
              <a:path h="5465964" w="5309234">
                <a:moveTo>
                  <a:pt x="0" y="0"/>
                </a:moveTo>
                <a:lnTo>
                  <a:pt x="5309234" y="0"/>
                </a:lnTo>
                <a:lnTo>
                  <a:pt x="5309234" y="5465965"/>
                </a:lnTo>
                <a:lnTo>
                  <a:pt x="0" y="5465965"/>
                </a:lnTo>
                <a:lnTo>
                  <a:pt x="0" y="0"/>
                </a:lnTo>
                <a:close/>
              </a:path>
            </a:pathLst>
          </a:custGeom>
          <a:blipFill>
            <a:blip r:embed="rId4"/>
            <a:stretch>
              <a:fillRect l="0" t="0" r="0" b="0"/>
            </a:stretch>
          </a:blipFill>
        </p:spPr>
      </p:sp>
      <p:sp>
        <p:nvSpPr>
          <p:cNvPr name="Freeform 5" id="5"/>
          <p:cNvSpPr/>
          <p:nvPr/>
        </p:nvSpPr>
        <p:spPr>
          <a:xfrm flipH="true" flipV="false" rot="0">
            <a:off x="-29416" y="-5929"/>
            <a:ext cx="4139526" cy="4692896"/>
          </a:xfrm>
          <a:custGeom>
            <a:avLst/>
            <a:gdLst/>
            <a:ahLst/>
            <a:cxnLst/>
            <a:rect r="r" b="b" t="t" l="l"/>
            <a:pathLst>
              <a:path h="4692896" w="4139526">
                <a:moveTo>
                  <a:pt x="4139526" y="0"/>
                </a:moveTo>
                <a:lnTo>
                  <a:pt x="0" y="0"/>
                </a:lnTo>
                <a:lnTo>
                  <a:pt x="0" y="4692896"/>
                </a:lnTo>
                <a:lnTo>
                  <a:pt x="4139526" y="4692896"/>
                </a:lnTo>
                <a:lnTo>
                  <a:pt x="4139526" y="0"/>
                </a:lnTo>
                <a:close/>
              </a:path>
            </a:pathLst>
          </a:custGeom>
          <a:blipFill>
            <a:blip r:embed="rId3"/>
            <a:stretch>
              <a:fillRect l="0" t="0" r="0" b="0"/>
            </a:stretch>
          </a:blipFill>
        </p:spPr>
      </p:sp>
      <p:sp>
        <p:nvSpPr>
          <p:cNvPr name="Freeform 6" id="6"/>
          <p:cNvSpPr/>
          <p:nvPr/>
        </p:nvSpPr>
        <p:spPr>
          <a:xfrm flipH="false" flipV="false" rot="0">
            <a:off x="423648" y="2410518"/>
            <a:ext cx="5309234" cy="5465964"/>
          </a:xfrm>
          <a:custGeom>
            <a:avLst/>
            <a:gdLst/>
            <a:ahLst/>
            <a:cxnLst/>
            <a:rect r="r" b="b" t="t" l="l"/>
            <a:pathLst>
              <a:path h="5465964" w="5309234">
                <a:moveTo>
                  <a:pt x="0" y="0"/>
                </a:moveTo>
                <a:lnTo>
                  <a:pt x="5309234" y="0"/>
                </a:lnTo>
                <a:lnTo>
                  <a:pt x="5309234" y="5465964"/>
                </a:lnTo>
                <a:lnTo>
                  <a:pt x="0" y="5465964"/>
                </a:lnTo>
                <a:lnTo>
                  <a:pt x="0" y="0"/>
                </a:lnTo>
                <a:close/>
              </a:path>
            </a:pathLst>
          </a:custGeom>
          <a:blipFill>
            <a:blip r:embed="rId4"/>
            <a:stretch>
              <a:fillRect l="0" t="0" r="0" b="0"/>
            </a:stretch>
          </a:blipFill>
        </p:spPr>
      </p:sp>
      <p:sp>
        <p:nvSpPr>
          <p:cNvPr name="Freeform 7" id="7"/>
          <p:cNvSpPr/>
          <p:nvPr/>
        </p:nvSpPr>
        <p:spPr>
          <a:xfrm flipH="false" flipV="false" rot="0">
            <a:off x="-206717" y="7682290"/>
            <a:ext cx="19413624" cy="3152020"/>
          </a:xfrm>
          <a:custGeom>
            <a:avLst/>
            <a:gdLst/>
            <a:ahLst/>
            <a:cxnLst/>
            <a:rect r="r" b="b" t="t" l="l"/>
            <a:pathLst>
              <a:path h="3152020" w="19413624">
                <a:moveTo>
                  <a:pt x="0" y="0"/>
                </a:moveTo>
                <a:lnTo>
                  <a:pt x="19413624" y="0"/>
                </a:lnTo>
                <a:lnTo>
                  <a:pt x="19413624" y="3152020"/>
                </a:lnTo>
                <a:lnTo>
                  <a:pt x="0" y="3152020"/>
                </a:lnTo>
                <a:lnTo>
                  <a:pt x="0" y="0"/>
                </a:lnTo>
                <a:close/>
              </a:path>
            </a:pathLst>
          </a:custGeom>
          <a:blipFill>
            <a:blip r:embed="rId5"/>
            <a:stretch>
              <a:fillRect l="-158" t="0" r="-158" b="-6838"/>
            </a:stretch>
          </a:blipFill>
        </p:spPr>
      </p:sp>
      <p:sp>
        <p:nvSpPr>
          <p:cNvPr name="Freeform 8" id="8"/>
          <p:cNvSpPr/>
          <p:nvPr/>
        </p:nvSpPr>
        <p:spPr>
          <a:xfrm flipH="false" flipV="false" rot="0">
            <a:off x="437199" y="8522609"/>
            <a:ext cx="4596925" cy="3109193"/>
          </a:xfrm>
          <a:custGeom>
            <a:avLst/>
            <a:gdLst/>
            <a:ahLst/>
            <a:cxnLst/>
            <a:rect r="r" b="b" t="t" l="l"/>
            <a:pathLst>
              <a:path h="3109193" w="4596925">
                <a:moveTo>
                  <a:pt x="0" y="0"/>
                </a:moveTo>
                <a:lnTo>
                  <a:pt x="4596925" y="0"/>
                </a:lnTo>
                <a:lnTo>
                  <a:pt x="4596925" y="3109193"/>
                </a:lnTo>
                <a:lnTo>
                  <a:pt x="0" y="31091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4148474" y="6803204"/>
            <a:ext cx="4541608" cy="3740633"/>
          </a:xfrm>
          <a:custGeom>
            <a:avLst/>
            <a:gdLst/>
            <a:ahLst/>
            <a:cxnLst/>
            <a:rect r="r" b="b" t="t" l="l"/>
            <a:pathLst>
              <a:path h="3740633" w="4541608">
                <a:moveTo>
                  <a:pt x="0" y="0"/>
                </a:moveTo>
                <a:lnTo>
                  <a:pt x="4541608" y="0"/>
                </a:lnTo>
                <a:lnTo>
                  <a:pt x="4541608" y="3740633"/>
                </a:lnTo>
                <a:lnTo>
                  <a:pt x="0" y="374063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5909034" y="1294881"/>
            <a:ext cx="5494385" cy="4745151"/>
          </a:xfrm>
          <a:custGeom>
            <a:avLst/>
            <a:gdLst/>
            <a:ahLst/>
            <a:cxnLst/>
            <a:rect r="r" b="b" t="t" l="l"/>
            <a:pathLst>
              <a:path h="4745151" w="5494385">
                <a:moveTo>
                  <a:pt x="0" y="0"/>
                </a:moveTo>
                <a:lnTo>
                  <a:pt x="5494385" y="0"/>
                </a:lnTo>
                <a:lnTo>
                  <a:pt x="5494385" y="4745150"/>
                </a:lnTo>
                <a:lnTo>
                  <a:pt x="0" y="474515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4" id="14"/>
          <p:cNvSpPr txBox="true"/>
          <p:nvPr/>
        </p:nvSpPr>
        <p:spPr>
          <a:xfrm rot="0">
            <a:off x="11579571" y="1761625"/>
            <a:ext cx="5137808" cy="2597140"/>
          </a:xfrm>
          <a:prstGeom prst="rect">
            <a:avLst/>
          </a:prstGeom>
        </p:spPr>
        <p:txBody>
          <a:bodyPr anchor="t" rtlCol="false" tIns="0" lIns="0" bIns="0" rIns="0">
            <a:spAutoFit/>
          </a:bodyPr>
          <a:lstStyle/>
          <a:p>
            <a:pPr algn="l">
              <a:lnSpc>
                <a:spcPct val="100000"/>
              </a:lnSpc>
            </a:pPr>
            <a:r>
              <a:rPr lang="en-US" b="true" sz="7600">
                <a:solidFill>
                  <a:srgbClr val="EAC24B"/>
                </a:solidFill>
                <a:latin typeface="Playpen Sans Bold"/>
                <a:ea typeface="Playpen Sans Bold"/>
                <a:cs typeface="Playpen Sans Bold"/>
                <a:sym typeface="Playpen Sans Bold"/>
              </a:rPr>
              <a:t>ML dan Optimasi</a:t>
            </a:r>
          </a:p>
        </p:txBody>
      </p:sp>
      <p:sp>
        <p:nvSpPr>
          <p:cNvPr name="Freeform 15" id="15"/>
          <p:cNvSpPr/>
          <p:nvPr/>
        </p:nvSpPr>
        <p:spPr>
          <a:xfrm flipH="false" flipV="false" rot="0">
            <a:off x="12558429" y="4174633"/>
            <a:ext cx="3518423" cy="3038638"/>
          </a:xfrm>
          <a:custGeom>
            <a:avLst/>
            <a:gdLst/>
            <a:ahLst/>
            <a:cxnLst/>
            <a:rect r="r" b="b" t="t" l="l"/>
            <a:pathLst>
              <a:path h="3038638" w="3518423">
                <a:moveTo>
                  <a:pt x="0" y="0"/>
                </a:moveTo>
                <a:lnTo>
                  <a:pt x="3518422" y="0"/>
                </a:lnTo>
                <a:lnTo>
                  <a:pt x="3518422" y="3038638"/>
                </a:lnTo>
                <a:lnTo>
                  <a:pt x="0" y="303863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663503" y="6368644"/>
            <a:ext cx="2490739" cy="4049982"/>
          </a:xfrm>
          <a:custGeom>
            <a:avLst/>
            <a:gdLst/>
            <a:ahLst/>
            <a:cxnLst/>
            <a:rect r="r" b="b" t="t" l="l"/>
            <a:pathLst>
              <a:path h="4049982" w="2490739">
                <a:moveTo>
                  <a:pt x="0" y="0"/>
                </a:moveTo>
                <a:lnTo>
                  <a:pt x="2490739" y="0"/>
                </a:lnTo>
                <a:lnTo>
                  <a:pt x="2490739" y="4049982"/>
                </a:lnTo>
                <a:lnTo>
                  <a:pt x="0" y="4049982"/>
                </a:lnTo>
                <a:lnTo>
                  <a:pt x="0" y="0"/>
                </a:lnTo>
                <a:close/>
              </a:path>
            </a:pathLst>
          </a:custGeom>
          <a:blipFill>
            <a:blip r:embed="rId12"/>
            <a:stretch>
              <a:fillRect l="0" t="0" r="0" b="0"/>
            </a:stretch>
          </a:blipFill>
        </p:spPr>
      </p:sp>
      <p:sp>
        <p:nvSpPr>
          <p:cNvPr name="TextBox 17" id="17"/>
          <p:cNvSpPr txBox="true"/>
          <p:nvPr/>
        </p:nvSpPr>
        <p:spPr>
          <a:xfrm rot="0">
            <a:off x="7472992" y="5398179"/>
            <a:ext cx="3502641" cy="400059"/>
          </a:xfrm>
          <a:prstGeom prst="rect">
            <a:avLst/>
          </a:prstGeom>
        </p:spPr>
        <p:txBody>
          <a:bodyPr anchor="t" rtlCol="false" tIns="0" lIns="0" bIns="0" rIns="0">
            <a:spAutoFit/>
          </a:bodyPr>
          <a:lstStyle/>
          <a:p>
            <a:pPr algn="l">
              <a:lnSpc>
                <a:spcPct val="100000"/>
              </a:lnSpc>
            </a:pPr>
            <a:r>
              <a:rPr lang="en-US" sz="3600" b="true">
                <a:solidFill>
                  <a:srgbClr val="EAC24B"/>
                </a:solidFill>
                <a:latin typeface="Playpen Sans Bold"/>
                <a:ea typeface="Playpen Sans Bold"/>
                <a:cs typeface="Playpen Sans Bold"/>
                <a:sym typeface="Playpen Sans Bold"/>
              </a:rPr>
              <a:t>Anggaran</a:t>
            </a:r>
          </a:p>
        </p:txBody>
      </p:sp>
      <p:sp>
        <p:nvSpPr>
          <p:cNvPr name="TextBox 19" id="19"/>
          <p:cNvSpPr txBox="true"/>
          <p:nvPr/>
        </p:nvSpPr>
        <p:spPr>
          <a:xfrm rot="0">
            <a:off x="7472992" y="6080760"/>
            <a:ext cx="4647286" cy="644534"/>
          </a:xfrm>
          <a:prstGeom prst="rect">
            <a:avLst/>
          </a:prstGeom>
        </p:spPr>
        <p:txBody>
          <a:bodyPr anchor="t" rtlCol="false" tIns="0" lIns="0" bIns="0" rIns="0">
            <a:spAutoFit/>
          </a:bodyPr>
          <a:lstStyle/>
          <a:p>
            <a:pPr algn="l">
              <a:lnSpc>
                <a:spcPct val="100000"/>
              </a:lnSpc>
            </a:pPr>
            <a:r>
              <a:rPr lang="en-US" sz="3000">
                <a:solidFill>
                  <a:srgbClr val="FFFFFF"/>
                </a:solidFill>
                <a:latin typeface="Playpen Sans"/>
                <a:ea typeface="Playpen Sans"/>
                <a:cs typeface="Playpen Sans"/>
                <a:sym typeface="Playpen Sans"/>
              </a:rPr>
              <a:t>Berapa kali kita boleh mencoba.</a:t>
            </a:r>
          </a:p>
        </p:txBody>
      </p:sp>
      <p:sp>
        <p:nvSpPr>
          <p:cNvPr name="TextBox 20" id="20"/>
          <p:cNvSpPr txBox="true"/>
          <p:nvPr/>
        </p:nvSpPr>
        <p:spPr>
          <a:xfrm rot="0">
            <a:off x="1415826" y="2727895"/>
            <a:ext cx="4937760" cy="400059"/>
          </a:xfrm>
          <a:prstGeom prst="rect">
            <a:avLst/>
          </a:prstGeom>
        </p:spPr>
        <p:txBody>
          <a:bodyPr anchor="t" rtlCol="false" tIns="0" lIns="0" bIns="0" rIns="0">
            <a:spAutoFit/>
          </a:bodyPr>
          <a:lstStyle/>
          <a:p>
            <a:pPr algn="l">
              <a:lnSpc>
                <a:spcPct val="100000"/>
              </a:lnSpc>
            </a:pPr>
            <a:r>
              <a:rPr lang="en-US" sz="3600" b="true">
                <a:solidFill>
                  <a:srgbClr val="EAC24B"/>
                </a:solidFill>
                <a:latin typeface="Playpen Sans Bold"/>
                <a:ea typeface="Playpen Sans Bold"/>
                <a:cs typeface="Playpen Sans Bold"/>
                <a:sym typeface="Playpen Sans Bold"/>
              </a:rPr>
              <a:t>Fungsi tujuan</a:t>
            </a:r>
          </a:p>
        </p:txBody>
      </p:sp>
      <p:sp>
        <p:nvSpPr>
          <p:cNvPr name="TextBox 21" id="21"/>
          <p:cNvSpPr txBox="true"/>
          <p:nvPr/>
        </p:nvSpPr>
        <p:spPr>
          <a:xfrm rot="0">
            <a:off x="1415826" y="3429000"/>
            <a:ext cx="4937760" cy="958859"/>
          </a:xfrm>
          <a:prstGeom prst="rect">
            <a:avLst/>
          </a:prstGeom>
        </p:spPr>
        <p:txBody>
          <a:bodyPr anchor="t" rtlCol="false" tIns="0" lIns="0" bIns="0" rIns="0">
            <a:spAutoFit/>
          </a:bodyPr>
          <a:lstStyle/>
          <a:p>
            <a:pPr algn="l">
              <a:lnSpc>
                <a:spcPct val="100000"/>
              </a:lnSpc>
            </a:pPr>
            <a:r>
              <a:rPr lang="en-US" sz="3000">
                <a:solidFill>
                  <a:srgbClr val="FFFFFF"/>
                </a:solidFill>
                <a:latin typeface="Playpen Sans"/>
                <a:ea typeface="Playpen Sans"/>
                <a:cs typeface="Playpen Sans"/>
                <a:sym typeface="Playpen Sans"/>
              </a:rPr>
              <a:t>Apa yang ingin diperkecil atau diperbesar.</a:t>
            </a:r>
          </a:p>
        </p:txBody>
      </p:sp>
      <p:sp>
        <p:nvSpPr>
          <p:cNvPr name="TextBox 22" id="22"/>
          <p:cNvSpPr txBox="true"/>
          <p:nvPr/>
        </p:nvSpPr>
        <p:spPr>
          <a:xfrm rot="0">
            <a:off x="1415826" y="5398179"/>
            <a:ext cx="4937760" cy="400059"/>
          </a:xfrm>
          <a:prstGeom prst="rect">
            <a:avLst/>
          </a:prstGeom>
        </p:spPr>
        <p:txBody>
          <a:bodyPr anchor="t" rtlCol="false" tIns="0" lIns="0" bIns="0" rIns="0">
            <a:spAutoFit/>
          </a:bodyPr>
          <a:lstStyle/>
          <a:p>
            <a:pPr algn="l">
              <a:lnSpc>
                <a:spcPct val="100000"/>
              </a:lnSpc>
            </a:pPr>
            <a:r>
              <a:rPr lang="en-US" sz="3600" b="true">
                <a:solidFill>
                  <a:srgbClr val="EAC24B"/>
                </a:solidFill>
                <a:latin typeface="Playpen Sans Bold"/>
                <a:ea typeface="Playpen Sans Bold"/>
                <a:cs typeface="Playpen Sans Bold"/>
                <a:sym typeface="Playpen Sans Bold"/>
              </a:rPr>
              <a:t>Ruang pencarian</a:t>
            </a:r>
          </a:p>
        </p:txBody>
      </p:sp>
      <p:sp>
        <p:nvSpPr>
          <p:cNvPr name="TextBox 23" id="23"/>
          <p:cNvSpPr txBox="true"/>
          <p:nvPr/>
        </p:nvSpPr>
        <p:spPr>
          <a:xfrm rot="0">
            <a:off x="1415826" y="6080760"/>
            <a:ext cx="4937760" cy="644534"/>
          </a:xfrm>
          <a:prstGeom prst="rect">
            <a:avLst/>
          </a:prstGeom>
        </p:spPr>
        <p:txBody>
          <a:bodyPr anchor="t" rtlCol="false" tIns="0" lIns="0" bIns="0" rIns="0">
            <a:spAutoFit/>
          </a:bodyPr>
          <a:lstStyle/>
          <a:p>
            <a:pPr algn="l">
              <a:lnSpc>
                <a:spcPct val="100000"/>
              </a:lnSpc>
            </a:pPr>
            <a:r>
              <a:rPr lang="en-US" sz="3000">
                <a:solidFill>
                  <a:srgbClr val="FFFFFF"/>
                </a:solidFill>
                <a:latin typeface="Playpen Sans"/>
                <a:ea typeface="Playpen Sans"/>
                <a:cs typeface="Playpen Sans"/>
                <a:sym typeface="Playpen Sans"/>
              </a:rPr>
              <a:t>Pilihan apa saja yang boleh kita coba.</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7928" r="0" b="-67928"/>
            </a:stretch>
          </a:blipFill>
        </p:spPr>
      </p:sp>
      <p:sp>
        <p:nvSpPr>
          <p:cNvPr name="Freeform 3" id="3"/>
          <p:cNvSpPr/>
          <p:nvPr/>
        </p:nvSpPr>
        <p:spPr>
          <a:xfrm flipH="false" flipV="false" rot="0">
            <a:off x="14148474" y="-5929"/>
            <a:ext cx="4139526" cy="4692896"/>
          </a:xfrm>
          <a:custGeom>
            <a:avLst/>
            <a:gdLst/>
            <a:ahLst/>
            <a:cxnLst/>
            <a:rect r="r" b="b" t="t" l="l"/>
            <a:pathLst>
              <a:path h="4692896" w="4139526">
                <a:moveTo>
                  <a:pt x="0" y="0"/>
                </a:moveTo>
                <a:lnTo>
                  <a:pt x="4139526" y="0"/>
                </a:lnTo>
                <a:lnTo>
                  <a:pt x="4139526" y="4692896"/>
                </a:lnTo>
                <a:lnTo>
                  <a:pt x="0" y="4692896"/>
                </a:lnTo>
                <a:lnTo>
                  <a:pt x="0" y="0"/>
                </a:lnTo>
                <a:close/>
              </a:path>
            </a:pathLst>
          </a:custGeom>
          <a:blipFill>
            <a:blip r:embed="rId3"/>
            <a:stretch>
              <a:fillRect l="0" t="0" r="0" b="0"/>
            </a:stretch>
          </a:blipFill>
        </p:spPr>
      </p:sp>
      <p:sp>
        <p:nvSpPr>
          <p:cNvPr name="Freeform 4" id="4"/>
          <p:cNvSpPr/>
          <p:nvPr/>
        </p:nvSpPr>
        <p:spPr>
          <a:xfrm flipH="false" flipV="false" rot="0">
            <a:off x="12978766" y="2004481"/>
            <a:ext cx="5309234" cy="5465964"/>
          </a:xfrm>
          <a:custGeom>
            <a:avLst/>
            <a:gdLst/>
            <a:ahLst/>
            <a:cxnLst/>
            <a:rect r="r" b="b" t="t" l="l"/>
            <a:pathLst>
              <a:path h="5465964" w="5309234">
                <a:moveTo>
                  <a:pt x="0" y="0"/>
                </a:moveTo>
                <a:lnTo>
                  <a:pt x="5309234" y="0"/>
                </a:lnTo>
                <a:lnTo>
                  <a:pt x="5309234" y="5465965"/>
                </a:lnTo>
                <a:lnTo>
                  <a:pt x="0" y="5465965"/>
                </a:lnTo>
                <a:lnTo>
                  <a:pt x="0" y="0"/>
                </a:lnTo>
                <a:close/>
              </a:path>
            </a:pathLst>
          </a:custGeom>
          <a:blipFill>
            <a:blip r:embed="rId4"/>
            <a:stretch>
              <a:fillRect l="0" t="0" r="0" b="0"/>
            </a:stretch>
          </a:blipFill>
        </p:spPr>
      </p:sp>
      <p:sp>
        <p:nvSpPr>
          <p:cNvPr name="Freeform 5" id="5"/>
          <p:cNvSpPr/>
          <p:nvPr/>
        </p:nvSpPr>
        <p:spPr>
          <a:xfrm flipH="true" flipV="false" rot="0">
            <a:off x="-29416" y="-5929"/>
            <a:ext cx="4139526" cy="4692896"/>
          </a:xfrm>
          <a:custGeom>
            <a:avLst/>
            <a:gdLst/>
            <a:ahLst/>
            <a:cxnLst/>
            <a:rect r="r" b="b" t="t" l="l"/>
            <a:pathLst>
              <a:path h="4692896" w="4139526">
                <a:moveTo>
                  <a:pt x="4139526" y="0"/>
                </a:moveTo>
                <a:lnTo>
                  <a:pt x="0" y="0"/>
                </a:lnTo>
                <a:lnTo>
                  <a:pt x="0" y="4692896"/>
                </a:lnTo>
                <a:lnTo>
                  <a:pt x="4139526" y="4692896"/>
                </a:lnTo>
                <a:lnTo>
                  <a:pt x="4139526" y="0"/>
                </a:lnTo>
                <a:close/>
              </a:path>
            </a:pathLst>
          </a:custGeom>
          <a:blipFill>
            <a:blip r:embed="rId3"/>
            <a:stretch>
              <a:fillRect l="0" t="0" r="0" b="0"/>
            </a:stretch>
          </a:blipFill>
        </p:spPr>
      </p:sp>
      <p:sp>
        <p:nvSpPr>
          <p:cNvPr name="Freeform 6" id="6"/>
          <p:cNvSpPr/>
          <p:nvPr/>
        </p:nvSpPr>
        <p:spPr>
          <a:xfrm flipH="false" flipV="false" rot="0">
            <a:off x="423648" y="2410518"/>
            <a:ext cx="5309234" cy="5465964"/>
          </a:xfrm>
          <a:custGeom>
            <a:avLst/>
            <a:gdLst/>
            <a:ahLst/>
            <a:cxnLst/>
            <a:rect r="r" b="b" t="t" l="l"/>
            <a:pathLst>
              <a:path h="5465964" w="5309234">
                <a:moveTo>
                  <a:pt x="0" y="0"/>
                </a:moveTo>
                <a:lnTo>
                  <a:pt x="5309234" y="0"/>
                </a:lnTo>
                <a:lnTo>
                  <a:pt x="5309234" y="5465964"/>
                </a:lnTo>
                <a:lnTo>
                  <a:pt x="0" y="5465964"/>
                </a:lnTo>
                <a:lnTo>
                  <a:pt x="0" y="0"/>
                </a:lnTo>
                <a:close/>
              </a:path>
            </a:pathLst>
          </a:custGeom>
          <a:blipFill>
            <a:blip r:embed="rId4"/>
            <a:stretch>
              <a:fillRect l="0" t="0" r="0" b="0"/>
            </a:stretch>
          </a:blipFill>
        </p:spPr>
      </p:sp>
      <p:sp>
        <p:nvSpPr>
          <p:cNvPr name="Freeform 7" id="7"/>
          <p:cNvSpPr/>
          <p:nvPr/>
        </p:nvSpPr>
        <p:spPr>
          <a:xfrm flipH="false" flipV="false" rot="0">
            <a:off x="-206717" y="7682290"/>
            <a:ext cx="19413624" cy="3152020"/>
          </a:xfrm>
          <a:custGeom>
            <a:avLst/>
            <a:gdLst/>
            <a:ahLst/>
            <a:cxnLst/>
            <a:rect r="r" b="b" t="t" l="l"/>
            <a:pathLst>
              <a:path h="3152020" w="19413624">
                <a:moveTo>
                  <a:pt x="0" y="0"/>
                </a:moveTo>
                <a:lnTo>
                  <a:pt x="19413624" y="0"/>
                </a:lnTo>
                <a:lnTo>
                  <a:pt x="19413624" y="3152020"/>
                </a:lnTo>
                <a:lnTo>
                  <a:pt x="0" y="3152020"/>
                </a:lnTo>
                <a:lnTo>
                  <a:pt x="0" y="0"/>
                </a:lnTo>
                <a:close/>
              </a:path>
            </a:pathLst>
          </a:custGeom>
          <a:blipFill>
            <a:blip r:embed="rId5"/>
            <a:stretch>
              <a:fillRect l="-158" t="0" r="-158" b="-6838"/>
            </a:stretch>
          </a:blipFill>
        </p:spPr>
      </p:sp>
      <p:sp>
        <p:nvSpPr>
          <p:cNvPr name="Freeform 8" id="8"/>
          <p:cNvSpPr/>
          <p:nvPr/>
        </p:nvSpPr>
        <p:spPr>
          <a:xfrm flipH="false" flipV="false" rot="0">
            <a:off x="-258115" y="7725117"/>
            <a:ext cx="4596925" cy="3109193"/>
          </a:xfrm>
          <a:custGeom>
            <a:avLst/>
            <a:gdLst/>
            <a:ahLst/>
            <a:cxnLst/>
            <a:rect r="r" b="b" t="t" l="l"/>
            <a:pathLst>
              <a:path h="3109193" w="4596925">
                <a:moveTo>
                  <a:pt x="0" y="0"/>
                </a:moveTo>
                <a:lnTo>
                  <a:pt x="4596925" y="0"/>
                </a:lnTo>
                <a:lnTo>
                  <a:pt x="4596925" y="3109193"/>
                </a:lnTo>
                <a:lnTo>
                  <a:pt x="0" y="31091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2581823" y="4915567"/>
            <a:ext cx="4573747" cy="4677031"/>
          </a:xfrm>
          <a:custGeom>
            <a:avLst/>
            <a:gdLst/>
            <a:ahLst/>
            <a:cxnLst/>
            <a:rect r="r" b="b" t="t" l="l"/>
            <a:pathLst>
              <a:path h="4677031" w="4573747">
                <a:moveTo>
                  <a:pt x="0" y="0"/>
                </a:moveTo>
                <a:lnTo>
                  <a:pt x="4573747" y="0"/>
                </a:lnTo>
                <a:lnTo>
                  <a:pt x="4573747" y="4677031"/>
                </a:lnTo>
                <a:lnTo>
                  <a:pt x="0" y="4677031"/>
                </a:lnTo>
                <a:lnTo>
                  <a:pt x="0" y="0"/>
                </a:lnTo>
                <a:close/>
              </a:path>
            </a:pathLst>
          </a:custGeom>
          <a:blipFill>
            <a:blip r:embed="rId8"/>
            <a:stretch>
              <a:fillRect l="0" t="0" r="0" b="0"/>
            </a:stretch>
          </a:blipFill>
        </p:spPr>
      </p:sp>
      <p:sp>
        <p:nvSpPr>
          <p:cNvPr name="Freeform 13" id="13"/>
          <p:cNvSpPr/>
          <p:nvPr/>
        </p:nvSpPr>
        <p:spPr>
          <a:xfrm flipH="false" flipV="false" rot="840828">
            <a:off x="6648215" y="2562979"/>
            <a:ext cx="4390913" cy="2405854"/>
          </a:xfrm>
          <a:custGeom>
            <a:avLst/>
            <a:gdLst/>
            <a:ahLst/>
            <a:cxnLst/>
            <a:rect r="r" b="b" t="t" l="l"/>
            <a:pathLst>
              <a:path h="2405854" w="4390913">
                <a:moveTo>
                  <a:pt x="0" y="0"/>
                </a:moveTo>
                <a:lnTo>
                  <a:pt x="4390913" y="0"/>
                </a:lnTo>
                <a:lnTo>
                  <a:pt x="4390913" y="2405854"/>
                </a:lnTo>
                <a:lnTo>
                  <a:pt x="0" y="2405854"/>
                </a:lnTo>
                <a:lnTo>
                  <a:pt x="0" y="0"/>
                </a:lnTo>
                <a:close/>
              </a:path>
            </a:pathLst>
          </a:custGeom>
          <a:blipFill>
            <a:blip r:embed="rId9"/>
            <a:stretch>
              <a:fillRect l="0" t="0" r="0" b="0"/>
            </a:stretch>
          </a:blipFill>
        </p:spPr>
      </p:sp>
      <p:sp>
        <p:nvSpPr>
          <p:cNvPr name="Freeform 14" id="14"/>
          <p:cNvSpPr/>
          <p:nvPr/>
        </p:nvSpPr>
        <p:spPr>
          <a:xfrm flipH="true" flipV="false" rot="0">
            <a:off x="1028700" y="4395916"/>
            <a:ext cx="4385538" cy="3141142"/>
          </a:xfrm>
          <a:custGeom>
            <a:avLst/>
            <a:gdLst/>
            <a:ahLst/>
            <a:cxnLst/>
            <a:rect r="r" b="b" t="t" l="l"/>
            <a:pathLst>
              <a:path h="3141142" w="4385538">
                <a:moveTo>
                  <a:pt x="4385538" y="0"/>
                </a:moveTo>
                <a:lnTo>
                  <a:pt x="0" y="0"/>
                </a:lnTo>
                <a:lnTo>
                  <a:pt x="0" y="3141142"/>
                </a:lnTo>
                <a:lnTo>
                  <a:pt x="4385538" y="3141142"/>
                </a:lnTo>
                <a:lnTo>
                  <a:pt x="4385538" y="0"/>
                </a:lnTo>
                <a:close/>
              </a:path>
            </a:pathLst>
          </a:custGeom>
          <a:blipFill>
            <a:blip r:embed="rId10"/>
            <a:stretch>
              <a:fillRect l="0" t="0" r="0" b="0"/>
            </a:stretch>
          </a:blipFill>
        </p:spPr>
      </p:sp>
      <p:sp>
        <p:nvSpPr>
          <p:cNvPr name="TextBox 15" id="15"/>
          <p:cNvSpPr txBox="true"/>
          <p:nvPr/>
        </p:nvSpPr>
        <p:spPr>
          <a:xfrm rot="0">
            <a:off x="1606326" y="1798776"/>
            <a:ext cx="5137808" cy="2597140"/>
          </a:xfrm>
          <a:prstGeom prst="rect">
            <a:avLst/>
          </a:prstGeom>
        </p:spPr>
        <p:txBody>
          <a:bodyPr anchor="t" rtlCol="false" tIns="0" lIns="0" bIns="0" rIns="0">
            <a:spAutoFit/>
          </a:bodyPr>
          <a:lstStyle/>
          <a:p>
            <a:pPr algn="l">
              <a:lnSpc>
                <a:spcPct val="100000"/>
              </a:lnSpc>
            </a:pPr>
            <a:r>
              <a:rPr lang="en-US" sz="7200" b="true">
                <a:solidFill>
                  <a:srgbClr val="FFFFFF"/>
                </a:solidFill>
                <a:latin typeface="Playpen Sans Bold"/>
                <a:ea typeface="Playpen Sans Bold"/>
                <a:cs typeface="Playpen Sans Bold"/>
                <a:sym typeface="Playpen Sans Bold"/>
              </a:rPr>
              <a:t>Evolusi Gambar</a:t>
            </a:r>
          </a:p>
        </p:txBody>
      </p:sp>
      <p:sp>
        <p:nvSpPr>
          <p:cNvPr name="TextBox 16" id="16"/>
          <p:cNvSpPr txBox="true"/>
          <p:nvPr/>
        </p:nvSpPr>
        <p:spPr>
          <a:xfrm rot="0">
            <a:off x="11391420" y="2298321"/>
            <a:ext cx="3502641" cy="400059"/>
          </a:xfrm>
          <a:prstGeom prst="rect">
            <a:avLst/>
          </a:prstGeom>
        </p:spPr>
        <p:txBody>
          <a:bodyPr anchor="t" rtlCol="false" tIns="0" lIns="0" bIns="0" rIns="0">
            <a:spAutoFit/>
          </a:bodyPr>
          <a:lstStyle/>
          <a:p>
            <a:pPr algn="l">
              <a:lnSpc>
                <a:spcPct val="100000"/>
              </a:lnSpc>
            </a:pPr>
            <a:r>
              <a:rPr lang="en-US" b="true" sz="3600">
                <a:solidFill>
                  <a:srgbClr val="EAC24B"/>
                </a:solidFill>
                <a:latin typeface="Playpen Sans Bold"/>
                <a:ea typeface="Playpen Sans Bold"/>
                <a:cs typeface="Playpen Sans Bold"/>
                <a:sym typeface="Playpen Sans Bold"/>
              </a:rPr>
              <a:t>Satu aturan</a:t>
            </a:r>
          </a:p>
        </p:txBody>
      </p:sp>
      <p:sp>
        <p:nvSpPr>
          <p:cNvPr name="TextBox 18" id="18"/>
          <p:cNvSpPr txBox="true"/>
          <p:nvPr/>
        </p:nvSpPr>
        <p:spPr>
          <a:xfrm rot="0">
            <a:off x="11391420" y="2970332"/>
            <a:ext cx="4647286" cy="958859"/>
          </a:xfrm>
          <a:prstGeom prst="rect">
            <a:avLst/>
          </a:prstGeom>
        </p:spPr>
        <p:txBody>
          <a:bodyPr anchor="t" rtlCol="false" tIns="0" lIns="0" bIns="0" rIns="0">
            <a:spAutoFit/>
          </a:bodyPr>
          <a:lstStyle/>
          <a:p>
            <a:pPr algn="l">
              <a:lnSpc>
                <a:spcPct val="100000"/>
              </a:lnSpc>
            </a:pPr>
            <a:r>
              <a:rPr lang="en-US" sz="3000">
                <a:solidFill>
                  <a:srgbClr val="FFFFFF"/>
                </a:solidFill>
                <a:latin typeface="Playpen Sans"/>
                <a:ea typeface="Playpen Sans"/>
                <a:cs typeface="Playpen Sans"/>
                <a:sym typeface="Playpen Sans"/>
              </a:rPr>
              <a:t>Ubah sedikit. Simpan jika lebih mirip target, buang jika tidak.</a:t>
            </a:r>
          </a:p>
        </p:txBody>
      </p:sp>
      <p:sp>
        <p:nvSpPr>
          <p:cNvPr name="TextBox 19" id="19"/>
          <p:cNvSpPr txBox="true"/>
          <p:nvPr/>
        </p:nvSpPr>
        <p:spPr>
          <a:xfrm rot="0">
            <a:off x="6744134" y="5548525"/>
            <a:ext cx="3502641" cy="400059"/>
          </a:xfrm>
          <a:prstGeom prst="rect">
            <a:avLst/>
          </a:prstGeom>
        </p:spPr>
        <p:txBody>
          <a:bodyPr anchor="t" rtlCol="false" tIns="0" lIns="0" bIns="0" rIns="0">
            <a:spAutoFit/>
          </a:bodyPr>
          <a:lstStyle/>
          <a:p>
            <a:pPr algn="l">
              <a:lnSpc>
                <a:spcPct val="100000"/>
              </a:lnSpc>
            </a:pPr>
            <a:r>
              <a:rPr lang="en-US" sz="3600" b="true">
                <a:solidFill>
                  <a:srgbClr val="EAC24B"/>
                </a:solidFill>
                <a:latin typeface="Playpen Sans Bold"/>
                <a:ea typeface="Playpen Sans Bold"/>
                <a:cs typeface="Playpen Sans Bold"/>
                <a:sym typeface="Playpen Sans Bold"/>
              </a:rPr>
              <a:t>Perhatikan</a:t>
            </a:r>
          </a:p>
        </p:txBody>
      </p:sp>
      <p:sp>
        <p:nvSpPr>
          <p:cNvPr name="TextBox 20" id="20"/>
          <p:cNvSpPr txBox="true"/>
          <p:nvPr/>
        </p:nvSpPr>
        <p:spPr>
          <a:xfrm rot="0">
            <a:off x="6744134" y="6220536"/>
            <a:ext cx="5008179" cy="958859"/>
          </a:xfrm>
          <a:prstGeom prst="rect">
            <a:avLst/>
          </a:prstGeom>
        </p:spPr>
        <p:txBody>
          <a:bodyPr anchor="t" rtlCol="false" tIns="0" lIns="0" bIns="0" rIns="0">
            <a:spAutoFit/>
          </a:bodyPr>
          <a:lstStyle/>
          <a:p>
            <a:pPr algn="l">
              <a:lnSpc>
                <a:spcPct val="100000"/>
              </a:lnSpc>
            </a:pPr>
            <a:r>
              <a:rPr lang="en-US" sz="3200">
                <a:solidFill>
                  <a:srgbClr val="FFFFFF"/>
                </a:solidFill>
                <a:latin typeface="Playpen Sans"/>
                <a:ea typeface="Playpen Sans"/>
                <a:cs typeface="Playpen Sans"/>
                <a:sym typeface="Playpen Sans"/>
              </a:rPr>
              <a:t>Kapan kurva turun cepat? Kapan melambat?</a:t>
            </a:r>
          </a:p>
        </p:txBody>
      </p:sp>
      <p:sp>
        <p:nvSpPr>
          <p:cNvPr name="Freeform 21" id="21"/>
          <p:cNvSpPr/>
          <p:nvPr/>
        </p:nvSpPr>
        <p:spPr>
          <a:xfrm flipH="false" flipV="false" rot="0">
            <a:off x="6422262" y="7876482"/>
            <a:ext cx="4596925" cy="3109193"/>
          </a:xfrm>
          <a:custGeom>
            <a:avLst/>
            <a:gdLst/>
            <a:ahLst/>
            <a:cxnLst/>
            <a:rect r="r" b="b" t="t" l="l"/>
            <a:pathLst>
              <a:path h="3109193" w="4596925">
                <a:moveTo>
                  <a:pt x="0" y="0"/>
                </a:moveTo>
                <a:lnTo>
                  <a:pt x="4596925" y="0"/>
                </a:lnTo>
                <a:lnTo>
                  <a:pt x="4596925" y="3109193"/>
                </a:lnTo>
                <a:lnTo>
                  <a:pt x="0" y="31091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7928" r="0" b="-67928"/>
            </a:stretch>
          </a:blipFill>
        </p:spPr>
      </p:sp>
      <p:sp>
        <p:nvSpPr>
          <p:cNvPr name="Freeform 3" id="3"/>
          <p:cNvSpPr/>
          <p:nvPr/>
        </p:nvSpPr>
        <p:spPr>
          <a:xfrm flipH="false" flipV="false" rot="0">
            <a:off x="14148474" y="-5929"/>
            <a:ext cx="4139526" cy="4692896"/>
          </a:xfrm>
          <a:custGeom>
            <a:avLst/>
            <a:gdLst/>
            <a:ahLst/>
            <a:cxnLst/>
            <a:rect r="r" b="b" t="t" l="l"/>
            <a:pathLst>
              <a:path h="4692896" w="4139526">
                <a:moveTo>
                  <a:pt x="0" y="0"/>
                </a:moveTo>
                <a:lnTo>
                  <a:pt x="4139526" y="0"/>
                </a:lnTo>
                <a:lnTo>
                  <a:pt x="4139526" y="4692896"/>
                </a:lnTo>
                <a:lnTo>
                  <a:pt x="0" y="4692896"/>
                </a:lnTo>
                <a:lnTo>
                  <a:pt x="0" y="0"/>
                </a:lnTo>
                <a:close/>
              </a:path>
            </a:pathLst>
          </a:custGeom>
          <a:blipFill>
            <a:blip r:embed="rId3"/>
            <a:stretch>
              <a:fillRect l="0" t="0" r="0" b="0"/>
            </a:stretch>
          </a:blipFill>
        </p:spPr>
      </p:sp>
      <p:sp>
        <p:nvSpPr>
          <p:cNvPr name="Freeform 4" id="4"/>
          <p:cNvSpPr/>
          <p:nvPr/>
        </p:nvSpPr>
        <p:spPr>
          <a:xfrm flipH="false" flipV="false" rot="0">
            <a:off x="12916772" y="1953985"/>
            <a:ext cx="5309234" cy="5465964"/>
          </a:xfrm>
          <a:custGeom>
            <a:avLst/>
            <a:gdLst/>
            <a:ahLst/>
            <a:cxnLst/>
            <a:rect r="r" b="b" t="t" l="l"/>
            <a:pathLst>
              <a:path h="5465964" w="5309234">
                <a:moveTo>
                  <a:pt x="0" y="0"/>
                </a:moveTo>
                <a:lnTo>
                  <a:pt x="5309235" y="0"/>
                </a:lnTo>
                <a:lnTo>
                  <a:pt x="5309235" y="5465964"/>
                </a:lnTo>
                <a:lnTo>
                  <a:pt x="0" y="5465964"/>
                </a:lnTo>
                <a:lnTo>
                  <a:pt x="0" y="0"/>
                </a:lnTo>
                <a:close/>
              </a:path>
            </a:pathLst>
          </a:custGeom>
          <a:blipFill>
            <a:blip r:embed="rId4"/>
            <a:stretch>
              <a:fillRect l="0" t="0" r="0" b="0"/>
            </a:stretch>
          </a:blipFill>
        </p:spPr>
      </p:sp>
      <p:sp>
        <p:nvSpPr>
          <p:cNvPr name="Freeform 5" id="5"/>
          <p:cNvSpPr/>
          <p:nvPr/>
        </p:nvSpPr>
        <p:spPr>
          <a:xfrm flipH="true" flipV="false" rot="0">
            <a:off x="-29416" y="-5929"/>
            <a:ext cx="4139526" cy="4692896"/>
          </a:xfrm>
          <a:custGeom>
            <a:avLst/>
            <a:gdLst/>
            <a:ahLst/>
            <a:cxnLst/>
            <a:rect r="r" b="b" t="t" l="l"/>
            <a:pathLst>
              <a:path h="4692896" w="4139526">
                <a:moveTo>
                  <a:pt x="4139526" y="0"/>
                </a:moveTo>
                <a:lnTo>
                  <a:pt x="0" y="0"/>
                </a:lnTo>
                <a:lnTo>
                  <a:pt x="0" y="4692896"/>
                </a:lnTo>
                <a:lnTo>
                  <a:pt x="4139526" y="4692896"/>
                </a:lnTo>
                <a:lnTo>
                  <a:pt x="4139526" y="0"/>
                </a:lnTo>
                <a:close/>
              </a:path>
            </a:pathLst>
          </a:custGeom>
          <a:blipFill>
            <a:blip r:embed="rId3"/>
            <a:stretch>
              <a:fillRect l="0" t="0" r="0" b="0"/>
            </a:stretch>
          </a:blipFill>
        </p:spPr>
      </p:sp>
      <p:sp>
        <p:nvSpPr>
          <p:cNvPr name="Freeform 6" id="6"/>
          <p:cNvSpPr/>
          <p:nvPr/>
        </p:nvSpPr>
        <p:spPr>
          <a:xfrm flipH="false" flipV="false" rot="0">
            <a:off x="81044" y="2340519"/>
            <a:ext cx="5309234" cy="5465964"/>
          </a:xfrm>
          <a:custGeom>
            <a:avLst/>
            <a:gdLst/>
            <a:ahLst/>
            <a:cxnLst/>
            <a:rect r="r" b="b" t="t" l="l"/>
            <a:pathLst>
              <a:path h="5465964" w="5309234">
                <a:moveTo>
                  <a:pt x="0" y="0"/>
                </a:moveTo>
                <a:lnTo>
                  <a:pt x="5309234" y="0"/>
                </a:lnTo>
                <a:lnTo>
                  <a:pt x="5309234" y="5465964"/>
                </a:lnTo>
                <a:lnTo>
                  <a:pt x="0" y="5465964"/>
                </a:lnTo>
                <a:lnTo>
                  <a:pt x="0" y="0"/>
                </a:lnTo>
                <a:close/>
              </a:path>
            </a:pathLst>
          </a:custGeom>
          <a:blipFill>
            <a:blip r:embed="rId4"/>
            <a:stretch>
              <a:fillRect l="0" t="0" r="0" b="0"/>
            </a:stretch>
          </a:blipFill>
        </p:spPr>
      </p:sp>
      <p:sp>
        <p:nvSpPr>
          <p:cNvPr name="Freeform 7" id="7"/>
          <p:cNvSpPr/>
          <p:nvPr/>
        </p:nvSpPr>
        <p:spPr>
          <a:xfrm flipH="false" flipV="false" rot="0">
            <a:off x="4740492" y="3555740"/>
            <a:ext cx="5848879" cy="5973006"/>
          </a:xfrm>
          <a:custGeom>
            <a:avLst/>
            <a:gdLst/>
            <a:ahLst/>
            <a:cxnLst/>
            <a:rect r="r" b="b" t="t" l="l"/>
            <a:pathLst>
              <a:path h="5973006" w="5848879">
                <a:moveTo>
                  <a:pt x="0" y="0"/>
                </a:moveTo>
                <a:lnTo>
                  <a:pt x="5848879" y="0"/>
                </a:lnTo>
                <a:lnTo>
                  <a:pt x="5848879" y="5973006"/>
                </a:lnTo>
                <a:lnTo>
                  <a:pt x="0" y="5973006"/>
                </a:lnTo>
                <a:lnTo>
                  <a:pt x="0" y="0"/>
                </a:lnTo>
                <a:close/>
              </a:path>
            </a:pathLst>
          </a:custGeom>
          <a:blipFill>
            <a:blip r:embed="rId5"/>
            <a:stretch>
              <a:fillRect l="0" t="0" r="0" b="0"/>
            </a:stretch>
          </a:blipFill>
        </p:spPr>
      </p:sp>
      <p:sp>
        <p:nvSpPr>
          <p:cNvPr name="Freeform 8" id="8"/>
          <p:cNvSpPr/>
          <p:nvPr/>
        </p:nvSpPr>
        <p:spPr>
          <a:xfrm flipH="false" flipV="false" rot="0">
            <a:off x="-206717" y="7362431"/>
            <a:ext cx="19413624" cy="3152020"/>
          </a:xfrm>
          <a:custGeom>
            <a:avLst/>
            <a:gdLst/>
            <a:ahLst/>
            <a:cxnLst/>
            <a:rect r="r" b="b" t="t" l="l"/>
            <a:pathLst>
              <a:path h="3152020" w="19413624">
                <a:moveTo>
                  <a:pt x="0" y="0"/>
                </a:moveTo>
                <a:lnTo>
                  <a:pt x="19413624" y="0"/>
                </a:lnTo>
                <a:lnTo>
                  <a:pt x="19413624" y="3152020"/>
                </a:lnTo>
                <a:lnTo>
                  <a:pt x="0" y="3152020"/>
                </a:lnTo>
                <a:lnTo>
                  <a:pt x="0" y="0"/>
                </a:lnTo>
                <a:close/>
              </a:path>
            </a:pathLst>
          </a:custGeom>
          <a:blipFill>
            <a:blip r:embed="rId6"/>
            <a:stretch>
              <a:fillRect l="-158" t="0" r="-158" b="-6838"/>
            </a:stretch>
          </a:blipFill>
        </p:spPr>
      </p:sp>
      <p:sp>
        <p:nvSpPr>
          <p:cNvPr name="Freeform 9" id="9"/>
          <p:cNvSpPr/>
          <p:nvPr/>
        </p:nvSpPr>
        <p:spPr>
          <a:xfrm flipH="false" flipV="false" rot="0">
            <a:off x="437199" y="8202750"/>
            <a:ext cx="4596925" cy="3109193"/>
          </a:xfrm>
          <a:custGeom>
            <a:avLst/>
            <a:gdLst/>
            <a:ahLst/>
            <a:cxnLst/>
            <a:rect r="r" b="b" t="t" l="l"/>
            <a:pathLst>
              <a:path h="3109193" w="4596925">
                <a:moveTo>
                  <a:pt x="0" y="0"/>
                </a:moveTo>
                <a:lnTo>
                  <a:pt x="4596925" y="0"/>
                </a:lnTo>
                <a:lnTo>
                  <a:pt x="4596925" y="3109193"/>
                </a:lnTo>
                <a:lnTo>
                  <a:pt x="0" y="310919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671387" y="5495651"/>
            <a:ext cx="4781497" cy="5229762"/>
          </a:xfrm>
          <a:custGeom>
            <a:avLst/>
            <a:gdLst/>
            <a:ahLst/>
            <a:cxnLst/>
            <a:rect r="r" b="b" t="t" l="l"/>
            <a:pathLst>
              <a:path h="5229762" w="4781497">
                <a:moveTo>
                  <a:pt x="0" y="0"/>
                </a:moveTo>
                <a:lnTo>
                  <a:pt x="4781497" y="0"/>
                </a:lnTo>
                <a:lnTo>
                  <a:pt x="4781497" y="5229762"/>
                </a:lnTo>
                <a:lnTo>
                  <a:pt x="0" y="5229762"/>
                </a:lnTo>
                <a:lnTo>
                  <a:pt x="0" y="0"/>
                </a:lnTo>
                <a:close/>
              </a:path>
            </a:pathLst>
          </a:custGeom>
          <a:blipFill>
            <a:blip r:embed="rId9"/>
            <a:stretch>
              <a:fillRect l="0" t="0" r="0" b="0"/>
            </a:stretch>
          </a:blipFill>
        </p:spPr>
      </p:sp>
      <p:sp>
        <p:nvSpPr>
          <p:cNvPr name="TextBox 14" id="14"/>
          <p:cNvSpPr txBox="true"/>
          <p:nvPr/>
        </p:nvSpPr>
        <p:spPr>
          <a:xfrm rot="0">
            <a:off x="2085875" y="1188720"/>
            <a:ext cx="7987091" cy="1330315"/>
          </a:xfrm>
          <a:prstGeom prst="rect">
            <a:avLst/>
          </a:prstGeom>
        </p:spPr>
        <p:txBody>
          <a:bodyPr anchor="t" rtlCol="false" tIns="0" lIns="0" bIns="0" rIns="0">
            <a:spAutoFit/>
          </a:bodyPr>
          <a:lstStyle/>
          <a:p>
            <a:pPr algn="l">
              <a:lnSpc>
                <a:spcPct val="100000"/>
              </a:lnSpc>
            </a:pPr>
            <a:r>
              <a:rPr lang="en-US" b="true" sz="6800">
                <a:solidFill>
                  <a:srgbClr val="EAC24B"/>
                </a:solidFill>
                <a:latin typeface="Playpen Sans Bold"/>
                <a:ea typeface="Playpen Sans Bold"/>
                <a:cs typeface="Playpen Sans Bold"/>
                <a:sym typeface="Playpen Sans Bold"/>
              </a:rPr>
              <a:t>Ritme Mingguan</a:t>
            </a:r>
          </a:p>
        </p:txBody>
      </p:sp>
      <p:sp>
        <p:nvSpPr>
          <p:cNvPr name="TextBox 15" id="15"/>
          <p:cNvSpPr txBox="true"/>
          <p:nvPr/>
        </p:nvSpPr>
        <p:spPr>
          <a:xfrm rot="0">
            <a:off x="10515666" y="1648940"/>
            <a:ext cx="3502641" cy="400059"/>
          </a:xfrm>
          <a:prstGeom prst="rect">
            <a:avLst/>
          </a:prstGeom>
        </p:spPr>
        <p:txBody>
          <a:bodyPr anchor="t" rtlCol="false" tIns="0" lIns="0" bIns="0" rIns="0">
            <a:spAutoFit/>
          </a:bodyPr>
          <a:lstStyle/>
          <a:p>
            <a:pPr algn="l">
              <a:lnSpc>
                <a:spcPct val="100000"/>
              </a:lnSpc>
            </a:pPr>
            <a:r>
              <a:rPr lang="en-US" b="true" sz="3600">
                <a:solidFill>
                  <a:srgbClr val="EAC24B"/>
                </a:solidFill>
                <a:latin typeface="Playpen Sans Bold"/>
                <a:ea typeface="Playpen Sans Bold"/>
                <a:cs typeface="Playpen Sans Bold"/>
                <a:sym typeface="Playpen Sans Bold"/>
              </a:rPr>
              <a:t>2. Kelas</a:t>
            </a:r>
          </a:p>
        </p:txBody>
      </p:sp>
      <p:sp>
        <p:nvSpPr>
          <p:cNvPr name="TextBox 17" id="17"/>
          <p:cNvSpPr txBox="true"/>
          <p:nvPr/>
        </p:nvSpPr>
        <p:spPr>
          <a:xfrm rot="0">
            <a:off x="10515666" y="2311425"/>
            <a:ext cx="5514110" cy="958859"/>
          </a:xfrm>
          <a:prstGeom prst="rect">
            <a:avLst/>
          </a:prstGeom>
        </p:spPr>
        <p:txBody>
          <a:bodyPr anchor="t" rtlCol="false" tIns="0" lIns="0" bIns="0" rIns="0">
            <a:spAutoFit/>
          </a:bodyPr>
          <a:lstStyle/>
          <a:p>
            <a:pPr algn="l">
              <a:lnSpc>
                <a:spcPct val="100000"/>
              </a:lnSpc>
            </a:pPr>
            <a:r>
              <a:rPr lang="en-US" sz="3000">
                <a:solidFill>
                  <a:srgbClr val="FFFFFF"/>
                </a:solidFill>
                <a:latin typeface="Playpen Sans"/>
                <a:ea typeface="Playpen Sans"/>
                <a:cs typeface="Playpen Sans"/>
                <a:sym typeface="Playpen Sans"/>
              </a:rPr>
              <a:t>2 jam tatap muka: kuis tanpa perangkat, contoh, latihan berpasangan.</a:t>
            </a:r>
          </a:p>
        </p:txBody>
      </p:sp>
      <p:sp>
        <p:nvSpPr>
          <p:cNvPr name="TextBox 18" id="18"/>
          <p:cNvSpPr txBox="true"/>
          <p:nvPr/>
        </p:nvSpPr>
        <p:spPr>
          <a:xfrm rot="0">
            <a:off x="2085875" y="3520440"/>
            <a:ext cx="3502641" cy="400059"/>
          </a:xfrm>
          <a:prstGeom prst="rect">
            <a:avLst/>
          </a:prstGeom>
        </p:spPr>
        <p:txBody>
          <a:bodyPr anchor="t" rtlCol="false" tIns="0" lIns="0" bIns="0" rIns="0">
            <a:spAutoFit/>
          </a:bodyPr>
          <a:lstStyle/>
          <a:p>
            <a:pPr algn="l">
              <a:lnSpc>
                <a:spcPct val="100000"/>
              </a:lnSpc>
            </a:pPr>
            <a:r>
              <a:rPr lang="en-US" b="true" sz="3600">
                <a:solidFill>
                  <a:srgbClr val="EAC24B"/>
                </a:solidFill>
                <a:latin typeface="Playpen Sans Bold"/>
                <a:ea typeface="Playpen Sans Bold"/>
                <a:cs typeface="Playpen Sans Bold"/>
                <a:sym typeface="Playpen Sans Bold"/>
              </a:rPr>
              <a:t>1. Baca</a:t>
            </a:r>
          </a:p>
        </p:txBody>
      </p:sp>
      <p:sp>
        <p:nvSpPr>
          <p:cNvPr name="TextBox 19" id="19"/>
          <p:cNvSpPr txBox="true"/>
          <p:nvPr/>
        </p:nvSpPr>
        <p:spPr>
          <a:xfrm rot="0">
            <a:off x="2085875" y="4206240"/>
            <a:ext cx="4194044" cy="958859"/>
          </a:xfrm>
          <a:prstGeom prst="rect">
            <a:avLst/>
          </a:prstGeom>
        </p:spPr>
        <p:txBody>
          <a:bodyPr anchor="t" rtlCol="false" tIns="0" lIns="0" bIns="0" rIns="0">
            <a:spAutoFit/>
          </a:bodyPr>
          <a:lstStyle/>
          <a:p>
            <a:pPr algn="l">
              <a:lnSpc>
                <a:spcPct val="100000"/>
              </a:lnSpc>
            </a:pPr>
            <a:r>
              <a:rPr lang="en-US" sz="2800">
                <a:solidFill>
                  <a:srgbClr val="FFFFFF"/>
                </a:solidFill>
                <a:latin typeface="Playpen Sans"/>
                <a:ea typeface="Playpen Sans"/>
                <a:cs typeface="Playpen Sans"/>
                <a:sym typeface="Playpen Sans"/>
              </a:rPr>
              <a:t>Bab buku dan satu paper, dengan panduan baca.</a:t>
            </a:r>
          </a:p>
        </p:txBody>
      </p:sp>
      <p:sp>
        <p:nvSpPr>
          <p:cNvPr name="TextBox 20" id="20"/>
          <p:cNvSpPr txBox="true"/>
          <p:nvPr/>
        </p:nvSpPr>
        <p:spPr>
          <a:xfrm rot="0">
            <a:off x="11095404" y="4442396"/>
            <a:ext cx="3502641" cy="400059"/>
          </a:xfrm>
          <a:prstGeom prst="rect">
            <a:avLst/>
          </a:prstGeom>
        </p:spPr>
        <p:txBody>
          <a:bodyPr anchor="t" rtlCol="false" tIns="0" lIns="0" bIns="0" rIns="0">
            <a:spAutoFit/>
          </a:bodyPr>
          <a:lstStyle/>
          <a:p>
            <a:pPr algn="l">
              <a:lnSpc>
                <a:spcPct val="100000"/>
              </a:lnSpc>
            </a:pPr>
            <a:r>
              <a:rPr lang="en-US" b="true" sz="3600">
                <a:solidFill>
                  <a:srgbClr val="EAC24B"/>
                </a:solidFill>
                <a:latin typeface="Playpen Sans Bold"/>
                <a:ea typeface="Playpen Sans Bold"/>
                <a:cs typeface="Playpen Sans Bold"/>
                <a:sym typeface="Playpen Sans Bold"/>
              </a:rPr>
              <a:t>3. Latihan</a:t>
            </a:r>
          </a:p>
        </p:txBody>
      </p:sp>
      <p:sp>
        <p:nvSpPr>
          <p:cNvPr name="TextBox 21" id="21"/>
          <p:cNvSpPr txBox="true"/>
          <p:nvPr/>
        </p:nvSpPr>
        <p:spPr>
          <a:xfrm rot="0">
            <a:off x="11095404" y="5104882"/>
            <a:ext cx="5514110" cy="958859"/>
          </a:xfrm>
          <a:prstGeom prst="rect">
            <a:avLst/>
          </a:prstGeom>
        </p:spPr>
        <p:txBody>
          <a:bodyPr anchor="t" rtlCol="false" tIns="0" lIns="0" bIns="0" rIns="0">
            <a:spAutoFit/>
          </a:bodyPr>
          <a:lstStyle/>
          <a:p>
            <a:pPr algn="l">
              <a:lnSpc>
                <a:spcPct val="100000"/>
              </a:lnSpc>
            </a:pPr>
            <a:r>
              <a:rPr lang="en-US" sz="3000">
                <a:solidFill>
                  <a:srgbClr val="FFFFFF"/>
                </a:solidFill>
                <a:latin typeface="Playpen Sans"/>
                <a:ea typeface="Playpen Sans"/>
                <a:cs typeface="Playpen Sans"/>
                <a:sym typeface="Playpen Sans"/>
              </a:rPr>
              <a:t>Notebook Colab dan satu pertanyaan pemahaman.</a:t>
            </a:r>
          </a:p>
        </p:txBody>
      </p:sp>
      <p:sp>
        <p:nvSpPr>
          <p:cNvPr id="22" name="Beban"/>
          <p:cNvSpPr txBox="1"/>
          <p:nvPr/>
        </p:nvSpPr>
        <p:spPr>
          <a:xfrm>
            <a:off x="2103120" y="2606040"/>
            <a:ext cx="8046720" cy="548640"/>
          </a:xfrm>
          <a:prstGeom prst="rect">
            <a:avLst/>
          </a:prstGeom>
          <a:noFill/>
        </p:spPr>
        <p:txBody>
          <a:bodyPr wrap="square" lIns="0" rIns="0" tIns="0" bIns="0" anchor="t">
            <a:spAutoFit/>
          </a:bodyPr>
          <a:lstStyle/>
          <a:p>
            <a:pPr algn="l">
              <a:spcAft>
                <a:spcPts val="0"/>
              </a:spcAft>
            </a:pPr>
            <a:r>
              <a:rPr sz="3000">
                <a:solidFill>
                  <a:srgbClr val="F7B125"/>
                </a:solidFill>
                <a:latin typeface="Playpen Sans Bold"/>
              </a:rPr>
              <a:t>Sekitar 5 sampai 6 jam per pekan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7928" r="0" b="-67928"/>
            </a:stretch>
          </a:blipFill>
        </p:spPr>
      </p:sp>
      <p:sp>
        <p:nvSpPr>
          <p:cNvPr name="Freeform 3" id="3"/>
          <p:cNvSpPr/>
          <p:nvPr/>
        </p:nvSpPr>
        <p:spPr>
          <a:xfrm flipH="false" flipV="false" rot="0">
            <a:off x="12533569" y="-21055"/>
            <a:ext cx="5762298" cy="6532600"/>
          </a:xfrm>
          <a:custGeom>
            <a:avLst/>
            <a:gdLst/>
            <a:ahLst/>
            <a:cxnLst/>
            <a:rect r="r" b="b" t="t" l="l"/>
            <a:pathLst>
              <a:path h="6532600" w="5762298">
                <a:moveTo>
                  <a:pt x="0" y="0"/>
                </a:moveTo>
                <a:lnTo>
                  <a:pt x="5762298" y="0"/>
                </a:lnTo>
                <a:lnTo>
                  <a:pt x="5762298" y="6532600"/>
                </a:lnTo>
                <a:lnTo>
                  <a:pt x="0" y="6532600"/>
                </a:lnTo>
                <a:lnTo>
                  <a:pt x="0" y="0"/>
                </a:lnTo>
                <a:close/>
              </a:path>
            </a:pathLst>
          </a:custGeom>
          <a:blipFill>
            <a:blip r:embed="rId3"/>
            <a:stretch>
              <a:fillRect l="0" t="0" r="0" b="0"/>
            </a:stretch>
          </a:blipFill>
        </p:spPr>
      </p:sp>
      <p:sp>
        <p:nvSpPr>
          <p:cNvPr name="Freeform 4" id="4"/>
          <p:cNvSpPr/>
          <p:nvPr/>
        </p:nvSpPr>
        <p:spPr>
          <a:xfrm flipH="false" flipV="false" rot="0">
            <a:off x="12978766" y="2004481"/>
            <a:ext cx="5309234" cy="5465964"/>
          </a:xfrm>
          <a:custGeom>
            <a:avLst/>
            <a:gdLst/>
            <a:ahLst/>
            <a:cxnLst/>
            <a:rect r="r" b="b" t="t" l="l"/>
            <a:pathLst>
              <a:path h="5465964" w="5309234">
                <a:moveTo>
                  <a:pt x="0" y="0"/>
                </a:moveTo>
                <a:lnTo>
                  <a:pt x="5309234" y="0"/>
                </a:lnTo>
                <a:lnTo>
                  <a:pt x="5309234" y="5465965"/>
                </a:lnTo>
                <a:lnTo>
                  <a:pt x="0" y="5465965"/>
                </a:lnTo>
                <a:lnTo>
                  <a:pt x="0" y="0"/>
                </a:lnTo>
                <a:close/>
              </a:path>
            </a:pathLst>
          </a:custGeom>
          <a:blipFill>
            <a:blip r:embed="rId4"/>
            <a:stretch>
              <a:fillRect l="0" t="0" r="0" b="0"/>
            </a:stretch>
          </a:blipFill>
        </p:spPr>
      </p:sp>
      <p:sp>
        <p:nvSpPr>
          <p:cNvPr name="Freeform 5" id="5"/>
          <p:cNvSpPr/>
          <p:nvPr/>
        </p:nvSpPr>
        <p:spPr>
          <a:xfrm flipH="true" flipV="false" rot="0">
            <a:off x="-29416" y="0"/>
            <a:ext cx="5762298" cy="6532600"/>
          </a:xfrm>
          <a:custGeom>
            <a:avLst/>
            <a:gdLst/>
            <a:ahLst/>
            <a:cxnLst/>
            <a:rect r="r" b="b" t="t" l="l"/>
            <a:pathLst>
              <a:path h="6532600" w="5762298">
                <a:moveTo>
                  <a:pt x="5762298" y="0"/>
                </a:moveTo>
                <a:lnTo>
                  <a:pt x="0" y="0"/>
                </a:lnTo>
                <a:lnTo>
                  <a:pt x="0" y="6532600"/>
                </a:lnTo>
                <a:lnTo>
                  <a:pt x="5762298" y="6532600"/>
                </a:lnTo>
                <a:lnTo>
                  <a:pt x="5762298" y="0"/>
                </a:lnTo>
                <a:close/>
              </a:path>
            </a:pathLst>
          </a:custGeom>
          <a:blipFill>
            <a:blip r:embed="rId3"/>
            <a:stretch>
              <a:fillRect l="0" t="0" r="0" b="0"/>
            </a:stretch>
          </a:blipFill>
        </p:spPr>
      </p:sp>
      <p:sp>
        <p:nvSpPr>
          <p:cNvPr name="Freeform 6" id="6"/>
          <p:cNvSpPr/>
          <p:nvPr/>
        </p:nvSpPr>
        <p:spPr>
          <a:xfrm flipH="false" flipV="false" rot="0">
            <a:off x="423648" y="2410518"/>
            <a:ext cx="5309234" cy="5465964"/>
          </a:xfrm>
          <a:custGeom>
            <a:avLst/>
            <a:gdLst/>
            <a:ahLst/>
            <a:cxnLst/>
            <a:rect r="r" b="b" t="t" l="l"/>
            <a:pathLst>
              <a:path h="5465964" w="5309234">
                <a:moveTo>
                  <a:pt x="0" y="0"/>
                </a:moveTo>
                <a:lnTo>
                  <a:pt x="5309234" y="0"/>
                </a:lnTo>
                <a:lnTo>
                  <a:pt x="5309234" y="5465964"/>
                </a:lnTo>
                <a:lnTo>
                  <a:pt x="0" y="5465964"/>
                </a:lnTo>
                <a:lnTo>
                  <a:pt x="0" y="0"/>
                </a:lnTo>
                <a:close/>
              </a:path>
            </a:pathLst>
          </a:custGeom>
          <a:blipFill>
            <a:blip r:embed="rId4"/>
            <a:stretch>
              <a:fillRect l="0" t="0" r="0" b="0"/>
            </a:stretch>
          </a:blipFill>
        </p:spPr>
      </p:sp>
      <p:sp>
        <p:nvSpPr>
          <p:cNvPr name="Freeform 7" id="7"/>
          <p:cNvSpPr/>
          <p:nvPr/>
        </p:nvSpPr>
        <p:spPr>
          <a:xfrm flipH="false" flipV="false" rot="0">
            <a:off x="-317430" y="7660946"/>
            <a:ext cx="18613297" cy="3022078"/>
          </a:xfrm>
          <a:custGeom>
            <a:avLst/>
            <a:gdLst/>
            <a:ahLst/>
            <a:cxnLst/>
            <a:rect r="r" b="b" t="t" l="l"/>
            <a:pathLst>
              <a:path h="3022078" w="18613297">
                <a:moveTo>
                  <a:pt x="0" y="0"/>
                </a:moveTo>
                <a:lnTo>
                  <a:pt x="18613297" y="0"/>
                </a:lnTo>
                <a:lnTo>
                  <a:pt x="18613297" y="3022077"/>
                </a:lnTo>
                <a:lnTo>
                  <a:pt x="0" y="3022077"/>
                </a:lnTo>
                <a:lnTo>
                  <a:pt x="0" y="0"/>
                </a:lnTo>
                <a:close/>
              </a:path>
            </a:pathLst>
          </a:custGeom>
          <a:blipFill>
            <a:blip r:embed="rId5"/>
            <a:stretch>
              <a:fillRect l="-158" t="0" r="-158" b="-6838"/>
            </a:stretch>
          </a:blipFill>
        </p:spPr>
      </p:sp>
      <p:sp>
        <p:nvSpPr>
          <p:cNvPr name="Freeform 11" id="11"/>
          <p:cNvSpPr/>
          <p:nvPr/>
        </p:nvSpPr>
        <p:spPr>
          <a:xfrm flipH="false" flipV="false" rot="0">
            <a:off x="681269" y="7470446"/>
            <a:ext cx="6083710" cy="4114800"/>
          </a:xfrm>
          <a:custGeom>
            <a:avLst/>
            <a:gdLst/>
            <a:ahLst/>
            <a:cxnLst/>
            <a:rect r="r" b="b" t="t" l="l"/>
            <a:pathLst>
              <a:path h="4114800" w="6083710">
                <a:moveTo>
                  <a:pt x="0" y="0"/>
                </a:moveTo>
                <a:lnTo>
                  <a:pt x="6083709" y="0"/>
                </a:lnTo>
                <a:lnTo>
                  <a:pt x="6083709"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9549673" y="7660946"/>
            <a:ext cx="6083710" cy="4114800"/>
          </a:xfrm>
          <a:custGeom>
            <a:avLst/>
            <a:gdLst/>
            <a:ahLst/>
            <a:cxnLst/>
            <a:rect r="r" b="b" t="t" l="l"/>
            <a:pathLst>
              <a:path h="4114800" w="6083710">
                <a:moveTo>
                  <a:pt x="0" y="0"/>
                </a:moveTo>
                <a:lnTo>
                  <a:pt x="6083710" y="0"/>
                </a:lnTo>
                <a:lnTo>
                  <a:pt x="608371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id="14" name="Panel"/>
          <p:cNvSpPr/>
          <p:nvPr/>
        </p:nvSpPr>
        <p:spPr>
          <a:xfrm>
            <a:off x="914400" y="731520"/>
            <a:ext cx="16459200" cy="6675120"/>
          </a:xfrm>
          <a:prstGeom prst="roundRect">
            <a:avLst>
              <a:gd name="adj" fmla="val 5000"/>
            </a:avLst>
          </a:prstGeom>
          <a:solidFill>
            <a:srgbClr val="0A2540">
              <a:alpha val="8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Judul"/>
          <p:cNvSpPr txBox="1"/>
          <p:nvPr/>
        </p:nvSpPr>
        <p:spPr>
          <a:xfrm>
            <a:off x="1508760" y="1005840"/>
            <a:ext cx="15270480" cy="1188720"/>
          </a:xfrm>
          <a:prstGeom prst="rect">
            <a:avLst/>
          </a:prstGeom>
          <a:noFill/>
        </p:spPr>
        <p:txBody>
          <a:bodyPr wrap="square" lIns="0" rIns="0" tIns="0" bIns="0" anchor="t">
            <a:spAutoFit/>
          </a:bodyPr>
          <a:lstStyle/>
          <a:p>
            <a:pPr algn="l">
              <a:spcAft>
                <a:spcPts val="0"/>
              </a:spcAft>
            </a:pPr>
            <a:r>
              <a:rPr sz="4800">
                <a:solidFill>
                  <a:srgbClr val="F7B125"/>
                </a:solidFill>
                <a:latin typeface="Playpen Sans Bold"/>
              </a:rPr>
              <a:t>Buku untuk Dasar, Paper untuk Garis Depan</a:t>
            </a:r>
          </a:p>
        </p:txBody>
      </p:sp>
      <p:sp>
        <p:nvSpPr>
          <p:cNvPr id="16" name="Buku"/>
          <p:cNvSpPr/>
          <p:nvPr/>
        </p:nvSpPr>
        <p:spPr>
          <a:xfrm>
            <a:off x="1508760" y="2011680"/>
            <a:ext cx="7360919" cy="5029200"/>
          </a:xfrm>
          <a:prstGeom prst="roundRect">
            <a:avLst>
              <a:gd name="adj" fmla="val 4000"/>
            </a:avLst>
          </a:prstGeom>
          <a:solidFill>
            <a:srgbClr val="14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uku"/>
          <p:cNvSpPr txBox="1"/>
          <p:nvPr/>
        </p:nvSpPr>
        <p:spPr>
          <a:xfrm>
            <a:off x="1828800" y="2148840"/>
            <a:ext cx="6720839" cy="4846320"/>
          </a:xfrm>
          <a:prstGeom prst="rect">
            <a:avLst/>
          </a:prstGeom>
          <a:noFill/>
        </p:spPr>
        <p:txBody>
          <a:bodyPr wrap="square" lIns="0" rIns="0" tIns="0" bIns="0" anchor="t">
            <a:spAutoFit/>
          </a:bodyPr>
          <a:lstStyle/>
          <a:p>
            <a:pPr algn="l">
              <a:spcAft>
                <a:spcPts val="1200"/>
              </a:spcAft>
            </a:pPr>
            <a:r>
              <a:rPr sz="3200">
                <a:solidFill>
                  <a:srgbClr val="F7B125"/>
                </a:solidFill>
                <a:latin typeface="Playpen Sans Bold"/>
              </a:rPr>
              <a:t>Dua buku, gratis dan sah</a:t>
            </a:r>
          </a:p>
          <a:p>
            <a:pPr algn="l">
              <a:spcAft>
                <a:spcPts val="200"/>
              </a:spcAft>
            </a:pPr>
            <a:r>
              <a:rPr sz="2800">
                <a:solidFill>
                  <a:srgbClr val="FFFFFF"/>
                </a:solidFill>
                <a:latin typeface="Playpen Sans Bold"/>
              </a:rPr>
              <a:t>Understanding Deep Learning</a:t>
            </a:r>
          </a:p>
          <a:p>
            <a:pPr algn="l">
              <a:spcAft>
                <a:spcPts val="1400"/>
              </a:spcAft>
            </a:pPr>
            <a:r>
              <a:rPr sz="2400">
                <a:solidFill>
                  <a:srgbClr val="FFFFFF"/>
                </a:solidFill>
                <a:latin typeface="Playpen Sans"/>
              </a:rPr>
              <a:t>Simon J. D. Prince, MIT Press 2023</a:t>
            </a:r>
          </a:p>
          <a:p>
            <a:pPr algn="l">
              <a:spcAft>
                <a:spcPts val="200"/>
              </a:spcAft>
            </a:pPr>
            <a:r>
              <a:rPr sz="2800">
                <a:solidFill>
                  <a:srgbClr val="FFFFFF"/>
                </a:solidFill>
                <a:latin typeface="Playpen Sans Bold"/>
              </a:rPr>
              <a:t>Essentials of Metaheuristics</a:t>
            </a:r>
          </a:p>
          <a:p>
            <a:pPr algn="l">
              <a:spcAft>
                <a:spcPts val="1400"/>
              </a:spcAft>
            </a:pPr>
            <a:r>
              <a:rPr sz="2400">
                <a:solidFill>
                  <a:srgbClr val="FFFFFF"/>
                </a:solidFill>
                <a:latin typeface="Playpen Sans"/>
              </a:rPr>
              <a:t>Sean Luke, edisi kedua, versi 2.4</a:t>
            </a:r>
          </a:p>
          <a:p>
            <a:pPr algn="l">
              <a:spcAft>
                <a:spcPts val="0"/>
              </a:spcAft>
            </a:pPr>
            <a:r>
              <a:rPr sz="2400">
                <a:solidFill>
                  <a:srgbClr val="F7B125"/>
                </a:solidFill>
                <a:latin typeface="Playpen Sans"/>
              </a:rPr>
              <a:t>Unduh dari situs penulis (Panduan Peserta)</a:t>
            </a:r>
          </a:p>
        </p:txBody>
      </p:sp>
      <p:sp>
        <p:nvSpPr>
          <p:cNvPr id="18" name="Paper"/>
          <p:cNvSpPr/>
          <p:nvPr/>
        </p:nvSpPr>
        <p:spPr>
          <a:xfrm>
            <a:off x="9418319" y="2011680"/>
            <a:ext cx="7360919" cy="5029200"/>
          </a:xfrm>
          <a:prstGeom prst="roundRect">
            <a:avLst>
              <a:gd name="adj" fmla="val 4000"/>
            </a:avLst>
          </a:prstGeom>
          <a:solidFill>
            <a:srgbClr val="14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per mingguan"/>
          <p:cNvSpPr txBox="1"/>
          <p:nvPr/>
        </p:nvSpPr>
        <p:spPr>
          <a:xfrm>
            <a:off x="9738359" y="2148840"/>
            <a:ext cx="6720839" cy="4846320"/>
          </a:xfrm>
          <a:prstGeom prst="rect">
            <a:avLst/>
          </a:prstGeom>
          <a:noFill/>
        </p:spPr>
        <p:txBody>
          <a:bodyPr wrap="square" lIns="0" rIns="0" tIns="0" bIns="0" anchor="t">
            <a:spAutoFit/>
          </a:bodyPr>
          <a:lstStyle/>
          <a:p>
            <a:pPr algn="l">
              <a:spcAft>
                <a:spcPts val="1200"/>
              </a:spcAft>
            </a:pPr>
            <a:r>
              <a:rPr sz="3200">
                <a:solidFill>
                  <a:srgbClr val="F7B125"/>
                </a:solidFill>
                <a:latin typeface="Playpen Sans Bold"/>
              </a:rPr>
              <a:t>Paper yang kita baca bersama</a:t>
            </a:r>
          </a:p>
          <a:p>
            <a:pPr algn="l" marL="502920" indent="-502920">
              <a:spcAft>
                <a:spcPts val="1000"/>
              </a:spcAft>
              <a:buClr>
                <a:srgbClr val="F7B125"/>
              </a:buClr>
              <a:buFont typeface="Arial"/>
              <a:buChar char="•"/>
            </a:pPr>
            <a:r>
              <a:rPr sz="2800">
                <a:solidFill>
                  <a:srgbClr val="FFFFFF"/>
                </a:solidFill>
                <a:latin typeface="Playpen Sans"/>
              </a:rPr>
              <a:t>Pekan 7: audit bias warna kulit</a:t>
            </a:r>
          </a:p>
          <a:p>
            <a:pPr algn="l" marL="502920" indent="-502920">
              <a:spcAft>
                <a:spcPts val="1000"/>
              </a:spcAft>
              <a:buClr>
                <a:srgbClr val="F7B125"/>
              </a:buClr>
              <a:buFont typeface="Arial"/>
              <a:buChar char="•"/>
            </a:pPr>
            <a:r>
              <a:rPr sz="2800">
                <a:solidFill>
                  <a:srgbClr val="FFFFFF"/>
                </a:solidFill>
                <a:latin typeface="Playpen Sans"/>
              </a:rPr>
              <a:t>Pekan 9 sampai 11: KMA dan penerusnya</a:t>
            </a:r>
          </a:p>
          <a:p>
            <a:pPr algn="l" marL="502920" indent="-502920">
              <a:spcAft>
                <a:spcPts val="1000"/>
              </a:spcAft>
              <a:buClr>
                <a:srgbClr val="F7B125"/>
              </a:buClr>
              <a:buFont typeface="Arial"/>
              <a:buChar char="•"/>
            </a:pPr>
            <a:r>
              <a:rPr sz="2800">
                <a:solidFill>
                  <a:srgbClr val="FFFFFF"/>
                </a:solidFill>
                <a:latin typeface="Playpen Sans"/>
              </a:rPr>
              <a:t>Pekan 12: token eviction dengan BPSO</a:t>
            </a:r>
          </a:p>
          <a:p>
            <a:pPr algn="l" marL="502920" indent="-502920">
              <a:spcAft>
                <a:spcPts val="0"/>
              </a:spcAft>
              <a:buClr>
                <a:srgbClr val="F7B125"/>
              </a:buClr>
              <a:buFont typeface="Arial"/>
              <a:buChar char="•"/>
            </a:pPr>
            <a:r>
              <a:rPr sz="2800">
                <a:solidFill>
                  <a:srgbClr val="FFFFFF"/>
                </a:solidFill>
                <a:latin typeface="Playpen Sans"/>
              </a:rPr>
              <a:t>Pekan 14: CoT dan PoT pada model kecil</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7928" r="0" b="-67928"/>
            </a:stretch>
          </a:blipFill>
        </p:spPr>
      </p:sp>
      <p:sp>
        <p:nvSpPr>
          <p:cNvPr name="Freeform 3" id="3"/>
          <p:cNvSpPr/>
          <p:nvPr/>
        </p:nvSpPr>
        <p:spPr>
          <a:xfrm flipH="false" flipV="false" rot="0">
            <a:off x="12533569" y="-21055"/>
            <a:ext cx="5762298" cy="6532600"/>
          </a:xfrm>
          <a:custGeom>
            <a:avLst/>
            <a:gdLst/>
            <a:ahLst/>
            <a:cxnLst/>
            <a:rect r="r" b="b" t="t" l="l"/>
            <a:pathLst>
              <a:path h="6532600" w="5762298">
                <a:moveTo>
                  <a:pt x="0" y="0"/>
                </a:moveTo>
                <a:lnTo>
                  <a:pt x="5762298" y="0"/>
                </a:lnTo>
                <a:lnTo>
                  <a:pt x="5762298" y="6532600"/>
                </a:lnTo>
                <a:lnTo>
                  <a:pt x="0" y="6532600"/>
                </a:lnTo>
                <a:lnTo>
                  <a:pt x="0" y="0"/>
                </a:lnTo>
                <a:close/>
              </a:path>
            </a:pathLst>
          </a:custGeom>
          <a:blipFill>
            <a:blip r:embed="rId3"/>
            <a:stretch>
              <a:fillRect l="0" t="0" r="0" b="0"/>
            </a:stretch>
          </a:blipFill>
        </p:spPr>
      </p:sp>
      <p:sp>
        <p:nvSpPr>
          <p:cNvPr name="Freeform 4" id="4"/>
          <p:cNvSpPr/>
          <p:nvPr/>
        </p:nvSpPr>
        <p:spPr>
          <a:xfrm flipH="false" flipV="false" rot="0">
            <a:off x="12978766" y="2004481"/>
            <a:ext cx="5309234" cy="5465964"/>
          </a:xfrm>
          <a:custGeom>
            <a:avLst/>
            <a:gdLst/>
            <a:ahLst/>
            <a:cxnLst/>
            <a:rect r="r" b="b" t="t" l="l"/>
            <a:pathLst>
              <a:path h="5465964" w="5309234">
                <a:moveTo>
                  <a:pt x="0" y="0"/>
                </a:moveTo>
                <a:lnTo>
                  <a:pt x="5309234" y="0"/>
                </a:lnTo>
                <a:lnTo>
                  <a:pt x="5309234" y="5465965"/>
                </a:lnTo>
                <a:lnTo>
                  <a:pt x="0" y="5465965"/>
                </a:lnTo>
                <a:lnTo>
                  <a:pt x="0" y="0"/>
                </a:lnTo>
                <a:close/>
              </a:path>
            </a:pathLst>
          </a:custGeom>
          <a:blipFill>
            <a:blip r:embed="rId4"/>
            <a:stretch>
              <a:fillRect l="0" t="0" r="0" b="0"/>
            </a:stretch>
          </a:blipFill>
        </p:spPr>
      </p:sp>
      <p:sp>
        <p:nvSpPr>
          <p:cNvPr name="Freeform 5" id="5"/>
          <p:cNvSpPr/>
          <p:nvPr/>
        </p:nvSpPr>
        <p:spPr>
          <a:xfrm flipH="true" flipV="false" rot="0">
            <a:off x="-29416" y="0"/>
            <a:ext cx="5762298" cy="6532600"/>
          </a:xfrm>
          <a:custGeom>
            <a:avLst/>
            <a:gdLst/>
            <a:ahLst/>
            <a:cxnLst/>
            <a:rect r="r" b="b" t="t" l="l"/>
            <a:pathLst>
              <a:path h="6532600" w="5762298">
                <a:moveTo>
                  <a:pt x="5762298" y="0"/>
                </a:moveTo>
                <a:lnTo>
                  <a:pt x="0" y="0"/>
                </a:lnTo>
                <a:lnTo>
                  <a:pt x="0" y="6532600"/>
                </a:lnTo>
                <a:lnTo>
                  <a:pt x="5762298" y="6532600"/>
                </a:lnTo>
                <a:lnTo>
                  <a:pt x="5762298" y="0"/>
                </a:lnTo>
                <a:close/>
              </a:path>
            </a:pathLst>
          </a:custGeom>
          <a:blipFill>
            <a:blip r:embed="rId3"/>
            <a:stretch>
              <a:fillRect l="0" t="0" r="0" b="0"/>
            </a:stretch>
          </a:blipFill>
        </p:spPr>
      </p:sp>
      <p:sp>
        <p:nvSpPr>
          <p:cNvPr name="Freeform 6" id="6"/>
          <p:cNvSpPr/>
          <p:nvPr/>
        </p:nvSpPr>
        <p:spPr>
          <a:xfrm flipH="false" flipV="false" rot="0">
            <a:off x="423648" y="2410518"/>
            <a:ext cx="5309234" cy="5465964"/>
          </a:xfrm>
          <a:custGeom>
            <a:avLst/>
            <a:gdLst/>
            <a:ahLst/>
            <a:cxnLst/>
            <a:rect r="r" b="b" t="t" l="l"/>
            <a:pathLst>
              <a:path h="5465964" w="5309234">
                <a:moveTo>
                  <a:pt x="0" y="0"/>
                </a:moveTo>
                <a:lnTo>
                  <a:pt x="5309234" y="0"/>
                </a:lnTo>
                <a:lnTo>
                  <a:pt x="5309234" y="5465964"/>
                </a:lnTo>
                <a:lnTo>
                  <a:pt x="0" y="5465964"/>
                </a:lnTo>
                <a:lnTo>
                  <a:pt x="0" y="0"/>
                </a:lnTo>
                <a:close/>
              </a:path>
            </a:pathLst>
          </a:custGeom>
          <a:blipFill>
            <a:blip r:embed="rId4"/>
            <a:stretch>
              <a:fillRect l="0" t="0" r="0" b="0"/>
            </a:stretch>
          </a:blipFill>
        </p:spPr>
      </p:sp>
      <p:sp>
        <p:nvSpPr>
          <p:cNvPr name="Freeform 7" id="7"/>
          <p:cNvSpPr/>
          <p:nvPr/>
        </p:nvSpPr>
        <p:spPr>
          <a:xfrm flipH="false" flipV="false" rot="0">
            <a:off x="-317430" y="7660946"/>
            <a:ext cx="18613297" cy="3022078"/>
          </a:xfrm>
          <a:custGeom>
            <a:avLst/>
            <a:gdLst/>
            <a:ahLst/>
            <a:cxnLst/>
            <a:rect r="r" b="b" t="t" l="l"/>
            <a:pathLst>
              <a:path h="3022078" w="18613297">
                <a:moveTo>
                  <a:pt x="0" y="0"/>
                </a:moveTo>
                <a:lnTo>
                  <a:pt x="18613297" y="0"/>
                </a:lnTo>
                <a:lnTo>
                  <a:pt x="18613297" y="3022077"/>
                </a:lnTo>
                <a:lnTo>
                  <a:pt x="0" y="3022077"/>
                </a:lnTo>
                <a:lnTo>
                  <a:pt x="0" y="0"/>
                </a:lnTo>
                <a:close/>
              </a:path>
            </a:pathLst>
          </a:custGeom>
          <a:blipFill>
            <a:blip r:embed="rId5"/>
            <a:stretch>
              <a:fillRect l="-158" t="0" r="-158" b="-6838"/>
            </a:stretch>
          </a:blipFill>
        </p:spPr>
      </p:sp>
      <p:sp>
        <p:nvSpPr>
          <p:cNvPr name="Freeform 10" id="10"/>
          <p:cNvSpPr/>
          <p:nvPr/>
        </p:nvSpPr>
        <p:spPr>
          <a:xfrm flipH="false" flipV="false" rot="0">
            <a:off x="-29416" y="2396745"/>
            <a:ext cx="4040554" cy="8229600"/>
          </a:xfrm>
          <a:custGeom>
            <a:avLst/>
            <a:gdLst/>
            <a:ahLst/>
            <a:cxnLst/>
            <a:rect r="r" b="b" t="t" l="l"/>
            <a:pathLst>
              <a:path h="8229600" w="4040554">
                <a:moveTo>
                  <a:pt x="0" y="0"/>
                </a:moveTo>
                <a:lnTo>
                  <a:pt x="4040554" y="0"/>
                </a:lnTo>
                <a:lnTo>
                  <a:pt x="4040554" y="8229600"/>
                </a:lnTo>
                <a:lnTo>
                  <a:pt x="0" y="8229600"/>
                </a:lnTo>
                <a:lnTo>
                  <a:pt x="0" y="0"/>
                </a:lnTo>
                <a:close/>
              </a:path>
            </a:pathLst>
          </a:custGeom>
          <a:blipFill>
            <a:blip r:embed="rId8"/>
            <a:stretch>
              <a:fillRect l="0" t="0" r="0" b="0"/>
            </a:stretch>
          </a:blipFill>
        </p:spPr>
      </p:sp>
      <p:sp>
        <p:nvSpPr>
          <p:cNvPr name="Freeform 11" id="11"/>
          <p:cNvSpPr/>
          <p:nvPr/>
        </p:nvSpPr>
        <p:spPr>
          <a:xfrm flipH="false" flipV="false" rot="0">
            <a:off x="681269" y="7470446"/>
            <a:ext cx="6083710" cy="4114800"/>
          </a:xfrm>
          <a:custGeom>
            <a:avLst/>
            <a:gdLst/>
            <a:ahLst/>
            <a:cxnLst/>
            <a:rect r="r" b="b" t="t" l="l"/>
            <a:pathLst>
              <a:path h="4114800" w="6083710">
                <a:moveTo>
                  <a:pt x="0" y="0"/>
                </a:moveTo>
                <a:lnTo>
                  <a:pt x="6083709" y="0"/>
                </a:lnTo>
                <a:lnTo>
                  <a:pt x="6083709"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id="12" name="Panel"/>
          <p:cNvSpPr/>
          <p:nvPr/>
        </p:nvSpPr>
        <p:spPr>
          <a:xfrm>
            <a:off x="4480560" y="731520"/>
            <a:ext cx="12893040" cy="6217920"/>
          </a:xfrm>
          <a:prstGeom prst="roundRect">
            <a:avLst>
              <a:gd name="adj" fmla="val 5000"/>
            </a:avLst>
          </a:prstGeom>
          <a:solidFill>
            <a:srgbClr val="0A2540">
              <a:alpha val="8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Judul"/>
          <p:cNvSpPr txBox="1"/>
          <p:nvPr/>
        </p:nvSpPr>
        <p:spPr>
          <a:xfrm>
            <a:off x="5074920" y="1005840"/>
            <a:ext cx="11704319" cy="1188720"/>
          </a:xfrm>
          <a:prstGeom prst="rect">
            <a:avLst/>
          </a:prstGeom>
          <a:noFill/>
        </p:spPr>
        <p:txBody>
          <a:bodyPr wrap="square" lIns="0" rIns="0" tIns="0" bIns="0" anchor="t">
            <a:spAutoFit/>
          </a:bodyPr>
          <a:lstStyle/>
          <a:p>
            <a:pPr algn="l">
              <a:spcAft>
                <a:spcPts val="0"/>
              </a:spcAft>
            </a:pPr>
            <a:r>
              <a:rPr sz="6800">
                <a:solidFill>
                  <a:srgbClr val="F7B125"/>
                </a:solidFill>
                <a:latin typeface="Playpen Sans Bold"/>
              </a:rPr>
              <a:t>Penilaian</a:t>
            </a:r>
          </a:p>
        </p:txBody>
      </p:sp>
      <p:sp>
        <p:nvSpPr>
          <p:cNvPr id="14" name="Angka 1"/>
          <p:cNvSpPr txBox="1"/>
          <p:nvPr/>
        </p:nvSpPr>
        <p:spPr>
          <a:xfrm>
            <a:off x="5074920" y="2240280"/>
            <a:ext cx="3627120" cy="1463040"/>
          </a:xfrm>
          <a:prstGeom prst="rect">
            <a:avLst/>
          </a:prstGeom>
          <a:noFill/>
        </p:spPr>
        <p:txBody>
          <a:bodyPr wrap="square" lIns="0" rIns="0" tIns="0" bIns="0" anchor="t">
            <a:spAutoFit/>
          </a:bodyPr>
          <a:lstStyle/>
          <a:p>
            <a:pPr algn="l">
              <a:spcAft>
                <a:spcPts val="0"/>
              </a:spcAft>
            </a:pPr>
            <a:r>
              <a:rPr sz="9600">
                <a:solidFill>
                  <a:srgbClr val="F7B125"/>
                </a:solidFill>
                <a:latin typeface="Playpen Sans Bold"/>
              </a:rPr>
              <a:t>40%</a:t>
            </a:r>
          </a:p>
        </p:txBody>
      </p:sp>
      <p:sp>
        <p:nvSpPr>
          <p:cNvPr id="15" name="Label 1"/>
          <p:cNvSpPr txBox="1"/>
          <p:nvPr/>
        </p:nvSpPr>
        <p:spPr>
          <a:xfrm>
            <a:off x="5074920" y="3840480"/>
            <a:ext cx="3627120" cy="2286000"/>
          </a:xfrm>
          <a:prstGeom prst="rect">
            <a:avLst/>
          </a:prstGeom>
          <a:noFill/>
        </p:spPr>
        <p:txBody>
          <a:bodyPr wrap="square" lIns="0" rIns="0" tIns="0" bIns="0" anchor="t">
            <a:spAutoFit/>
          </a:bodyPr>
          <a:lstStyle/>
          <a:p>
            <a:pPr algn="l">
              <a:spcAft>
                <a:spcPts val="600"/>
              </a:spcAft>
            </a:pPr>
            <a:r>
              <a:rPr sz="3200">
                <a:solidFill>
                  <a:srgbClr val="FFFFFF"/>
                </a:solidFill>
                <a:latin typeface="Playpen Sans Bold"/>
              </a:rPr>
              <a:t>Latihan</a:t>
            </a:r>
          </a:p>
          <a:p>
            <a:pPr algn="l">
              <a:spcAft>
                <a:spcPts val="0"/>
              </a:spcAft>
            </a:pPr>
            <a:r>
              <a:rPr sz="2400">
                <a:solidFill>
                  <a:srgbClr val="FFFFFF"/>
                </a:solidFill>
                <a:latin typeface="Playpen Sans"/>
              </a:rPr>
              <a:t>mingguan: kelengkapan dan satu pertanyaan pemahaman</a:t>
            </a:r>
          </a:p>
        </p:txBody>
      </p:sp>
      <p:sp>
        <p:nvSpPr>
          <p:cNvPr id="16" name="Angka 2"/>
          <p:cNvSpPr txBox="1"/>
          <p:nvPr/>
        </p:nvSpPr>
        <p:spPr>
          <a:xfrm>
            <a:off x="8976360" y="2240280"/>
            <a:ext cx="3627120" cy="1463040"/>
          </a:xfrm>
          <a:prstGeom prst="rect">
            <a:avLst/>
          </a:prstGeom>
          <a:noFill/>
        </p:spPr>
        <p:txBody>
          <a:bodyPr wrap="square" lIns="0" rIns="0" tIns="0" bIns="0" anchor="t">
            <a:spAutoFit/>
          </a:bodyPr>
          <a:lstStyle/>
          <a:p>
            <a:pPr algn="l">
              <a:spcAft>
                <a:spcPts val="0"/>
              </a:spcAft>
            </a:pPr>
            <a:r>
              <a:rPr sz="9600">
                <a:solidFill>
                  <a:srgbClr val="F7B125"/>
                </a:solidFill>
                <a:latin typeface="Playpen Sans Bold"/>
              </a:rPr>
              <a:t>10%</a:t>
            </a:r>
          </a:p>
        </p:txBody>
      </p:sp>
      <p:sp>
        <p:nvSpPr>
          <p:cNvPr id="17" name="Label 2"/>
          <p:cNvSpPr txBox="1"/>
          <p:nvPr/>
        </p:nvSpPr>
        <p:spPr>
          <a:xfrm>
            <a:off x="8976360" y="3840480"/>
            <a:ext cx="3627120" cy="2286000"/>
          </a:xfrm>
          <a:prstGeom prst="rect">
            <a:avLst/>
          </a:prstGeom>
          <a:noFill/>
        </p:spPr>
        <p:txBody>
          <a:bodyPr wrap="square" lIns="0" rIns="0" tIns="0" bIns="0" anchor="t">
            <a:spAutoFit/>
          </a:bodyPr>
          <a:lstStyle/>
          <a:p>
            <a:pPr algn="l">
              <a:spcAft>
                <a:spcPts val="600"/>
              </a:spcAft>
            </a:pPr>
            <a:r>
              <a:rPr sz="3200">
                <a:solidFill>
                  <a:srgbClr val="FFFFFF"/>
                </a:solidFill>
                <a:latin typeface="Playpen Sans Bold"/>
              </a:rPr>
              <a:t>Cek lisan</a:t>
            </a:r>
          </a:p>
          <a:p>
            <a:pPr algn="l">
              <a:spcAft>
                <a:spcPts val="0"/>
              </a:spcAft>
            </a:pPr>
            <a:r>
              <a:rPr sz="2400">
                <a:solidFill>
                  <a:srgbClr val="FFFFFF"/>
                </a:solidFill>
                <a:latin typeface="Playpen Sans"/>
              </a:rPr>
              <a:t>Pekan 8 individu, Pekan 12 tim</a:t>
            </a:r>
          </a:p>
        </p:txBody>
      </p:sp>
      <p:sp>
        <p:nvSpPr>
          <p:cNvPr id="18" name="Angka 3"/>
          <p:cNvSpPr txBox="1"/>
          <p:nvPr/>
        </p:nvSpPr>
        <p:spPr>
          <a:xfrm>
            <a:off x="12877800" y="2240280"/>
            <a:ext cx="3627120" cy="1463040"/>
          </a:xfrm>
          <a:prstGeom prst="rect">
            <a:avLst/>
          </a:prstGeom>
          <a:noFill/>
        </p:spPr>
        <p:txBody>
          <a:bodyPr wrap="square" lIns="0" rIns="0" tIns="0" bIns="0" anchor="t">
            <a:spAutoFit/>
          </a:bodyPr>
          <a:lstStyle/>
          <a:p>
            <a:pPr algn="l">
              <a:spcAft>
                <a:spcPts val="0"/>
              </a:spcAft>
            </a:pPr>
            <a:r>
              <a:rPr sz="9600">
                <a:solidFill>
                  <a:srgbClr val="F7B125"/>
                </a:solidFill>
                <a:latin typeface="Playpen Sans Bold"/>
              </a:rPr>
              <a:t>50%</a:t>
            </a:r>
          </a:p>
        </p:txBody>
      </p:sp>
      <p:sp>
        <p:nvSpPr>
          <p:cNvPr id="19" name="Label 3"/>
          <p:cNvSpPr txBox="1"/>
          <p:nvPr/>
        </p:nvSpPr>
        <p:spPr>
          <a:xfrm>
            <a:off x="12877800" y="3840480"/>
            <a:ext cx="3627120" cy="2286000"/>
          </a:xfrm>
          <a:prstGeom prst="rect">
            <a:avLst/>
          </a:prstGeom>
          <a:noFill/>
        </p:spPr>
        <p:txBody>
          <a:bodyPr wrap="square" lIns="0" rIns="0" tIns="0" bIns="0" anchor="t">
            <a:spAutoFit/>
          </a:bodyPr>
          <a:lstStyle/>
          <a:p>
            <a:pPr algn="l">
              <a:spcAft>
                <a:spcPts val="600"/>
              </a:spcAft>
            </a:pPr>
            <a:r>
              <a:rPr sz="3200">
                <a:solidFill>
                  <a:srgbClr val="FFFFFF"/>
                </a:solidFill>
                <a:latin typeface="Playpen Sans Bold"/>
              </a:rPr>
              <a:t>Proyek akhir</a:t>
            </a:r>
          </a:p>
          <a:p>
            <a:pPr algn="l">
              <a:spcAft>
                <a:spcPts val="0"/>
              </a:spcAft>
            </a:pPr>
            <a:r>
              <a:rPr sz="2400">
                <a:solidFill>
                  <a:srgbClr val="FFFFFF"/>
                </a:solidFill>
                <a:latin typeface="Playpen Sans"/>
              </a:rPr>
              <a:t>tim 30%, cek lisan individu 20%</a:t>
            </a:r>
          </a:p>
        </p:txBody>
      </p:sp>
      <p:sp>
        <p:nvSpPr>
          <p:cNvPr id="20" name="Kehadiran"/>
          <p:cNvSpPr txBox="1"/>
          <p:nvPr/>
        </p:nvSpPr>
        <p:spPr>
          <a:xfrm>
            <a:off x="5074920" y="6217920"/>
            <a:ext cx="11704319" cy="914400"/>
          </a:xfrm>
          <a:prstGeom prst="rect">
            <a:avLst/>
          </a:prstGeom>
          <a:noFill/>
        </p:spPr>
        <p:txBody>
          <a:bodyPr wrap="square" lIns="0" rIns="0" tIns="0" bIns="0" anchor="t">
            <a:spAutoFit/>
          </a:bodyPr>
          <a:lstStyle/>
          <a:p>
            <a:pPr algn="l">
              <a:spcAft>
                <a:spcPts val="0"/>
              </a:spcAft>
            </a:pPr>
            <a:r>
              <a:rPr sz="3000">
                <a:solidFill>
                  <a:srgbClr val="F7B125"/>
                </a:solidFill>
                <a:latin typeface="Playpen Sans Bold"/>
              </a:rPr>
              <a:t>Kehadiran menjadi syarat: minimal 13 dari 16 pertemuan.</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7928" r="0" b="-67928"/>
            </a:stretch>
          </a:blipFill>
        </p:spPr>
      </p:sp>
      <p:sp>
        <p:nvSpPr>
          <p:cNvPr name="Freeform 3" id="3"/>
          <p:cNvSpPr/>
          <p:nvPr/>
        </p:nvSpPr>
        <p:spPr>
          <a:xfrm flipH="false" flipV="false" rot="0">
            <a:off x="12533569" y="-21055"/>
            <a:ext cx="5762298" cy="6532600"/>
          </a:xfrm>
          <a:custGeom>
            <a:avLst/>
            <a:gdLst/>
            <a:ahLst/>
            <a:cxnLst/>
            <a:rect r="r" b="b" t="t" l="l"/>
            <a:pathLst>
              <a:path h="6532600" w="5762298">
                <a:moveTo>
                  <a:pt x="0" y="0"/>
                </a:moveTo>
                <a:lnTo>
                  <a:pt x="5762298" y="0"/>
                </a:lnTo>
                <a:lnTo>
                  <a:pt x="5762298" y="6532600"/>
                </a:lnTo>
                <a:lnTo>
                  <a:pt x="0" y="6532600"/>
                </a:lnTo>
                <a:lnTo>
                  <a:pt x="0" y="0"/>
                </a:lnTo>
                <a:close/>
              </a:path>
            </a:pathLst>
          </a:custGeom>
          <a:blipFill>
            <a:blip r:embed="rId3"/>
            <a:stretch>
              <a:fillRect l="0" t="0" r="0" b="0"/>
            </a:stretch>
          </a:blipFill>
        </p:spPr>
      </p:sp>
      <p:sp>
        <p:nvSpPr>
          <p:cNvPr name="Freeform 4" id="4"/>
          <p:cNvSpPr/>
          <p:nvPr/>
        </p:nvSpPr>
        <p:spPr>
          <a:xfrm flipH="false" flipV="false" rot="0">
            <a:off x="12978766" y="2004481"/>
            <a:ext cx="5309234" cy="5465964"/>
          </a:xfrm>
          <a:custGeom>
            <a:avLst/>
            <a:gdLst/>
            <a:ahLst/>
            <a:cxnLst/>
            <a:rect r="r" b="b" t="t" l="l"/>
            <a:pathLst>
              <a:path h="5465964" w="5309234">
                <a:moveTo>
                  <a:pt x="0" y="0"/>
                </a:moveTo>
                <a:lnTo>
                  <a:pt x="5309234" y="0"/>
                </a:lnTo>
                <a:lnTo>
                  <a:pt x="5309234" y="5465965"/>
                </a:lnTo>
                <a:lnTo>
                  <a:pt x="0" y="5465965"/>
                </a:lnTo>
                <a:lnTo>
                  <a:pt x="0" y="0"/>
                </a:lnTo>
                <a:close/>
              </a:path>
            </a:pathLst>
          </a:custGeom>
          <a:blipFill>
            <a:blip r:embed="rId4"/>
            <a:stretch>
              <a:fillRect l="0" t="0" r="0" b="0"/>
            </a:stretch>
          </a:blipFill>
        </p:spPr>
      </p:sp>
      <p:sp>
        <p:nvSpPr>
          <p:cNvPr name="Freeform 5" id="5"/>
          <p:cNvSpPr/>
          <p:nvPr/>
        </p:nvSpPr>
        <p:spPr>
          <a:xfrm flipH="true" flipV="false" rot="0">
            <a:off x="-29416" y="0"/>
            <a:ext cx="5762298" cy="6532600"/>
          </a:xfrm>
          <a:custGeom>
            <a:avLst/>
            <a:gdLst/>
            <a:ahLst/>
            <a:cxnLst/>
            <a:rect r="r" b="b" t="t" l="l"/>
            <a:pathLst>
              <a:path h="6532600" w="5762298">
                <a:moveTo>
                  <a:pt x="5762298" y="0"/>
                </a:moveTo>
                <a:lnTo>
                  <a:pt x="0" y="0"/>
                </a:lnTo>
                <a:lnTo>
                  <a:pt x="0" y="6532600"/>
                </a:lnTo>
                <a:lnTo>
                  <a:pt x="5762298" y="6532600"/>
                </a:lnTo>
                <a:lnTo>
                  <a:pt x="5762298" y="0"/>
                </a:lnTo>
                <a:close/>
              </a:path>
            </a:pathLst>
          </a:custGeom>
          <a:blipFill>
            <a:blip r:embed="rId3"/>
            <a:stretch>
              <a:fillRect l="0" t="0" r="0" b="0"/>
            </a:stretch>
          </a:blipFill>
        </p:spPr>
      </p:sp>
      <p:sp>
        <p:nvSpPr>
          <p:cNvPr name="Freeform 6" id="6"/>
          <p:cNvSpPr/>
          <p:nvPr/>
        </p:nvSpPr>
        <p:spPr>
          <a:xfrm flipH="false" flipV="false" rot="0">
            <a:off x="423648" y="2410518"/>
            <a:ext cx="5309234" cy="5465964"/>
          </a:xfrm>
          <a:custGeom>
            <a:avLst/>
            <a:gdLst/>
            <a:ahLst/>
            <a:cxnLst/>
            <a:rect r="r" b="b" t="t" l="l"/>
            <a:pathLst>
              <a:path h="5465964" w="5309234">
                <a:moveTo>
                  <a:pt x="0" y="0"/>
                </a:moveTo>
                <a:lnTo>
                  <a:pt x="5309234" y="0"/>
                </a:lnTo>
                <a:lnTo>
                  <a:pt x="5309234" y="5465964"/>
                </a:lnTo>
                <a:lnTo>
                  <a:pt x="0" y="5465964"/>
                </a:lnTo>
                <a:lnTo>
                  <a:pt x="0" y="0"/>
                </a:lnTo>
                <a:close/>
              </a:path>
            </a:pathLst>
          </a:custGeom>
          <a:blipFill>
            <a:blip r:embed="rId4"/>
            <a:stretch>
              <a:fillRect l="0" t="0" r="0" b="0"/>
            </a:stretch>
          </a:blipFill>
        </p:spPr>
      </p:sp>
      <p:sp>
        <p:nvSpPr>
          <p:cNvPr name="Freeform 7" id="7"/>
          <p:cNvSpPr/>
          <p:nvPr/>
        </p:nvSpPr>
        <p:spPr>
          <a:xfrm flipH="false" flipV="false" rot="0">
            <a:off x="-317430" y="7660946"/>
            <a:ext cx="18613297" cy="3022078"/>
          </a:xfrm>
          <a:custGeom>
            <a:avLst/>
            <a:gdLst/>
            <a:ahLst/>
            <a:cxnLst/>
            <a:rect r="r" b="b" t="t" l="l"/>
            <a:pathLst>
              <a:path h="3022078" w="18613297">
                <a:moveTo>
                  <a:pt x="0" y="0"/>
                </a:moveTo>
                <a:lnTo>
                  <a:pt x="18613297" y="0"/>
                </a:lnTo>
                <a:lnTo>
                  <a:pt x="18613297" y="3022077"/>
                </a:lnTo>
                <a:lnTo>
                  <a:pt x="0" y="3022077"/>
                </a:lnTo>
                <a:lnTo>
                  <a:pt x="0" y="0"/>
                </a:lnTo>
                <a:close/>
              </a:path>
            </a:pathLst>
          </a:custGeom>
          <a:blipFill>
            <a:blip r:embed="rId5"/>
            <a:stretch>
              <a:fillRect l="-158" t="0" r="-158" b="-6838"/>
            </a:stretch>
          </a:blipFill>
        </p:spPr>
      </p:sp>
      <p:sp>
        <p:nvSpPr>
          <p:cNvPr name="Freeform 9" id="9"/>
          <p:cNvSpPr/>
          <p:nvPr/>
        </p:nvSpPr>
        <p:spPr>
          <a:xfrm flipH="false" flipV="false" rot="0">
            <a:off x="12978766" y="2453423"/>
            <a:ext cx="7524206" cy="8229600"/>
          </a:xfrm>
          <a:custGeom>
            <a:avLst/>
            <a:gdLst/>
            <a:ahLst/>
            <a:cxnLst/>
            <a:rect r="r" b="b" t="t" l="l"/>
            <a:pathLst>
              <a:path h="8229600" w="7524206">
                <a:moveTo>
                  <a:pt x="0" y="0"/>
                </a:moveTo>
                <a:lnTo>
                  <a:pt x="7524205" y="0"/>
                </a:lnTo>
                <a:lnTo>
                  <a:pt x="7524205" y="8229600"/>
                </a:lnTo>
                <a:lnTo>
                  <a:pt x="0" y="8229600"/>
                </a:lnTo>
                <a:lnTo>
                  <a:pt x="0" y="0"/>
                </a:lnTo>
                <a:close/>
              </a:path>
            </a:pathLst>
          </a:custGeom>
          <a:blipFill>
            <a:blip r:embed="rId7"/>
            <a:stretch>
              <a:fillRect l="0" t="0" r="0" b="0"/>
            </a:stretch>
          </a:blipFill>
        </p:spPr>
      </p:sp>
      <p:sp>
        <p:nvSpPr>
          <p:cNvPr name="Freeform 13" id="13"/>
          <p:cNvSpPr/>
          <p:nvPr/>
        </p:nvSpPr>
        <p:spPr>
          <a:xfrm flipH="false" flipV="false" rot="0">
            <a:off x="9549673" y="7660946"/>
            <a:ext cx="6083710" cy="4114800"/>
          </a:xfrm>
          <a:custGeom>
            <a:avLst/>
            <a:gdLst/>
            <a:ahLst/>
            <a:cxnLst/>
            <a:rect r="r" b="b" t="t" l="l"/>
            <a:pathLst>
              <a:path h="4114800" w="6083710">
                <a:moveTo>
                  <a:pt x="0" y="0"/>
                </a:moveTo>
                <a:lnTo>
                  <a:pt x="6083710" y="0"/>
                </a:lnTo>
                <a:lnTo>
                  <a:pt x="608371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id="14" name="Panel"/>
          <p:cNvSpPr/>
          <p:nvPr/>
        </p:nvSpPr>
        <p:spPr>
          <a:xfrm>
            <a:off x="914400" y="731520"/>
            <a:ext cx="11612880" cy="6675120"/>
          </a:xfrm>
          <a:prstGeom prst="roundRect">
            <a:avLst>
              <a:gd name="adj" fmla="val 5000"/>
            </a:avLst>
          </a:prstGeom>
          <a:solidFill>
            <a:srgbClr val="0A2540">
              <a:alpha val="8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Judul"/>
          <p:cNvSpPr txBox="1"/>
          <p:nvPr/>
        </p:nvSpPr>
        <p:spPr>
          <a:xfrm>
            <a:off x="1508760" y="1005840"/>
            <a:ext cx="10424159" cy="1188720"/>
          </a:xfrm>
          <a:prstGeom prst="rect">
            <a:avLst/>
          </a:prstGeom>
          <a:noFill/>
        </p:spPr>
        <p:txBody>
          <a:bodyPr wrap="square" lIns="0" rIns="0" tIns="0" bIns="0" anchor="t">
            <a:spAutoFit/>
          </a:bodyPr>
          <a:lstStyle/>
          <a:p>
            <a:pPr algn="l">
              <a:spcAft>
                <a:spcPts val="0"/>
              </a:spcAft>
            </a:pPr>
            <a:r>
              <a:rPr sz="6800">
                <a:solidFill>
                  <a:srgbClr val="F7B125"/>
                </a:solidFill>
                <a:latin typeface="Playpen Sans Bold"/>
              </a:rPr>
              <a:t>Proyek Akhir</a:t>
            </a:r>
          </a:p>
        </p:txBody>
      </p:sp>
      <p:sp>
        <p:nvSpPr>
          <p:cNvPr id="16" name="Teks"/>
          <p:cNvSpPr txBox="1"/>
          <p:nvPr/>
        </p:nvSpPr>
        <p:spPr>
          <a:xfrm>
            <a:off x="1508760" y="2194560"/>
            <a:ext cx="10424159" cy="4206240"/>
          </a:xfrm>
          <a:prstGeom prst="rect">
            <a:avLst/>
          </a:prstGeom>
          <a:noFill/>
        </p:spPr>
        <p:txBody>
          <a:bodyPr wrap="square" lIns="0" rIns="0" tIns="0" bIns="0" anchor="t">
            <a:spAutoFit/>
          </a:bodyPr>
          <a:lstStyle/>
          <a:p>
            <a:pPr algn="l" marL="502920" indent="-502920">
              <a:spcAft>
                <a:spcPts val="1000"/>
              </a:spcAft>
              <a:buClr>
                <a:srgbClr val="F7B125"/>
              </a:buClr>
              <a:buFont typeface="Arial"/>
              <a:buChar char="•"/>
            </a:pPr>
            <a:r>
              <a:rPr sz="3000">
                <a:solidFill>
                  <a:srgbClr val="FFFFFF"/>
                </a:solidFill>
                <a:latin typeface="Playpen Sans"/>
              </a:rPr>
              <a:t>Tim 3 orang: model ML dengan lapisan optimasi yang menentukan hasil</a:t>
            </a:r>
          </a:p>
          <a:p>
            <a:pPr algn="l" marL="502920" indent="-502920">
              <a:spcAft>
                <a:spcPts val="1000"/>
              </a:spcAft>
              <a:buClr>
                <a:srgbClr val="F7B125"/>
              </a:buClr>
              <a:buFont typeface="Arial"/>
              <a:buChar char="•"/>
            </a:pPr>
            <a:r>
              <a:rPr sz="3000">
                <a:solidFill>
                  <a:srgbClr val="FFFFFF"/>
                </a:solidFill>
                <a:latin typeface="Playpen Sans"/>
              </a:rPr>
              <a:t>Dibandingkan dengan pembanding pada anggaran sama, minimal 10 percobaan</a:t>
            </a:r>
          </a:p>
          <a:p>
            <a:pPr algn="l" marL="502920" indent="-502920">
              <a:spcAft>
                <a:spcPts val="1000"/>
              </a:spcAft>
              <a:buClr>
                <a:srgbClr val="F7B125"/>
              </a:buClr>
              <a:buFont typeface="Arial"/>
              <a:buChar char="•"/>
            </a:pPr>
            <a:r>
              <a:rPr sz="3000">
                <a:solidFill>
                  <a:srgbClr val="F7B125"/>
                </a:solidFill>
                <a:latin typeface="Playpen Sans Bold"/>
              </a:rPr>
              <a:t>Catatan teknis 2 sampai 3 halaman: paper mini dengan satu kasus gagal</a:t>
            </a:r>
          </a:p>
          <a:p>
            <a:pPr algn="l" marL="502920" indent="-502920">
              <a:spcAft>
                <a:spcPts val="0"/>
              </a:spcAft>
              <a:buClr>
                <a:srgbClr val="F7B125"/>
              </a:buClr>
              <a:buFont typeface="Arial"/>
              <a:buChar char="•"/>
            </a:pPr>
            <a:r>
              <a:rPr sz="3000">
                <a:solidFill>
                  <a:srgbClr val="F7B125"/>
                </a:solidFill>
                <a:latin typeface="Playpen Sans Bold"/>
              </a:rPr>
              <a:t>Hari demo: sesi poster seperti konferensi</a:t>
            </a:r>
          </a:p>
        </p:txBody>
      </p:sp>
      <p:sp>
        <p:nvSpPr>
          <p:cNvPr id="17" name="Jalur waktu"/>
          <p:cNvSpPr txBox="1"/>
          <p:nvPr/>
        </p:nvSpPr>
        <p:spPr>
          <a:xfrm>
            <a:off x="1508760" y="6446520"/>
            <a:ext cx="10424159" cy="731520"/>
          </a:xfrm>
          <a:prstGeom prst="rect">
            <a:avLst/>
          </a:prstGeom>
          <a:noFill/>
        </p:spPr>
        <p:txBody>
          <a:bodyPr wrap="square" lIns="0" rIns="0" tIns="0" bIns="0" anchor="t">
            <a:spAutoFit/>
          </a:bodyPr>
          <a:lstStyle/>
          <a:p>
            <a:pPr algn="l">
              <a:spcAft>
                <a:spcPts val="0"/>
              </a:spcAft>
            </a:pPr>
            <a:r>
              <a:rPr sz="2600">
                <a:solidFill>
                  <a:srgbClr val="FFFFFF"/>
                </a:solidFill>
                <a:latin typeface="Playpen Sans Bold"/>
              </a:rPr>
              <a:t>Proposal Pekan 9 · Baseline Pekan 11 · Demo Pekan 16</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7928" r="0" b="-67928"/>
            </a:stretch>
          </a:blipFill>
        </p:spPr>
      </p:sp>
      <p:sp>
        <p:nvSpPr>
          <p:cNvPr name="Freeform 3" id="3"/>
          <p:cNvSpPr/>
          <p:nvPr/>
        </p:nvSpPr>
        <p:spPr>
          <a:xfrm flipH="false" flipV="false" rot="0">
            <a:off x="12533569" y="-21055"/>
            <a:ext cx="5762298" cy="6532600"/>
          </a:xfrm>
          <a:custGeom>
            <a:avLst/>
            <a:gdLst/>
            <a:ahLst/>
            <a:cxnLst/>
            <a:rect r="r" b="b" t="t" l="l"/>
            <a:pathLst>
              <a:path h="6532600" w="5762298">
                <a:moveTo>
                  <a:pt x="0" y="0"/>
                </a:moveTo>
                <a:lnTo>
                  <a:pt x="5762298" y="0"/>
                </a:lnTo>
                <a:lnTo>
                  <a:pt x="5762298" y="6532600"/>
                </a:lnTo>
                <a:lnTo>
                  <a:pt x="0" y="6532600"/>
                </a:lnTo>
                <a:lnTo>
                  <a:pt x="0" y="0"/>
                </a:lnTo>
                <a:close/>
              </a:path>
            </a:pathLst>
          </a:custGeom>
          <a:blipFill>
            <a:blip r:embed="rId3"/>
            <a:stretch>
              <a:fillRect l="0" t="0" r="0" b="0"/>
            </a:stretch>
          </a:blipFill>
        </p:spPr>
      </p:sp>
      <p:sp>
        <p:nvSpPr>
          <p:cNvPr name="Freeform 4" id="4"/>
          <p:cNvSpPr/>
          <p:nvPr/>
        </p:nvSpPr>
        <p:spPr>
          <a:xfrm flipH="false" flipV="false" rot="0">
            <a:off x="12978766" y="2004481"/>
            <a:ext cx="5309234" cy="5465964"/>
          </a:xfrm>
          <a:custGeom>
            <a:avLst/>
            <a:gdLst/>
            <a:ahLst/>
            <a:cxnLst/>
            <a:rect r="r" b="b" t="t" l="l"/>
            <a:pathLst>
              <a:path h="5465964" w="5309234">
                <a:moveTo>
                  <a:pt x="0" y="0"/>
                </a:moveTo>
                <a:lnTo>
                  <a:pt x="5309234" y="0"/>
                </a:lnTo>
                <a:lnTo>
                  <a:pt x="5309234" y="5465965"/>
                </a:lnTo>
                <a:lnTo>
                  <a:pt x="0" y="5465965"/>
                </a:lnTo>
                <a:lnTo>
                  <a:pt x="0" y="0"/>
                </a:lnTo>
                <a:close/>
              </a:path>
            </a:pathLst>
          </a:custGeom>
          <a:blipFill>
            <a:blip r:embed="rId4"/>
            <a:stretch>
              <a:fillRect l="0" t="0" r="0" b="0"/>
            </a:stretch>
          </a:blipFill>
        </p:spPr>
      </p:sp>
      <p:sp>
        <p:nvSpPr>
          <p:cNvPr name="Freeform 5" id="5"/>
          <p:cNvSpPr/>
          <p:nvPr/>
        </p:nvSpPr>
        <p:spPr>
          <a:xfrm flipH="true" flipV="false" rot="0">
            <a:off x="-29416" y="0"/>
            <a:ext cx="5762298" cy="6532600"/>
          </a:xfrm>
          <a:custGeom>
            <a:avLst/>
            <a:gdLst/>
            <a:ahLst/>
            <a:cxnLst/>
            <a:rect r="r" b="b" t="t" l="l"/>
            <a:pathLst>
              <a:path h="6532600" w="5762298">
                <a:moveTo>
                  <a:pt x="5762298" y="0"/>
                </a:moveTo>
                <a:lnTo>
                  <a:pt x="0" y="0"/>
                </a:lnTo>
                <a:lnTo>
                  <a:pt x="0" y="6532600"/>
                </a:lnTo>
                <a:lnTo>
                  <a:pt x="5762298" y="6532600"/>
                </a:lnTo>
                <a:lnTo>
                  <a:pt x="5762298" y="0"/>
                </a:lnTo>
                <a:close/>
              </a:path>
            </a:pathLst>
          </a:custGeom>
          <a:blipFill>
            <a:blip r:embed="rId3"/>
            <a:stretch>
              <a:fillRect l="0" t="0" r="0" b="0"/>
            </a:stretch>
          </a:blipFill>
        </p:spPr>
      </p:sp>
      <p:sp>
        <p:nvSpPr>
          <p:cNvPr name="Freeform 6" id="6"/>
          <p:cNvSpPr/>
          <p:nvPr/>
        </p:nvSpPr>
        <p:spPr>
          <a:xfrm flipH="false" flipV="false" rot="0">
            <a:off x="423648" y="2410518"/>
            <a:ext cx="5309234" cy="5465964"/>
          </a:xfrm>
          <a:custGeom>
            <a:avLst/>
            <a:gdLst/>
            <a:ahLst/>
            <a:cxnLst/>
            <a:rect r="r" b="b" t="t" l="l"/>
            <a:pathLst>
              <a:path h="5465964" w="5309234">
                <a:moveTo>
                  <a:pt x="0" y="0"/>
                </a:moveTo>
                <a:lnTo>
                  <a:pt x="5309234" y="0"/>
                </a:lnTo>
                <a:lnTo>
                  <a:pt x="5309234" y="5465964"/>
                </a:lnTo>
                <a:lnTo>
                  <a:pt x="0" y="5465964"/>
                </a:lnTo>
                <a:lnTo>
                  <a:pt x="0" y="0"/>
                </a:lnTo>
                <a:close/>
              </a:path>
            </a:pathLst>
          </a:custGeom>
          <a:blipFill>
            <a:blip r:embed="rId4"/>
            <a:stretch>
              <a:fillRect l="0" t="0" r="0" b="0"/>
            </a:stretch>
          </a:blipFill>
        </p:spPr>
      </p:sp>
      <p:sp>
        <p:nvSpPr>
          <p:cNvPr name="Freeform 7" id="7"/>
          <p:cNvSpPr/>
          <p:nvPr/>
        </p:nvSpPr>
        <p:spPr>
          <a:xfrm flipH="false" flipV="false" rot="0">
            <a:off x="-317430" y="7660946"/>
            <a:ext cx="18613297" cy="3022078"/>
          </a:xfrm>
          <a:custGeom>
            <a:avLst/>
            <a:gdLst/>
            <a:ahLst/>
            <a:cxnLst/>
            <a:rect r="r" b="b" t="t" l="l"/>
            <a:pathLst>
              <a:path h="3022078" w="18613297">
                <a:moveTo>
                  <a:pt x="0" y="0"/>
                </a:moveTo>
                <a:lnTo>
                  <a:pt x="18613297" y="0"/>
                </a:lnTo>
                <a:lnTo>
                  <a:pt x="18613297" y="3022077"/>
                </a:lnTo>
                <a:lnTo>
                  <a:pt x="0" y="3022077"/>
                </a:lnTo>
                <a:lnTo>
                  <a:pt x="0" y="0"/>
                </a:lnTo>
                <a:close/>
              </a:path>
            </a:pathLst>
          </a:custGeom>
          <a:blipFill>
            <a:blip r:embed="rId5"/>
            <a:stretch>
              <a:fillRect l="-158" t="0" r="-158" b="-6838"/>
            </a:stretch>
          </a:blipFill>
        </p:spPr>
      </p:sp>
      <p:sp>
        <p:nvSpPr>
          <p:cNvPr name="Freeform 10" id="10"/>
          <p:cNvSpPr/>
          <p:nvPr/>
        </p:nvSpPr>
        <p:spPr>
          <a:xfrm flipH="false" flipV="false" rot="0">
            <a:off x="-29416" y="2396745"/>
            <a:ext cx="4040554" cy="8229600"/>
          </a:xfrm>
          <a:custGeom>
            <a:avLst/>
            <a:gdLst/>
            <a:ahLst/>
            <a:cxnLst/>
            <a:rect r="r" b="b" t="t" l="l"/>
            <a:pathLst>
              <a:path h="8229600" w="4040554">
                <a:moveTo>
                  <a:pt x="0" y="0"/>
                </a:moveTo>
                <a:lnTo>
                  <a:pt x="4040554" y="0"/>
                </a:lnTo>
                <a:lnTo>
                  <a:pt x="4040554" y="8229600"/>
                </a:lnTo>
                <a:lnTo>
                  <a:pt x="0" y="8229600"/>
                </a:lnTo>
                <a:lnTo>
                  <a:pt x="0" y="0"/>
                </a:lnTo>
                <a:close/>
              </a:path>
            </a:pathLst>
          </a:custGeom>
          <a:blipFill>
            <a:blip r:embed="rId8"/>
            <a:stretch>
              <a:fillRect l="0" t="0" r="0" b="0"/>
            </a:stretch>
          </a:blipFill>
        </p:spPr>
      </p:sp>
      <p:sp>
        <p:nvSpPr>
          <p:cNvPr name="Freeform 11" id="11"/>
          <p:cNvSpPr/>
          <p:nvPr/>
        </p:nvSpPr>
        <p:spPr>
          <a:xfrm flipH="false" flipV="false" rot="0">
            <a:off x="681269" y="7470446"/>
            <a:ext cx="6083710" cy="4114800"/>
          </a:xfrm>
          <a:custGeom>
            <a:avLst/>
            <a:gdLst/>
            <a:ahLst/>
            <a:cxnLst/>
            <a:rect r="r" b="b" t="t" l="l"/>
            <a:pathLst>
              <a:path h="4114800" w="6083710">
                <a:moveTo>
                  <a:pt x="0" y="0"/>
                </a:moveTo>
                <a:lnTo>
                  <a:pt x="6083709" y="0"/>
                </a:lnTo>
                <a:lnTo>
                  <a:pt x="6083709"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id="12" name="Panel"/>
          <p:cNvSpPr/>
          <p:nvPr/>
        </p:nvSpPr>
        <p:spPr>
          <a:xfrm>
            <a:off x="4480560" y="731520"/>
            <a:ext cx="12893040" cy="6400800"/>
          </a:xfrm>
          <a:prstGeom prst="roundRect">
            <a:avLst>
              <a:gd name="adj" fmla="val 5000"/>
            </a:avLst>
          </a:prstGeom>
          <a:solidFill>
            <a:srgbClr val="0A2540">
              <a:alpha val="8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Judul"/>
          <p:cNvSpPr txBox="1"/>
          <p:nvPr/>
        </p:nvSpPr>
        <p:spPr>
          <a:xfrm>
            <a:off x="5074920" y="1005840"/>
            <a:ext cx="11704319" cy="1188720"/>
          </a:xfrm>
          <a:prstGeom prst="rect">
            <a:avLst/>
          </a:prstGeom>
          <a:noFill/>
        </p:spPr>
        <p:txBody>
          <a:bodyPr wrap="square" lIns="0" rIns="0" tIns="0" bIns="0" anchor="t">
            <a:spAutoFit/>
          </a:bodyPr>
          <a:lstStyle/>
          <a:p>
            <a:pPr algn="l">
              <a:spcAft>
                <a:spcPts val="0"/>
              </a:spcAft>
            </a:pPr>
            <a:r>
              <a:rPr sz="6800">
                <a:solidFill>
                  <a:srgbClr val="F7B125"/>
                </a:solidFill>
                <a:latin typeface="Playpen Sans Bold"/>
              </a:rPr>
              <a:t>Alat AI</a:t>
            </a:r>
          </a:p>
        </p:txBody>
      </p:sp>
      <p:sp>
        <p:nvSpPr>
          <p:cNvPr id="14" name="Teks"/>
          <p:cNvSpPr txBox="1"/>
          <p:nvPr/>
        </p:nvSpPr>
        <p:spPr>
          <a:xfrm>
            <a:off x="5074920" y="2194560"/>
            <a:ext cx="11704319" cy="4937760"/>
          </a:xfrm>
          <a:prstGeom prst="rect">
            <a:avLst/>
          </a:prstGeom>
          <a:noFill/>
        </p:spPr>
        <p:txBody>
          <a:bodyPr wrap="square" lIns="0" rIns="0" tIns="0" bIns="0" anchor="t">
            <a:spAutoFit/>
          </a:bodyPr>
          <a:lstStyle/>
          <a:p>
            <a:pPr algn="l">
              <a:spcAft>
                <a:spcPts val="1400"/>
              </a:spcAft>
            </a:pPr>
            <a:r>
              <a:rPr sz="3600">
                <a:solidFill>
                  <a:srgbClr val="FFFFFF"/>
                </a:solidFill>
                <a:latin typeface="Playpen Sans"/>
              </a:rPr>
              <a:t>Pakai AI apa pun, kapan pun. Tidak ada yang mencatatnya.</a:t>
            </a:r>
          </a:p>
          <a:p>
            <a:pPr algn="l">
              <a:spcAft>
                <a:spcPts val="1000"/>
              </a:spcAft>
            </a:pPr>
            <a:r>
              <a:rPr sz="3200">
                <a:solidFill>
                  <a:srgbClr val="F7B125"/>
                </a:solidFill>
                <a:latin typeface="Playpen Sans Bold"/>
              </a:rPr>
              <a:t>Tiga hal tetap berlaku:</a:t>
            </a:r>
          </a:p>
          <a:p>
            <a:pPr algn="l" marL="502920" indent="-502920">
              <a:spcAft>
                <a:spcPts val="1000"/>
              </a:spcAft>
              <a:buClr>
                <a:srgbClr val="F7B125"/>
              </a:buClr>
              <a:buFont typeface="Playpen Sans Bold"/>
              <a:buAutoNum type="arabicPeriod"/>
            </a:pPr>
            <a:r>
              <a:rPr sz="3000">
                <a:solidFill>
                  <a:srgbClr val="FFFFFF"/>
                </a:solidFill>
                <a:latin typeface="Playpen Sans"/>
              </a:rPr>
              <a:t>Kuis pembuka dan cek lisan: tanpa perangkat</a:t>
            </a:r>
          </a:p>
          <a:p>
            <a:pPr algn="l" marL="502920" indent="-502920">
              <a:spcAft>
                <a:spcPts val="1000"/>
              </a:spcAft>
              <a:buClr>
                <a:srgbClr val="F7B125"/>
              </a:buClr>
              <a:buFont typeface="Playpen Sans Bold"/>
              <a:buAutoNum type="arabicPeriod"/>
            </a:pPr>
            <a:r>
              <a:rPr sz="3000">
                <a:solidFill>
                  <a:srgbClr val="FFFFFF"/>
                </a:solidFill>
                <a:latin typeface="Playpen Sans"/>
              </a:rPr>
              <a:t>Angka yang kamu kutip dari paper dicek ke paper aslinya</a:t>
            </a:r>
          </a:p>
          <a:p>
            <a:pPr algn="l" marL="502920" indent="-502920">
              <a:spcAft>
                <a:spcPts val="0"/>
              </a:spcAft>
              <a:buClr>
                <a:srgbClr val="F7B125"/>
              </a:buClr>
              <a:buFont typeface="Playpen Sans Bold"/>
              <a:buAutoNum type="arabicPeriod"/>
            </a:pPr>
            <a:r>
              <a:rPr sz="3000">
                <a:solidFill>
                  <a:srgbClr val="FFFFFF"/>
                </a:solidFill>
                <a:latin typeface="Playpen Sans"/>
              </a:rPr>
              <a:t>Kamu yang bertanggung jawab dan harus bisa menjelaskannya</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7928" r="0" b="-67928"/>
            </a:stretch>
          </a:blipFill>
        </p:spPr>
      </p:sp>
      <p:sp>
        <p:nvSpPr>
          <p:cNvPr name="Freeform 3" id="3"/>
          <p:cNvSpPr/>
          <p:nvPr/>
        </p:nvSpPr>
        <p:spPr>
          <a:xfrm flipH="false" flipV="false" rot="0">
            <a:off x="12533569" y="-21055"/>
            <a:ext cx="5762298" cy="6532600"/>
          </a:xfrm>
          <a:custGeom>
            <a:avLst/>
            <a:gdLst/>
            <a:ahLst/>
            <a:cxnLst/>
            <a:rect r="r" b="b" t="t" l="l"/>
            <a:pathLst>
              <a:path h="6532600" w="5762298">
                <a:moveTo>
                  <a:pt x="0" y="0"/>
                </a:moveTo>
                <a:lnTo>
                  <a:pt x="5762298" y="0"/>
                </a:lnTo>
                <a:lnTo>
                  <a:pt x="5762298" y="6532600"/>
                </a:lnTo>
                <a:lnTo>
                  <a:pt x="0" y="6532600"/>
                </a:lnTo>
                <a:lnTo>
                  <a:pt x="0" y="0"/>
                </a:lnTo>
                <a:close/>
              </a:path>
            </a:pathLst>
          </a:custGeom>
          <a:blipFill>
            <a:blip r:embed="rId3"/>
            <a:stretch>
              <a:fillRect l="0" t="0" r="0" b="0"/>
            </a:stretch>
          </a:blipFill>
        </p:spPr>
      </p:sp>
      <p:sp>
        <p:nvSpPr>
          <p:cNvPr name="Freeform 4" id="4"/>
          <p:cNvSpPr/>
          <p:nvPr/>
        </p:nvSpPr>
        <p:spPr>
          <a:xfrm flipH="false" flipV="false" rot="0">
            <a:off x="12978766" y="2004481"/>
            <a:ext cx="5309234" cy="5465964"/>
          </a:xfrm>
          <a:custGeom>
            <a:avLst/>
            <a:gdLst/>
            <a:ahLst/>
            <a:cxnLst/>
            <a:rect r="r" b="b" t="t" l="l"/>
            <a:pathLst>
              <a:path h="5465964" w="5309234">
                <a:moveTo>
                  <a:pt x="0" y="0"/>
                </a:moveTo>
                <a:lnTo>
                  <a:pt x="5309234" y="0"/>
                </a:lnTo>
                <a:lnTo>
                  <a:pt x="5309234" y="5465965"/>
                </a:lnTo>
                <a:lnTo>
                  <a:pt x="0" y="5465965"/>
                </a:lnTo>
                <a:lnTo>
                  <a:pt x="0" y="0"/>
                </a:lnTo>
                <a:close/>
              </a:path>
            </a:pathLst>
          </a:custGeom>
          <a:blipFill>
            <a:blip r:embed="rId4"/>
            <a:stretch>
              <a:fillRect l="0" t="0" r="0" b="0"/>
            </a:stretch>
          </a:blipFill>
        </p:spPr>
      </p:sp>
      <p:sp>
        <p:nvSpPr>
          <p:cNvPr name="Freeform 5" id="5"/>
          <p:cNvSpPr/>
          <p:nvPr/>
        </p:nvSpPr>
        <p:spPr>
          <a:xfrm flipH="true" flipV="false" rot="0">
            <a:off x="-29416" y="0"/>
            <a:ext cx="5762298" cy="6532600"/>
          </a:xfrm>
          <a:custGeom>
            <a:avLst/>
            <a:gdLst/>
            <a:ahLst/>
            <a:cxnLst/>
            <a:rect r="r" b="b" t="t" l="l"/>
            <a:pathLst>
              <a:path h="6532600" w="5762298">
                <a:moveTo>
                  <a:pt x="5762298" y="0"/>
                </a:moveTo>
                <a:lnTo>
                  <a:pt x="0" y="0"/>
                </a:lnTo>
                <a:lnTo>
                  <a:pt x="0" y="6532600"/>
                </a:lnTo>
                <a:lnTo>
                  <a:pt x="5762298" y="6532600"/>
                </a:lnTo>
                <a:lnTo>
                  <a:pt x="5762298" y="0"/>
                </a:lnTo>
                <a:close/>
              </a:path>
            </a:pathLst>
          </a:custGeom>
          <a:blipFill>
            <a:blip r:embed="rId3"/>
            <a:stretch>
              <a:fillRect l="0" t="0" r="0" b="0"/>
            </a:stretch>
          </a:blipFill>
        </p:spPr>
      </p:sp>
      <p:sp>
        <p:nvSpPr>
          <p:cNvPr name="Freeform 6" id="6"/>
          <p:cNvSpPr/>
          <p:nvPr/>
        </p:nvSpPr>
        <p:spPr>
          <a:xfrm flipH="false" flipV="false" rot="0">
            <a:off x="423648" y="2410518"/>
            <a:ext cx="5309234" cy="5465964"/>
          </a:xfrm>
          <a:custGeom>
            <a:avLst/>
            <a:gdLst/>
            <a:ahLst/>
            <a:cxnLst/>
            <a:rect r="r" b="b" t="t" l="l"/>
            <a:pathLst>
              <a:path h="5465964" w="5309234">
                <a:moveTo>
                  <a:pt x="0" y="0"/>
                </a:moveTo>
                <a:lnTo>
                  <a:pt x="5309234" y="0"/>
                </a:lnTo>
                <a:lnTo>
                  <a:pt x="5309234" y="5465964"/>
                </a:lnTo>
                <a:lnTo>
                  <a:pt x="0" y="5465964"/>
                </a:lnTo>
                <a:lnTo>
                  <a:pt x="0" y="0"/>
                </a:lnTo>
                <a:close/>
              </a:path>
            </a:pathLst>
          </a:custGeom>
          <a:blipFill>
            <a:blip r:embed="rId4"/>
            <a:stretch>
              <a:fillRect l="0" t="0" r="0" b="0"/>
            </a:stretch>
          </a:blipFill>
        </p:spPr>
      </p:sp>
      <p:sp>
        <p:nvSpPr>
          <p:cNvPr name="Freeform 7" id="7"/>
          <p:cNvSpPr/>
          <p:nvPr/>
        </p:nvSpPr>
        <p:spPr>
          <a:xfrm flipH="false" flipV="false" rot="0">
            <a:off x="-317430" y="7660946"/>
            <a:ext cx="18613297" cy="3022078"/>
          </a:xfrm>
          <a:custGeom>
            <a:avLst/>
            <a:gdLst/>
            <a:ahLst/>
            <a:cxnLst/>
            <a:rect r="r" b="b" t="t" l="l"/>
            <a:pathLst>
              <a:path h="3022078" w="18613297">
                <a:moveTo>
                  <a:pt x="0" y="0"/>
                </a:moveTo>
                <a:lnTo>
                  <a:pt x="18613297" y="0"/>
                </a:lnTo>
                <a:lnTo>
                  <a:pt x="18613297" y="3022077"/>
                </a:lnTo>
                <a:lnTo>
                  <a:pt x="0" y="3022077"/>
                </a:lnTo>
                <a:lnTo>
                  <a:pt x="0" y="0"/>
                </a:lnTo>
                <a:close/>
              </a:path>
            </a:pathLst>
          </a:custGeom>
          <a:blipFill>
            <a:blip r:embed="rId5"/>
            <a:stretch>
              <a:fillRect l="-158" t="0" r="-158" b="-6838"/>
            </a:stretch>
          </a:blipFill>
        </p:spPr>
      </p:sp>
      <p:sp>
        <p:nvSpPr>
          <p:cNvPr name="Freeform 11" id="11"/>
          <p:cNvSpPr/>
          <p:nvPr/>
        </p:nvSpPr>
        <p:spPr>
          <a:xfrm flipH="false" flipV="false" rot="0">
            <a:off x="681269" y="7470446"/>
            <a:ext cx="6083710" cy="4114800"/>
          </a:xfrm>
          <a:custGeom>
            <a:avLst/>
            <a:gdLst/>
            <a:ahLst/>
            <a:cxnLst/>
            <a:rect r="r" b="b" t="t" l="l"/>
            <a:pathLst>
              <a:path h="4114800" w="6083710">
                <a:moveTo>
                  <a:pt x="0" y="0"/>
                </a:moveTo>
                <a:lnTo>
                  <a:pt x="6083709" y="0"/>
                </a:lnTo>
                <a:lnTo>
                  <a:pt x="6083709"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9549673" y="7660946"/>
            <a:ext cx="6083710" cy="4114800"/>
          </a:xfrm>
          <a:custGeom>
            <a:avLst/>
            <a:gdLst/>
            <a:ahLst/>
            <a:cxnLst/>
            <a:rect r="r" b="b" t="t" l="l"/>
            <a:pathLst>
              <a:path h="4114800" w="6083710">
                <a:moveTo>
                  <a:pt x="0" y="0"/>
                </a:moveTo>
                <a:lnTo>
                  <a:pt x="6083710" y="0"/>
                </a:lnTo>
                <a:lnTo>
                  <a:pt x="608371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id="14" name="Panel"/>
          <p:cNvSpPr/>
          <p:nvPr/>
        </p:nvSpPr>
        <p:spPr>
          <a:xfrm>
            <a:off x="914400" y="731520"/>
            <a:ext cx="16459200" cy="6400800"/>
          </a:xfrm>
          <a:prstGeom prst="roundRect">
            <a:avLst>
              <a:gd name="adj" fmla="val 5000"/>
            </a:avLst>
          </a:prstGeom>
          <a:solidFill>
            <a:srgbClr val="0A2540">
              <a:alpha val="8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Judul"/>
          <p:cNvSpPr txBox="1"/>
          <p:nvPr/>
        </p:nvSpPr>
        <p:spPr>
          <a:xfrm>
            <a:off x="1508760" y="1005840"/>
            <a:ext cx="15270480" cy="1188720"/>
          </a:xfrm>
          <a:prstGeom prst="rect">
            <a:avLst/>
          </a:prstGeom>
          <a:noFill/>
        </p:spPr>
        <p:txBody>
          <a:bodyPr wrap="square" lIns="0" rIns="0" tIns="0" bIns="0" anchor="t">
            <a:spAutoFit/>
          </a:bodyPr>
          <a:lstStyle/>
          <a:p>
            <a:pPr algn="l">
              <a:spcAft>
                <a:spcPts val="0"/>
              </a:spcAft>
            </a:pPr>
            <a:r>
              <a:rPr sz="6800">
                <a:solidFill>
                  <a:srgbClr val="F7B125"/>
                </a:solidFill>
                <a:latin typeface="Playpen Sans Bold"/>
              </a:rPr>
              <a:t>Stasiun Persiapan</a:t>
            </a:r>
          </a:p>
        </p:txBody>
      </p:sp>
      <p:sp>
        <p:nvSpPr>
          <p:cNvPr id="16" name="Stasiun 1"/>
          <p:cNvSpPr/>
          <p:nvPr/>
        </p:nvSpPr>
        <p:spPr>
          <a:xfrm>
            <a:off x="1508760" y="2240280"/>
            <a:ext cx="4785360" cy="3566160"/>
          </a:xfrm>
          <a:prstGeom prst="roundRect">
            <a:avLst>
              <a:gd name="adj" fmla="val 6000"/>
            </a:avLst>
          </a:prstGeom>
          <a:solidFill>
            <a:srgbClr val="14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i stasiun 1"/>
          <p:cNvSpPr txBox="1"/>
          <p:nvPr/>
        </p:nvSpPr>
        <p:spPr>
          <a:xfrm>
            <a:off x="1783080" y="2514600"/>
            <a:ext cx="4236720" cy="3108960"/>
          </a:xfrm>
          <a:prstGeom prst="rect">
            <a:avLst/>
          </a:prstGeom>
          <a:noFill/>
        </p:spPr>
        <p:txBody>
          <a:bodyPr wrap="square" lIns="0" rIns="0" tIns="0" bIns="0" anchor="t">
            <a:spAutoFit/>
          </a:bodyPr>
          <a:lstStyle/>
          <a:p>
            <a:pPr algn="l">
              <a:spcAft>
                <a:spcPts val="1200"/>
              </a:spcAft>
            </a:pPr>
            <a:r>
              <a:rPr sz="3200">
                <a:solidFill>
                  <a:srgbClr val="F7B125"/>
                </a:solidFill>
                <a:latin typeface="Playpen Sans Bold"/>
              </a:rPr>
              <a:t>A · Google dan Colab</a:t>
            </a:r>
          </a:p>
          <a:p>
            <a:pPr algn="l">
              <a:spcAft>
                <a:spcPts val="0"/>
              </a:spcAft>
            </a:pPr>
            <a:r>
              <a:rPr sz="2800">
                <a:solidFill>
                  <a:srgbClr val="FFFFFF"/>
                </a:solidFill>
                <a:latin typeface="Playpen Sans"/>
              </a:rPr>
              <a:t>Akun Google masuk. Colab terbuka dan print("halo") berjalan.</a:t>
            </a:r>
          </a:p>
        </p:txBody>
      </p:sp>
      <p:sp>
        <p:nvSpPr>
          <p:cNvPr id="18" name="Stasiun 2"/>
          <p:cNvSpPr/>
          <p:nvPr/>
        </p:nvSpPr>
        <p:spPr>
          <a:xfrm>
            <a:off x="6751320" y="2240280"/>
            <a:ext cx="4785360" cy="3566160"/>
          </a:xfrm>
          <a:prstGeom prst="roundRect">
            <a:avLst>
              <a:gd name="adj" fmla="val 6000"/>
            </a:avLst>
          </a:prstGeom>
          <a:solidFill>
            <a:srgbClr val="14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i stasiun 2"/>
          <p:cNvSpPr txBox="1"/>
          <p:nvPr/>
        </p:nvSpPr>
        <p:spPr>
          <a:xfrm>
            <a:off x="7025639" y="2514600"/>
            <a:ext cx="4236720" cy="3108960"/>
          </a:xfrm>
          <a:prstGeom prst="rect">
            <a:avLst/>
          </a:prstGeom>
          <a:noFill/>
        </p:spPr>
        <p:txBody>
          <a:bodyPr wrap="square" lIns="0" rIns="0" tIns="0" bIns="0" anchor="t">
            <a:spAutoFit/>
          </a:bodyPr>
          <a:lstStyle/>
          <a:p>
            <a:pPr algn="l">
              <a:spcAft>
                <a:spcPts val="1200"/>
              </a:spcAft>
            </a:pPr>
            <a:r>
              <a:rPr sz="3200">
                <a:solidFill>
                  <a:srgbClr val="F7B125"/>
                </a:solidFill>
                <a:latin typeface="Playpen Sans Bold"/>
              </a:rPr>
              <a:t>B · GitHub</a:t>
            </a:r>
          </a:p>
          <a:p>
            <a:pPr algn="l">
              <a:spcAft>
                <a:spcPts val="0"/>
              </a:spcAft>
            </a:pPr>
            <a:r>
              <a:rPr sz="2800">
                <a:solidFill>
                  <a:srgbClr val="FFFFFF"/>
                </a:solidFill>
                <a:latin typeface="Playpen Sans"/>
              </a:rPr>
              <a:t>Akun GitHub dibuat. Username diberikan ke mentor.</a:t>
            </a:r>
          </a:p>
        </p:txBody>
      </p:sp>
      <p:sp>
        <p:nvSpPr>
          <p:cNvPr id="20" name="Stasiun 3"/>
          <p:cNvSpPr/>
          <p:nvPr/>
        </p:nvSpPr>
        <p:spPr>
          <a:xfrm>
            <a:off x="11993880" y="2240280"/>
            <a:ext cx="4785360" cy="3566160"/>
          </a:xfrm>
          <a:prstGeom prst="roundRect">
            <a:avLst>
              <a:gd name="adj" fmla="val 6000"/>
            </a:avLst>
          </a:prstGeom>
          <a:solidFill>
            <a:srgbClr val="14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i stasiun 3"/>
          <p:cNvSpPr txBox="1"/>
          <p:nvPr/>
        </p:nvSpPr>
        <p:spPr>
          <a:xfrm>
            <a:off x="12268200" y="2514600"/>
            <a:ext cx="4236720" cy="3108960"/>
          </a:xfrm>
          <a:prstGeom prst="rect">
            <a:avLst/>
          </a:prstGeom>
          <a:noFill/>
        </p:spPr>
        <p:txBody>
          <a:bodyPr wrap="square" lIns="0" rIns="0" tIns="0" bIns="0" anchor="t">
            <a:spAutoFit/>
          </a:bodyPr>
          <a:lstStyle/>
          <a:p>
            <a:pPr algn="l">
              <a:spcAft>
                <a:spcPts val="1200"/>
              </a:spcAft>
            </a:pPr>
            <a:r>
              <a:rPr sz="3200">
                <a:solidFill>
                  <a:srgbClr val="F7B125"/>
                </a:solidFill>
                <a:latin typeface="Playpen Sans Bold"/>
              </a:rPr>
              <a:t>C · Buku</a:t>
            </a:r>
          </a:p>
          <a:p>
            <a:pPr algn="l">
              <a:spcAft>
                <a:spcPts val="0"/>
              </a:spcAft>
            </a:pPr>
            <a:r>
              <a:rPr sz="2800">
                <a:solidFill>
                  <a:srgbClr val="FFFFFF"/>
                </a:solidFill>
                <a:latin typeface="Playpen Sans"/>
              </a:rPr>
              <a:t>Kedua buku terunduh dan terbuka di perangkatmu.</a:t>
            </a:r>
          </a:p>
        </p:txBody>
      </p:sp>
      <p:sp>
        <p:nvSpPr>
          <p:cNvPr id="22" name="Catatan"/>
          <p:cNvSpPr txBox="1"/>
          <p:nvPr/>
        </p:nvSpPr>
        <p:spPr>
          <a:xfrm>
            <a:off x="1508760" y="6035040"/>
            <a:ext cx="15270480" cy="822960"/>
          </a:xfrm>
          <a:prstGeom prst="rect">
            <a:avLst/>
          </a:prstGeom>
          <a:noFill/>
        </p:spPr>
        <p:txBody>
          <a:bodyPr wrap="square" lIns="0" rIns="0" tIns="0" bIns="0" anchor="t">
            <a:spAutoFit/>
          </a:bodyPr>
          <a:lstStyle/>
          <a:p>
            <a:pPr algn="l">
              <a:spcAft>
                <a:spcPts val="0"/>
              </a:spcAft>
            </a:pPr>
            <a:r>
              <a:rPr sz="3000">
                <a:solidFill>
                  <a:srgbClr val="F7B125"/>
                </a:solidFill>
                <a:latin typeface="Playpen Sans Bold"/>
              </a:rPr>
              <a:t>10 menit. Yang belum selesai dikerjakan di rumah.</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7928" r="0" b="-67928"/>
            </a:stretch>
          </a:blipFill>
        </p:spPr>
      </p:sp>
      <p:sp>
        <p:nvSpPr>
          <p:cNvPr name="Freeform 3" id="3"/>
          <p:cNvSpPr/>
          <p:nvPr/>
        </p:nvSpPr>
        <p:spPr>
          <a:xfrm flipH="false" flipV="false" rot="0">
            <a:off x="12533569" y="-21055"/>
            <a:ext cx="5762298" cy="6532600"/>
          </a:xfrm>
          <a:custGeom>
            <a:avLst/>
            <a:gdLst/>
            <a:ahLst/>
            <a:cxnLst/>
            <a:rect r="r" b="b" t="t" l="l"/>
            <a:pathLst>
              <a:path h="6532600" w="5762298">
                <a:moveTo>
                  <a:pt x="0" y="0"/>
                </a:moveTo>
                <a:lnTo>
                  <a:pt x="5762298" y="0"/>
                </a:lnTo>
                <a:lnTo>
                  <a:pt x="5762298" y="6532600"/>
                </a:lnTo>
                <a:lnTo>
                  <a:pt x="0" y="6532600"/>
                </a:lnTo>
                <a:lnTo>
                  <a:pt x="0" y="0"/>
                </a:lnTo>
                <a:close/>
              </a:path>
            </a:pathLst>
          </a:custGeom>
          <a:blipFill>
            <a:blip r:embed="rId3"/>
            <a:stretch>
              <a:fillRect l="0" t="0" r="0" b="0"/>
            </a:stretch>
          </a:blipFill>
        </p:spPr>
      </p:sp>
      <p:sp>
        <p:nvSpPr>
          <p:cNvPr name="Freeform 4" id="4"/>
          <p:cNvSpPr/>
          <p:nvPr/>
        </p:nvSpPr>
        <p:spPr>
          <a:xfrm flipH="false" flipV="false" rot="0">
            <a:off x="12978766" y="2004481"/>
            <a:ext cx="5309234" cy="5465964"/>
          </a:xfrm>
          <a:custGeom>
            <a:avLst/>
            <a:gdLst/>
            <a:ahLst/>
            <a:cxnLst/>
            <a:rect r="r" b="b" t="t" l="l"/>
            <a:pathLst>
              <a:path h="5465964" w="5309234">
                <a:moveTo>
                  <a:pt x="0" y="0"/>
                </a:moveTo>
                <a:lnTo>
                  <a:pt x="5309234" y="0"/>
                </a:lnTo>
                <a:lnTo>
                  <a:pt x="5309234" y="5465965"/>
                </a:lnTo>
                <a:lnTo>
                  <a:pt x="0" y="5465965"/>
                </a:lnTo>
                <a:lnTo>
                  <a:pt x="0" y="0"/>
                </a:lnTo>
                <a:close/>
              </a:path>
            </a:pathLst>
          </a:custGeom>
          <a:blipFill>
            <a:blip r:embed="rId4"/>
            <a:stretch>
              <a:fillRect l="0" t="0" r="0" b="0"/>
            </a:stretch>
          </a:blipFill>
        </p:spPr>
      </p:sp>
      <p:sp>
        <p:nvSpPr>
          <p:cNvPr name="Freeform 5" id="5"/>
          <p:cNvSpPr/>
          <p:nvPr/>
        </p:nvSpPr>
        <p:spPr>
          <a:xfrm flipH="true" flipV="false" rot="0">
            <a:off x="-29416" y="0"/>
            <a:ext cx="5762298" cy="6532600"/>
          </a:xfrm>
          <a:custGeom>
            <a:avLst/>
            <a:gdLst/>
            <a:ahLst/>
            <a:cxnLst/>
            <a:rect r="r" b="b" t="t" l="l"/>
            <a:pathLst>
              <a:path h="6532600" w="5762298">
                <a:moveTo>
                  <a:pt x="5762298" y="0"/>
                </a:moveTo>
                <a:lnTo>
                  <a:pt x="0" y="0"/>
                </a:lnTo>
                <a:lnTo>
                  <a:pt x="0" y="6532600"/>
                </a:lnTo>
                <a:lnTo>
                  <a:pt x="5762298" y="6532600"/>
                </a:lnTo>
                <a:lnTo>
                  <a:pt x="5762298" y="0"/>
                </a:lnTo>
                <a:close/>
              </a:path>
            </a:pathLst>
          </a:custGeom>
          <a:blipFill>
            <a:blip r:embed="rId3"/>
            <a:stretch>
              <a:fillRect l="0" t="0" r="0" b="0"/>
            </a:stretch>
          </a:blipFill>
        </p:spPr>
      </p:sp>
      <p:sp>
        <p:nvSpPr>
          <p:cNvPr name="Freeform 6" id="6"/>
          <p:cNvSpPr/>
          <p:nvPr/>
        </p:nvSpPr>
        <p:spPr>
          <a:xfrm flipH="false" flipV="false" rot="0">
            <a:off x="423648" y="2410518"/>
            <a:ext cx="5309234" cy="5465964"/>
          </a:xfrm>
          <a:custGeom>
            <a:avLst/>
            <a:gdLst/>
            <a:ahLst/>
            <a:cxnLst/>
            <a:rect r="r" b="b" t="t" l="l"/>
            <a:pathLst>
              <a:path h="5465964" w="5309234">
                <a:moveTo>
                  <a:pt x="0" y="0"/>
                </a:moveTo>
                <a:lnTo>
                  <a:pt x="5309234" y="0"/>
                </a:lnTo>
                <a:lnTo>
                  <a:pt x="5309234" y="5465964"/>
                </a:lnTo>
                <a:lnTo>
                  <a:pt x="0" y="5465964"/>
                </a:lnTo>
                <a:lnTo>
                  <a:pt x="0" y="0"/>
                </a:lnTo>
                <a:close/>
              </a:path>
            </a:pathLst>
          </a:custGeom>
          <a:blipFill>
            <a:blip r:embed="rId4"/>
            <a:stretch>
              <a:fillRect l="0" t="0" r="0" b="0"/>
            </a:stretch>
          </a:blipFill>
        </p:spPr>
      </p:sp>
      <p:sp>
        <p:nvSpPr>
          <p:cNvPr name="Freeform 7" id="7"/>
          <p:cNvSpPr/>
          <p:nvPr/>
        </p:nvSpPr>
        <p:spPr>
          <a:xfrm flipH="false" flipV="false" rot="0">
            <a:off x="-317430" y="7660946"/>
            <a:ext cx="18613297" cy="3022078"/>
          </a:xfrm>
          <a:custGeom>
            <a:avLst/>
            <a:gdLst/>
            <a:ahLst/>
            <a:cxnLst/>
            <a:rect r="r" b="b" t="t" l="l"/>
            <a:pathLst>
              <a:path h="3022078" w="18613297">
                <a:moveTo>
                  <a:pt x="0" y="0"/>
                </a:moveTo>
                <a:lnTo>
                  <a:pt x="18613297" y="0"/>
                </a:lnTo>
                <a:lnTo>
                  <a:pt x="18613297" y="3022077"/>
                </a:lnTo>
                <a:lnTo>
                  <a:pt x="0" y="3022077"/>
                </a:lnTo>
                <a:lnTo>
                  <a:pt x="0" y="0"/>
                </a:lnTo>
                <a:close/>
              </a:path>
            </a:pathLst>
          </a:custGeom>
          <a:blipFill>
            <a:blip r:embed="rId5"/>
            <a:stretch>
              <a:fillRect l="-158" t="0" r="-158" b="-6838"/>
            </a:stretch>
          </a:blipFill>
        </p:spPr>
      </p:sp>
      <p:sp>
        <p:nvSpPr>
          <p:cNvPr name="Freeform 10" id="10"/>
          <p:cNvSpPr/>
          <p:nvPr/>
        </p:nvSpPr>
        <p:spPr>
          <a:xfrm flipH="false" flipV="false" rot="0">
            <a:off x="-29416" y="2396745"/>
            <a:ext cx="4040554" cy="8229600"/>
          </a:xfrm>
          <a:custGeom>
            <a:avLst/>
            <a:gdLst/>
            <a:ahLst/>
            <a:cxnLst/>
            <a:rect r="r" b="b" t="t" l="l"/>
            <a:pathLst>
              <a:path h="8229600" w="4040554">
                <a:moveTo>
                  <a:pt x="0" y="0"/>
                </a:moveTo>
                <a:lnTo>
                  <a:pt x="4040554" y="0"/>
                </a:lnTo>
                <a:lnTo>
                  <a:pt x="4040554" y="8229600"/>
                </a:lnTo>
                <a:lnTo>
                  <a:pt x="0" y="8229600"/>
                </a:lnTo>
                <a:lnTo>
                  <a:pt x="0" y="0"/>
                </a:lnTo>
                <a:close/>
              </a:path>
            </a:pathLst>
          </a:custGeom>
          <a:blipFill>
            <a:blip r:embed="rId8"/>
            <a:stretch>
              <a:fillRect l="0" t="0" r="0" b="0"/>
            </a:stretch>
          </a:blipFill>
        </p:spPr>
      </p:sp>
      <p:sp>
        <p:nvSpPr>
          <p:cNvPr name="Freeform 11" id="11"/>
          <p:cNvSpPr/>
          <p:nvPr/>
        </p:nvSpPr>
        <p:spPr>
          <a:xfrm flipH="false" flipV="false" rot="0">
            <a:off x="681269" y="7470446"/>
            <a:ext cx="6083710" cy="4114800"/>
          </a:xfrm>
          <a:custGeom>
            <a:avLst/>
            <a:gdLst/>
            <a:ahLst/>
            <a:cxnLst/>
            <a:rect r="r" b="b" t="t" l="l"/>
            <a:pathLst>
              <a:path h="4114800" w="6083710">
                <a:moveTo>
                  <a:pt x="0" y="0"/>
                </a:moveTo>
                <a:lnTo>
                  <a:pt x="6083709" y="0"/>
                </a:lnTo>
                <a:lnTo>
                  <a:pt x="6083709"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id="12" name="Panel"/>
          <p:cNvSpPr/>
          <p:nvPr/>
        </p:nvSpPr>
        <p:spPr>
          <a:xfrm>
            <a:off x="4480560" y="731520"/>
            <a:ext cx="12893040" cy="6675120"/>
          </a:xfrm>
          <a:prstGeom prst="roundRect">
            <a:avLst>
              <a:gd name="adj" fmla="val 5000"/>
            </a:avLst>
          </a:prstGeom>
          <a:solidFill>
            <a:srgbClr val="0A2540">
              <a:alpha val="8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Judul"/>
          <p:cNvSpPr txBox="1"/>
          <p:nvPr/>
        </p:nvSpPr>
        <p:spPr>
          <a:xfrm>
            <a:off x="5074920" y="1005840"/>
            <a:ext cx="11704319" cy="1188720"/>
          </a:xfrm>
          <a:prstGeom prst="rect">
            <a:avLst/>
          </a:prstGeom>
          <a:noFill/>
        </p:spPr>
        <p:txBody>
          <a:bodyPr wrap="square" lIns="0" rIns="0" tIns="0" bIns="0" anchor="t">
            <a:spAutoFit/>
          </a:bodyPr>
          <a:lstStyle/>
          <a:p>
            <a:pPr algn="l">
              <a:spcAft>
                <a:spcPts val="0"/>
              </a:spcAft>
            </a:pPr>
            <a:r>
              <a:rPr sz="6400">
                <a:solidFill>
                  <a:srgbClr val="F7B125"/>
                </a:solidFill>
                <a:latin typeface="Playpen Sans Bold"/>
              </a:rPr>
              <a:t>Untuk Pertemuan 1</a:t>
            </a:r>
          </a:p>
        </p:txBody>
      </p:sp>
      <p:sp>
        <p:nvSpPr>
          <p:cNvPr id="14" name="Teks"/>
          <p:cNvSpPr txBox="1"/>
          <p:nvPr/>
        </p:nvSpPr>
        <p:spPr>
          <a:xfrm>
            <a:off x="5074920" y="2194560"/>
            <a:ext cx="11704319" cy="3383280"/>
          </a:xfrm>
          <a:prstGeom prst="rect">
            <a:avLst/>
          </a:prstGeom>
          <a:noFill/>
        </p:spPr>
        <p:txBody>
          <a:bodyPr wrap="square" lIns="0" rIns="0" tIns="0" bIns="0" anchor="t">
            <a:spAutoFit/>
          </a:bodyPr>
          <a:lstStyle/>
          <a:p>
            <a:pPr algn="l" marL="502920" indent="-502920">
              <a:spcAft>
                <a:spcPts val="1000"/>
              </a:spcAft>
              <a:buClr>
                <a:srgbClr val="F7B125"/>
              </a:buClr>
              <a:buFont typeface="Arial"/>
              <a:buChar char="•"/>
            </a:pPr>
            <a:r>
              <a:rPr sz="3000">
                <a:solidFill>
                  <a:srgbClr val="FFFFFF"/>
                </a:solidFill>
                <a:latin typeface="Playpen Sans"/>
              </a:rPr>
              <a:t>Baca UDL bagian 1.1 (halaman 1 sampai 6) dan bab 2 (halaman 17 sampai 22)</a:t>
            </a:r>
          </a:p>
          <a:p>
            <a:pPr algn="l" marL="502920" indent="-502920">
              <a:spcAft>
                <a:spcPts val="1000"/>
              </a:spcAft>
              <a:buClr>
                <a:srgbClr val="F7B125"/>
              </a:buClr>
              <a:buFont typeface="Arial"/>
              <a:buChar char="•"/>
            </a:pPr>
            <a:r>
              <a:rPr sz="3000">
                <a:solidFill>
                  <a:srgbClr val="FFFFFF"/>
                </a:solidFill>
                <a:latin typeface="Playpen Sans"/>
              </a:rPr>
              <a:t>Kerjakan lembar kerja Python untuk programmer Go (latihan 1 sampai 10)</a:t>
            </a:r>
          </a:p>
          <a:p>
            <a:pPr algn="l" marL="502920" indent="-502920">
              <a:spcAft>
                <a:spcPts val="0"/>
              </a:spcAft>
              <a:buClr>
                <a:srgbClr val="F7B125"/>
              </a:buClr>
              <a:buFont typeface="Arial"/>
              <a:buChar char="•"/>
            </a:pPr>
            <a:r>
              <a:rPr sz="3000">
                <a:solidFill>
                  <a:srgbClr val="FFFFFF"/>
                </a:solidFill>
                <a:latin typeface="Playpen Sans"/>
              </a:rPr>
              <a:t>Bawa laptop yang sudah bisa membuka Colab</a:t>
            </a:r>
          </a:p>
        </p:txBody>
      </p:sp>
      <p:sp>
        <p:nvSpPr>
          <p:cNvPr id="15" name="Teks"/>
          <p:cNvSpPr txBox="1"/>
          <p:nvPr/>
        </p:nvSpPr>
        <p:spPr>
          <a:xfrm>
            <a:off x="5074920" y="5623560"/>
            <a:ext cx="11704319" cy="1645920"/>
          </a:xfrm>
          <a:prstGeom prst="rect">
            <a:avLst/>
          </a:prstGeom>
          <a:noFill/>
        </p:spPr>
        <p:txBody>
          <a:bodyPr wrap="square" lIns="0" rIns="0" tIns="0" bIns="0" anchor="t">
            <a:spAutoFit/>
          </a:bodyPr>
          <a:lstStyle/>
          <a:p>
            <a:pPr algn="l">
              <a:spcAft>
                <a:spcPts val="600"/>
              </a:spcAft>
            </a:pPr>
            <a:r>
              <a:rPr sz="3200">
                <a:solidFill>
                  <a:srgbClr val="F7B125"/>
                </a:solidFill>
                <a:latin typeface="Playpen Sans Bold"/>
              </a:rPr>
              <a:t>Tiket keluar (2 menit)</a:t>
            </a:r>
          </a:p>
          <a:p>
            <a:pPr algn="l">
              <a:spcAft>
                <a:spcPts val="0"/>
              </a:spcAft>
            </a:pPr>
            <a:r>
              <a:rPr sz="3000">
                <a:solidFill>
                  <a:srgbClr val="FFFFFF"/>
                </a:solidFill>
                <a:latin typeface="Playpen Sans"/>
              </a:rPr>
              <a:t>Tulis satu pertanyaan dan satu hal yang kamu khawatirkan.</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7928" r="0" b="-67928"/>
            </a:stretch>
          </a:blipFill>
        </p:spPr>
      </p:sp>
      <p:sp>
        <p:nvSpPr>
          <p:cNvPr name="Freeform 3" id="3"/>
          <p:cNvSpPr/>
          <p:nvPr/>
        </p:nvSpPr>
        <p:spPr>
          <a:xfrm flipH="false" flipV="false" rot="0">
            <a:off x="9577136" y="3199705"/>
            <a:ext cx="5309234" cy="5465964"/>
          </a:xfrm>
          <a:custGeom>
            <a:avLst/>
            <a:gdLst/>
            <a:ahLst/>
            <a:cxnLst/>
            <a:rect r="r" b="b" t="t" l="l"/>
            <a:pathLst>
              <a:path h="5465964" w="5309234">
                <a:moveTo>
                  <a:pt x="0" y="0"/>
                </a:moveTo>
                <a:lnTo>
                  <a:pt x="5309234" y="0"/>
                </a:lnTo>
                <a:lnTo>
                  <a:pt x="5309234" y="5465965"/>
                </a:lnTo>
                <a:lnTo>
                  <a:pt x="0" y="5465965"/>
                </a:lnTo>
                <a:lnTo>
                  <a:pt x="0" y="0"/>
                </a:lnTo>
                <a:close/>
              </a:path>
            </a:pathLst>
          </a:custGeom>
          <a:blipFill>
            <a:blip r:embed="rId3"/>
            <a:stretch>
              <a:fillRect l="0" t="0" r="0" b="0"/>
            </a:stretch>
          </a:blipFill>
        </p:spPr>
      </p:sp>
      <p:sp>
        <p:nvSpPr>
          <p:cNvPr name="Freeform 4" id="4"/>
          <p:cNvSpPr/>
          <p:nvPr/>
        </p:nvSpPr>
        <p:spPr>
          <a:xfrm flipH="false" flipV="false" rot="0">
            <a:off x="12533569" y="-21055"/>
            <a:ext cx="5762298" cy="6532600"/>
          </a:xfrm>
          <a:custGeom>
            <a:avLst/>
            <a:gdLst/>
            <a:ahLst/>
            <a:cxnLst/>
            <a:rect r="r" b="b" t="t" l="l"/>
            <a:pathLst>
              <a:path h="6532600" w="5762298">
                <a:moveTo>
                  <a:pt x="0" y="0"/>
                </a:moveTo>
                <a:lnTo>
                  <a:pt x="5762298" y="0"/>
                </a:lnTo>
                <a:lnTo>
                  <a:pt x="5762298" y="6532600"/>
                </a:lnTo>
                <a:lnTo>
                  <a:pt x="0" y="6532600"/>
                </a:lnTo>
                <a:lnTo>
                  <a:pt x="0" y="0"/>
                </a:lnTo>
                <a:close/>
              </a:path>
            </a:pathLst>
          </a:custGeom>
          <a:blipFill>
            <a:blip r:embed="rId4"/>
            <a:stretch>
              <a:fillRect l="0" t="0" r="0" b="0"/>
            </a:stretch>
          </a:blipFill>
        </p:spPr>
      </p:sp>
      <p:sp>
        <p:nvSpPr>
          <p:cNvPr name="Freeform 5" id="5"/>
          <p:cNvSpPr/>
          <p:nvPr/>
        </p:nvSpPr>
        <p:spPr>
          <a:xfrm flipH="true" flipV="false" rot="0">
            <a:off x="-29416" y="0"/>
            <a:ext cx="5762298" cy="6532600"/>
          </a:xfrm>
          <a:custGeom>
            <a:avLst/>
            <a:gdLst/>
            <a:ahLst/>
            <a:cxnLst/>
            <a:rect r="r" b="b" t="t" l="l"/>
            <a:pathLst>
              <a:path h="6532600" w="5762298">
                <a:moveTo>
                  <a:pt x="5762298" y="0"/>
                </a:moveTo>
                <a:lnTo>
                  <a:pt x="0" y="0"/>
                </a:lnTo>
                <a:lnTo>
                  <a:pt x="0" y="6532600"/>
                </a:lnTo>
                <a:lnTo>
                  <a:pt x="5762298" y="6532600"/>
                </a:lnTo>
                <a:lnTo>
                  <a:pt x="5762298" y="0"/>
                </a:lnTo>
                <a:close/>
              </a:path>
            </a:pathLst>
          </a:custGeom>
          <a:blipFill>
            <a:blip r:embed="rId4"/>
            <a:stretch>
              <a:fillRect l="0" t="0" r="0" b="0"/>
            </a:stretch>
          </a:blipFill>
        </p:spPr>
      </p:sp>
      <p:sp>
        <p:nvSpPr>
          <p:cNvPr name="Freeform 6" id="6"/>
          <p:cNvSpPr/>
          <p:nvPr/>
        </p:nvSpPr>
        <p:spPr>
          <a:xfrm flipH="false" flipV="false" rot="0">
            <a:off x="2244885" y="1988036"/>
            <a:ext cx="5309234" cy="5465964"/>
          </a:xfrm>
          <a:custGeom>
            <a:avLst/>
            <a:gdLst/>
            <a:ahLst/>
            <a:cxnLst/>
            <a:rect r="r" b="b" t="t" l="l"/>
            <a:pathLst>
              <a:path h="5465964" w="5309234">
                <a:moveTo>
                  <a:pt x="0" y="0"/>
                </a:moveTo>
                <a:lnTo>
                  <a:pt x="5309235" y="0"/>
                </a:lnTo>
                <a:lnTo>
                  <a:pt x="5309235" y="5465964"/>
                </a:lnTo>
                <a:lnTo>
                  <a:pt x="0" y="5465964"/>
                </a:lnTo>
                <a:lnTo>
                  <a:pt x="0" y="0"/>
                </a:lnTo>
                <a:close/>
              </a:path>
            </a:pathLst>
          </a:custGeom>
          <a:blipFill>
            <a:blip r:embed="rId3"/>
            <a:stretch>
              <a:fillRect l="0" t="0" r="0" b="0"/>
            </a:stretch>
          </a:blipFill>
        </p:spPr>
      </p:sp>
      <p:sp>
        <p:nvSpPr>
          <p:cNvPr name="Freeform 7" id="7"/>
          <p:cNvSpPr/>
          <p:nvPr/>
        </p:nvSpPr>
        <p:spPr>
          <a:xfrm flipH="false" flipV="false" rot="0">
            <a:off x="-317430" y="7660946"/>
            <a:ext cx="18613297" cy="3022078"/>
          </a:xfrm>
          <a:custGeom>
            <a:avLst/>
            <a:gdLst/>
            <a:ahLst/>
            <a:cxnLst/>
            <a:rect r="r" b="b" t="t" l="l"/>
            <a:pathLst>
              <a:path h="3022078" w="18613297">
                <a:moveTo>
                  <a:pt x="0" y="0"/>
                </a:moveTo>
                <a:lnTo>
                  <a:pt x="18613297" y="0"/>
                </a:lnTo>
                <a:lnTo>
                  <a:pt x="18613297" y="3022077"/>
                </a:lnTo>
                <a:lnTo>
                  <a:pt x="0" y="3022077"/>
                </a:lnTo>
                <a:lnTo>
                  <a:pt x="0" y="0"/>
                </a:lnTo>
                <a:close/>
              </a:path>
            </a:pathLst>
          </a:custGeom>
          <a:blipFill>
            <a:blip r:embed="rId5"/>
            <a:stretch>
              <a:fillRect l="-158" t="0" r="-158" b="-6838"/>
            </a:stretch>
          </a:blipFill>
        </p:spPr>
      </p:sp>
      <p:sp>
        <p:nvSpPr>
          <p:cNvPr name="Freeform 8" id="8"/>
          <p:cNvSpPr/>
          <p:nvPr/>
        </p:nvSpPr>
        <p:spPr>
          <a:xfrm flipH="true" flipV="false" rot="0">
            <a:off x="13751443" y="1408594"/>
            <a:ext cx="5427899" cy="1816870"/>
          </a:xfrm>
          <a:custGeom>
            <a:avLst/>
            <a:gdLst/>
            <a:ahLst/>
            <a:cxnLst/>
            <a:rect r="r" b="b" t="t" l="l"/>
            <a:pathLst>
              <a:path h="1816870" w="5427899">
                <a:moveTo>
                  <a:pt x="5427899" y="0"/>
                </a:moveTo>
                <a:lnTo>
                  <a:pt x="0" y="0"/>
                </a:lnTo>
                <a:lnTo>
                  <a:pt x="0" y="1816870"/>
                </a:lnTo>
                <a:lnTo>
                  <a:pt x="5427899" y="1816870"/>
                </a:lnTo>
                <a:lnTo>
                  <a:pt x="5427899" y="0"/>
                </a:lnTo>
                <a:close/>
              </a:path>
            </a:pathLst>
          </a:custGeom>
          <a:blipFill>
            <a:blip r:embed="rId6">
              <a:alphaModFix amt="65000"/>
            </a:blip>
            <a:stretch>
              <a:fillRect l="0" t="0" r="0" b="0"/>
            </a:stretch>
          </a:blipFill>
        </p:spPr>
      </p:sp>
      <p:sp>
        <p:nvSpPr>
          <p:cNvPr name="Freeform 9" id="9"/>
          <p:cNvSpPr/>
          <p:nvPr/>
        </p:nvSpPr>
        <p:spPr>
          <a:xfrm flipH="false" flipV="false" rot="0">
            <a:off x="13240358" y="2417800"/>
            <a:ext cx="7524206" cy="8229600"/>
          </a:xfrm>
          <a:custGeom>
            <a:avLst/>
            <a:gdLst/>
            <a:ahLst/>
            <a:cxnLst/>
            <a:rect r="r" b="b" t="t" l="l"/>
            <a:pathLst>
              <a:path h="8229600" w="7524206">
                <a:moveTo>
                  <a:pt x="0" y="0"/>
                </a:moveTo>
                <a:lnTo>
                  <a:pt x="7524206" y="0"/>
                </a:lnTo>
                <a:lnTo>
                  <a:pt x="7524206" y="8229600"/>
                </a:lnTo>
                <a:lnTo>
                  <a:pt x="0" y="8229600"/>
                </a:lnTo>
                <a:lnTo>
                  <a:pt x="0" y="0"/>
                </a:lnTo>
                <a:close/>
              </a:path>
            </a:pathLst>
          </a:custGeom>
          <a:blipFill>
            <a:blip r:embed="rId7"/>
            <a:stretch>
              <a:fillRect l="0" t="0" r="0" b="0"/>
            </a:stretch>
          </a:blipFill>
        </p:spPr>
      </p:sp>
      <p:sp>
        <p:nvSpPr>
          <p:cNvPr name="Freeform 10" id="10"/>
          <p:cNvSpPr/>
          <p:nvPr/>
        </p:nvSpPr>
        <p:spPr>
          <a:xfrm flipH="false" flipV="false" rot="0">
            <a:off x="-940574" y="2396745"/>
            <a:ext cx="4040554" cy="8229600"/>
          </a:xfrm>
          <a:custGeom>
            <a:avLst/>
            <a:gdLst/>
            <a:ahLst/>
            <a:cxnLst/>
            <a:rect r="r" b="b" t="t" l="l"/>
            <a:pathLst>
              <a:path h="8229600" w="4040554">
                <a:moveTo>
                  <a:pt x="0" y="0"/>
                </a:moveTo>
                <a:lnTo>
                  <a:pt x="4040554" y="0"/>
                </a:lnTo>
                <a:lnTo>
                  <a:pt x="4040554" y="8229600"/>
                </a:lnTo>
                <a:lnTo>
                  <a:pt x="0" y="8229600"/>
                </a:lnTo>
                <a:lnTo>
                  <a:pt x="0" y="0"/>
                </a:lnTo>
                <a:close/>
              </a:path>
            </a:pathLst>
          </a:custGeom>
          <a:blipFill>
            <a:blip r:embed="rId8"/>
            <a:stretch>
              <a:fillRect l="0" t="0" r="0" b="0"/>
            </a:stretch>
          </a:blipFill>
        </p:spPr>
      </p:sp>
      <p:sp>
        <p:nvSpPr>
          <p:cNvPr name="Freeform 11" id="11"/>
          <p:cNvSpPr/>
          <p:nvPr/>
        </p:nvSpPr>
        <p:spPr>
          <a:xfrm flipH="false" flipV="false" rot="0">
            <a:off x="-190122" y="7454000"/>
            <a:ext cx="6083710" cy="4114800"/>
          </a:xfrm>
          <a:custGeom>
            <a:avLst/>
            <a:gdLst/>
            <a:ahLst/>
            <a:cxnLst/>
            <a:rect r="r" b="b" t="t" l="l"/>
            <a:pathLst>
              <a:path h="4114800" w="6083710">
                <a:moveTo>
                  <a:pt x="0" y="0"/>
                </a:moveTo>
                <a:lnTo>
                  <a:pt x="6083710" y="0"/>
                </a:lnTo>
                <a:lnTo>
                  <a:pt x="608371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9549673" y="7660946"/>
            <a:ext cx="6083710" cy="4114800"/>
          </a:xfrm>
          <a:custGeom>
            <a:avLst/>
            <a:gdLst/>
            <a:ahLst/>
            <a:cxnLst/>
            <a:rect r="r" b="b" t="t" l="l"/>
            <a:pathLst>
              <a:path h="4114800" w="6083710">
                <a:moveTo>
                  <a:pt x="0" y="0"/>
                </a:moveTo>
                <a:lnTo>
                  <a:pt x="6083710" y="0"/>
                </a:lnTo>
                <a:lnTo>
                  <a:pt x="608371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423648" y="576981"/>
            <a:ext cx="5790657" cy="1938295"/>
          </a:xfrm>
          <a:custGeom>
            <a:avLst/>
            <a:gdLst/>
            <a:ahLst/>
            <a:cxnLst/>
            <a:rect r="r" b="b" t="t" l="l"/>
            <a:pathLst>
              <a:path h="1938295" w="5790657">
                <a:moveTo>
                  <a:pt x="0" y="0"/>
                </a:moveTo>
                <a:lnTo>
                  <a:pt x="5790656" y="0"/>
                </a:lnTo>
                <a:lnTo>
                  <a:pt x="5790656" y="1938296"/>
                </a:lnTo>
                <a:lnTo>
                  <a:pt x="0" y="1938296"/>
                </a:lnTo>
                <a:lnTo>
                  <a:pt x="0" y="0"/>
                </a:lnTo>
                <a:close/>
              </a:path>
            </a:pathLst>
          </a:custGeom>
          <a:blipFill>
            <a:blip r:embed="rId6">
              <a:alphaModFix amt="65000"/>
            </a:blip>
            <a:stretch>
              <a:fillRect l="0" t="0" r="0" b="0"/>
            </a:stretch>
          </a:blipFill>
        </p:spPr>
      </p:sp>
      <p:grpSp>
        <p:nvGrpSpPr>
          <p:cNvPr name="Group 14" id="14"/>
          <p:cNvGrpSpPr/>
          <p:nvPr/>
        </p:nvGrpSpPr>
        <p:grpSpPr>
          <a:xfrm rot="0">
            <a:off x="4061996" y="2829602"/>
            <a:ext cx="4927222" cy="791725"/>
            <a:chOff x="0" y="0"/>
            <a:chExt cx="1297705" cy="208520"/>
          </a:xfrm>
        </p:grpSpPr>
        <p:sp>
          <p:nvSpPr>
            <p:cNvPr name="Freeform 15" id="15"/>
            <p:cNvSpPr/>
            <p:nvPr/>
          </p:nvSpPr>
          <p:spPr>
            <a:xfrm flipH="false" flipV="false" rot="0">
              <a:off x="0" y="0"/>
              <a:ext cx="1297705" cy="208520"/>
            </a:xfrm>
            <a:custGeom>
              <a:avLst/>
              <a:gdLst/>
              <a:ahLst/>
              <a:cxnLst/>
              <a:rect r="r" b="b" t="t" l="l"/>
              <a:pathLst>
                <a:path h="208520" w="1297705">
                  <a:moveTo>
                    <a:pt x="104260" y="0"/>
                  </a:moveTo>
                  <a:lnTo>
                    <a:pt x="1193444" y="0"/>
                  </a:lnTo>
                  <a:cubicBezTo>
                    <a:pt x="1251026" y="0"/>
                    <a:pt x="1297705" y="46679"/>
                    <a:pt x="1297705" y="104260"/>
                  </a:cubicBezTo>
                  <a:lnTo>
                    <a:pt x="1297705" y="104260"/>
                  </a:lnTo>
                  <a:cubicBezTo>
                    <a:pt x="1297705" y="161841"/>
                    <a:pt x="1251026" y="208520"/>
                    <a:pt x="1193444" y="208520"/>
                  </a:cubicBezTo>
                  <a:lnTo>
                    <a:pt x="104260" y="208520"/>
                  </a:lnTo>
                  <a:cubicBezTo>
                    <a:pt x="46679" y="208520"/>
                    <a:pt x="0" y="161841"/>
                    <a:pt x="0" y="104260"/>
                  </a:cubicBezTo>
                  <a:lnTo>
                    <a:pt x="0" y="104260"/>
                  </a:lnTo>
                  <a:cubicBezTo>
                    <a:pt x="0" y="46679"/>
                    <a:pt x="46679" y="0"/>
                    <a:pt x="104260" y="0"/>
                  </a:cubicBezTo>
                  <a:close/>
                </a:path>
              </a:pathLst>
            </a:custGeom>
            <a:ln w="19050" cap="rnd">
              <a:solidFill>
                <a:srgbClr val="FFFFFF"/>
              </a:solidFill>
              <a:prstDash val="solid"/>
              <a:round/>
            </a:ln>
          </p:spPr>
        </p:sp>
        <p:sp>
          <p:nvSpPr>
            <p:cNvPr name="TextBox 16" id="16"/>
            <p:cNvSpPr txBox="true"/>
            <p:nvPr/>
          </p:nvSpPr>
          <p:spPr>
            <a:xfrm>
              <a:off x="0" y="-38100"/>
              <a:ext cx="1297705" cy="24662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9894294" y="6869221"/>
            <a:ext cx="2441189" cy="791725"/>
            <a:chOff x="0" y="0"/>
            <a:chExt cx="642947" cy="208520"/>
          </a:xfrm>
        </p:grpSpPr>
        <p:sp>
          <p:nvSpPr>
            <p:cNvPr name="Freeform 18" id="18"/>
            <p:cNvSpPr/>
            <p:nvPr/>
          </p:nvSpPr>
          <p:spPr>
            <a:xfrm flipH="false" flipV="false" rot="0">
              <a:off x="0" y="0"/>
              <a:ext cx="642947" cy="208520"/>
            </a:xfrm>
            <a:custGeom>
              <a:avLst/>
              <a:gdLst/>
              <a:ahLst/>
              <a:cxnLst/>
              <a:rect r="r" b="b" t="t" l="l"/>
              <a:pathLst>
                <a:path h="208520" w="642947">
                  <a:moveTo>
                    <a:pt x="104260" y="0"/>
                  </a:moveTo>
                  <a:lnTo>
                    <a:pt x="538687" y="0"/>
                  </a:lnTo>
                  <a:cubicBezTo>
                    <a:pt x="596268" y="0"/>
                    <a:pt x="642947" y="46679"/>
                    <a:pt x="642947" y="104260"/>
                  </a:cubicBezTo>
                  <a:lnTo>
                    <a:pt x="642947" y="104260"/>
                  </a:lnTo>
                  <a:cubicBezTo>
                    <a:pt x="642947" y="161841"/>
                    <a:pt x="596268" y="208520"/>
                    <a:pt x="538687" y="208520"/>
                  </a:cubicBezTo>
                  <a:lnTo>
                    <a:pt x="104260" y="208520"/>
                  </a:lnTo>
                  <a:cubicBezTo>
                    <a:pt x="46679" y="208520"/>
                    <a:pt x="0" y="161841"/>
                    <a:pt x="0" y="104260"/>
                  </a:cubicBezTo>
                  <a:lnTo>
                    <a:pt x="0" y="104260"/>
                  </a:lnTo>
                  <a:cubicBezTo>
                    <a:pt x="0" y="46679"/>
                    <a:pt x="46679" y="0"/>
                    <a:pt x="104260" y="0"/>
                  </a:cubicBezTo>
                  <a:close/>
                </a:path>
              </a:pathLst>
            </a:custGeom>
            <a:solidFill>
              <a:srgbClr val="001769"/>
            </a:solidFill>
            <a:ln cap="rnd">
              <a:noFill/>
              <a:prstDash val="solid"/>
              <a:round/>
            </a:ln>
          </p:spPr>
        </p:sp>
        <p:sp>
          <p:nvSpPr>
            <p:cNvPr name="TextBox 19" id="19"/>
            <p:cNvSpPr txBox="true"/>
            <p:nvPr/>
          </p:nvSpPr>
          <p:spPr>
            <a:xfrm>
              <a:off x="0" y="-38100"/>
              <a:ext cx="642947" cy="24662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3107461" y="6036889"/>
            <a:ext cx="6890564" cy="3775455"/>
          </a:xfrm>
          <a:custGeom>
            <a:avLst/>
            <a:gdLst/>
            <a:ahLst/>
            <a:cxnLst/>
            <a:rect r="r" b="b" t="t" l="l"/>
            <a:pathLst>
              <a:path h="3775455" w="6890564">
                <a:moveTo>
                  <a:pt x="0" y="0"/>
                </a:moveTo>
                <a:lnTo>
                  <a:pt x="6890563" y="0"/>
                </a:lnTo>
                <a:lnTo>
                  <a:pt x="6890563" y="3775454"/>
                </a:lnTo>
                <a:lnTo>
                  <a:pt x="0" y="3775454"/>
                </a:lnTo>
                <a:lnTo>
                  <a:pt x="0" y="0"/>
                </a:lnTo>
                <a:close/>
              </a:path>
            </a:pathLst>
          </a:custGeom>
          <a:blipFill>
            <a:blip r:embed="rId11"/>
            <a:stretch>
              <a:fillRect l="0" t="0" r="0" b="0"/>
            </a:stretch>
          </a:blipFill>
        </p:spPr>
      </p:sp>
      <p:sp>
        <p:nvSpPr>
          <p:cNvPr name="Freeform 21" id="21"/>
          <p:cNvSpPr/>
          <p:nvPr/>
        </p:nvSpPr>
        <p:spPr>
          <a:xfrm flipH="true" flipV="false" rot="0">
            <a:off x="12007845" y="1772904"/>
            <a:ext cx="3857149" cy="2113396"/>
          </a:xfrm>
          <a:custGeom>
            <a:avLst/>
            <a:gdLst/>
            <a:ahLst/>
            <a:cxnLst/>
            <a:rect r="r" b="b" t="t" l="l"/>
            <a:pathLst>
              <a:path h="2113396" w="3857149">
                <a:moveTo>
                  <a:pt x="3857149" y="0"/>
                </a:moveTo>
                <a:lnTo>
                  <a:pt x="0" y="0"/>
                </a:lnTo>
                <a:lnTo>
                  <a:pt x="0" y="2113396"/>
                </a:lnTo>
                <a:lnTo>
                  <a:pt x="3857149" y="2113396"/>
                </a:lnTo>
                <a:lnTo>
                  <a:pt x="3857149" y="0"/>
                </a:lnTo>
                <a:close/>
              </a:path>
            </a:pathLst>
          </a:custGeom>
          <a:blipFill>
            <a:blip r:embed="rId11"/>
            <a:stretch>
              <a:fillRect l="0" t="0" r="0" b="0"/>
            </a:stretch>
          </a:blipFill>
        </p:spPr>
      </p:sp>
      <p:sp>
        <p:nvSpPr>
          <p:cNvPr name="TextBox 22" id="22"/>
          <p:cNvSpPr txBox="true"/>
          <p:nvPr/>
        </p:nvSpPr>
        <p:spPr>
          <a:xfrm rot="0">
            <a:off x="3709994" y="4011851"/>
            <a:ext cx="7688251" cy="1920836"/>
          </a:xfrm>
          <a:prstGeom prst="rect">
            <a:avLst/>
          </a:prstGeom>
        </p:spPr>
        <p:txBody>
          <a:bodyPr anchor="t" rtlCol="false" tIns="0" lIns="0" bIns="0" rIns="0">
            <a:spAutoFit/>
          </a:bodyPr>
          <a:lstStyle/>
          <a:p>
            <a:pPr algn="l">
              <a:lnSpc>
                <a:spcPct val="100000"/>
              </a:lnSpc>
            </a:pPr>
            <a:r>
              <a:rPr lang="en-US" sz="12000" b="true">
                <a:solidFill>
                  <a:srgbClr val="EAC24B"/>
                </a:solidFill>
                <a:latin typeface="Playpen Sans Bold"/>
                <a:ea typeface="Playpen Sans Bold"/>
                <a:cs typeface="Playpen Sans Bold"/>
                <a:sym typeface="Playpen Sans Bold"/>
              </a:rPr>
              <a:t>Terima</a:t>
            </a:r>
          </a:p>
        </p:txBody>
      </p:sp>
      <p:sp>
        <p:nvSpPr>
          <p:cNvPr name="TextBox 23" id="23"/>
          <p:cNvSpPr txBox="true"/>
          <p:nvPr/>
        </p:nvSpPr>
        <p:spPr>
          <a:xfrm rot="0">
            <a:off x="4271362" y="3084172"/>
            <a:ext cx="4508490" cy="330209"/>
          </a:xfrm>
          <a:prstGeom prst="rect">
            <a:avLst/>
          </a:prstGeom>
        </p:spPr>
        <p:txBody>
          <a:bodyPr anchor="t" rtlCol="false" tIns="0" lIns="0" bIns="0" rIns="0">
            <a:spAutoFit/>
          </a:bodyPr>
          <a:lstStyle/>
          <a:p>
            <a:pPr algn="ctr">
              <a:lnSpc>
                <a:spcPct val="100000"/>
              </a:lnSpc>
            </a:pPr>
            <a:r>
              <a:rPr lang="en-US" b="true" sz="2500">
                <a:solidFill>
                  <a:srgbClr val="FFFFFF"/>
                </a:solidFill>
                <a:latin typeface="Playpen Sans Bold"/>
                <a:ea typeface="Playpen Sans Bold"/>
                <a:cs typeface="Playpen Sans Bold"/>
                <a:sym typeface="Playpen Sans Bold"/>
              </a:rPr>
              <a:t>Advance Study Group</a:t>
            </a:r>
          </a:p>
        </p:txBody>
      </p:sp>
      <p:sp>
        <p:nvSpPr>
          <p:cNvPr name="TextBox 24" id="24"/>
          <p:cNvSpPr txBox="true"/>
          <p:nvPr/>
        </p:nvSpPr>
        <p:spPr>
          <a:xfrm rot="0">
            <a:off x="9998024" y="7123791"/>
            <a:ext cx="2233728" cy="330209"/>
          </a:xfrm>
          <a:prstGeom prst="rect">
            <a:avLst/>
          </a:prstGeom>
        </p:spPr>
        <p:txBody>
          <a:bodyPr anchor="t" rtlCol="false" tIns="0" lIns="0" bIns="0" rIns="0">
            <a:spAutoFit/>
          </a:bodyPr>
          <a:lstStyle/>
          <a:p>
            <a:pPr algn="ctr">
              <a:lnSpc>
                <a:spcPct val="100000"/>
              </a:lnSpc>
            </a:pPr>
            <a:r>
              <a:rPr lang="en-US" b="true" sz="2200">
                <a:solidFill>
                  <a:srgbClr val="FFFFFF"/>
                </a:solidFill>
                <a:latin typeface="Playpen Sans Bold"/>
                <a:ea typeface="Playpen Sans Bold"/>
                <a:cs typeface="Playpen Sans Bold"/>
                <a:sym typeface="Playpen Sans Bold"/>
              </a:rPr>
              <a:t>Sampai jumpa</a:t>
            </a:r>
          </a:p>
        </p:txBody>
      </p:sp>
      <p:sp>
        <p:nvSpPr>
          <p:cNvPr name="TextBox 25" id="25"/>
          <p:cNvSpPr txBox="true"/>
          <p:nvPr/>
        </p:nvSpPr>
        <p:spPr>
          <a:xfrm rot="0">
            <a:off x="10391035" y="4011851"/>
            <a:ext cx="4914443" cy="1920836"/>
          </a:xfrm>
          <a:prstGeom prst="rect">
            <a:avLst/>
          </a:prstGeom>
        </p:spPr>
        <p:txBody>
          <a:bodyPr anchor="t" rtlCol="false" tIns="0" lIns="0" bIns="0" rIns="0">
            <a:spAutoFit/>
          </a:bodyPr>
          <a:lstStyle/>
          <a:p>
            <a:pPr algn="l">
              <a:lnSpc>
                <a:spcPct val="100000"/>
              </a:lnSpc>
            </a:pPr>
            <a:r>
              <a:rPr lang="en-US" sz="12000" b="true">
                <a:solidFill>
                  <a:srgbClr val="FFFFFF"/>
                </a:solidFill>
                <a:latin typeface="Playpen Sans Bold"/>
                <a:ea typeface="Playpen Sans Bold"/>
                <a:cs typeface="Playpen Sans Bold"/>
                <a:sym typeface="Playpen Sans Bold"/>
              </a:rPr>
              <a:t>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DAHY2NpwA2U</dc:identifier>
  <dcterms:modified xsi:type="dcterms:W3CDTF">2011-08-01T06:04:30Z</dcterms:modified>
  <cp:revision>1</cp:revision>
  <dc:title>Colorful Playful Ocean Knowledge Presentation</dc:title>
</cp:coreProperties>
</file>