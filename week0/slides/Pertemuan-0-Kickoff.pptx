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1" r:id="rId13"/>
    <p:sldId id="262" r:id="rId14"/>
    <p:sldId id="263" r:id="rId15"/>
    <p:sldId id="264" r:id="rId16"/>
    <p:sldId id="265" r:id="rId17"/>
    <p:sldId id="266" r:id="rId18"/>
    <p:sldId id="267" r:id="rId19"/>
    <p:sldId id="268" r:id="rId20"/>
    <p:sldId id="269" r:id="rId21"/>
    <p:sldId id="280" r:id="rId32"/>
    <p:sldId id="270" r:id="rId22"/>
    <p:sldId id="271" r:id="rId23"/>
    <p:sldId id="272" r:id="rId24"/>
    <p:sldId id="281" r:id="rId33"/>
    <p:sldId id="273" r:id="rId25"/>
    <p:sldId id="274" r:id="rId26"/>
    <p:sldId id="275" r:id="rId27"/>
    <p:sldId id="276" r:id="rId28"/>
    <p:sldId id="277" r:id="rId29"/>
    <p:sldId id="278" r:id="rId30"/>
    <p:sldId id="282" r:id="rId34"/>
    <p:sldId id="283" r:id="rId35"/>
    <p:sldId id="284" r:id="rId36"/>
    <p:sldId id="285" r:id="rId37"/>
    <p:sldId id="286" r:id="rId38"/>
    <p:sldId id="287" r:id="rId39"/>
    <p:sldId id="289" r:id="rId41"/>
    <p:sldId id="288" r:id="rId40"/>
  </p:sldIdLst>
  <p:sldSz cx="18288000" cy="10287000"/>
  <p:notesSz cx="6858000" cy="9144000"/>
  <p:embeddedFontLst>
    <p:embeddedFont>
      <p:font typeface="Playpen Sans Bold" charset="1" panose="00000000000000000000"/>
      <p:regular r:id="rId11"/>
    </p:embeddedFont>
    <p:embeddedFont>
      <p:font typeface="Playpen Sans" charset="1" panose="00000000000000000000"/>
      <p:regular r:id="rId1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1" Type="http://schemas.openxmlformats.org/officeDocument/2006/relationships/font" Target="fonts/font11.fntdata"/><Relationship Id="rId12" Type="http://schemas.openxmlformats.org/officeDocument/2006/relationships/font" Target="fonts/font12.fntdata"/><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notesMaster" Target="notesMasters/notesMaster1.xml"/><Relationship Id="rId32" Type="http://schemas.openxmlformats.org/officeDocument/2006/relationships/slide" Target="slides/slide10.xml"/><Relationship Id="rId33" Type="http://schemas.openxmlformats.org/officeDocument/2006/relationships/slide" Target="slides/slide14.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8.xml"/><Relationship Id="rId4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0:00. On screen while students arrive. Ask everyone to charge their phone: the closing game runs on phones.</a:t>
            </a:r>
          </a:p>
          <a:p>
            <a:r>
              <a:t>Shape of today: a little motivation from papers, then intuition, then what to expect, then a game where evolution learns to play.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0:01 (1 min). One breath: 'Sedikit cerita, banyak intuisi, lalu kita main game. Tidak ada tes hari ini.'</a:t>
            </a:r>
          </a:p>
          <a:p>
            <a:r>
              <a:t>Mentor note: no pretest and no exit ticket this time. The Python worksheet is supplementary material, published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 to 0:04 (3 min). Motivation only; do not read the papers. 'Deteksi kanker kulit, rekomendasi, chatbot: semuanya pernah dimulai sebagai paper seperti ini. Beberapa ditulis di kampus kita, sebagian di lab kita.'</a:t>
            </a:r>
          </a:p>
          <a:p>
            <a:r>
              <a:t>Examples on the wall: skin-tone bias audit in dermatology AI, diabetic foot ulcer segmentation, fairness in recommendation, reasoning in small language models, token eviction for video LLMs, reference-vector swarm optimisation, and the KMA family (next slide).</a:t>
            </a:r>
          </a:p>
          <a:p>
            <a:r>
              <a:t>This is a study group, not a research group: papers are where the field lives, and by Week 16 the vocabulary on these pages will be familiar.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0:04 to 0:08 (4 min). The only story today. KMA (Suyanto et al., Telkom University; Applied Soft Computing, online Nov 2021): a search algorithm inspired by Komodo dragons. Improved Adaptive KMA (Liu and Zhang, Jilin University; IEEE Access 2022): researchers abroad read it and improved it. KomoTrip (Baizal et al.; PeerJ Computer Science, Nov 2025): a discrete KMA that plans multi-day travel itineraries.</a:t>
            </a:r>
          </a:p>
          <a:p>
            <a:r>
              <a:t>Say: 'Ide dari kampus kita dibaca orang di Tiongkok, diperbaiki, lalu dipakai untuk menyusun rute wisata. KMA adalah algoritma pencarian, keluarga yang sama dengan evolusi yang nanti main Flappy Komodo. Di Pekan 9 sampai 11 kamu akan menulis algoritma seperti ini sendiri.'</a:t>
            </a:r>
          </a:p>
          <a:p>
            <a:r>
              <a:t>Bridge: 'Untuk sampai ke sana, kita mulai dari intuisinya.'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0:08 to 0:12 (4 min). AI is the umbrella; ML is the part of AI that learns rules from examples; optimisation is the search engine underneath both. Training an ML model IS an optimisation problem (find the parameters with the smallest error). The second half of this course (Weeks 9 to 12) studies optimisation directly.</a:t>
            </a:r>
          </a:p>
          <a:p>
            <a:r>
              <a:t>Ask: 'Sebutkan satu aplikasi di HP-mu yang menurutmu memakai ML.' Take two answers.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0:12 to 0:15 (3 min). The classic picture. In ordinary programming you supply the rules; in ML you supply examples with answers and the computer produces the rule (the model).</a:t>
            </a:r>
          </a:p>
          <a:p>
            <a:r>
              <a:t>Use their Go background: they have written plenty of if-statements. The question for the next slides: how does a computer 'find' a rule? Answer: by trying many settings of some knobs and measuring how wrong each one 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to 0:19 (4 min). Show of hands for A, B, C. Then ask two people why. Expected: most pick B, but the reasons are vague ('kelihatannya pas'). Push: 'Kalau ada sejuta titik dan seribu garis, apa yang kamu lakukan? Komputer tidak bisa melihat. Kita butuh angka.'</a:t>
            </a:r>
          </a:p>
          <a:p>
            <a:r>
              <a:t>The data is made up for class (fare in thousands of rupiah versus km). A = 3.4x + 0.5, B = 2.4x + 5, C = 1.5x + 10.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0:19 to 0:23 (4 min). Each dashed segment is one mistake. Square them, average them: that is the loss (mean squared error). A = 6.7, B = 1.3, C = 8.9 (rounded on the picture).</a:t>
            </a:r>
          </a:p>
          <a:p>
            <a:r>
              <a:t>Two key sentences, ask them to say them back: 'Model adalah rumus dengan kenop.' 'Belajar adalah memutar kenop supaya error kecil.' This is exactly Week 1 (UDL chapter 2).</a:t>
            </a:r>
          </a:p>
          <a:p>
            <a:r>
              <a:t>Bonus question if time: 'Error garis B 1,3, bukan nol. Mungkinkah ada garis yang error-nya nol? Perlukah?'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0:23 to 0:27 (4 min). Left: if you can compute which way is downhill (the slope, the gradient), follow it. That is how neural networks are trained (first half of the course).</a:t>
            </a:r>
          </a:p>
          <a:p>
            <a:r>
              <a:t>Right: if there is no slope (the score comes from a game, a simulation, a route), try many candidates and keep the best ones. That is a metaheuristic: hill climbing, genetic algorithms, PSO, KMA (second half).</a:t>
            </a:r>
          </a:p>
          <a:p>
            <a:r>
              <a:t>Analogy: turun gunung dalam kabut. Kiri: rasakan kemiringan di kakimu. Kanan: kirim banyak teman ke titik acak, tanya siapa yang paling rendah.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0:27 to 0:31 (4 min). LIVE DEMO: demo.html on the class site, speed Cepat, press Mulai before you talk. 40 triangles, hill climbing: the right-hand picture from the previous slide, running.</a:t>
            </a:r>
          </a:p>
          <a:p>
            <a:r>
              <a:t>Ask: 'Kapan kurvanya turun cepat? Kapan melambat?' Then press 'Ulang dengan acak baru': different start, different result. Plant the word 'seed'; it returns in the game.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0:31 to 0:35 (4 min). The vocabulary for 16 weeks. Model = a formula with knobs (parameters). Loss = how wrong it is. Search = how you turn the knobs (gradient descent or a metaheuristic). Budget = how many tries you can afford (evaluations).</a:t>
            </a:r>
          </a:p>
          <a:p>
            <a:r>
              <a:t>Ask for one more everyday example of 'anggaran'. Point forward: in Flappy Komodo the budget is literally counted (komodos used).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to 0:38 (3 min). Concrete outcomes, all from the 16-week plan. Stress 'yang kamu tulis sendiri': the first half builds things from scratch in NumPy before using PyTorch in Week 6.</a:t>
            </a:r>
          </a:p>
          <a:p>
            <a:r>
              <a:t>No prior ML is assumed. Python is new for most; the supplementary Python material for Go programmers will be on the class site.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0:38 to 0:41 (3 min). Four blocks. Weeks 8 and 15 are buffers. Checkpoint 2 (team oral) is in Week 12. Details on the class site (Panduan Peserta).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0:41 to 0:43 (2 min). Read, class, practice. The 5 to 6 hours is an estimate including class. The opening quiz is ungraded retrieval practice.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0:43 to 0:45 (2 min). Both are free from the authors. Their licenses forbid modification and translation, so mentors write Indonesian reading guides as separate commentary that points 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0:47 (2 min). 40 / 10 / 50. Oral checks are about 7 minutes: explain your own code and predict the effect of a small change.</a:t>
            </a:r>
          </a:p>
          <a:p>
            <a:r>
              <a:t>CONFIRM BEFORE CLASS: the attendance threshold (13 of 16) is a proposal. If not confirmed say 'ambang kehadiran diumumkan minggu depan' and edit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0:47 to 0:50 (3 min). Teams formed by mentors in Week 8. 'Lapisan optimasi yang menentukan hasil': remove it and the result must get worse; that is what the baseline comparison shows. Open or synthetic data only.</a:t>
            </a:r>
          </a:p>
          <a:p>
            <a:r>
              <a:t>Tease: 'Flappy Komodo nanti adalah contoh kecil proyek seperti ini: jaringan saraf, dilatih oleh algoritma genetika, diukur dengan anggaran.'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to 0:52 (2 min). 'Pakai AI sesukamu. Tidak ada yang mencatat. Tapi di cek lisan kamu menjelaskan kodemu tanpa perangkat, jadi pastikan kamu paham apa yang kamu kumpulkan.'</a:t>
            </a:r>
          </a:p>
          <a:p>
            <a:r>
              <a:t>Several weeks include a 'verify the assistant' task (weeks 2, 5, 7, 9, 10, 11, 14).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0:52 to 0:55 (3 min). Expectations both ways. Mentor commitments here are a proposal: confirm with the other two mentors before class and drop any you cannot keep every week.</a:t>
            </a:r>
          </a:p>
          <a:p>
            <a:r>
              <a:t>Say: 'Kalau kamu tertinggal, bilang di pekan itu juga, jangan tunggu Pekan 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to 1:00 (5 min). Break. Mentors: open stage.html on the projector laptop now, check the Act 2 run code (50-10-6-43), and clear old leaderboards.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to 1:10 (10 min). Mentor 2 = A (Colab first), mentor 3 = B, mentor 1 = C. Unfinished items are homework. Never cut this block.</a:t>
            </a:r>
          </a:p>
          <a:p>
            <a:r>
              <a:t>Put the class site address on the whiteboard during this block (or show it as a QR code) so every phone has it before the game starts.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to 1:12 (2 min). Individual game, three acts, then an 8-minute debrief. Everything runs in the browser; nothing is sent anywhere, so the leaderboards are kept by mentors on the projector laptop.</a:t>
            </a:r>
          </a:p>
          <a:p>
            <a:r>
              <a:t>GAME ADDRESS: the game is at /game/ on the class site. Fill in the real Netlify address on the whiteboard once deployed.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to 1:22 (10 min). 8 minutes of play, 2 minutes to collect scores. Mentors walk around; students show the 'Best' number on their phone; type it in stage.html, tab 'Act 1: Humans'. This is honour-based: the score lives only on their phone. Say so openly.</a:t>
            </a:r>
          </a:p>
          <a:p>
            <a:r>
              <a:t>Typical human scores on this course are low single digits to low teens; the course is deliberately harder than the original game. When collection is done, press 'Use Act 1 top score' on the Act 2 tab.</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to 1:32 (10 min). On stage.html, tab 'Act 2: Evolution', code 50-10-6-43 (rehearsed: generation 1 passes 0 pipes, about 9 pipes by generation 9 to 12, then a jump to 23, 38 and the finish at 50 in generation 15, 750 komodos). Before pressing Start, collect guesses by show of hands.</a:t>
            </a:r>
          </a:p>
          <a:p>
            <a:r>
              <a:t>Speed 3x for the first generations, then 10x. The orange-outlined komodo is last generation's champion, copied unchanged (elitism). A banner appears when evolution passes the best human; let it land.</a:t>
            </a:r>
          </a:p>
          <a:p>
            <a:r>
              <a:t>Say: 'Tidak ada yang menulis aturan kapan harus mengepak. Aturan itu muncul dari mencoba, mengukur, dan memilih.'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to 1:47 (15 min). 12 minutes to breed, 3 minutes to submit. Rules: everyone has the same budget of 600 komodos (population x generations = 600, so population 10 gets 60 generations and population 150 gets 4). The course opening starts at 150 px like Act 1 and shrinks by 1 px per pipe down to 90 px. Score = how many pipes the best komodo passes. One submission per student: their best code.</a:t>
            </a:r>
          </a:p>
          <a:p>
            <a:r>
              <a:t>Students tell a mentor their name and code; the mentor types it in stage.html tab 'Act 3: Breeders', which re-runs it and ranks by pipes (ties: distance flown, then submission time). Duplicate codes are rejected.</a:t>
            </a:r>
          </a:p>
          <a:p>
            <a:r>
              <a:t>From rehearsal (300 sample runs): scores range from about 3 to 67 pipes, median about 19. Large populations get too few generations and score low; populations 10 to 20 with mutation 10 to 20% tend to lead. Trying many seeds is allowed (a run takes milliseconds); that is itself a search over seeds, and the 5-seed check in the debrief exposes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to 1:55 (8 min). Before discussing, press 'Check' (Other seeds) on the top 5 Act 3 entries: it re-runs the same knobs with five new seeds and shows the average and the worst. In rehearsal, 20-10-6-77 scored 60 pipes but averaged 33 on five other seeds, with a worst of 9. One run proves little; that is why the final project demands 10 or more runs.</a:t>
            </a:r>
          </a:p>
          <a:p>
            <a:r>
              <a:t>Q1: with a fixed budget, a big population explores more per generation but gets few generations to improve; a tiny one improves often but explores little. The best settings balance the two. Q2: repeat with other seeds. Q3: from selection: measure, keep the best, vary.</a:t>
            </a:r>
          </a:p>
          <a:p>
            <a:r>
              <a:t>Map it back: the komodo brain is a tiny neural network (5 inputs, a few hidden neurons, 1 output); the evolution is a genetic algorithm with elitism, tournament selection, crossover and mutation.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to 2:00 (5 min). Announce winners from stage.html. Tie-breaks: Act 1 by who showed the score first. Act 3 (proposed rule, change it if you prefer): the top 5 by single-run pipes qualify, and the highest 5-seed average wins.</a:t>
            </a:r>
          </a:p>
          <a:p>
            <a:r>
              <a:t>Page numbers are printed numbers (UDL printed 17 = PDF 31). Chapter 2 is exactly today's ojek example: a line, a loss, and turning the knobs.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End. See you in Week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24.png"/><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5.png"/><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6.png"/><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7.png"/><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6.png"/><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4.png"/><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8.png"/><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9.png"/><Relationship Id="rId1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30.png"/><Relationship Id="rId1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4.png"/><Relationship Id="rId12" Type="http://schemas.openxmlformats.org/officeDocument/2006/relationships/notesSlide" Target="../notesSlides/notesSlide28.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8" id="8"/>
          <p:cNvSpPr/>
          <p:nvPr/>
        </p:nvSpPr>
        <p:spPr>
          <a:xfrm flipH="true" flipV="false" rot="0">
            <a:off x="12591528" y="2004481"/>
            <a:ext cx="5427899" cy="1816870"/>
          </a:xfrm>
          <a:custGeom>
            <a:avLst/>
            <a:gdLst/>
            <a:ahLst/>
            <a:cxnLst/>
            <a:rect r="r" b="b" t="t" l="l"/>
            <a:pathLst>
              <a:path h="1816870" w="5427899">
                <a:moveTo>
                  <a:pt x="5427899" y="0"/>
                </a:moveTo>
                <a:lnTo>
                  <a:pt x="0" y="0"/>
                </a:lnTo>
                <a:lnTo>
                  <a:pt x="0" y="1816870"/>
                </a:lnTo>
                <a:lnTo>
                  <a:pt x="5427899" y="1816870"/>
                </a:lnTo>
                <a:lnTo>
                  <a:pt x="5427899" y="0"/>
                </a:lnTo>
                <a:close/>
              </a:path>
            </a:pathLst>
          </a:custGeom>
          <a:blipFill>
            <a:blip r:embed="rId6">
              <a:alphaModFix amt="65000"/>
            </a:blip>
            <a:stretch>
              <a:fillRect l="0" t="0" r="0" b="0"/>
            </a:stretch>
          </a:blipFill>
        </p:spPr>
      </p:sp>
      <p:sp>
        <p:nvSpPr>
          <p:cNvPr name="Freeform 9" id="9"/>
          <p:cNvSpPr/>
          <p:nvPr/>
        </p:nvSpPr>
        <p:spPr>
          <a:xfrm flipH="false" flipV="false" rot="0">
            <a:off x="12978766" y="2453423"/>
            <a:ext cx="7524206" cy="8229600"/>
          </a:xfrm>
          <a:custGeom>
            <a:avLst/>
            <a:gdLst/>
            <a:ahLst/>
            <a:cxnLst/>
            <a:rect r="r" b="b" t="t" l="l"/>
            <a:pathLst>
              <a:path h="8229600" w="7524206">
                <a:moveTo>
                  <a:pt x="0" y="0"/>
                </a:moveTo>
                <a:lnTo>
                  <a:pt x="7524205" y="0"/>
                </a:lnTo>
                <a:lnTo>
                  <a:pt x="7524205" y="8229600"/>
                </a:lnTo>
                <a:lnTo>
                  <a:pt x="0" y="8229600"/>
                </a:lnTo>
                <a:lnTo>
                  <a:pt x="0" y="0"/>
                </a:lnTo>
                <a:close/>
              </a:path>
            </a:pathLst>
          </a:custGeom>
          <a:blipFill>
            <a:blip r:embed="rId7"/>
            <a:stretch>
              <a:fillRect l="0" t="0" r="0" b="0"/>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3300005" y="6713575"/>
            <a:ext cx="7627961" cy="3716897"/>
          </a:xfrm>
          <a:custGeom>
            <a:avLst/>
            <a:gdLst/>
            <a:ahLst/>
            <a:cxnLst/>
            <a:rect r="r" b="b" t="t" l="l"/>
            <a:pathLst>
              <a:path h="3716897" w="7627961">
                <a:moveTo>
                  <a:pt x="0" y="0"/>
                </a:moveTo>
                <a:lnTo>
                  <a:pt x="7627961" y="0"/>
                </a:lnTo>
                <a:lnTo>
                  <a:pt x="7627961" y="3716898"/>
                </a:lnTo>
                <a:lnTo>
                  <a:pt x="0" y="371689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4" id="14"/>
          <p:cNvSpPr/>
          <p:nvPr/>
        </p:nvSpPr>
        <p:spPr>
          <a:xfrm flipH="false" flipV="false" rot="0">
            <a:off x="1271868" y="458450"/>
            <a:ext cx="5790657" cy="1938295"/>
          </a:xfrm>
          <a:custGeom>
            <a:avLst/>
            <a:gdLst/>
            <a:ahLst/>
            <a:cxnLst/>
            <a:rect r="r" b="b" t="t" l="l"/>
            <a:pathLst>
              <a:path h="1938295" w="5790657">
                <a:moveTo>
                  <a:pt x="0" y="0"/>
                </a:moveTo>
                <a:lnTo>
                  <a:pt x="5790656" y="0"/>
                </a:lnTo>
                <a:lnTo>
                  <a:pt x="5790656" y="1938295"/>
                </a:lnTo>
                <a:lnTo>
                  <a:pt x="0" y="1938295"/>
                </a:lnTo>
                <a:lnTo>
                  <a:pt x="0" y="0"/>
                </a:lnTo>
                <a:close/>
              </a:path>
            </a:pathLst>
          </a:custGeom>
          <a:blipFill>
            <a:blip r:embed="rId6">
              <a:alphaModFix amt="65000"/>
            </a:blip>
            <a:stretch>
              <a:fillRect l="0" t="0" r="0" b="0"/>
            </a:stretch>
          </a:blipFill>
        </p:spPr>
      </p:sp>
      <p:sp>
        <p:nvSpPr>
          <p:cNvPr name="TextBox 15" id="15"/>
          <p:cNvSpPr txBox="true"/>
          <p:nvPr/>
        </p:nvSpPr>
        <p:spPr>
          <a:xfrm rot="0">
            <a:off x="5299875" y="2845945"/>
            <a:ext cx="7688251" cy="1920836"/>
          </a:xfrm>
          <a:prstGeom prst="rect">
            <a:avLst/>
          </a:prstGeom>
        </p:spPr>
        <p:txBody>
          <a:bodyPr anchor="t" rtlCol="false" tIns="0" lIns="0" bIns="0" rIns="0">
            <a:spAutoFit/>
          </a:bodyPr>
          <a:lstStyle/>
          <a:p>
            <a:pPr algn="ctr">
              <a:lnSpc>
                <a:spcPct val="100000"/>
              </a:lnSpc>
            </a:pPr>
            <a:r>
              <a:rPr lang="en-US" b="true" sz="9200">
                <a:solidFill>
                  <a:srgbClr val="EAC24B"/>
                </a:solidFill>
                <a:latin typeface="Playpen Sans Bold"/>
                <a:ea typeface="Playpen Sans Bold"/>
                <a:cs typeface="Playpen Sans Bold"/>
                <a:sym typeface="Playpen Sans Bold"/>
              </a:rPr>
              <a:t>AI, ML, dan</a:t>
            </a:r>
          </a:p>
        </p:txBody>
      </p:sp>
      <p:grpSp>
        <p:nvGrpSpPr>
          <p:cNvPr name="Group 16" id="16"/>
          <p:cNvGrpSpPr/>
          <p:nvPr/>
        </p:nvGrpSpPr>
        <p:grpSpPr>
          <a:xfrm rot="0">
            <a:off x="6680389" y="1456173"/>
            <a:ext cx="4927222" cy="791725"/>
            <a:chOff x="0" y="0"/>
            <a:chExt cx="1297705" cy="208520"/>
          </a:xfrm>
        </p:grpSpPr>
        <p:sp>
          <p:nvSpPr>
            <p:cNvPr name="Freeform 17" id="17"/>
            <p:cNvSpPr/>
            <p:nvPr/>
          </p:nvSpPr>
          <p:spPr>
            <a:xfrm flipH="false" flipV="false" rot="0">
              <a:off x="0" y="0"/>
              <a:ext cx="1297705" cy="208520"/>
            </a:xfrm>
            <a:custGeom>
              <a:avLst/>
              <a:gdLst/>
              <a:ahLst/>
              <a:cxnLst/>
              <a:rect r="r" b="b" t="t" l="l"/>
              <a:pathLst>
                <a:path h="208520" w="1297705">
                  <a:moveTo>
                    <a:pt x="104260" y="0"/>
                  </a:moveTo>
                  <a:lnTo>
                    <a:pt x="1193444" y="0"/>
                  </a:lnTo>
                  <a:cubicBezTo>
                    <a:pt x="1251026" y="0"/>
                    <a:pt x="1297705" y="46679"/>
                    <a:pt x="1297705" y="104260"/>
                  </a:cubicBezTo>
                  <a:lnTo>
                    <a:pt x="1297705" y="104260"/>
                  </a:lnTo>
                  <a:cubicBezTo>
                    <a:pt x="1297705" y="161841"/>
                    <a:pt x="1251026" y="208520"/>
                    <a:pt x="1193444" y="208520"/>
                  </a:cubicBezTo>
                  <a:lnTo>
                    <a:pt x="104260" y="208520"/>
                  </a:lnTo>
                  <a:cubicBezTo>
                    <a:pt x="46679" y="208520"/>
                    <a:pt x="0" y="161841"/>
                    <a:pt x="0" y="104260"/>
                  </a:cubicBezTo>
                  <a:lnTo>
                    <a:pt x="0" y="104260"/>
                  </a:lnTo>
                  <a:cubicBezTo>
                    <a:pt x="0" y="46679"/>
                    <a:pt x="46679" y="0"/>
                    <a:pt x="104260" y="0"/>
                  </a:cubicBezTo>
                  <a:close/>
                </a:path>
              </a:pathLst>
            </a:custGeom>
            <a:ln w="19050" cap="rnd">
              <a:solidFill>
                <a:srgbClr val="FFFFFF"/>
              </a:solidFill>
              <a:prstDash val="solid"/>
              <a:round/>
            </a:ln>
          </p:spPr>
        </p:sp>
        <p:sp>
          <p:nvSpPr>
            <p:cNvPr name="TextBox 18" id="18"/>
            <p:cNvSpPr txBox="true"/>
            <p:nvPr/>
          </p:nvSpPr>
          <p:spPr>
            <a:xfrm>
              <a:off x="0" y="-38100"/>
              <a:ext cx="1297705" cy="246620"/>
            </a:xfrm>
            <a:prstGeom prst="rect">
              <a:avLst/>
            </a:prstGeom>
          </p:spPr>
          <p:txBody>
            <a:bodyPr anchor="ctr" rtlCol="false" tIns="50800" lIns="50800" bIns="50800" rIns="50800"/>
            <a:lstStyle/>
            <a:p>
              <a:pPr algn="ctr">
                <a:lnSpc>
                  <a:spcPts val="2659"/>
                </a:lnSpc>
                <a:spcBef>
                  <a:spcPct val="0"/>
                </a:spcBef>
              </a:pPr>
            </a:p>
          </p:txBody>
        </p:sp>
      </p:grpSp>
      <p:sp>
        <p:nvSpPr>
          <p:cNvPr name="TextBox 19" id="19"/>
          <p:cNvSpPr txBox="true"/>
          <p:nvPr/>
        </p:nvSpPr>
        <p:spPr>
          <a:xfrm rot="0">
            <a:off x="6889755" y="1710743"/>
            <a:ext cx="4508490" cy="330209"/>
          </a:xfrm>
          <a:prstGeom prst="rect">
            <a:avLst/>
          </a:prstGeom>
        </p:spPr>
        <p:txBody>
          <a:bodyPr anchor="t" rtlCol="false" tIns="0" lIns="0" bIns="0" rIns="0">
            <a:spAutoFit/>
          </a:bodyPr>
          <a:lstStyle/>
          <a:p>
            <a:pPr algn="ctr">
              <a:lnSpc>
                <a:spcPct val="100000"/>
              </a:lnSpc>
            </a:pPr>
            <a:r>
              <a:rPr lang="en-US" b="true" sz="2500">
                <a:solidFill>
                  <a:srgbClr val="FFFFFF"/>
                </a:solidFill>
                <a:latin typeface="Playpen Sans Bold"/>
                <a:ea typeface="Playpen Sans Bold"/>
                <a:cs typeface="Playpen Sans Bold"/>
                <a:sym typeface="Playpen Sans Bold"/>
              </a:rPr>
              <a:t>Advance Study Group</a:t>
            </a:r>
          </a:p>
        </p:txBody>
      </p:sp>
      <p:grpSp>
        <p:nvGrpSpPr>
          <p:cNvPr name="Group 20" id="20"/>
          <p:cNvGrpSpPr/>
          <p:nvPr/>
        </p:nvGrpSpPr>
        <p:grpSpPr>
          <a:xfrm rot="0">
            <a:off x="9894294" y="6869221"/>
            <a:ext cx="2441189" cy="791725"/>
            <a:chOff x="0" y="0"/>
            <a:chExt cx="642947" cy="208520"/>
          </a:xfrm>
        </p:grpSpPr>
        <p:sp>
          <p:nvSpPr>
            <p:cNvPr name="Freeform 21" id="21"/>
            <p:cNvSpPr/>
            <p:nvPr/>
          </p:nvSpPr>
          <p:spPr>
            <a:xfrm flipH="false" flipV="false" rot="0">
              <a:off x="0" y="0"/>
              <a:ext cx="642947" cy="208520"/>
            </a:xfrm>
            <a:custGeom>
              <a:avLst/>
              <a:gdLst/>
              <a:ahLst/>
              <a:cxnLst/>
              <a:rect r="r" b="b" t="t" l="l"/>
              <a:pathLst>
                <a:path h="208520" w="642947">
                  <a:moveTo>
                    <a:pt x="104260" y="0"/>
                  </a:moveTo>
                  <a:lnTo>
                    <a:pt x="538687" y="0"/>
                  </a:lnTo>
                  <a:cubicBezTo>
                    <a:pt x="596268" y="0"/>
                    <a:pt x="642947" y="46679"/>
                    <a:pt x="642947" y="104260"/>
                  </a:cubicBezTo>
                  <a:lnTo>
                    <a:pt x="642947" y="104260"/>
                  </a:lnTo>
                  <a:cubicBezTo>
                    <a:pt x="642947" y="161841"/>
                    <a:pt x="596268" y="208520"/>
                    <a:pt x="538687" y="208520"/>
                  </a:cubicBezTo>
                  <a:lnTo>
                    <a:pt x="104260" y="208520"/>
                  </a:lnTo>
                  <a:cubicBezTo>
                    <a:pt x="46679" y="208520"/>
                    <a:pt x="0" y="161841"/>
                    <a:pt x="0" y="104260"/>
                  </a:cubicBezTo>
                  <a:lnTo>
                    <a:pt x="0" y="104260"/>
                  </a:lnTo>
                  <a:cubicBezTo>
                    <a:pt x="0" y="46679"/>
                    <a:pt x="46679" y="0"/>
                    <a:pt x="104260" y="0"/>
                  </a:cubicBezTo>
                  <a:close/>
                </a:path>
              </a:pathLst>
            </a:custGeom>
            <a:solidFill>
              <a:srgbClr val="001769"/>
            </a:solidFill>
            <a:ln cap="rnd">
              <a:noFill/>
              <a:prstDash val="solid"/>
              <a:round/>
            </a:ln>
          </p:spPr>
        </p:sp>
        <p:sp>
          <p:nvSpPr>
            <p:cNvPr name="TextBox 22" id="22"/>
            <p:cNvSpPr txBox="true"/>
            <p:nvPr/>
          </p:nvSpPr>
          <p:spPr>
            <a:xfrm>
              <a:off x="0" y="-38100"/>
              <a:ext cx="642947" cy="246620"/>
            </a:xfrm>
            <a:prstGeom prst="rect">
              <a:avLst/>
            </a:prstGeom>
          </p:spPr>
          <p:txBody>
            <a:bodyPr anchor="ctr" rtlCol="false" tIns="50800" lIns="50800" bIns="50800" rIns="50800"/>
            <a:lstStyle/>
            <a:p>
              <a:pPr algn="ctr">
                <a:lnSpc>
                  <a:spcPts val="2659"/>
                </a:lnSpc>
                <a:spcBef>
                  <a:spcPct val="0"/>
                </a:spcBef>
              </a:pPr>
            </a:p>
          </p:txBody>
        </p:sp>
      </p:grpSp>
      <p:sp>
        <p:nvSpPr>
          <p:cNvPr name="TextBox 23" id="23"/>
          <p:cNvSpPr txBox="true"/>
          <p:nvPr/>
        </p:nvSpPr>
        <p:spPr>
          <a:xfrm rot="0">
            <a:off x="9998024" y="7123791"/>
            <a:ext cx="2233728" cy="330209"/>
          </a:xfrm>
          <a:prstGeom prst="rect">
            <a:avLst/>
          </a:prstGeom>
        </p:spPr>
        <p:txBody>
          <a:bodyPr anchor="t" rtlCol="false" tIns="0" lIns="0" bIns="0" rIns="0">
            <a:spAutoFit/>
          </a:bodyPr>
          <a:lstStyle/>
          <a:p>
            <a:pPr algn="ctr">
              <a:lnSpc>
                <a:spcPct val="100000"/>
              </a:lnSpc>
            </a:pPr>
            <a:r>
              <a:rPr lang="en-US" b="true" sz="2400">
                <a:solidFill>
                  <a:srgbClr val="FFFFFF"/>
                </a:solidFill>
                <a:latin typeface="Playpen Sans Bold"/>
                <a:ea typeface="Playpen Sans Bold"/>
                <a:cs typeface="Playpen Sans Bold"/>
                <a:sym typeface="Playpen Sans Bold"/>
              </a:rPr>
              <a:t>Pertemuan 0</a:t>
            </a:r>
          </a:p>
        </p:txBody>
      </p:sp>
      <p:sp>
        <p:nvSpPr>
          <p:cNvPr name="TextBox 24" id="24"/>
          <p:cNvSpPr txBox="true"/>
          <p:nvPr/>
        </p:nvSpPr>
        <p:spPr>
          <a:xfrm rot="0">
            <a:off x="3300005" y="4630814"/>
            <a:ext cx="11687990" cy="1920836"/>
          </a:xfrm>
          <a:prstGeom prst="rect">
            <a:avLst/>
          </a:prstGeom>
        </p:spPr>
        <p:txBody>
          <a:bodyPr anchor="t" rtlCol="false" tIns="0" lIns="0" bIns="0" rIns="0">
            <a:spAutoFit/>
          </a:bodyPr>
          <a:lstStyle/>
          <a:p>
            <a:pPr algn="ctr">
              <a:lnSpc>
                <a:spcPct val="100000"/>
              </a:lnSpc>
            </a:pPr>
            <a:r>
              <a:rPr lang="en-US" b="true" sz="11000">
                <a:solidFill>
                  <a:srgbClr val="FFFFFF"/>
                </a:solidFill>
                <a:latin typeface="Playpen Sans Bold"/>
                <a:ea typeface="Playpen Sans Bold"/>
                <a:cs typeface="Playpen Sans Bold"/>
                <a:sym typeface="Playpen Sans Bold"/>
              </a:rPr>
              <a:t>Optimasi</a:t>
            </a:r>
          </a:p>
        </p:txBody>
      </p:sp>
      <p:sp>
        <p:nvSpPr>
          <p:cNvPr id="25" name="Label lab"/>
          <p:cNvSpPr/>
          <p:nvPr/>
        </p:nvSpPr>
        <p:spPr>
          <a:xfrm>
            <a:off x="3474720" y="320040"/>
            <a:ext cx="11338560" cy="685800"/>
          </a:xfrm>
          <a:prstGeom prst="roundRect">
            <a:avLst>
              <a:gd name="adj" fmla="val 40000"/>
            </a:avLst>
          </a:prstGeom>
          <a:solidFill>
            <a:srgbClr val="0A254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ma lab"/>
          <p:cNvSpPr txBox="1"/>
          <p:nvPr/>
        </p:nvSpPr>
        <p:spPr>
          <a:xfrm>
            <a:off x="3474720" y="457200"/>
            <a:ext cx="11338560" cy="457200"/>
          </a:xfrm>
          <a:prstGeom prst="rect">
            <a:avLst/>
          </a:prstGeom>
          <a:noFill/>
        </p:spPr>
        <p:txBody>
          <a:bodyPr wrap="square" lIns="0" rIns="0" tIns="0" bIns="0" anchor="t">
            <a:spAutoFit/>
          </a:bodyPr>
          <a:lstStyle/>
          <a:p>
            <a:pPr algn="ctr">
              <a:spcAft>
                <a:spcPts val="0"/>
              </a:spcAft>
            </a:pPr>
            <a:r>
              <a:rPr sz="2200">
                <a:solidFill>
                  <a:srgbClr val="FFFFFF"/>
                </a:solidFill>
                <a:latin typeface="Playpen Sans"/>
              </a:rPr>
              <a:t>Computing Laboratory · Fakultas Informatika · Telkom University</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6400">
                <a:solidFill>
                  <a:srgbClr val="F7B125"/>
                </a:solidFill>
                <a:latin typeface="Playpen Sans Bold"/>
              </a:rPr>
              <a:t>Agenda Hari Ini</a:t>
            </a:r>
          </a:p>
        </p:txBody>
      </p:sp>
      <p:sp>
        <p:nvSpPr>
          <p:cNvPr id="14" name="Jam"/>
          <p:cNvSpPr txBox="1"/>
          <p:nvPr/>
        </p:nvSpPr>
        <p:spPr>
          <a:xfrm>
            <a:off x="5074920" y="2286000"/>
            <a:ext cx="1737360" cy="4937760"/>
          </a:xfrm>
          <a:prstGeom prst="rect">
            <a:avLst/>
          </a:prstGeom>
          <a:noFill/>
        </p:spPr>
        <p:txBody>
          <a:bodyPr wrap="square" lIns="0" rIns="0" tIns="0" bIns="0" anchor="t">
            <a:spAutoFit/>
          </a:bodyPr>
          <a:lstStyle/>
          <a:p>
            <a:pPr algn="l">
              <a:spcAft>
                <a:spcPts val="1000"/>
              </a:spcAft>
            </a:pPr>
            <a:r>
              <a:rPr sz="3000">
                <a:solidFill>
                  <a:srgbClr val="F7B125"/>
                </a:solidFill>
                <a:latin typeface="Playpen Sans Bold"/>
              </a:rPr>
              <a:t>0:00</a:t>
            </a:r>
          </a:p>
          <a:p>
            <a:pPr algn="l">
              <a:spcAft>
                <a:spcPts val="1000"/>
              </a:spcAft>
            </a:pPr>
            <a:r>
              <a:rPr sz="3000">
                <a:solidFill>
                  <a:srgbClr val="F7B125"/>
                </a:solidFill>
                <a:latin typeface="Playpen Sans Bold"/>
              </a:rPr>
              <a:t>0:08</a:t>
            </a:r>
          </a:p>
          <a:p>
            <a:pPr algn="l">
              <a:spcAft>
                <a:spcPts val="1000"/>
              </a:spcAft>
            </a:pPr>
            <a:r>
              <a:rPr sz="3000">
                <a:solidFill>
                  <a:srgbClr val="F7B125"/>
                </a:solidFill>
                <a:latin typeface="Playpen Sans Bold"/>
              </a:rPr>
              <a:t>0:35</a:t>
            </a:r>
          </a:p>
          <a:p>
            <a:pPr algn="l">
              <a:spcAft>
                <a:spcPts val="1000"/>
              </a:spcAft>
            </a:pPr>
            <a:r>
              <a:rPr sz="3000">
                <a:solidFill>
                  <a:srgbClr val="F7B125"/>
                </a:solidFill>
                <a:latin typeface="Playpen Sans Bold"/>
              </a:rPr>
              <a:t>0:55</a:t>
            </a:r>
          </a:p>
          <a:p>
            <a:pPr algn="l">
              <a:spcAft>
                <a:spcPts val="1000"/>
              </a:spcAft>
            </a:pPr>
            <a:r>
              <a:rPr sz="3000">
                <a:solidFill>
                  <a:srgbClr val="F7B125"/>
                </a:solidFill>
                <a:latin typeface="Playpen Sans Bold"/>
              </a:rPr>
              <a:t>1:00</a:t>
            </a:r>
          </a:p>
          <a:p>
            <a:pPr algn="l">
              <a:spcAft>
                <a:spcPts val="1000"/>
              </a:spcAft>
            </a:pPr>
            <a:r>
              <a:rPr sz="3000">
                <a:solidFill>
                  <a:srgbClr val="F7B125"/>
                </a:solidFill>
                <a:latin typeface="Playpen Sans Bold"/>
              </a:rPr>
              <a:t>1:10</a:t>
            </a:r>
          </a:p>
          <a:p>
            <a:pPr algn="l">
              <a:spcAft>
                <a:spcPts val="1000"/>
              </a:spcAft>
            </a:pPr>
            <a:r>
              <a:rPr sz="3000">
                <a:solidFill>
                  <a:srgbClr val="F7B125"/>
                </a:solidFill>
                <a:latin typeface="Playpen Sans Bold"/>
              </a:rPr>
              <a:t>1:55</a:t>
            </a:r>
          </a:p>
        </p:txBody>
      </p:sp>
      <p:sp>
        <p:nvSpPr>
          <p:cNvPr id="15" name="Kegiatan"/>
          <p:cNvSpPr txBox="1"/>
          <p:nvPr/>
        </p:nvSpPr>
        <p:spPr>
          <a:xfrm>
            <a:off x="6995160" y="2286000"/>
            <a:ext cx="9784080" cy="4937760"/>
          </a:xfrm>
          <a:prstGeom prst="rect">
            <a:avLst/>
          </a:prstGeom>
          <a:noFill/>
        </p:spPr>
        <p:txBody>
          <a:bodyPr wrap="square" lIns="0" rIns="0" tIns="0" bIns="0" anchor="t">
            <a:spAutoFit/>
          </a:bodyPr>
          <a:lstStyle/>
          <a:p>
            <a:pPr algn="l">
              <a:spcAft>
                <a:spcPts val="1000"/>
              </a:spcAft>
            </a:pPr>
            <a:r>
              <a:rPr sz="3000">
                <a:solidFill>
                  <a:srgbClr val="FFFFFF"/>
                </a:solidFill>
                <a:latin typeface="Playpen Sans"/>
              </a:rPr>
              <a:t>Kenapa AI? Cerita dari paper (8 menit)</a:t>
            </a:r>
          </a:p>
          <a:p>
            <a:pPr algn="l">
              <a:spcAft>
                <a:spcPts val="1000"/>
              </a:spcAft>
            </a:pPr>
            <a:r>
              <a:rPr sz="3000">
                <a:solidFill>
                  <a:srgbClr val="FFFFFF"/>
                </a:solidFill>
                <a:latin typeface="Playpen Sans"/>
              </a:rPr>
              <a:t>Intuisi: AI, ML, dan optimasi (27)</a:t>
            </a:r>
          </a:p>
          <a:p>
            <a:pPr algn="l">
              <a:spcAft>
                <a:spcPts val="1000"/>
              </a:spcAft>
            </a:pPr>
            <a:r>
              <a:rPr sz="3000">
                <a:solidFill>
                  <a:srgbClr val="FFFFFF"/>
                </a:solidFill>
                <a:latin typeface="Playpen Sans"/>
              </a:rPr>
              <a:t>Capaian dan harapan kelas (20)</a:t>
            </a:r>
          </a:p>
          <a:p>
            <a:pPr algn="l">
              <a:spcAft>
                <a:spcPts val="1000"/>
              </a:spcAft>
            </a:pPr>
            <a:r>
              <a:rPr sz="3000">
                <a:solidFill>
                  <a:srgbClr val="FFFFFF"/>
                </a:solidFill>
                <a:latin typeface="Playpen Sans"/>
              </a:rPr>
              <a:t>Istirahat (5)</a:t>
            </a:r>
          </a:p>
          <a:p>
            <a:pPr algn="l">
              <a:spcAft>
                <a:spcPts val="1000"/>
              </a:spcAft>
            </a:pPr>
            <a:r>
              <a:rPr sz="3000">
                <a:solidFill>
                  <a:srgbClr val="FFFFFF"/>
                </a:solidFill>
                <a:latin typeface="Playpen Sans"/>
              </a:rPr>
              <a:t>Stasiun persiapan (10)</a:t>
            </a:r>
          </a:p>
          <a:p>
            <a:pPr algn="l">
              <a:spcAft>
                <a:spcPts val="1000"/>
              </a:spcAft>
            </a:pPr>
            <a:r>
              <a:rPr sz="3000">
                <a:solidFill>
                  <a:srgbClr val="FFFFFF"/>
                </a:solidFill>
                <a:latin typeface="Playpen Sans"/>
              </a:rPr>
              <a:t>Flappy Komodo: manusia lawan evolusi (45)</a:t>
            </a:r>
          </a:p>
          <a:p>
            <a:pPr algn="l">
              <a:spcAft>
                <a:spcPts val="1000"/>
              </a:spcAft>
            </a:pPr>
            <a:r>
              <a:rPr sz="3000">
                <a:solidFill>
                  <a:srgbClr val="FFFFFF"/>
                </a:solidFill>
                <a:latin typeface="Playpen Sans"/>
              </a:rPr>
              <a:t>Pemenang dan Pertemuan 1 (5)</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ctr">
              <a:spcAft>
                <a:spcPts val="0"/>
              </a:spcAft>
            </a:pPr>
            <a:r>
              <a:rPr sz="5600">
                <a:solidFill>
                  <a:srgbClr val="F7B125"/>
                </a:solidFill>
                <a:latin typeface="Playpen Sans Bold"/>
              </a:rPr>
              <a:t>AI yang kamu pakai bermula dari paper</a:t>
            </a:r>
          </a:p>
        </p:txBody>
      </p:sp>
      <p:pic>
        <p:nvPicPr>
          <p:cNvPr id="16" name="Paper kma" descr="Halaman depan sebuah paper"/>
          <p:cNvPicPr>
            <a:picLocks noChangeAspect="1"/>
          </p:cNvPicPr>
          <p:nvPr/>
        </p:nvPicPr>
        <p:blipFill>
          <a:blip r:embed="rId13"/>
          <a:stretch>
            <a:fillRect/>
          </a:stretch>
        </p:blipFill>
        <p:spPr>
          <a:xfrm rot="21480000">
            <a:off x="1508760" y="2148840"/>
            <a:ext cx="3413637" cy="2286000"/>
          </a:xfrm>
          <a:prstGeom prst="rect">
            <a:avLst/>
          </a:prstGeom>
          <a:ln w="38100">
            <a:solidFill>
              <a:srgbClr val="FFFFFF"/>
            </a:solidFill>
          </a:ln>
        </p:spPr>
      </p:pic>
      <p:pic>
        <p:nvPicPr>
          <p:cNvPr id="17" name="Paper ikma" descr="Halaman depan sebuah paper"/>
          <p:cNvPicPr>
            <a:picLocks noChangeAspect="1"/>
          </p:cNvPicPr>
          <p:nvPr/>
        </p:nvPicPr>
        <p:blipFill>
          <a:blip r:embed="rId14"/>
          <a:stretch>
            <a:fillRect/>
          </a:stretch>
        </p:blipFill>
        <p:spPr>
          <a:xfrm rot="90000">
            <a:off x="5284431" y="2148840"/>
            <a:ext cx="3159125" cy="2286000"/>
          </a:xfrm>
          <a:prstGeom prst="rect">
            <a:avLst/>
          </a:prstGeom>
          <a:ln w="38100">
            <a:solidFill>
              <a:srgbClr val="FFFFFF"/>
            </a:solidFill>
          </a:ln>
        </p:spPr>
      </p:pic>
      <p:pic>
        <p:nvPicPr>
          <p:cNvPr id="18" name="Paper skin" descr="Halaman depan sebuah paper"/>
          <p:cNvPicPr>
            <a:picLocks noChangeAspect="1"/>
          </p:cNvPicPr>
          <p:nvPr/>
        </p:nvPicPr>
        <p:blipFill>
          <a:blip r:embed="rId15"/>
          <a:stretch>
            <a:fillRect/>
          </a:stretch>
        </p:blipFill>
        <p:spPr>
          <a:xfrm rot="21540000">
            <a:off x="8805591" y="2148840"/>
            <a:ext cx="4023252" cy="2286000"/>
          </a:xfrm>
          <a:prstGeom prst="rect">
            <a:avLst/>
          </a:prstGeom>
          <a:ln w="38100">
            <a:solidFill>
              <a:srgbClr val="FFFFFF"/>
            </a:solidFill>
          </a:ln>
        </p:spPr>
      </p:pic>
      <p:pic>
        <p:nvPicPr>
          <p:cNvPr id="19" name="Paper cotpot" descr="Halaman depan sebuah paper"/>
          <p:cNvPicPr>
            <a:picLocks noChangeAspect="1"/>
          </p:cNvPicPr>
          <p:nvPr/>
        </p:nvPicPr>
        <p:blipFill>
          <a:blip r:embed="rId16"/>
          <a:stretch>
            <a:fillRect/>
          </a:stretch>
        </p:blipFill>
        <p:spPr>
          <a:xfrm rot="120000">
            <a:off x="13190879" y="2148840"/>
            <a:ext cx="3588360" cy="2286000"/>
          </a:xfrm>
          <a:prstGeom prst="rect">
            <a:avLst/>
          </a:prstGeom>
          <a:ln w="38100">
            <a:solidFill>
              <a:srgbClr val="FFFFFF"/>
            </a:solidFill>
          </a:ln>
        </p:spPr>
      </p:pic>
      <p:pic>
        <p:nvPicPr>
          <p:cNvPr id="20" name="Paper dfu" descr="Halaman depan sebuah paper"/>
          <p:cNvPicPr>
            <a:picLocks noChangeAspect="1"/>
          </p:cNvPicPr>
          <p:nvPr/>
        </p:nvPicPr>
        <p:blipFill>
          <a:blip r:embed="rId17"/>
          <a:stretch>
            <a:fillRect/>
          </a:stretch>
        </p:blipFill>
        <p:spPr>
          <a:xfrm rot="72000">
            <a:off x="1508760" y="4983479"/>
            <a:ext cx="3766278" cy="1143000"/>
          </a:xfrm>
          <a:prstGeom prst="rect">
            <a:avLst/>
          </a:prstGeom>
          <a:ln w="38100">
            <a:solidFill>
              <a:srgbClr val="FFFFFF"/>
            </a:solidFill>
          </a:ln>
        </p:spPr>
      </p:pic>
      <p:pic>
        <p:nvPicPr>
          <p:cNvPr id="21" name="Paper ncf" descr="Halaman depan sebuah paper"/>
          <p:cNvPicPr>
            <a:picLocks noChangeAspect="1"/>
          </p:cNvPicPr>
          <p:nvPr/>
        </p:nvPicPr>
        <p:blipFill>
          <a:blip r:embed="rId18"/>
          <a:stretch>
            <a:fillRect/>
          </a:stretch>
        </p:blipFill>
        <p:spPr>
          <a:xfrm rot="21510000">
            <a:off x="5803440" y="4983479"/>
            <a:ext cx="3544584" cy="1143000"/>
          </a:xfrm>
          <a:prstGeom prst="rect">
            <a:avLst/>
          </a:prstGeom>
          <a:ln w="38100">
            <a:solidFill>
              <a:srgbClr val="FFFFFF"/>
            </a:solidFill>
          </a:ln>
        </p:spPr>
      </p:pic>
      <p:pic>
        <p:nvPicPr>
          <p:cNvPr id="22" name="Paper ref" descr="Halaman depan sebuah paper"/>
          <p:cNvPicPr>
            <a:picLocks noChangeAspect="1"/>
          </p:cNvPicPr>
          <p:nvPr/>
        </p:nvPicPr>
        <p:blipFill>
          <a:blip r:embed="rId19"/>
          <a:stretch>
            <a:fillRect/>
          </a:stretch>
        </p:blipFill>
        <p:spPr>
          <a:xfrm rot="90000">
            <a:off x="9876425" y="4892040"/>
            <a:ext cx="3046451" cy="1325880"/>
          </a:xfrm>
          <a:prstGeom prst="rect">
            <a:avLst/>
          </a:prstGeom>
          <a:ln w="38100">
            <a:solidFill>
              <a:srgbClr val="FFFFFF"/>
            </a:solidFill>
          </a:ln>
        </p:spPr>
      </p:pic>
      <p:pic>
        <p:nvPicPr>
          <p:cNvPr id="23" name="Paper token" descr="Halaman depan sebuah paper"/>
          <p:cNvPicPr>
            <a:picLocks noChangeAspect="1"/>
          </p:cNvPicPr>
          <p:nvPr/>
        </p:nvPicPr>
        <p:blipFill>
          <a:blip r:embed="rId20"/>
          <a:stretch>
            <a:fillRect/>
          </a:stretch>
        </p:blipFill>
        <p:spPr>
          <a:xfrm rot="21528000">
            <a:off x="13451278" y="4983479"/>
            <a:ext cx="3327961" cy="1143000"/>
          </a:xfrm>
          <a:prstGeom prst="rect">
            <a:avLst/>
          </a:prstGeom>
          <a:ln w="38100">
            <a:solidFill>
              <a:srgbClr val="FFFFFF"/>
            </a:solidFill>
          </a:ln>
        </p:spPr>
      </p:pic>
      <p:sp>
        <p:nvSpPr>
          <p:cNvPr id="24" name="Penutup"/>
          <p:cNvSpPr txBox="1"/>
          <p:nvPr/>
        </p:nvSpPr>
        <p:spPr>
          <a:xfrm>
            <a:off x="1508760" y="6446520"/>
            <a:ext cx="15270480" cy="640080"/>
          </a:xfrm>
          <a:prstGeom prst="rect">
            <a:avLst/>
          </a:prstGeom>
          <a:noFill/>
        </p:spPr>
        <p:txBody>
          <a:bodyPr wrap="square" lIns="0" rIns="0" tIns="0" bIns="0" anchor="t">
            <a:spAutoFit/>
          </a:bodyPr>
          <a:lstStyle/>
          <a:p>
            <a:pPr algn="ctr">
              <a:spcAft>
                <a:spcPts val="0"/>
              </a:spcAft>
            </a:pPr>
            <a:r>
              <a:rPr sz="3200">
                <a:solidFill>
                  <a:srgbClr val="FFFFFF"/>
                </a:solidFill>
                <a:latin typeface="Playpen Sans"/>
              </a:rPr>
              <a:t>Banyak yang ditulis di kampus kita sendiri</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CERITA"/>
          <p:cNvSpPr/>
          <p:nvPr/>
        </p:nvSpPr>
        <p:spPr>
          <a:xfrm>
            <a:off x="1508760" y="960120"/>
            <a:ext cx="1972056"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CERITA"/>
          <p:cNvSpPr txBox="1"/>
          <p:nvPr/>
        </p:nvSpPr>
        <p:spPr>
          <a:xfrm>
            <a:off x="1508760" y="1024128"/>
            <a:ext cx="1972056"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CERITA</a:t>
            </a:r>
          </a:p>
        </p:txBody>
      </p:sp>
      <p:sp>
        <p:nvSpPr>
          <p:cNvPr id="17" name="Judul"/>
          <p:cNvSpPr txBox="1"/>
          <p:nvPr/>
        </p:nvSpPr>
        <p:spPr>
          <a:xfrm>
            <a:off x="3846576" y="960120"/>
            <a:ext cx="12932664" cy="731520"/>
          </a:xfrm>
          <a:prstGeom prst="rect">
            <a:avLst/>
          </a:prstGeom>
          <a:noFill/>
        </p:spPr>
        <p:txBody>
          <a:bodyPr wrap="square" lIns="0" rIns="0" tIns="0" bIns="0" anchor="ctr">
            <a:spAutoFit/>
          </a:bodyPr>
          <a:lstStyle/>
          <a:p>
            <a:pPr algn="l">
              <a:spcAft>
                <a:spcPts val="0"/>
              </a:spcAft>
            </a:pPr>
            <a:r>
              <a:rPr sz="4200">
                <a:solidFill>
                  <a:srgbClr val="F7B125"/>
                </a:solidFill>
                <a:latin typeface="Playpen Sans Bold"/>
              </a:rPr>
              <a:t>Satu ide dari kampus kita, tiga paper</a:t>
            </a:r>
          </a:p>
        </p:txBody>
      </p:sp>
      <p:sp>
        <p:nvSpPr>
          <p:cNvPr id="18" name="Kartu 1"/>
          <p:cNvSpPr/>
          <p:nvPr/>
        </p:nvSpPr>
        <p:spPr>
          <a:xfrm>
            <a:off x="1508760" y="2148840"/>
            <a:ext cx="448056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ahun"/>
          <p:cNvSpPr txBox="1"/>
          <p:nvPr/>
        </p:nvSpPr>
        <p:spPr>
          <a:xfrm>
            <a:off x="1737360" y="2240280"/>
            <a:ext cx="4023360" cy="822960"/>
          </a:xfrm>
          <a:prstGeom prst="rect">
            <a:avLst/>
          </a:prstGeom>
          <a:noFill/>
        </p:spPr>
        <p:txBody>
          <a:bodyPr wrap="square" lIns="0" rIns="0" tIns="0" bIns="0" anchor="t">
            <a:spAutoFit/>
          </a:bodyPr>
          <a:lstStyle/>
          <a:p>
            <a:pPr algn="l">
              <a:spcAft>
                <a:spcPts val="0"/>
              </a:spcAft>
            </a:pPr>
            <a:r>
              <a:rPr sz="4000">
                <a:solidFill>
                  <a:srgbClr val="F7B125"/>
                </a:solidFill>
                <a:latin typeface="Playpen Sans Bold"/>
              </a:rPr>
              <a:t>2021</a:t>
            </a:r>
          </a:p>
        </p:txBody>
      </p:sp>
      <p:pic>
        <p:nvPicPr>
          <p:cNvPr id="20" name="Paper kma" descr="Komodo Mlipir Algorithm"/>
          <p:cNvPicPr>
            <a:picLocks noChangeAspect="1"/>
          </p:cNvPicPr>
          <p:nvPr/>
        </p:nvPicPr>
        <p:blipFill>
          <a:blip r:embed="rId13"/>
          <a:stretch>
            <a:fillRect/>
          </a:stretch>
        </p:blipFill>
        <p:spPr>
          <a:xfrm>
            <a:off x="2247039" y="3063240"/>
            <a:ext cx="3004000" cy="2011680"/>
          </a:xfrm>
          <a:prstGeom prst="rect">
            <a:avLst/>
          </a:prstGeom>
          <a:ln w="38100">
            <a:solidFill>
              <a:srgbClr val="FFFFFF"/>
            </a:solidFill>
          </a:ln>
        </p:spPr>
      </p:pic>
      <p:sp>
        <p:nvSpPr>
          <p:cNvPr id="21" name="Keterangan"/>
          <p:cNvSpPr txBox="1"/>
          <p:nvPr/>
        </p:nvSpPr>
        <p:spPr>
          <a:xfrm>
            <a:off x="1737360" y="5257800"/>
            <a:ext cx="4023360" cy="1737360"/>
          </a:xfrm>
          <a:prstGeom prst="rect">
            <a:avLst/>
          </a:prstGeom>
          <a:noFill/>
        </p:spPr>
        <p:txBody>
          <a:bodyPr wrap="square" lIns="0" rIns="0" tIns="0" bIns="0" anchor="t">
            <a:spAutoFit/>
          </a:bodyPr>
          <a:lstStyle/>
          <a:p>
            <a:pPr algn="l">
              <a:spcAft>
                <a:spcPts val="600"/>
              </a:spcAft>
            </a:pPr>
            <a:r>
              <a:rPr sz="2600">
                <a:solidFill>
                  <a:srgbClr val="FFFFFF"/>
                </a:solidFill>
                <a:latin typeface="Playpen Sans Bold"/>
              </a:rPr>
              <a:t>Komodo Mlipir Algorithm</a:t>
            </a:r>
          </a:p>
          <a:p>
            <a:pPr algn="l">
              <a:spcAft>
                <a:spcPts val="0"/>
              </a:spcAft>
            </a:pPr>
            <a:r>
              <a:rPr sz="2200">
                <a:solidFill>
                  <a:srgbClr val="F7B125"/>
                </a:solidFill>
                <a:latin typeface="Playpen Sans"/>
              </a:rPr>
              <a:t>Ide baru, Telkom University</a:t>
            </a:r>
          </a:p>
        </p:txBody>
      </p:sp>
      <p:sp>
        <p:nvSpPr>
          <p:cNvPr id="22" name="Panah 1"/>
          <p:cNvSpPr/>
          <p:nvPr/>
        </p:nvSpPr>
        <p:spPr>
          <a:xfrm>
            <a:off x="6099048" y="4023360"/>
            <a:ext cx="603504"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Kartu 2"/>
          <p:cNvSpPr/>
          <p:nvPr/>
        </p:nvSpPr>
        <p:spPr>
          <a:xfrm>
            <a:off x="6812280" y="2148840"/>
            <a:ext cx="448056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ahun"/>
          <p:cNvSpPr txBox="1"/>
          <p:nvPr/>
        </p:nvSpPr>
        <p:spPr>
          <a:xfrm>
            <a:off x="7040880" y="2240280"/>
            <a:ext cx="4023360" cy="822960"/>
          </a:xfrm>
          <a:prstGeom prst="rect">
            <a:avLst/>
          </a:prstGeom>
          <a:noFill/>
        </p:spPr>
        <p:txBody>
          <a:bodyPr wrap="square" lIns="0" rIns="0" tIns="0" bIns="0" anchor="t">
            <a:spAutoFit/>
          </a:bodyPr>
          <a:lstStyle/>
          <a:p>
            <a:pPr algn="l">
              <a:spcAft>
                <a:spcPts val="0"/>
              </a:spcAft>
            </a:pPr>
            <a:r>
              <a:rPr sz="4000">
                <a:solidFill>
                  <a:srgbClr val="F7B125"/>
                </a:solidFill>
                <a:latin typeface="Playpen Sans Bold"/>
              </a:rPr>
              <a:t>2022</a:t>
            </a:r>
          </a:p>
        </p:txBody>
      </p:sp>
      <p:pic>
        <p:nvPicPr>
          <p:cNvPr id="25" name="Paper ikma" descr="Diperbaiki orang lain"/>
          <p:cNvPicPr>
            <a:picLocks noChangeAspect="1"/>
          </p:cNvPicPr>
          <p:nvPr/>
        </p:nvPicPr>
        <p:blipFill>
          <a:blip r:embed="rId14"/>
          <a:stretch>
            <a:fillRect/>
          </a:stretch>
        </p:blipFill>
        <p:spPr>
          <a:xfrm>
            <a:off x="7662545" y="3063240"/>
            <a:ext cx="2780030" cy="2011680"/>
          </a:xfrm>
          <a:prstGeom prst="rect">
            <a:avLst/>
          </a:prstGeom>
          <a:ln w="38100">
            <a:solidFill>
              <a:srgbClr val="FFFFFF"/>
            </a:solidFill>
          </a:ln>
        </p:spPr>
      </p:pic>
      <p:sp>
        <p:nvSpPr>
          <p:cNvPr id="26" name="Keterangan"/>
          <p:cNvSpPr txBox="1"/>
          <p:nvPr/>
        </p:nvSpPr>
        <p:spPr>
          <a:xfrm>
            <a:off x="7040880" y="5257800"/>
            <a:ext cx="4023360" cy="1737360"/>
          </a:xfrm>
          <a:prstGeom prst="rect">
            <a:avLst/>
          </a:prstGeom>
          <a:noFill/>
        </p:spPr>
        <p:txBody>
          <a:bodyPr wrap="square" lIns="0" rIns="0" tIns="0" bIns="0" anchor="t">
            <a:spAutoFit/>
          </a:bodyPr>
          <a:lstStyle/>
          <a:p>
            <a:pPr algn="l">
              <a:spcAft>
                <a:spcPts val="600"/>
              </a:spcAft>
            </a:pPr>
            <a:r>
              <a:rPr sz="2600">
                <a:solidFill>
                  <a:srgbClr val="FFFFFF"/>
                </a:solidFill>
                <a:latin typeface="Playpen Sans Bold"/>
              </a:rPr>
              <a:t>Diperbaiki orang lain</a:t>
            </a:r>
          </a:p>
          <a:p>
            <a:pPr algn="l">
              <a:spcAft>
                <a:spcPts val="0"/>
              </a:spcAft>
            </a:pPr>
            <a:r>
              <a:rPr sz="2200">
                <a:solidFill>
                  <a:srgbClr val="F7B125"/>
                </a:solidFill>
                <a:latin typeface="Playpen Sans"/>
              </a:rPr>
              <a:t>Jilin University, Tiongkok</a:t>
            </a:r>
          </a:p>
        </p:txBody>
      </p:sp>
      <p:sp>
        <p:nvSpPr>
          <p:cNvPr id="27" name="Panah 2"/>
          <p:cNvSpPr/>
          <p:nvPr/>
        </p:nvSpPr>
        <p:spPr>
          <a:xfrm>
            <a:off x="11402568" y="4023360"/>
            <a:ext cx="603504"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Kartu 3"/>
          <p:cNvSpPr/>
          <p:nvPr/>
        </p:nvSpPr>
        <p:spPr>
          <a:xfrm>
            <a:off x="12115800" y="2148840"/>
            <a:ext cx="448056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hun"/>
          <p:cNvSpPr txBox="1"/>
          <p:nvPr/>
        </p:nvSpPr>
        <p:spPr>
          <a:xfrm>
            <a:off x="12344400" y="2240280"/>
            <a:ext cx="4023360" cy="822960"/>
          </a:xfrm>
          <a:prstGeom prst="rect">
            <a:avLst/>
          </a:prstGeom>
          <a:noFill/>
        </p:spPr>
        <p:txBody>
          <a:bodyPr wrap="square" lIns="0" rIns="0" tIns="0" bIns="0" anchor="t">
            <a:spAutoFit/>
          </a:bodyPr>
          <a:lstStyle/>
          <a:p>
            <a:pPr algn="l">
              <a:spcAft>
                <a:spcPts val="0"/>
              </a:spcAft>
            </a:pPr>
            <a:r>
              <a:rPr sz="4000">
                <a:solidFill>
                  <a:srgbClr val="F7B125"/>
                </a:solidFill>
                <a:latin typeface="Playpen Sans Bold"/>
              </a:rPr>
              <a:t>2025</a:t>
            </a:r>
          </a:p>
        </p:txBody>
      </p:sp>
      <p:pic>
        <p:nvPicPr>
          <p:cNvPr id="30" name="Paper komotrip" descr="Dipakai: KomoTrip"/>
          <p:cNvPicPr>
            <a:picLocks noChangeAspect="1"/>
          </p:cNvPicPr>
          <p:nvPr/>
        </p:nvPicPr>
        <p:blipFill>
          <a:blip r:embed="rId15"/>
          <a:stretch>
            <a:fillRect/>
          </a:stretch>
        </p:blipFill>
        <p:spPr>
          <a:xfrm>
            <a:off x="12298680" y="3385315"/>
            <a:ext cx="4114800" cy="1367529"/>
          </a:xfrm>
          <a:prstGeom prst="rect">
            <a:avLst/>
          </a:prstGeom>
          <a:ln w="38100">
            <a:solidFill>
              <a:srgbClr val="FFFFFF"/>
            </a:solidFill>
          </a:ln>
        </p:spPr>
      </p:pic>
      <p:sp>
        <p:nvSpPr>
          <p:cNvPr id="31" name="Keterangan"/>
          <p:cNvSpPr txBox="1"/>
          <p:nvPr/>
        </p:nvSpPr>
        <p:spPr>
          <a:xfrm>
            <a:off x="12344400" y="5257800"/>
            <a:ext cx="4023360" cy="1737360"/>
          </a:xfrm>
          <a:prstGeom prst="rect">
            <a:avLst/>
          </a:prstGeom>
          <a:noFill/>
        </p:spPr>
        <p:txBody>
          <a:bodyPr wrap="square" lIns="0" rIns="0" tIns="0" bIns="0" anchor="t">
            <a:spAutoFit/>
          </a:bodyPr>
          <a:lstStyle/>
          <a:p>
            <a:pPr algn="l">
              <a:spcAft>
                <a:spcPts val="600"/>
              </a:spcAft>
            </a:pPr>
            <a:r>
              <a:rPr sz="2600">
                <a:solidFill>
                  <a:srgbClr val="FFFFFF"/>
                </a:solidFill>
                <a:latin typeface="Playpen Sans Bold"/>
              </a:rPr>
              <a:t>Dipakai: KomoTrip</a:t>
            </a:r>
          </a:p>
          <a:p>
            <a:pPr algn="l">
              <a:spcAft>
                <a:spcPts val="0"/>
              </a:spcAft>
            </a:pPr>
            <a:r>
              <a:rPr sz="2200">
                <a:solidFill>
                  <a:srgbClr val="F7B125"/>
                </a:solidFill>
                <a:latin typeface="Playpen Sans"/>
              </a:rPr>
              <a:t>Menyusun rute wisata beberapa hari</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6000">
                <a:solidFill>
                  <a:srgbClr val="F7B125"/>
                </a:solidFill>
                <a:latin typeface="Playpen Sans Bold"/>
              </a:rPr>
              <a:t>Tiga Kata, Satu Peta</a:t>
            </a:r>
          </a:p>
        </p:txBody>
      </p:sp>
      <p:sp>
        <p:nvSpPr>
          <p:cNvPr id="16" name="Kartu 1"/>
          <p:cNvSpPr/>
          <p:nvPr/>
        </p:nvSpPr>
        <p:spPr>
          <a:xfrm>
            <a:off x="1508760" y="2148840"/>
            <a:ext cx="487680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AI"/>
          <p:cNvSpPr/>
          <p:nvPr/>
        </p:nvSpPr>
        <p:spPr>
          <a:xfrm>
            <a:off x="1737360" y="2331720"/>
            <a:ext cx="4419600"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AI"/>
          <p:cNvSpPr txBox="1"/>
          <p:nvPr/>
        </p:nvSpPr>
        <p:spPr>
          <a:xfrm>
            <a:off x="173736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AI</a:t>
            </a:r>
          </a:p>
        </p:txBody>
      </p:sp>
      <p:sp>
        <p:nvSpPr>
          <p:cNvPr id="19" name="Isi kartu 1"/>
          <p:cNvSpPr txBox="1"/>
          <p:nvPr/>
        </p:nvSpPr>
        <p:spPr>
          <a:xfrm>
            <a:off x="1783080" y="3154680"/>
            <a:ext cx="4328160"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Payung besarnya</a:t>
            </a:r>
          </a:p>
          <a:p>
            <a:pPr algn="l">
              <a:spcAft>
                <a:spcPts val="1400"/>
              </a:spcAft>
            </a:pPr>
            <a:r>
              <a:rPr sz="2600">
                <a:solidFill>
                  <a:srgbClr val="FFFFFF"/>
                </a:solidFill>
                <a:latin typeface="Playpen Sans"/>
              </a:rPr>
              <a:t>Komputer mengerjakan tugas yang biasanya butuh kecerdasan.</a:t>
            </a:r>
          </a:p>
          <a:p>
            <a:pPr algn="l">
              <a:spcAft>
                <a:spcPts val="0"/>
              </a:spcAft>
            </a:pPr>
            <a:r>
              <a:rPr sz="2400">
                <a:solidFill>
                  <a:srgbClr val="F7B125"/>
                </a:solidFill>
                <a:latin typeface="Playpen Sans"/>
              </a:rPr>
              <a:t>Catur, terjemahan, self-driving car</a:t>
            </a:r>
          </a:p>
        </p:txBody>
      </p:sp>
      <p:sp>
        <p:nvSpPr>
          <p:cNvPr id="20" name="Kartu 2"/>
          <p:cNvSpPr/>
          <p:nvPr/>
        </p:nvSpPr>
        <p:spPr>
          <a:xfrm>
            <a:off x="6705599" y="2148840"/>
            <a:ext cx="487680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Machine Learning"/>
          <p:cNvSpPr/>
          <p:nvPr/>
        </p:nvSpPr>
        <p:spPr>
          <a:xfrm>
            <a:off x="6934199" y="2331720"/>
            <a:ext cx="4419600"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Machine Learning"/>
          <p:cNvSpPr txBox="1"/>
          <p:nvPr/>
        </p:nvSpPr>
        <p:spPr>
          <a:xfrm>
            <a:off x="6934199"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Machine Learning</a:t>
            </a:r>
          </a:p>
        </p:txBody>
      </p:sp>
      <p:sp>
        <p:nvSpPr>
          <p:cNvPr id="23" name="Isi kartu 2"/>
          <p:cNvSpPr txBox="1"/>
          <p:nvPr/>
        </p:nvSpPr>
        <p:spPr>
          <a:xfrm>
            <a:off x="6979919" y="3154680"/>
            <a:ext cx="4328160"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Bagian dari AI</a:t>
            </a:r>
          </a:p>
          <a:p>
            <a:pPr algn="l">
              <a:spcAft>
                <a:spcPts val="1400"/>
              </a:spcAft>
            </a:pPr>
            <a:r>
              <a:rPr sz="2600">
                <a:solidFill>
                  <a:srgbClr val="FFFFFF"/>
                </a:solidFill>
                <a:latin typeface="Playpen Sans"/>
              </a:rPr>
              <a:t>Aturannya dipelajari dari contoh, tidak ditulis tangan.</a:t>
            </a:r>
          </a:p>
          <a:p>
            <a:pPr algn="l">
              <a:spcAft>
                <a:spcPts val="0"/>
              </a:spcAft>
            </a:pPr>
            <a:r>
              <a:rPr sz="2400">
                <a:solidFill>
                  <a:srgbClr val="F7B125"/>
                </a:solidFill>
                <a:latin typeface="Playpen Sans"/>
              </a:rPr>
              <a:t>Filter spam, rekomendasi video, pengenal wajah</a:t>
            </a:r>
          </a:p>
        </p:txBody>
      </p:sp>
      <p:sp>
        <p:nvSpPr>
          <p:cNvPr id="24" name="Kartu 3"/>
          <p:cNvSpPr/>
          <p:nvPr/>
        </p:nvSpPr>
        <p:spPr>
          <a:xfrm>
            <a:off x="11902440" y="2148840"/>
            <a:ext cx="487680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Optimasi"/>
          <p:cNvSpPr/>
          <p:nvPr/>
        </p:nvSpPr>
        <p:spPr>
          <a:xfrm>
            <a:off x="12131040" y="2331720"/>
            <a:ext cx="4419600"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Optimasi"/>
          <p:cNvSpPr txBox="1"/>
          <p:nvPr/>
        </p:nvSpPr>
        <p:spPr>
          <a:xfrm>
            <a:off x="1213104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Optimasi</a:t>
            </a:r>
          </a:p>
        </p:txBody>
      </p:sp>
      <p:sp>
        <p:nvSpPr>
          <p:cNvPr id="27" name="Isi kartu 3"/>
          <p:cNvSpPr txBox="1"/>
          <p:nvPr/>
        </p:nvSpPr>
        <p:spPr>
          <a:xfrm>
            <a:off x="12176760" y="3154680"/>
            <a:ext cx="4328160"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Mesin di balik keduanya</a:t>
            </a:r>
          </a:p>
          <a:p>
            <a:pPr algn="l">
              <a:spcAft>
                <a:spcPts val="1400"/>
              </a:spcAft>
            </a:pPr>
            <a:r>
              <a:rPr sz="2600">
                <a:solidFill>
                  <a:srgbClr val="FFFFFF"/>
                </a:solidFill>
                <a:latin typeface="Playpen Sans"/>
              </a:rPr>
              <a:t>Mencari pilihan terbaik dari sangat banyak kemungkinan.</a:t>
            </a:r>
          </a:p>
          <a:p>
            <a:pPr algn="l">
              <a:spcAft>
                <a:spcPts val="0"/>
              </a:spcAft>
            </a:pPr>
            <a:r>
              <a:rPr sz="2400">
                <a:solidFill>
                  <a:srgbClr val="F7B125"/>
                </a:solidFill>
                <a:latin typeface="Playpen Sans"/>
              </a:rPr>
              <a:t>Rute pengiriman, jadwal kuliah, melatih model</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5600">
                <a:solidFill>
                  <a:srgbClr val="F7B125"/>
                </a:solidFill>
                <a:latin typeface="Playpen Sans Bold"/>
              </a:rPr>
              <a:t>Menulis Aturan atau Belajar Aturan</a:t>
            </a:r>
          </a:p>
        </p:txBody>
      </p:sp>
      <p:sp>
        <p:nvSpPr>
          <p:cNvPr id="16" name="Label alur"/>
          <p:cNvSpPr txBox="1"/>
          <p:nvPr/>
        </p:nvSpPr>
        <p:spPr>
          <a:xfrm>
            <a:off x="1508760" y="2286000"/>
            <a:ext cx="3291840" cy="914400"/>
          </a:xfrm>
          <a:prstGeom prst="rect">
            <a:avLst/>
          </a:prstGeom>
          <a:noFill/>
        </p:spPr>
        <p:txBody>
          <a:bodyPr wrap="square" lIns="0" rIns="0" tIns="0" bIns="0" anchor="ctr">
            <a:spAutoFit/>
          </a:bodyPr>
          <a:lstStyle/>
          <a:p>
            <a:pPr algn="l">
              <a:spcAft>
                <a:spcPts val="0"/>
              </a:spcAft>
            </a:pPr>
            <a:r>
              <a:rPr sz="2800">
                <a:solidFill>
                  <a:srgbClr val="FFFFFF"/>
                </a:solidFill>
                <a:latin typeface="Playpen Sans Bold"/>
              </a:rPr>
              <a:t>Program biasa</a:t>
            </a:r>
          </a:p>
        </p:txBody>
      </p:sp>
      <p:sp>
        <p:nvSpPr>
          <p:cNvPr id="17" name="Masukan"/>
          <p:cNvSpPr/>
          <p:nvPr/>
        </p:nvSpPr>
        <p:spPr>
          <a:xfrm>
            <a:off x="4983479" y="219456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masukan"/>
          <p:cNvSpPr txBox="1"/>
          <p:nvPr/>
        </p:nvSpPr>
        <p:spPr>
          <a:xfrm>
            <a:off x="4983479" y="228600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Aturan</a:t>
            </a:r>
          </a:p>
        </p:txBody>
      </p:sp>
      <p:sp>
        <p:nvSpPr>
          <p:cNvPr id="19" name="Masukan"/>
          <p:cNvSpPr/>
          <p:nvPr/>
        </p:nvSpPr>
        <p:spPr>
          <a:xfrm>
            <a:off x="8275319" y="219456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ks masukan"/>
          <p:cNvSpPr txBox="1"/>
          <p:nvPr/>
        </p:nvSpPr>
        <p:spPr>
          <a:xfrm>
            <a:off x="8275319" y="228600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Data</a:t>
            </a:r>
          </a:p>
        </p:txBody>
      </p:sp>
      <p:sp>
        <p:nvSpPr>
          <p:cNvPr id="21" name="Panah"/>
          <p:cNvSpPr/>
          <p:nvPr/>
        </p:nvSpPr>
        <p:spPr>
          <a:xfrm>
            <a:off x="11658600" y="2423160"/>
            <a:ext cx="1097280"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Keluaran"/>
          <p:cNvSpPr/>
          <p:nvPr/>
        </p:nvSpPr>
        <p:spPr>
          <a:xfrm>
            <a:off x="13030200" y="2194560"/>
            <a:ext cx="3749039" cy="109728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ks keluaran"/>
          <p:cNvSpPr txBox="1"/>
          <p:nvPr/>
        </p:nvSpPr>
        <p:spPr>
          <a:xfrm>
            <a:off x="13030200" y="2286000"/>
            <a:ext cx="3749039" cy="914400"/>
          </a:xfrm>
          <a:prstGeom prst="rect">
            <a:avLst/>
          </a:prstGeom>
          <a:noFill/>
        </p:spPr>
        <p:txBody>
          <a:bodyPr wrap="square" lIns="0" rIns="0" tIns="0" bIns="0" anchor="ctr">
            <a:spAutoFit/>
          </a:bodyPr>
          <a:lstStyle/>
          <a:p>
            <a:pPr algn="ctr">
              <a:spcAft>
                <a:spcPts val="0"/>
              </a:spcAft>
            </a:pPr>
            <a:r>
              <a:rPr sz="3000">
                <a:solidFill>
                  <a:srgbClr val="0A2540"/>
                </a:solidFill>
                <a:latin typeface="Playpen Sans Bold"/>
              </a:rPr>
              <a:t>Jawaban</a:t>
            </a:r>
          </a:p>
        </p:txBody>
      </p:sp>
      <p:sp>
        <p:nvSpPr>
          <p:cNvPr id="24" name="Label alur"/>
          <p:cNvSpPr txBox="1"/>
          <p:nvPr/>
        </p:nvSpPr>
        <p:spPr>
          <a:xfrm>
            <a:off x="1508760" y="3703320"/>
            <a:ext cx="3291840" cy="914400"/>
          </a:xfrm>
          <a:prstGeom prst="rect">
            <a:avLst/>
          </a:prstGeom>
          <a:noFill/>
        </p:spPr>
        <p:txBody>
          <a:bodyPr wrap="square" lIns="0" rIns="0" tIns="0" bIns="0" anchor="ctr">
            <a:spAutoFit/>
          </a:bodyPr>
          <a:lstStyle/>
          <a:p>
            <a:pPr algn="l">
              <a:spcAft>
                <a:spcPts val="0"/>
              </a:spcAft>
            </a:pPr>
            <a:r>
              <a:rPr sz="2800">
                <a:solidFill>
                  <a:srgbClr val="F7B125"/>
                </a:solidFill>
                <a:latin typeface="Playpen Sans Bold"/>
              </a:rPr>
              <a:t>Machine learning</a:t>
            </a:r>
          </a:p>
        </p:txBody>
      </p:sp>
      <p:sp>
        <p:nvSpPr>
          <p:cNvPr id="25" name="Masukan"/>
          <p:cNvSpPr/>
          <p:nvPr/>
        </p:nvSpPr>
        <p:spPr>
          <a:xfrm>
            <a:off x="4983479" y="361188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masukan"/>
          <p:cNvSpPr txBox="1"/>
          <p:nvPr/>
        </p:nvSpPr>
        <p:spPr>
          <a:xfrm>
            <a:off x="4983479" y="370332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Data</a:t>
            </a:r>
          </a:p>
        </p:txBody>
      </p:sp>
      <p:sp>
        <p:nvSpPr>
          <p:cNvPr id="27" name="Masukan"/>
          <p:cNvSpPr/>
          <p:nvPr/>
        </p:nvSpPr>
        <p:spPr>
          <a:xfrm>
            <a:off x="8275319" y="361188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ks masukan"/>
          <p:cNvSpPr txBox="1"/>
          <p:nvPr/>
        </p:nvSpPr>
        <p:spPr>
          <a:xfrm>
            <a:off x="8275319" y="370332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Jawaban</a:t>
            </a:r>
          </a:p>
        </p:txBody>
      </p:sp>
      <p:sp>
        <p:nvSpPr>
          <p:cNvPr id="29" name="Panah"/>
          <p:cNvSpPr/>
          <p:nvPr/>
        </p:nvSpPr>
        <p:spPr>
          <a:xfrm>
            <a:off x="11658600" y="3840480"/>
            <a:ext cx="1097280"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Keluaran"/>
          <p:cNvSpPr/>
          <p:nvPr/>
        </p:nvSpPr>
        <p:spPr>
          <a:xfrm>
            <a:off x="13030200" y="3611880"/>
            <a:ext cx="3749039" cy="1097280"/>
          </a:xfrm>
          <a:prstGeom prst="roundRect">
            <a:avLst>
              <a:gd name="adj" fmla="val 15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ks keluaran"/>
          <p:cNvSpPr txBox="1"/>
          <p:nvPr/>
        </p:nvSpPr>
        <p:spPr>
          <a:xfrm>
            <a:off x="13030200" y="3703320"/>
            <a:ext cx="3749039" cy="914400"/>
          </a:xfrm>
          <a:prstGeom prst="rect">
            <a:avLst/>
          </a:prstGeom>
          <a:noFill/>
        </p:spPr>
        <p:txBody>
          <a:bodyPr wrap="square" lIns="0" rIns="0" tIns="0" bIns="0" anchor="ctr">
            <a:spAutoFit/>
          </a:bodyPr>
          <a:lstStyle/>
          <a:p>
            <a:pPr algn="ctr">
              <a:spcAft>
                <a:spcPts val="0"/>
              </a:spcAft>
            </a:pPr>
            <a:r>
              <a:rPr sz="3000">
                <a:solidFill>
                  <a:srgbClr val="0A2540"/>
                </a:solidFill>
                <a:latin typeface="Playpen Sans Bold"/>
              </a:rPr>
              <a:t>Aturan</a:t>
            </a:r>
          </a:p>
        </p:txBody>
      </p:sp>
      <p:sp>
        <p:nvSpPr>
          <p:cNvPr id="32" name="Contoh Go"/>
          <p:cNvSpPr txBox="1"/>
          <p:nvPr/>
        </p:nvSpPr>
        <p:spPr>
          <a:xfrm>
            <a:off x="1508760" y="5166360"/>
            <a:ext cx="15270480" cy="2103120"/>
          </a:xfrm>
          <a:prstGeom prst="rect">
            <a:avLst/>
          </a:prstGeom>
          <a:noFill/>
        </p:spPr>
        <p:txBody>
          <a:bodyPr wrap="square" lIns="0" rIns="0" tIns="0" bIns="0" anchor="t">
            <a:spAutoFit/>
          </a:bodyPr>
          <a:lstStyle/>
          <a:p>
            <a:pPr algn="l" marL="502920" indent="-502920">
              <a:spcAft>
                <a:spcPts val="800"/>
              </a:spcAft>
              <a:buClr>
                <a:srgbClr val="F7B125"/>
              </a:buClr>
              <a:buFont typeface="Arial"/>
              <a:buChar char="•"/>
            </a:pPr>
            <a:r>
              <a:rPr sz="2600">
                <a:solidFill>
                  <a:srgbClr val="FFFFFF"/>
                </a:solidFill>
                <a:latin typeface="Playpen Sans"/>
              </a:rPr>
              <a:t>Di Go kamu menulis: if jarak &gt; 5 { tarif += ... }</a:t>
            </a:r>
          </a:p>
          <a:p>
            <a:pPr algn="l" marL="502920" indent="-502920">
              <a:spcAft>
                <a:spcPts val="0"/>
              </a:spcAft>
              <a:buClr>
                <a:srgbClr val="F7B125"/>
              </a:buClr>
              <a:buFont typeface="Arial"/>
              <a:buChar char="•"/>
            </a:pPr>
            <a:r>
              <a:rPr sz="2600">
                <a:solidFill>
                  <a:srgbClr val="FFFFFF"/>
                </a:solidFill>
                <a:latin typeface="Playpen Sans"/>
              </a:rPr>
              <a:t>Di ML kamu memberi ribuan contoh perjalanan, lalu komputer mencari sendiri rumus tarifnya</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AKTIVITAS"/>
          <p:cNvSpPr/>
          <p:nvPr/>
        </p:nvSpPr>
        <p:spPr>
          <a:xfrm>
            <a:off x="1508760" y="960120"/>
            <a:ext cx="2592324"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AKTIVITAS"/>
          <p:cNvSpPr txBox="1"/>
          <p:nvPr/>
        </p:nvSpPr>
        <p:spPr>
          <a:xfrm>
            <a:off x="1508760" y="1024128"/>
            <a:ext cx="2592324"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AKTIVITAS</a:t>
            </a:r>
          </a:p>
        </p:txBody>
      </p:sp>
      <p:sp>
        <p:nvSpPr>
          <p:cNvPr id="17" name="Judul"/>
          <p:cNvSpPr txBox="1"/>
          <p:nvPr/>
        </p:nvSpPr>
        <p:spPr>
          <a:xfrm>
            <a:off x="4466844" y="960120"/>
            <a:ext cx="12312395" cy="731520"/>
          </a:xfrm>
          <a:prstGeom prst="rect">
            <a:avLst/>
          </a:prstGeom>
          <a:noFill/>
        </p:spPr>
        <p:txBody>
          <a:bodyPr wrap="square" lIns="0" rIns="0" tIns="0" bIns="0" anchor="ctr">
            <a:spAutoFit/>
          </a:bodyPr>
          <a:lstStyle/>
          <a:p>
            <a:pPr algn="l">
              <a:spcAft>
                <a:spcPts val="0"/>
              </a:spcAft>
            </a:pPr>
            <a:r>
              <a:rPr sz="4400">
                <a:solidFill>
                  <a:srgbClr val="F7B125"/>
                </a:solidFill>
                <a:latin typeface="Playpen Sans Bold"/>
              </a:rPr>
              <a:t>Garis mana yang paling cocok?</a:t>
            </a:r>
          </a:p>
        </p:txBody>
      </p:sp>
      <p:pic>
        <p:nvPicPr>
          <p:cNvPr id="18" name="Paper vote" descr="Sepuluh titik data tarif ojek terhadap jarak dengan tiga garis kandidat A, B, dan C"/>
          <p:cNvPicPr>
            <a:picLocks noChangeAspect="1"/>
          </p:cNvPicPr>
          <p:nvPr/>
        </p:nvPicPr>
        <p:blipFill>
          <a:blip r:embed="rId13"/>
          <a:stretch>
            <a:fillRect/>
          </a:stretch>
        </p:blipFill>
        <p:spPr>
          <a:xfrm>
            <a:off x="1508760" y="2057400"/>
            <a:ext cx="8480322" cy="5257800"/>
          </a:xfrm>
          <a:prstGeom prst="rect">
            <a:avLst/>
          </a:prstGeom>
        </p:spPr>
      </p:pic>
      <p:sp>
        <p:nvSpPr>
          <p:cNvPr id="19" name="Penjelasan"/>
          <p:cNvSpPr txBox="1"/>
          <p:nvPr/>
        </p:nvSpPr>
        <p:spPr>
          <a:xfrm>
            <a:off x="10287000" y="2240280"/>
            <a:ext cx="6537959" cy="5029200"/>
          </a:xfrm>
          <a:prstGeom prst="rect">
            <a:avLst/>
          </a:prstGeom>
          <a:noFill/>
        </p:spPr>
        <p:txBody>
          <a:bodyPr wrap="square" lIns="0" rIns="0" tIns="0" bIns="0" anchor="t">
            <a:spAutoFit/>
          </a:bodyPr>
          <a:lstStyle/>
          <a:p>
            <a:pPr algn="l">
              <a:spcAft>
                <a:spcPts val="200"/>
              </a:spcAft>
            </a:pPr>
            <a:r>
              <a:rPr sz="2800">
                <a:solidFill>
                  <a:srgbClr val="F7B125"/>
                </a:solidFill>
                <a:latin typeface="Playpen Sans Bold"/>
              </a:rPr>
              <a:t>Data</a:t>
            </a:r>
          </a:p>
          <a:p>
            <a:pPr algn="l">
              <a:spcAft>
                <a:spcPts val="1400"/>
              </a:spcAft>
            </a:pPr>
            <a:r>
              <a:rPr sz="2600">
                <a:solidFill>
                  <a:srgbClr val="FFFFFF"/>
                </a:solidFill>
                <a:latin typeface="Playpen Sans"/>
              </a:rPr>
              <a:t>10 perjalanan ojek: jarak dan tarif</a:t>
            </a:r>
          </a:p>
          <a:p>
            <a:pPr algn="l">
              <a:spcAft>
                <a:spcPts val="200"/>
              </a:spcAft>
            </a:pPr>
            <a:r>
              <a:rPr sz="2800">
                <a:solidFill>
                  <a:srgbClr val="F7B125"/>
                </a:solidFill>
                <a:latin typeface="Playpen Sans Bold"/>
              </a:rPr>
              <a:t>Model</a:t>
            </a:r>
          </a:p>
          <a:p>
            <a:pPr algn="l">
              <a:spcAft>
                <a:spcPts val="200"/>
              </a:spcAft>
            </a:pPr>
            <a:r>
              <a:rPr sz="2800">
                <a:solidFill>
                  <a:srgbClr val="FFFFFF"/>
                </a:solidFill>
                <a:latin typeface="Playpen Sans Bold"/>
              </a:rPr>
              <a:t>tarif = a × jarak + b</a:t>
            </a:r>
          </a:p>
          <a:p>
            <a:pPr algn="l">
              <a:spcAft>
                <a:spcPts val="1400"/>
              </a:spcAft>
            </a:pPr>
            <a:r>
              <a:rPr sz="2600">
                <a:solidFill>
                  <a:srgbClr val="FFFFFF"/>
                </a:solidFill>
                <a:latin typeface="Playpen Sans"/>
              </a:rPr>
              <a:t>a dan b adalah kenopnya</a:t>
            </a:r>
          </a:p>
          <a:p>
            <a:pPr algn="l">
              <a:spcAft>
                <a:spcPts val="200"/>
              </a:spcAft>
            </a:pPr>
            <a:r>
              <a:rPr sz="2800">
                <a:solidFill>
                  <a:srgbClr val="F7B125"/>
                </a:solidFill>
                <a:latin typeface="Playpen Sans Bold"/>
              </a:rPr>
              <a:t>Angkat tangan</a:t>
            </a:r>
          </a:p>
          <a:p>
            <a:pPr algn="l">
              <a:spcAft>
                <a:spcPts val="0"/>
              </a:spcAft>
            </a:pPr>
            <a:r>
              <a:rPr sz="2600">
                <a:solidFill>
                  <a:srgbClr val="FFFFFF"/>
                </a:solidFill>
                <a:latin typeface="Playpen Sans"/>
              </a:rPr>
              <a:t>A, B, atau C? Apa alasanmu?</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AKTIVITAS"/>
          <p:cNvSpPr/>
          <p:nvPr/>
        </p:nvSpPr>
        <p:spPr>
          <a:xfrm>
            <a:off x="1508760" y="960120"/>
            <a:ext cx="2592324"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AKTIVITAS"/>
          <p:cNvSpPr txBox="1"/>
          <p:nvPr/>
        </p:nvSpPr>
        <p:spPr>
          <a:xfrm>
            <a:off x="1508760" y="1024128"/>
            <a:ext cx="2592324"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AKTIVITAS</a:t>
            </a:r>
          </a:p>
        </p:txBody>
      </p:sp>
      <p:sp>
        <p:nvSpPr>
          <p:cNvPr id="17" name="Judul"/>
          <p:cNvSpPr txBox="1"/>
          <p:nvPr/>
        </p:nvSpPr>
        <p:spPr>
          <a:xfrm>
            <a:off x="4466844" y="960120"/>
            <a:ext cx="12312395" cy="731520"/>
          </a:xfrm>
          <a:prstGeom prst="rect">
            <a:avLst/>
          </a:prstGeom>
          <a:noFill/>
        </p:spPr>
        <p:txBody>
          <a:bodyPr wrap="square" lIns="0" rIns="0" tIns="0" bIns="0" anchor="ctr">
            <a:spAutoFit/>
          </a:bodyPr>
          <a:lstStyle/>
          <a:p>
            <a:pPr algn="l">
              <a:spcAft>
                <a:spcPts val="0"/>
              </a:spcAft>
            </a:pPr>
            <a:r>
              <a:rPr sz="4200">
                <a:solidFill>
                  <a:srgbClr val="F7B125"/>
                </a:solidFill>
                <a:latin typeface="Playpen Sans Bold"/>
              </a:rPr>
              <a:t>Ubah "kelihatannya pas" menjadi angka</a:t>
            </a:r>
          </a:p>
        </p:txBody>
      </p:sp>
      <p:pic>
        <p:nvPicPr>
          <p:cNvPr id="18" name="Paper loss" descr="Tiga panel. Garis A error 7, garis B error 1, garis C error 9. Garis putus-putus menunjukkan selisih tiap titik ke garis."/>
          <p:cNvPicPr>
            <a:picLocks noChangeAspect="1"/>
          </p:cNvPicPr>
          <p:nvPr/>
        </p:nvPicPr>
        <p:blipFill>
          <a:blip r:embed="rId13"/>
          <a:stretch>
            <a:fillRect/>
          </a:stretch>
        </p:blipFill>
        <p:spPr>
          <a:xfrm>
            <a:off x="2651760" y="1965960"/>
            <a:ext cx="12984480" cy="4328160"/>
          </a:xfrm>
          <a:prstGeom prst="rect">
            <a:avLst/>
          </a:prstGeom>
        </p:spPr>
      </p:pic>
      <p:sp>
        <p:nvSpPr>
          <p:cNvPr id="19" name="Inti"/>
          <p:cNvSpPr txBox="1"/>
          <p:nvPr/>
        </p:nvSpPr>
        <p:spPr>
          <a:xfrm>
            <a:off x="1508760" y="6400800"/>
            <a:ext cx="15270480" cy="914400"/>
          </a:xfrm>
          <a:prstGeom prst="rect">
            <a:avLst/>
          </a:prstGeom>
          <a:noFill/>
        </p:spPr>
        <p:txBody>
          <a:bodyPr wrap="square" lIns="0" rIns="0" tIns="0" bIns="0" anchor="t">
            <a:spAutoFit/>
          </a:bodyPr>
          <a:lstStyle/>
          <a:p>
            <a:pPr algn="ctr">
              <a:spcAft>
                <a:spcPts val="0"/>
              </a:spcAft>
            </a:pPr>
            <a:r>
              <a:rPr sz="2600">
                <a:solidFill>
                  <a:srgbClr val="FFFFFF"/>
                </a:solidFill>
                <a:latin typeface="Playpen Sans"/>
              </a:rPr>
              <a:t>Error = rata-rata kuadrat selisih.  </a:t>
            </a:r>
            <a:r>
              <a:rPr sz="2600">
                <a:solidFill>
                  <a:srgbClr val="F7B125"/>
                </a:solidFill>
                <a:latin typeface="Playpen Sans Bold"/>
              </a:rPr>
              <a:t>Belajar = memutar kenop sampai error terkecil.</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INTUISI"/>
          <p:cNvSpPr/>
          <p:nvPr/>
        </p:nvSpPr>
        <p:spPr>
          <a:xfrm>
            <a:off x="1508760" y="960120"/>
            <a:ext cx="2178812"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INTUISI"/>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INTUISI</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400">
                <a:solidFill>
                  <a:srgbClr val="F7B125"/>
                </a:solidFill>
                <a:latin typeface="Playpen Sans Bold"/>
              </a:rPr>
              <a:t>Dua cara memutar kenop</a:t>
            </a:r>
          </a:p>
        </p:txBody>
      </p:sp>
      <p:pic>
        <p:nvPicPr>
          <p:cNvPr id="18" name="Paper search" descr="Kiri: bola menuruni lembah mengikuti kemiringan. Kanan: titik-titik coba acak pada permukaan bergelombang, yang terbaik ditandai bintang."/>
          <p:cNvPicPr>
            <a:picLocks noChangeAspect="1"/>
          </p:cNvPicPr>
          <p:nvPr/>
        </p:nvPicPr>
        <p:blipFill>
          <a:blip r:embed="rId13"/>
          <a:stretch>
            <a:fillRect/>
          </a:stretch>
        </p:blipFill>
        <p:spPr>
          <a:xfrm>
            <a:off x="2926079" y="1920240"/>
            <a:ext cx="12435840" cy="4283456"/>
          </a:xfrm>
          <a:prstGeom prst="rect">
            <a:avLst/>
          </a:prstGeom>
        </p:spPr>
      </p:pic>
      <p:sp>
        <p:nvSpPr>
          <p:cNvPr id="19" name="Kiri"/>
          <p:cNvSpPr txBox="1"/>
          <p:nvPr/>
        </p:nvSpPr>
        <p:spPr>
          <a:xfrm>
            <a:off x="1508760" y="6537960"/>
            <a:ext cx="7360919" cy="731520"/>
          </a:xfrm>
          <a:prstGeom prst="rect">
            <a:avLst/>
          </a:prstGeom>
          <a:noFill/>
        </p:spPr>
        <p:txBody>
          <a:bodyPr wrap="square" lIns="0" rIns="0" tIns="0" bIns="0" anchor="t">
            <a:spAutoFit/>
          </a:bodyPr>
          <a:lstStyle/>
          <a:p>
            <a:pPr algn="ctr">
              <a:spcAft>
                <a:spcPts val="0"/>
              </a:spcAft>
            </a:pPr>
            <a:r>
              <a:rPr sz="2400">
                <a:solidFill>
                  <a:srgbClr val="F7B125"/>
                </a:solidFill>
                <a:latin typeface="Playpen Sans Bold"/>
              </a:rPr>
              <a:t>Gradient descent. Pekan 2 sampai 7, buku UDL</a:t>
            </a:r>
          </a:p>
        </p:txBody>
      </p:sp>
      <p:sp>
        <p:nvSpPr>
          <p:cNvPr id="20" name="Kanan"/>
          <p:cNvSpPr txBox="1"/>
          <p:nvPr/>
        </p:nvSpPr>
        <p:spPr>
          <a:xfrm>
            <a:off x="9418319" y="6537960"/>
            <a:ext cx="7360919" cy="731520"/>
          </a:xfrm>
          <a:prstGeom prst="rect">
            <a:avLst/>
          </a:prstGeom>
          <a:noFill/>
        </p:spPr>
        <p:txBody>
          <a:bodyPr wrap="square" lIns="0" rIns="0" tIns="0" bIns="0" anchor="t">
            <a:spAutoFit/>
          </a:bodyPr>
          <a:lstStyle/>
          <a:p>
            <a:pPr algn="ctr">
              <a:spcAft>
                <a:spcPts val="0"/>
              </a:spcAft>
            </a:pPr>
            <a:r>
              <a:rPr sz="2400">
                <a:solidFill>
                  <a:srgbClr val="3DD6C6"/>
                </a:solidFill>
                <a:latin typeface="Playpen Sans Bold"/>
              </a:rPr>
              <a:t>Metaheuristik. Pekan 9 sampai 12, buku Luke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4148474" y="-5929"/>
            <a:ext cx="4139526" cy="4692896"/>
          </a:xfrm>
          <a:custGeom>
            <a:avLst/>
            <a:gdLst/>
            <a:ahLst/>
            <a:cxnLst/>
            <a:rect r="r" b="b" t="t" l="l"/>
            <a:pathLst>
              <a:path h="4692896" w="4139526">
                <a:moveTo>
                  <a:pt x="0" y="0"/>
                </a:moveTo>
                <a:lnTo>
                  <a:pt x="4139526" y="0"/>
                </a:lnTo>
                <a:lnTo>
                  <a:pt x="4139526" y="4692896"/>
                </a:lnTo>
                <a:lnTo>
                  <a:pt x="0" y="4692896"/>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5929"/>
            <a:ext cx="4139526" cy="4692896"/>
          </a:xfrm>
          <a:custGeom>
            <a:avLst/>
            <a:gdLst/>
            <a:ahLst/>
            <a:cxnLst/>
            <a:rect r="r" b="b" t="t" l="l"/>
            <a:pathLst>
              <a:path h="4692896" w="4139526">
                <a:moveTo>
                  <a:pt x="4139526" y="0"/>
                </a:moveTo>
                <a:lnTo>
                  <a:pt x="0" y="0"/>
                </a:lnTo>
                <a:lnTo>
                  <a:pt x="0" y="4692896"/>
                </a:lnTo>
                <a:lnTo>
                  <a:pt x="4139526" y="4692896"/>
                </a:lnTo>
                <a:lnTo>
                  <a:pt x="4139526"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206717" y="7682290"/>
            <a:ext cx="19413624" cy="3152020"/>
          </a:xfrm>
          <a:custGeom>
            <a:avLst/>
            <a:gdLst/>
            <a:ahLst/>
            <a:cxnLst/>
            <a:rect r="r" b="b" t="t" l="l"/>
            <a:pathLst>
              <a:path h="3152020" w="19413624">
                <a:moveTo>
                  <a:pt x="0" y="0"/>
                </a:moveTo>
                <a:lnTo>
                  <a:pt x="19413624" y="0"/>
                </a:lnTo>
                <a:lnTo>
                  <a:pt x="19413624" y="3152020"/>
                </a:lnTo>
                <a:lnTo>
                  <a:pt x="0" y="3152020"/>
                </a:lnTo>
                <a:lnTo>
                  <a:pt x="0" y="0"/>
                </a:lnTo>
                <a:close/>
              </a:path>
            </a:pathLst>
          </a:custGeom>
          <a:blipFill>
            <a:blip r:embed="rId5"/>
            <a:stretch>
              <a:fillRect l="-158" t="0" r="-158" b="-6838"/>
            </a:stretch>
          </a:blipFill>
        </p:spPr>
      </p:sp>
      <p:sp>
        <p:nvSpPr>
          <p:cNvPr name="Freeform 8" id="8"/>
          <p:cNvSpPr/>
          <p:nvPr/>
        </p:nvSpPr>
        <p:spPr>
          <a:xfrm flipH="false" flipV="false" rot="0">
            <a:off x="-258115" y="7725117"/>
            <a:ext cx="4596925" cy="3109193"/>
          </a:xfrm>
          <a:custGeom>
            <a:avLst/>
            <a:gdLst/>
            <a:ahLst/>
            <a:cxnLst/>
            <a:rect r="r" b="b" t="t" l="l"/>
            <a:pathLst>
              <a:path h="3109193" w="4596925">
                <a:moveTo>
                  <a:pt x="0" y="0"/>
                </a:moveTo>
                <a:lnTo>
                  <a:pt x="4596925" y="0"/>
                </a:lnTo>
                <a:lnTo>
                  <a:pt x="4596925" y="3109193"/>
                </a:lnTo>
                <a:lnTo>
                  <a:pt x="0" y="310919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2581823" y="4915567"/>
            <a:ext cx="4573747" cy="4677031"/>
          </a:xfrm>
          <a:custGeom>
            <a:avLst/>
            <a:gdLst/>
            <a:ahLst/>
            <a:cxnLst/>
            <a:rect r="r" b="b" t="t" l="l"/>
            <a:pathLst>
              <a:path h="4677031" w="4573747">
                <a:moveTo>
                  <a:pt x="0" y="0"/>
                </a:moveTo>
                <a:lnTo>
                  <a:pt x="4573747" y="0"/>
                </a:lnTo>
                <a:lnTo>
                  <a:pt x="4573747" y="4677031"/>
                </a:lnTo>
                <a:lnTo>
                  <a:pt x="0" y="4677031"/>
                </a:lnTo>
                <a:lnTo>
                  <a:pt x="0" y="0"/>
                </a:lnTo>
                <a:close/>
              </a:path>
            </a:pathLst>
          </a:custGeom>
          <a:blipFill>
            <a:blip r:embed="rId8"/>
            <a:stretch>
              <a:fillRect l="0" t="0" r="0" b="0"/>
            </a:stretch>
          </a:blipFill>
        </p:spPr>
      </p:sp>
      <p:sp>
        <p:nvSpPr>
          <p:cNvPr name="Freeform 13" id="13"/>
          <p:cNvSpPr/>
          <p:nvPr/>
        </p:nvSpPr>
        <p:spPr>
          <a:xfrm flipH="false" flipV="false" rot="840828">
            <a:off x="6648215" y="2562979"/>
            <a:ext cx="4390913" cy="2405854"/>
          </a:xfrm>
          <a:custGeom>
            <a:avLst/>
            <a:gdLst/>
            <a:ahLst/>
            <a:cxnLst/>
            <a:rect r="r" b="b" t="t" l="l"/>
            <a:pathLst>
              <a:path h="2405854" w="4390913">
                <a:moveTo>
                  <a:pt x="0" y="0"/>
                </a:moveTo>
                <a:lnTo>
                  <a:pt x="4390913" y="0"/>
                </a:lnTo>
                <a:lnTo>
                  <a:pt x="4390913" y="2405854"/>
                </a:lnTo>
                <a:lnTo>
                  <a:pt x="0" y="2405854"/>
                </a:lnTo>
                <a:lnTo>
                  <a:pt x="0" y="0"/>
                </a:lnTo>
                <a:close/>
              </a:path>
            </a:pathLst>
          </a:custGeom>
          <a:blipFill>
            <a:blip r:embed="rId9"/>
            <a:stretch>
              <a:fillRect l="0" t="0" r="0" b="0"/>
            </a:stretch>
          </a:blipFill>
        </p:spPr>
      </p:sp>
      <p:sp>
        <p:nvSpPr>
          <p:cNvPr name="Freeform 14" id="14"/>
          <p:cNvSpPr/>
          <p:nvPr/>
        </p:nvSpPr>
        <p:spPr>
          <a:xfrm flipH="true" flipV="false" rot="0">
            <a:off x="1028700" y="4395916"/>
            <a:ext cx="4385538" cy="3141142"/>
          </a:xfrm>
          <a:custGeom>
            <a:avLst/>
            <a:gdLst/>
            <a:ahLst/>
            <a:cxnLst/>
            <a:rect r="r" b="b" t="t" l="l"/>
            <a:pathLst>
              <a:path h="3141142" w="4385538">
                <a:moveTo>
                  <a:pt x="4385538" y="0"/>
                </a:moveTo>
                <a:lnTo>
                  <a:pt x="0" y="0"/>
                </a:lnTo>
                <a:lnTo>
                  <a:pt x="0" y="3141142"/>
                </a:lnTo>
                <a:lnTo>
                  <a:pt x="4385538" y="3141142"/>
                </a:lnTo>
                <a:lnTo>
                  <a:pt x="4385538" y="0"/>
                </a:lnTo>
                <a:close/>
              </a:path>
            </a:pathLst>
          </a:custGeom>
          <a:blipFill>
            <a:blip r:embed="rId10"/>
            <a:stretch>
              <a:fillRect l="0" t="0" r="0" b="0"/>
            </a:stretch>
          </a:blipFill>
        </p:spPr>
      </p:sp>
      <p:sp>
        <p:nvSpPr>
          <p:cNvPr name="TextBox 15" id="15"/>
          <p:cNvSpPr txBox="true"/>
          <p:nvPr/>
        </p:nvSpPr>
        <p:spPr>
          <a:xfrm rot="0">
            <a:off x="1606326" y="1798776"/>
            <a:ext cx="5137808" cy="2597140"/>
          </a:xfrm>
          <a:prstGeom prst="rect">
            <a:avLst/>
          </a:prstGeom>
        </p:spPr>
        <p:txBody>
          <a:bodyPr anchor="t" rtlCol="false" tIns="0" lIns="0" bIns="0" rIns="0">
            <a:spAutoFit/>
          </a:bodyPr>
          <a:lstStyle/>
          <a:p>
            <a:pPr algn="l">
              <a:lnSpc>
                <a:spcPct val="100000"/>
              </a:lnSpc>
            </a:pPr>
            <a:r>
              <a:rPr lang="en-US" sz="7200" b="true">
                <a:solidFill>
                  <a:srgbClr val="FFFFFF"/>
                </a:solidFill>
                <a:latin typeface="Playpen Sans Bold"/>
                <a:ea typeface="Playpen Sans Bold"/>
                <a:cs typeface="Playpen Sans Bold"/>
                <a:sym typeface="Playpen Sans Bold"/>
              </a:rPr>
              <a:t>Evolusi Gambar</a:t>
            </a:r>
          </a:p>
        </p:txBody>
      </p:sp>
      <p:sp>
        <p:nvSpPr>
          <p:cNvPr name="TextBox 16" id="16"/>
          <p:cNvSpPr txBox="true"/>
          <p:nvPr/>
        </p:nvSpPr>
        <p:spPr>
          <a:xfrm rot="0">
            <a:off x="11391420" y="2298321"/>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Satu aturan</a:t>
            </a:r>
          </a:p>
        </p:txBody>
      </p:sp>
      <p:sp>
        <p:nvSpPr>
          <p:cNvPr name="TextBox 18" id="18"/>
          <p:cNvSpPr txBox="true"/>
          <p:nvPr/>
        </p:nvSpPr>
        <p:spPr>
          <a:xfrm rot="0">
            <a:off x="11391420" y="2970332"/>
            <a:ext cx="4647286" cy="958859"/>
          </a:xfrm>
          <a:prstGeom prst="rect">
            <a:avLst/>
          </a:prstGeom>
        </p:spPr>
        <p:txBody>
          <a:bodyPr anchor="t" rtlCol="false" tIns="0" lIns="0" bIns="0" rIns="0">
            <a:spAutoFit/>
          </a:bodyPr>
          <a:lstStyle/>
          <a:p>
            <a:pPr algn="l">
              <a:lnSpc>
                <a:spcPct val="100000"/>
              </a:lnSpc>
            </a:pPr>
            <a:r>
              <a:rPr lang="en-US" sz="3000">
                <a:solidFill>
                  <a:srgbClr val="FFFFFF"/>
                </a:solidFill>
                <a:latin typeface="Playpen Sans"/>
                <a:ea typeface="Playpen Sans"/>
                <a:cs typeface="Playpen Sans"/>
                <a:sym typeface="Playpen Sans"/>
              </a:rPr>
              <a:t>Ubah sedikit. Simpan jika lebih mirip target, buang jika tidak.</a:t>
            </a:r>
          </a:p>
        </p:txBody>
      </p:sp>
      <p:sp>
        <p:nvSpPr>
          <p:cNvPr name="TextBox 19" id="19"/>
          <p:cNvSpPr txBox="true"/>
          <p:nvPr/>
        </p:nvSpPr>
        <p:spPr>
          <a:xfrm rot="0">
            <a:off x="6744134" y="5548525"/>
            <a:ext cx="3502641" cy="400059"/>
          </a:xfrm>
          <a:prstGeom prst="rect">
            <a:avLst/>
          </a:prstGeom>
        </p:spPr>
        <p:txBody>
          <a:bodyPr anchor="t" rtlCol="false" tIns="0" lIns="0" bIns="0" rIns="0">
            <a:spAutoFit/>
          </a:bodyPr>
          <a:lstStyle/>
          <a:p>
            <a:pPr algn="l">
              <a:lnSpc>
                <a:spcPct val="100000"/>
              </a:lnSpc>
            </a:pPr>
            <a:r>
              <a:rPr lang="en-US" sz="3600" b="true">
                <a:solidFill>
                  <a:srgbClr val="EAC24B"/>
                </a:solidFill>
                <a:latin typeface="Playpen Sans Bold"/>
                <a:ea typeface="Playpen Sans Bold"/>
                <a:cs typeface="Playpen Sans Bold"/>
                <a:sym typeface="Playpen Sans Bold"/>
              </a:rPr>
              <a:t>Perhatikan</a:t>
            </a:r>
          </a:p>
        </p:txBody>
      </p:sp>
      <p:sp>
        <p:nvSpPr>
          <p:cNvPr name="TextBox 20" id="20"/>
          <p:cNvSpPr txBox="true"/>
          <p:nvPr/>
        </p:nvSpPr>
        <p:spPr>
          <a:xfrm rot="0">
            <a:off x="6744134" y="6220536"/>
            <a:ext cx="5008179" cy="958859"/>
          </a:xfrm>
          <a:prstGeom prst="rect">
            <a:avLst/>
          </a:prstGeom>
        </p:spPr>
        <p:txBody>
          <a:bodyPr anchor="t" rtlCol="false" tIns="0" lIns="0" bIns="0" rIns="0">
            <a:spAutoFit/>
          </a:bodyPr>
          <a:lstStyle/>
          <a:p>
            <a:pPr algn="l">
              <a:lnSpc>
                <a:spcPct val="100000"/>
              </a:lnSpc>
            </a:pPr>
            <a:r>
              <a:rPr lang="en-US" sz="3200">
                <a:solidFill>
                  <a:srgbClr val="FFFFFF"/>
                </a:solidFill>
                <a:latin typeface="Playpen Sans"/>
                <a:ea typeface="Playpen Sans"/>
                <a:cs typeface="Playpen Sans"/>
                <a:sym typeface="Playpen Sans"/>
              </a:rPr>
              <a:t>Kapan kurva turun cepat? Kapan melambat?</a:t>
            </a:r>
          </a:p>
        </p:txBody>
      </p:sp>
      <p:sp>
        <p:nvSpPr>
          <p:cNvPr name="Freeform 21" id="21"/>
          <p:cNvSpPr/>
          <p:nvPr/>
        </p:nvSpPr>
        <p:spPr>
          <a:xfrm flipH="false" flipV="false" rot="0">
            <a:off x="6422262" y="7876482"/>
            <a:ext cx="4596925" cy="3109193"/>
          </a:xfrm>
          <a:custGeom>
            <a:avLst/>
            <a:gdLst/>
            <a:ahLst/>
            <a:cxnLst/>
            <a:rect r="r" b="b" t="t" l="l"/>
            <a:pathLst>
              <a:path h="3109193" w="4596925">
                <a:moveTo>
                  <a:pt x="0" y="0"/>
                </a:moveTo>
                <a:lnTo>
                  <a:pt x="4596925" y="0"/>
                </a:lnTo>
                <a:lnTo>
                  <a:pt x="4596925" y="3109193"/>
                </a:lnTo>
                <a:lnTo>
                  <a:pt x="0" y="310919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5400">
                <a:solidFill>
                  <a:srgbClr val="F7B125"/>
                </a:solidFill>
                <a:latin typeface="Playpen Sans Bold"/>
              </a:rPr>
              <a:t>Empat Kata yang Muncul Setiap Pekan</a:t>
            </a:r>
          </a:p>
        </p:txBody>
      </p:sp>
      <p:sp>
        <p:nvSpPr>
          <p:cNvPr id="16" name="Kartu 1"/>
          <p:cNvSpPr/>
          <p:nvPr/>
        </p:nvSpPr>
        <p:spPr>
          <a:xfrm>
            <a:off x="1508760"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Model"/>
          <p:cNvSpPr/>
          <p:nvPr/>
        </p:nvSpPr>
        <p:spPr>
          <a:xfrm>
            <a:off x="1737360" y="2331720"/>
            <a:ext cx="3120389"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Model"/>
          <p:cNvSpPr txBox="1"/>
          <p:nvPr/>
        </p:nvSpPr>
        <p:spPr>
          <a:xfrm>
            <a:off x="173736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Model</a:t>
            </a:r>
          </a:p>
        </p:txBody>
      </p:sp>
      <p:sp>
        <p:nvSpPr>
          <p:cNvPr id="19" name="Isi kartu 1"/>
          <p:cNvSpPr txBox="1"/>
          <p:nvPr/>
        </p:nvSpPr>
        <p:spPr>
          <a:xfrm>
            <a:off x="1783080"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Rumus dengan kenop</a:t>
            </a:r>
          </a:p>
          <a:p>
            <a:pPr algn="l">
              <a:spcAft>
                <a:spcPts val="0"/>
              </a:spcAft>
            </a:pPr>
            <a:r>
              <a:rPr sz="2700">
                <a:solidFill>
                  <a:srgbClr val="F7B125"/>
                </a:solidFill>
                <a:latin typeface="Playpen Sans"/>
              </a:rPr>
              <a:t>tarif = a × jarak + b</a:t>
            </a:r>
          </a:p>
        </p:txBody>
      </p:sp>
      <p:sp>
        <p:nvSpPr>
          <p:cNvPr id="20" name="Kartu 2"/>
          <p:cNvSpPr/>
          <p:nvPr/>
        </p:nvSpPr>
        <p:spPr>
          <a:xfrm>
            <a:off x="5406390"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Error"/>
          <p:cNvSpPr/>
          <p:nvPr/>
        </p:nvSpPr>
        <p:spPr>
          <a:xfrm>
            <a:off x="5634990" y="2331720"/>
            <a:ext cx="3120389"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Error"/>
          <p:cNvSpPr txBox="1"/>
          <p:nvPr/>
        </p:nvSpPr>
        <p:spPr>
          <a:xfrm>
            <a:off x="563499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Error</a:t>
            </a:r>
          </a:p>
        </p:txBody>
      </p:sp>
      <p:sp>
        <p:nvSpPr>
          <p:cNvPr id="23" name="Isi kartu 2"/>
          <p:cNvSpPr txBox="1"/>
          <p:nvPr/>
        </p:nvSpPr>
        <p:spPr>
          <a:xfrm>
            <a:off x="5680709"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Seberapa salah modelnya</a:t>
            </a:r>
          </a:p>
          <a:p>
            <a:pPr algn="l">
              <a:spcAft>
                <a:spcPts val="0"/>
              </a:spcAft>
            </a:pPr>
            <a:r>
              <a:rPr sz="2700">
                <a:solidFill>
                  <a:srgbClr val="F7B125"/>
                </a:solidFill>
                <a:latin typeface="Playpen Sans"/>
              </a:rPr>
              <a:t>Aplikasi bilang tiba 10 menit, nyatanya 25</a:t>
            </a:r>
          </a:p>
        </p:txBody>
      </p:sp>
      <p:sp>
        <p:nvSpPr>
          <p:cNvPr id="24" name="Kartu 3"/>
          <p:cNvSpPr/>
          <p:nvPr/>
        </p:nvSpPr>
        <p:spPr>
          <a:xfrm>
            <a:off x="9304019"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Pencarian"/>
          <p:cNvSpPr/>
          <p:nvPr/>
        </p:nvSpPr>
        <p:spPr>
          <a:xfrm>
            <a:off x="9532619" y="2331720"/>
            <a:ext cx="3120389"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Pencarian"/>
          <p:cNvSpPr txBox="1"/>
          <p:nvPr/>
        </p:nvSpPr>
        <p:spPr>
          <a:xfrm>
            <a:off x="953261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Pencarian</a:t>
            </a:r>
          </a:p>
        </p:txBody>
      </p:sp>
      <p:sp>
        <p:nvSpPr>
          <p:cNvPr id="27" name="Isi kartu 3"/>
          <p:cNvSpPr txBox="1"/>
          <p:nvPr/>
        </p:nvSpPr>
        <p:spPr>
          <a:xfrm>
            <a:off x="9578340"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Cara memutar kenop</a:t>
            </a:r>
          </a:p>
          <a:p>
            <a:pPr algn="l">
              <a:spcAft>
                <a:spcPts val="0"/>
              </a:spcAft>
            </a:pPr>
            <a:r>
              <a:rPr sz="2700">
                <a:solidFill>
                  <a:srgbClr val="F7B125"/>
                </a:solidFill>
                <a:latin typeface="Playpen Sans"/>
              </a:rPr>
              <a:t>Tambah gula sedikit demi sedikit sampai kopinya pas</a:t>
            </a:r>
          </a:p>
        </p:txBody>
      </p:sp>
      <p:sp>
        <p:nvSpPr>
          <p:cNvPr id="28" name="Kartu 4"/>
          <p:cNvSpPr/>
          <p:nvPr/>
        </p:nvSpPr>
        <p:spPr>
          <a:xfrm>
            <a:off x="13201649"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g Anggaran"/>
          <p:cNvSpPr/>
          <p:nvPr/>
        </p:nvSpPr>
        <p:spPr>
          <a:xfrm>
            <a:off x="13430249" y="2331720"/>
            <a:ext cx="3120389" cy="640080"/>
          </a:xfrm>
          <a:prstGeom prst="roundRect">
            <a:avLst>
              <a:gd name="adj" fmla="val 50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ks tag Anggaran"/>
          <p:cNvSpPr txBox="1"/>
          <p:nvPr/>
        </p:nvSpPr>
        <p:spPr>
          <a:xfrm>
            <a:off x="1343024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Anggaran</a:t>
            </a:r>
          </a:p>
        </p:txBody>
      </p:sp>
      <p:sp>
        <p:nvSpPr>
          <p:cNvPr id="31" name="Isi kartu 4"/>
          <p:cNvSpPr txBox="1"/>
          <p:nvPr/>
        </p:nvSpPr>
        <p:spPr>
          <a:xfrm>
            <a:off x="13475969"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Berapa kali boleh mencoba</a:t>
            </a:r>
          </a:p>
          <a:p>
            <a:pPr algn="l">
              <a:spcAft>
                <a:spcPts val="0"/>
              </a:spcAft>
            </a:pPr>
            <a:r>
              <a:rPr sz="2700">
                <a:solidFill>
                  <a:srgbClr val="F7B125"/>
                </a:solidFill>
                <a:latin typeface="Playpen Sans"/>
              </a:rPr>
              <a:t>Hanya tiga kali cicip sebelum tamu datang</a:t>
            </a:r>
          </a:p>
        </p:txBody>
      </p:sp>
      <p:sp>
        <p:nvSpPr>
          <p:cNvPr id="32" name="Penutup"/>
          <p:cNvSpPr txBox="1"/>
          <p:nvPr/>
        </p:nvSpPr>
        <p:spPr>
          <a:xfrm>
            <a:off x="1508760" y="6446520"/>
            <a:ext cx="15270480" cy="731520"/>
          </a:xfrm>
          <a:prstGeom prst="rect">
            <a:avLst/>
          </a:prstGeom>
          <a:noFill/>
        </p:spPr>
        <p:txBody>
          <a:bodyPr wrap="square" lIns="0" rIns="0" tIns="0" bIns="0" anchor="t">
            <a:spAutoFit/>
          </a:bodyPr>
          <a:lstStyle/>
          <a:p>
            <a:pPr algn="ctr">
              <a:spcAft>
                <a:spcPts val="0"/>
              </a:spcAft>
            </a:pPr>
            <a:r>
              <a:rPr sz="3000">
                <a:solidFill>
                  <a:srgbClr val="FFFFFF"/>
                </a:solidFill>
                <a:latin typeface="Playpen Sans Bold"/>
              </a:rPr>
              <a:t>Keempatnya akan kamu pakai di game penutup hari ini</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9" id="9"/>
          <p:cNvSpPr/>
          <p:nvPr/>
        </p:nvSpPr>
        <p:spPr>
          <a:xfrm flipH="false" flipV="false" rot="0">
            <a:off x="12978766" y="2453423"/>
            <a:ext cx="7524206" cy="8229600"/>
          </a:xfrm>
          <a:custGeom>
            <a:avLst/>
            <a:gdLst/>
            <a:ahLst/>
            <a:cxnLst/>
            <a:rect r="r" b="b" t="t" l="l"/>
            <a:pathLst>
              <a:path h="8229600" w="7524206">
                <a:moveTo>
                  <a:pt x="0" y="0"/>
                </a:moveTo>
                <a:lnTo>
                  <a:pt x="7524205" y="0"/>
                </a:lnTo>
                <a:lnTo>
                  <a:pt x="7524205" y="8229600"/>
                </a:lnTo>
                <a:lnTo>
                  <a:pt x="0" y="8229600"/>
                </a:lnTo>
                <a:lnTo>
                  <a:pt x="0" y="0"/>
                </a:lnTo>
                <a:close/>
              </a:path>
            </a:pathLst>
          </a:custGeom>
          <a:blipFill>
            <a:blip r:embed="rId7"/>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161288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0424159" cy="1188720"/>
          </a:xfrm>
          <a:prstGeom prst="rect">
            <a:avLst/>
          </a:prstGeom>
          <a:noFill/>
        </p:spPr>
        <p:txBody>
          <a:bodyPr wrap="square" lIns="0" rIns="0" tIns="0" bIns="0" anchor="t">
            <a:spAutoFit/>
          </a:bodyPr>
          <a:lstStyle/>
          <a:p>
            <a:pPr algn="l">
              <a:spcAft>
                <a:spcPts val="0"/>
              </a:spcAft>
            </a:pPr>
            <a:r>
              <a:rPr sz="6400">
                <a:solidFill>
                  <a:srgbClr val="F7B125"/>
                </a:solidFill>
                <a:latin typeface="Playpen Sans Bold"/>
              </a:rPr>
              <a:t>Di Akhir Pekan 16</a:t>
            </a:r>
          </a:p>
        </p:txBody>
      </p:sp>
      <p:sp>
        <p:nvSpPr>
          <p:cNvPr id="16" name="Capaian"/>
          <p:cNvSpPr txBox="1"/>
          <p:nvPr/>
        </p:nvSpPr>
        <p:spPr>
          <a:xfrm>
            <a:off x="1508760" y="2240280"/>
            <a:ext cx="10424159" cy="4937760"/>
          </a:xfrm>
          <a:prstGeom prst="rect">
            <a:avLst/>
          </a:prstGeom>
          <a:noFill/>
        </p:spPr>
        <p:txBody>
          <a:bodyPr wrap="square" lIns="0" rIns="0" tIns="0" bIns="0" anchor="t">
            <a:spAutoFit/>
          </a:bodyPr>
          <a:lstStyle/>
          <a:p>
            <a:pPr algn="l" marL="502920" indent="-502920">
              <a:spcAft>
                <a:spcPts val="1200"/>
              </a:spcAft>
              <a:buClr>
                <a:srgbClr val="F7B125"/>
              </a:buClr>
              <a:buFont typeface="Arial"/>
              <a:buChar char="•"/>
            </a:pPr>
            <a:r>
              <a:rPr sz="2800">
                <a:solidFill>
                  <a:srgbClr val="FFFFFF"/>
                </a:solidFill>
                <a:latin typeface="Playpen Sans"/>
              </a:rPr>
              <a:t>Melatih jaringan saraf yang kamu tulis sendiri, lalu dengan PyTorch</a:t>
            </a:r>
          </a:p>
          <a:p>
            <a:pPr algn="l" marL="502920" indent="-502920">
              <a:spcAft>
                <a:spcPts val="1200"/>
              </a:spcAft>
              <a:buClr>
                <a:srgbClr val="F7B125"/>
              </a:buClr>
              <a:buFont typeface="Arial"/>
              <a:buChar char="•"/>
            </a:pPr>
            <a:r>
              <a:rPr sz="2800">
                <a:solidFill>
                  <a:srgbClr val="FFFFFF"/>
                </a:solidFill>
                <a:latin typeface="Playpen Sans"/>
              </a:rPr>
              <a:t>Menjelaskan mengapa model belajar: error, gradien, backpropagation</a:t>
            </a:r>
          </a:p>
          <a:p>
            <a:pPr algn="l" marL="502920" indent="-502920">
              <a:spcAft>
                <a:spcPts val="1200"/>
              </a:spcAft>
              <a:buClr>
                <a:srgbClr val="F7B125"/>
              </a:buClr>
              <a:buFont typeface="Arial"/>
              <a:buChar char="•"/>
            </a:pPr>
            <a:r>
              <a:rPr sz="2800">
                <a:solidFill>
                  <a:srgbClr val="FFFFFF"/>
                </a:solidFill>
                <a:latin typeface="Playpen Sans"/>
              </a:rPr>
              <a:t>Menilai model dengan jujur: data uji, kebocoran data</a:t>
            </a:r>
          </a:p>
          <a:p>
            <a:pPr algn="l" marL="502920" indent="-502920">
              <a:spcAft>
                <a:spcPts val="1200"/>
              </a:spcAft>
              <a:buClr>
                <a:srgbClr val="F7B125"/>
              </a:buClr>
              <a:buFont typeface="Arial"/>
              <a:buChar char="•"/>
            </a:pPr>
            <a:r>
              <a:rPr sz="2800">
                <a:solidFill>
                  <a:srgbClr val="FFFFFF"/>
                </a:solidFill>
                <a:latin typeface="Playpen Sans"/>
              </a:rPr>
              <a:t>Menulis dan membandingkan metaheuristik: SA, GA, PSO</a:t>
            </a:r>
          </a:p>
          <a:p>
            <a:pPr algn="l" marL="502920" indent="-502920">
              <a:spcAft>
                <a:spcPts val="0"/>
              </a:spcAft>
              <a:buClr>
                <a:srgbClr val="F7B125"/>
              </a:buClr>
              <a:buFont typeface="Arial"/>
              <a:buChar char="•"/>
            </a:pPr>
            <a:r>
              <a:rPr sz="2800">
                <a:solidFill>
                  <a:srgbClr val="F7B125"/>
                </a:solidFill>
                <a:latin typeface="Playpen Sans Bold"/>
              </a:rPr>
              <a:t>Proyek tim dengan demo yang bisa dibuka orang lain</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6000">
                <a:solidFill>
                  <a:srgbClr val="F7B125"/>
                </a:solidFill>
                <a:latin typeface="Playpen Sans Bold"/>
              </a:rPr>
              <a:t>Peta 16 Pekan</a:t>
            </a:r>
          </a:p>
        </p:txBody>
      </p:sp>
      <p:sp>
        <p:nvSpPr>
          <p:cNvPr id="16" name="Kartu 1"/>
          <p:cNvSpPr/>
          <p:nvPr/>
        </p:nvSpPr>
        <p:spPr>
          <a:xfrm>
            <a:off x="1508760"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Pekan 1 sampai 7"/>
          <p:cNvSpPr/>
          <p:nvPr/>
        </p:nvSpPr>
        <p:spPr>
          <a:xfrm>
            <a:off x="1737360" y="2331720"/>
            <a:ext cx="3120389"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Pekan 1 sampai 7"/>
          <p:cNvSpPr txBox="1"/>
          <p:nvPr/>
        </p:nvSpPr>
        <p:spPr>
          <a:xfrm>
            <a:off x="173736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1 sampai 7</a:t>
            </a:r>
          </a:p>
        </p:txBody>
      </p:sp>
      <p:sp>
        <p:nvSpPr>
          <p:cNvPr id="19" name="Isi kartu 1"/>
          <p:cNvSpPr txBox="1"/>
          <p:nvPr/>
        </p:nvSpPr>
        <p:spPr>
          <a:xfrm>
            <a:off x="1783080"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Dasar ML</a:t>
            </a:r>
          </a:p>
          <a:p>
            <a:pPr algn="l">
              <a:spcAft>
                <a:spcPts val="0"/>
              </a:spcAft>
            </a:pPr>
            <a:r>
              <a:rPr sz="2600">
                <a:solidFill>
                  <a:srgbClr val="FFFFFF"/>
                </a:solidFill>
                <a:latin typeface="Playpen Sans"/>
              </a:rPr>
              <a:t>Error, gradient descent, klasifikasi, jaringan saraf, backprop, PyTorch, evaluasi jujur</a:t>
            </a:r>
          </a:p>
        </p:txBody>
      </p:sp>
      <p:sp>
        <p:nvSpPr>
          <p:cNvPr id="20" name="Kartu 2"/>
          <p:cNvSpPr/>
          <p:nvPr/>
        </p:nvSpPr>
        <p:spPr>
          <a:xfrm>
            <a:off x="5406390"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Pekan 8"/>
          <p:cNvSpPr/>
          <p:nvPr/>
        </p:nvSpPr>
        <p:spPr>
          <a:xfrm>
            <a:off x="5634990" y="2331720"/>
            <a:ext cx="3120389"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Pekan 8"/>
          <p:cNvSpPr txBox="1"/>
          <p:nvPr/>
        </p:nvSpPr>
        <p:spPr>
          <a:xfrm>
            <a:off x="563499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8</a:t>
            </a:r>
          </a:p>
        </p:txBody>
      </p:sp>
      <p:sp>
        <p:nvSpPr>
          <p:cNvPr id="23" name="Isi kartu 2"/>
          <p:cNvSpPr txBox="1"/>
          <p:nvPr/>
        </p:nvSpPr>
        <p:spPr>
          <a:xfrm>
            <a:off x="5680709"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Checkpoint 1</a:t>
            </a:r>
          </a:p>
          <a:p>
            <a:pPr algn="l">
              <a:spcAft>
                <a:spcPts val="0"/>
              </a:spcAft>
            </a:pPr>
            <a:r>
              <a:rPr sz="2600">
                <a:solidFill>
                  <a:srgbClr val="FFFFFF"/>
                </a:solidFill>
                <a:latin typeface="Playpen Sans"/>
              </a:rPr>
              <a:t>Cek lisan individu. Tim proyek dibentuk</a:t>
            </a:r>
          </a:p>
        </p:txBody>
      </p:sp>
      <p:sp>
        <p:nvSpPr>
          <p:cNvPr id="24" name="Kartu 3"/>
          <p:cNvSpPr/>
          <p:nvPr/>
        </p:nvSpPr>
        <p:spPr>
          <a:xfrm>
            <a:off x="9304019"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Pekan 9 sampai 12"/>
          <p:cNvSpPr/>
          <p:nvPr/>
        </p:nvSpPr>
        <p:spPr>
          <a:xfrm>
            <a:off x="9532619" y="2331720"/>
            <a:ext cx="3120389"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Pekan 9 sampai 12"/>
          <p:cNvSpPr txBox="1"/>
          <p:nvPr/>
        </p:nvSpPr>
        <p:spPr>
          <a:xfrm>
            <a:off x="953261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9 sampai 12</a:t>
            </a:r>
          </a:p>
        </p:txBody>
      </p:sp>
      <p:sp>
        <p:nvSpPr>
          <p:cNvPr id="27" name="Isi kartu 3"/>
          <p:cNvSpPr txBox="1"/>
          <p:nvPr/>
        </p:nvSpPr>
        <p:spPr>
          <a:xfrm>
            <a:off x="9578340"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Metaheuristik</a:t>
            </a:r>
          </a:p>
          <a:p>
            <a:pPr algn="l">
              <a:spcAft>
                <a:spcPts val="0"/>
              </a:spcAft>
            </a:pPr>
            <a:r>
              <a:rPr sz="2600">
                <a:solidFill>
                  <a:srgbClr val="FFFFFF"/>
                </a:solidFill>
                <a:latin typeface="Playpen Sans"/>
              </a:rPr>
              <a:t>Simulated annealing, GA, PSO, representasi, optimasi di dalam ML</a:t>
            </a:r>
          </a:p>
        </p:txBody>
      </p:sp>
      <p:sp>
        <p:nvSpPr>
          <p:cNvPr id="28" name="Kartu 4"/>
          <p:cNvSpPr/>
          <p:nvPr/>
        </p:nvSpPr>
        <p:spPr>
          <a:xfrm>
            <a:off x="13201649"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g Pekan 13 sampai 16"/>
          <p:cNvSpPr/>
          <p:nvPr/>
        </p:nvSpPr>
        <p:spPr>
          <a:xfrm>
            <a:off x="13430249" y="2331720"/>
            <a:ext cx="3120389" cy="640080"/>
          </a:xfrm>
          <a:prstGeom prst="roundRect">
            <a:avLst>
              <a:gd name="adj" fmla="val 50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ks tag Pekan 13 sampai 16"/>
          <p:cNvSpPr txBox="1"/>
          <p:nvPr/>
        </p:nvSpPr>
        <p:spPr>
          <a:xfrm>
            <a:off x="1343024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13 sampai 16</a:t>
            </a:r>
          </a:p>
        </p:txBody>
      </p:sp>
      <p:sp>
        <p:nvSpPr>
          <p:cNvPr id="31" name="Isi kartu 4"/>
          <p:cNvSpPr txBox="1"/>
          <p:nvPr/>
        </p:nvSpPr>
        <p:spPr>
          <a:xfrm>
            <a:off x="13475969"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Modern dan proyek</a:t>
            </a:r>
          </a:p>
          <a:p>
            <a:pPr algn="l">
              <a:spcAft>
                <a:spcPts val="0"/>
              </a:spcAft>
            </a:pPr>
            <a:r>
              <a:rPr sz="2600">
                <a:solidFill>
                  <a:srgbClr val="FFFFFF"/>
                </a:solidFill>
                <a:latin typeface="Playpen Sans"/>
              </a:rPr>
              <a:t>Transfer learning, Transformer dan LLM, deploy, Hari Demo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4148474" y="-5929"/>
            <a:ext cx="4139526" cy="4692896"/>
          </a:xfrm>
          <a:custGeom>
            <a:avLst/>
            <a:gdLst/>
            <a:ahLst/>
            <a:cxnLst/>
            <a:rect r="r" b="b" t="t" l="l"/>
            <a:pathLst>
              <a:path h="4692896" w="4139526">
                <a:moveTo>
                  <a:pt x="0" y="0"/>
                </a:moveTo>
                <a:lnTo>
                  <a:pt x="4139526" y="0"/>
                </a:lnTo>
                <a:lnTo>
                  <a:pt x="4139526" y="4692896"/>
                </a:lnTo>
                <a:lnTo>
                  <a:pt x="0" y="4692896"/>
                </a:lnTo>
                <a:lnTo>
                  <a:pt x="0" y="0"/>
                </a:lnTo>
                <a:close/>
              </a:path>
            </a:pathLst>
          </a:custGeom>
          <a:blipFill>
            <a:blip r:embed="rId3"/>
            <a:stretch>
              <a:fillRect l="0" t="0" r="0" b="0"/>
            </a:stretch>
          </a:blipFill>
        </p:spPr>
      </p:sp>
      <p:sp>
        <p:nvSpPr>
          <p:cNvPr name="Freeform 4" id="4"/>
          <p:cNvSpPr/>
          <p:nvPr/>
        </p:nvSpPr>
        <p:spPr>
          <a:xfrm flipH="false" flipV="false" rot="0">
            <a:off x="12916772" y="1953985"/>
            <a:ext cx="5309234" cy="5465964"/>
          </a:xfrm>
          <a:custGeom>
            <a:avLst/>
            <a:gdLst/>
            <a:ahLst/>
            <a:cxnLst/>
            <a:rect r="r" b="b" t="t" l="l"/>
            <a:pathLst>
              <a:path h="5465964" w="5309234">
                <a:moveTo>
                  <a:pt x="0" y="0"/>
                </a:moveTo>
                <a:lnTo>
                  <a:pt x="5309235" y="0"/>
                </a:lnTo>
                <a:lnTo>
                  <a:pt x="5309235" y="5465964"/>
                </a:lnTo>
                <a:lnTo>
                  <a:pt x="0" y="5465964"/>
                </a:lnTo>
                <a:lnTo>
                  <a:pt x="0" y="0"/>
                </a:lnTo>
                <a:close/>
              </a:path>
            </a:pathLst>
          </a:custGeom>
          <a:blipFill>
            <a:blip r:embed="rId4"/>
            <a:stretch>
              <a:fillRect l="0" t="0" r="0" b="0"/>
            </a:stretch>
          </a:blipFill>
        </p:spPr>
      </p:sp>
      <p:sp>
        <p:nvSpPr>
          <p:cNvPr name="Freeform 5" id="5"/>
          <p:cNvSpPr/>
          <p:nvPr/>
        </p:nvSpPr>
        <p:spPr>
          <a:xfrm flipH="true" flipV="false" rot="0">
            <a:off x="-29416" y="-5929"/>
            <a:ext cx="4139526" cy="4692896"/>
          </a:xfrm>
          <a:custGeom>
            <a:avLst/>
            <a:gdLst/>
            <a:ahLst/>
            <a:cxnLst/>
            <a:rect r="r" b="b" t="t" l="l"/>
            <a:pathLst>
              <a:path h="4692896" w="4139526">
                <a:moveTo>
                  <a:pt x="4139526" y="0"/>
                </a:moveTo>
                <a:lnTo>
                  <a:pt x="0" y="0"/>
                </a:lnTo>
                <a:lnTo>
                  <a:pt x="0" y="4692896"/>
                </a:lnTo>
                <a:lnTo>
                  <a:pt x="4139526" y="4692896"/>
                </a:lnTo>
                <a:lnTo>
                  <a:pt x="4139526" y="0"/>
                </a:lnTo>
                <a:close/>
              </a:path>
            </a:pathLst>
          </a:custGeom>
          <a:blipFill>
            <a:blip r:embed="rId3"/>
            <a:stretch>
              <a:fillRect l="0" t="0" r="0" b="0"/>
            </a:stretch>
          </a:blipFill>
        </p:spPr>
      </p:sp>
      <p:sp>
        <p:nvSpPr>
          <p:cNvPr name="Freeform 6" id="6"/>
          <p:cNvSpPr/>
          <p:nvPr/>
        </p:nvSpPr>
        <p:spPr>
          <a:xfrm flipH="false" flipV="false" rot="0">
            <a:off x="81044" y="2340519"/>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4740492" y="3555740"/>
            <a:ext cx="5848879" cy="5973006"/>
          </a:xfrm>
          <a:custGeom>
            <a:avLst/>
            <a:gdLst/>
            <a:ahLst/>
            <a:cxnLst/>
            <a:rect r="r" b="b" t="t" l="l"/>
            <a:pathLst>
              <a:path h="5973006" w="5848879">
                <a:moveTo>
                  <a:pt x="0" y="0"/>
                </a:moveTo>
                <a:lnTo>
                  <a:pt x="5848879" y="0"/>
                </a:lnTo>
                <a:lnTo>
                  <a:pt x="5848879" y="5973006"/>
                </a:lnTo>
                <a:lnTo>
                  <a:pt x="0" y="5973006"/>
                </a:lnTo>
                <a:lnTo>
                  <a:pt x="0" y="0"/>
                </a:lnTo>
                <a:close/>
              </a:path>
            </a:pathLst>
          </a:custGeom>
          <a:blipFill>
            <a:blip r:embed="rId5"/>
            <a:stretch>
              <a:fillRect l="0" t="0" r="0" b="0"/>
            </a:stretch>
          </a:blipFill>
        </p:spPr>
      </p:sp>
      <p:sp>
        <p:nvSpPr>
          <p:cNvPr name="Freeform 8" id="8"/>
          <p:cNvSpPr/>
          <p:nvPr/>
        </p:nvSpPr>
        <p:spPr>
          <a:xfrm flipH="false" flipV="false" rot="0">
            <a:off x="-206717" y="7362431"/>
            <a:ext cx="19413624" cy="3152020"/>
          </a:xfrm>
          <a:custGeom>
            <a:avLst/>
            <a:gdLst/>
            <a:ahLst/>
            <a:cxnLst/>
            <a:rect r="r" b="b" t="t" l="l"/>
            <a:pathLst>
              <a:path h="3152020" w="19413624">
                <a:moveTo>
                  <a:pt x="0" y="0"/>
                </a:moveTo>
                <a:lnTo>
                  <a:pt x="19413624" y="0"/>
                </a:lnTo>
                <a:lnTo>
                  <a:pt x="19413624" y="3152020"/>
                </a:lnTo>
                <a:lnTo>
                  <a:pt x="0" y="3152020"/>
                </a:lnTo>
                <a:lnTo>
                  <a:pt x="0" y="0"/>
                </a:lnTo>
                <a:close/>
              </a:path>
            </a:pathLst>
          </a:custGeom>
          <a:blipFill>
            <a:blip r:embed="rId6"/>
            <a:stretch>
              <a:fillRect l="-158" t="0" r="-158" b="-6838"/>
            </a:stretch>
          </a:blipFill>
        </p:spPr>
      </p:sp>
      <p:sp>
        <p:nvSpPr>
          <p:cNvPr name="Freeform 9" id="9"/>
          <p:cNvSpPr/>
          <p:nvPr/>
        </p:nvSpPr>
        <p:spPr>
          <a:xfrm flipH="false" flipV="false" rot="0">
            <a:off x="437199" y="8202750"/>
            <a:ext cx="4596925" cy="3109193"/>
          </a:xfrm>
          <a:custGeom>
            <a:avLst/>
            <a:gdLst/>
            <a:ahLst/>
            <a:cxnLst/>
            <a:rect r="r" b="b" t="t" l="l"/>
            <a:pathLst>
              <a:path h="3109193" w="4596925">
                <a:moveTo>
                  <a:pt x="0" y="0"/>
                </a:moveTo>
                <a:lnTo>
                  <a:pt x="4596925" y="0"/>
                </a:lnTo>
                <a:lnTo>
                  <a:pt x="4596925" y="3109193"/>
                </a:lnTo>
                <a:lnTo>
                  <a:pt x="0" y="31091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3" id="13"/>
          <p:cNvSpPr/>
          <p:nvPr/>
        </p:nvSpPr>
        <p:spPr>
          <a:xfrm flipH="false" flipV="false" rot="0">
            <a:off x="-671387" y="5495651"/>
            <a:ext cx="4781497" cy="5229762"/>
          </a:xfrm>
          <a:custGeom>
            <a:avLst/>
            <a:gdLst/>
            <a:ahLst/>
            <a:cxnLst/>
            <a:rect r="r" b="b" t="t" l="l"/>
            <a:pathLst>
              <a:path h="5229762" w="4781497">
                <a:moveTo>
                  <a:pt x="0" y="0"/>
                </a:moveTo>
                <a:lnTo>
                  <a:pt x="4781497" y="0"/>
                </a:lnTo>
                <a:lnTo>
                  <a:pt x="4781497" y="5229762"/>
                </a:lnTo>
                <a:lnTo>
                  <a:pt x="0" y="5229762"/>
                </a:lnTo>
                <a:lnTo>
                  <a:pt x="0" y="0"/>
                </a:lnTo>
                <a:close/>
              </a:path>
            </a:pathLst>
          </a:custGeom>
          <a:blipFill>
            <a:blip r:embed="rId9"/>
            <a:stretch>
              <a:fillRect l="0" t="0" r="0" b="0"/>
            </a:stretch>
          </a:blipFill>
        </p:spPr>
      </p:sp>
      <p:sp>
        <p:nvSpPr>
          <p:cNvPr name="TextBox 14" id="14"/>
          <p:cNvSpPr txBox="true"/>
          <p:nvPr/>
        </p:nvSpPr>
        <p:spPr>
          <a:xfrm rot="0">
            <a:off x="2085875" y="1188720"/>
            <a:ext cx="7987091" cy="1330315"/>
          </a:xfrm>
          <a:prstGeom prst="rect">
            <a:avLst/>
          </a:prstGeom>
        </p:spPr>
        <p:txBody>
          <a:bodyPr anchor="t" rtlCol="false" tIns="0" lIns="0" bIns="0" rIns="0">
            <a:spAutoFit/>
          </a:bodyPr>
          <a:lstStyle/>
          <a:p>
            <a:pPr algn="l">
              <a:lnSpc>
                <a:spcPct val="100000"/>
              </a:lnSpc>
            </a:pPr>
            <a:r>
              <a:rPr lang="en-US" b="true" sz="6800">
                <a:solidFill>
                  <a:srgbClr val="EAC24B"/>
                </a:solidFill>
                <a:latin typeface="Playpen Sans Bold"/>
                <a:ea typeface="Playpen Sans Bold"/>
                <a:cs typeface="Playpen Sans Bold"/>
                <a:sym typeface="Playpen Sans Bold"/>
              </a:rPr>
              <a:t>Ritme Mingguan</a:t>
            </a:r>
          </a:p>
        </p:txBody>
      </p:sp>
      <p:sp>
        <p:nvSpPr>
          <p:cNvPr name="TextBox 15" id="15"/>
          <p:cNvSpPr txBox="true"/>
          <p:nvPr/>
        </p:nvSpPr>
        <p:spPr>
          <a:xfrm rot="0">
            <a:off x="10515666" y="1648940"/>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2. Kelas</a:t>
            </a:r>
          </a:p>
        </p:txBody>
      </p:sp>
      <p:sp>
        <p:nvSpPr>
          <p:cNvPr name="TextBox 17" id="17"/>
          <p:cNvSpPr txBox="true"/>
          <p:nvPr/>
        </p:nvSpPr>
        <p:spPr>
          <a:xfrm rot="0">
            <a:off x="10515666" y="2311425"/>
            <a:ext cx="5514110" cy="958859"/>
          </a:xfrm>
          <a:prstGeom prst="rect">
            <a:avLst/>
          </a:prstGeom>
        </p:spPr>
        <p:txBody>
          <a:bodyPr anchor="t" rtlCol="false" tIns="0" lIns="0" bIns="0" rIns="0">
            <a:spAutoFit/>
          </a:bodyPr>
          <a:lstStyle/>
          <a:p>
            <a:pPr algn="l">
              <a:lnSpc>
                <a:spcPct val="100000"/>
              </a:lnSpc>
            </a:pPr>
            <a:r>
              <a:rPr lang="en-US" sz="3000">
                <a:solidFill>
                  <a:srgbClr val="FFFFFF"/>
                </a:solidFill>
                <a:latin typeface="Playpen Sans"/>
                <a:ea typeface="Playpen Sans"/>
                <a:cs typeface="Playpen Sans"/>
                <a:sym typeface="Playpen Sans"/>
              </a:rPr>
              <a:t>2 jam: kuis pembuka tanpa perangkat, contoh, latihan berpasangan.</a:t>
            </a:r>
          </a:p>
        </p:txBody>
      </p:sp>
      <p:sp>
        <p:nvSpPr>
          <p:cNvPr name="TextBox 18" id="18"/>
          <p:cNvSpPr txBox="true"/>
          <p:nvPr/>
        </p:nvSpPr>
        <p:spPr>
          <a:xfrm rot="0">
            <a:off x="2085875" y="3520440"/>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1. Baca</a:t>
            </a:r>
          </a:p>
        </p:txBody>
      </p:sp>
      <p:sp>
        <p:nvSpPr>
          <p:cNvPr name="TextBox 19" id="19"/>
          <p:cNvSpPr txBox="true"/>
          <p:nvPr/>
        </p:nvSpPr>
        <p:spPr>
          <a:xfrm rot="0">
            <a:off x="2085875" y="4206240"/>
            <a:ext cx="4194044" cy="958859"/>
          </a:xfrm>
          <a:prstGeom prst="rect">
            <a:avLst/>
          </a:prstGeom>
        </p:spPr>
        <p:txBody>
          <a:bodyPr anchor="t" rtlCol="false" tIns="0" lIns="0" bIns="0" rIns="0">
            <a:spAutoFit/>
          </a:bodyPr>
          <a:lstStyle/>
          <a:p>
            <a:pPr algn="l">
              <a:lnSpc>
                <a:spcPct val="100000"/>
              </a:lnSpc>
            </a:pPr>
            <a:r>
              <a:rPr lang="en-US" sz="2800">
                <a:solidFill>
                  <a:srgbClr val="FFFFFF"/>
                </a:solidFill>
                <a:latin typeface="Playpen Sans"/>
                <a:ea typeface="Playpen Sans"/>
                <a:cs typeface="Playpen Sans"/>
                <a:sym typeface="Playpen Sans"/>
              </a:rPr>
              <a:t>Bab buku dengan panduan baca berbahasa Indonesia.</a:t>
            </a:r>
          </a:p>
        </p:txBody>
      </p:sp>
      <p:sp>
        <p:nvSpPr>
          <p:cNvPr name="TextBox 20" id="20"/>
          <p:cNvSpPr txBox="true"/>
          <p:nvPr/>
        </p:nvSpPr>
        <p:spPr>
          <a:xfrm rot="0">
            <a:off x="11095404" y="4442396"/>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3. Latihan</a:t>
            </a:r>
          </a:p>
        </p:txBody>
      </p:sp>
      <p:sp>
        <p:nvSpPr>
          <p:cNvPr name="TextBox 21" id="21"/>
          <p:cNvSpPr txBox="true"/>
          <p:nvPr/>
        </p:nvSpPr>
        <p:spPr>
          <a:xfrm rot="0">
            <a:off x="11095404" y="5104882"/>
            <a:ext cx="5514110" cy="958859"/>
          </a:xfrm>
          <a:prstGeom prst="rect">
            <a:avLst/>
          </a:prstGeom>
        </p:spPr>
        <p:txBody>
          <a:bodyPr anchor="t" rtlCol="false" tIns="0" lIns="0" bIns="0" rIns="0">
            <a:spAutoFit/>
          </a:bodyPr>
          <a:lstStyle/>
          <a:p>
            <a:pPr algn="l">
              <a:lnSpc>
                <a:spcPct val="100000"/>
              </a:lnSpc>
            </a:pPr>
            <a:r>
              <a:rPr lang="en-US" sz="3000">
                <a:solidFill>
                  <a:srgbClr val="FFFFFF"/>
                </a:solidFill>
                <a:latin typeface="Playpen Sans"/>
                <a:ea typeface="Playpen Sans"/>
                <a:cs typeface="Playpen Sans"/>
                <a:sym typeface="Playpen Sans"/>
              </a:rPr>
              <a:t>Notebook Colab dan satu pertanyaan pemahaman.</a:t>
            </a:r>
          </a:p>
        </p:txBody>
      </p:sp>
      <p:sp>
        <p:nvSpPr>
          <p:cNvPr id="22" name="Beban"/>
          <p:cNvSpPr txBox="1"/>
          <p:nvPr/>
        </p:nvSpPr>
        <p:spPr>
          <a:xfrm>
            <a:off x="2103120" y="2606040"/>
            <a:ext cx="8046720" cy="548640"/>
          </a:xfrm>
          <a:prstGeom prst="rect">
            <a:avLst/>
          </a:prstGeom>
          <a:noFill/>
        </p:spPr>
        <p:txBody>
          <a:bodyPr wrap="square" lIns="0" rIns="0" tIns="0" bIns="0" anchor="t">
            <a:spAutoFit/>
          </a:bodyPr>
          <a:lstStyle/>
          <a:p>
            <a:pPr algn="l">
              <a:spcAft>
                <a:spcPts val="0"/>
              </a:spcAft>
            </a:pPr>
            <a:r>
              <a:rPr sz="3000">
                <a:solidFill>
                  <a:srgbClr val="F7B125"/>
                </a:solidFill>
                <a:latin typeface="Playpen Sans Bold"/>
              </a:rPr>
              <a:t>Sekitar 5 sampai 6 jam per pekan</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5270480" cy="1188720"/>
          </a:xfrm>
          <a:prstGeom prst="rect">
            <a:avLst/>
          </a:prstGeom>
          <a:noFill/>
        </p:spPr>
        <p:txBody>
          <a:bodyPr wrap="square" lIns="0" rIns="0" tIns="0" bIns="0" anchor="t">
            <a:spAutoFit/>
          </a:bodyPr>
          <a:lstStyle/>
          <a:p>
            <a:pPr algn="l">
              <a:spcAft>
                <a:spcPts val="0"/>
              </a:spcAft>
            </a:pPr>
            <a:r>
              <a:rPr sz="5600">
                <a:solidFill>
                  <a:srgbClr val="F7B125"/>
                </a:solidFill>
                <a:latin typeface="Playpen Sans Bold"/>
              </a:rPr>
              <a:t>Dua Buku, Gratis dan Sah</a:t>
            </a:r>
          </a:p>
        </p:txBody>
      </p:sp>
      <p:sp>
        <p:nvSpPr>
          <p:cNvPr id="16" name="Buku 1"/>
          <p:cNvSpPr/>
          <p:nvPr/>
        </p:nvSpPr>
        <p:spPr>
          <a:xfrm>
            <a:off x="1508760" y="2103120"/>
            <a:ext cx="7360919" cy="36576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Isi buku 1"/>
          <p:cNvSpPr txBox="1"/>
          <p:nvPr/>
        </p:nvSpPr>
        <p:spPr>
          <a:xfrm>
            <a:off x="1874519" y="2331720"/>
            <a:ext cx="6629399" cy="3474720"/>
          </a:xfrm>
          <a:prstGeom prst="rect">
            <a:avLst/>
          </a:prstGeom>
          <a:noFill/>
        </p:spPr>
        <p:txBody>
          <a:bodyPr wrap="square" lIns="0" rIns="0" tIns="0" bIns="0" anchor="t">
            <a:spAutoFit/>
          </a:bodyPr>
          <a:lstStyle/>
          <a:p>
            <a:pPr algn="l">
              <a:spcAft>
                <a:spcPts val="1200"/>
              </a:spcAft>
            </a:pPr>
            <a:r>
              <a:rPr sz="3800">
                <a:solidFill>
                  <a:srgbClr val="FFFFFF"/>
                </a:solidFill>
                <a:latin typeface="Playpen Sans Bold"/>
              </a:rPr>
              <a:t>Understanding Deep Learning</a:t>
            </a:r>
          </a:p>
          <a:p>
            <a:pPr algn="l">
              <a:spcAft>
                <a:spcPts val="2000"/>
              </a:spcAft>
            </a:pPr>
            <a:r>
              <a:rPr sz="3000">
                <a:solidFill>
                  <a:srgbClr val="FFFFFF"/>
                </a:solidFill>
                <a:latin typeface="Playpen Sans"/>
              </a:rPr>
              <a:t>Simon J. D. Prince, MIT Press 2023</a:t>
            </a:r>
          </a:p>
          <a:p>
            <a:pPr algn="l">
              <a:spcAft>
                <a:spcPts val="0"/>
              </a:spcAft>
            </a:pPr>
            <a:r>
              <a:rPr sz="3000">
                <a:solidFill>
                  <a:srgbClr val="F7B125"/>
                </a:solidFill>
                <a:latin typeface="Playpen Sans"/>
              </a:rPr>
              <a:t>Untuk Pekan 1 sampai 7 dan 13 sampai 15</a:t>
            </a:r>
          </a:p>
        </p:txBody>
      </p:sp>
      <p:sp>
        <p:nvSpPr>
          <p:cNvPr id="18" name="Buku 2"/>
          <p:cNvSpPr/>
          <p:nvPr/>
        </p:nvSpPr>
        <p:spPr>
          <a:xfrm>
            <a:off x="9418319" y="2103120"/>
            <a:ext cx="7360919" cy="36576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i buku 2"/>
          <p:cNvSpPr txBox="1"/>
          <p:nvPr/>
        </p:nvSpPr>
        <p:spPr>
          <a:xfrm>
            <a:off x="9784080" y="2331720"/>
            <a:ext cx="6629399" cy="3474720"/>
          </a:xfrm>
          <a:prstGeom prst="rect">
            <a:avLst/>
          </a:prstGeom>
          <a:noFill/>
        </p:spPr>
        <p:txBody>
          <a:bodyPr wrap="square" lIns="0" rIns="0" tIns="0" bIns="0" anchor="t">
            <a:spAutoFit/>
          </a:bodyPr>
          <a:lstStyle/>
          <a:p>
            <a:pPr algn="l">
              <a:spcAft>
                <a:spcPts val="1200"/>
              </a:spcAft>
            </a:pPr>
            <a:r>
              <a:rPr sz="3800">
                <a:solidFill>
                  <a:srgbClr val="FFFFFF"/>
                </a:solidFill>
                <a:latin typeface="Playpen Sans Bold"/>
              </a:rPr>
              <a:t>Essentials of Metaheuristics</a:t>
            </a:r>
          </a:p>
          <a:p>
            <a:pPr algn="l">
              <a:spcAft>
                <a:spcPts val="2000"/>
              </a:spcAft>
            </a:pPr>
            <a:r>
              <a:rPr sz="3000">
                <a:solidFill>
                  <a:srgbClr val="FFFFFF"/>
                </a:solidFill>
                <a:latin typeface="Playpen Sans"/>
              </a:rPr>
              <a:t>Sean Luke, edisi kedua, versi 2.4</a:t>
            </a:r>
          </a:p>
          <a:p>
            <a:pPr algn="l">
              <a:spcAft>
                <a:spcPts val="0"/>
              </a:spcAft>
            </a:pPr>
            <a:r>
              <a:rPr sz="3000">
                <a:solidFill>
                  <a:srgbClr val="F7B125"/>
                </a:solidFill>
                <a:latin typeface="Playpen Sans"/>
              </a:rPr>
              <a:t>Untuk Pekan 9 sampai 12</a:t>
            </a:r>
          </a:p>
        </p:txBody>
      </p:sp>
      <p:sp>
        <p:nvSpPr>
          <p:cNvPr id="20" name="Unduh"/>
          <p:cNvSpPr txBox="1"/>
          <p:nvPr/>
        </p:nvSpPr>
        <p:spPr>
          <a:xfrm>
            <a:off x="1508760" y="6172200"/>
            <a:ext cx="15270480" cy="914400"/>
          </a:xfrm>
          <a:prstGeom prst="rect">
            <a:avLst/>
          </a:prstGeom>
          <a:noFill/>
        </p:spPr>
        <p:txBody>
          <a:bodyPr wrap="square" lIns="0" rIns="0" tIns="0" bIns="0" anchor="t">
            <a:spAutoFit/>
          </a:bodyPr>
          <a:lstStyle/>
          <a:p>
            <a:pPr algn="l">
              <a:spcAft>
                <a:spcPts val="0"/>
              </a:spcAft>
            </a:pPr>
            <a:r>
              <a:rPr sz="2800">
                <a:solidFill>
                  <a:srgbClr val="F7B125"/>
                </a:solidFill>
                <a:latin typeface="Playpen Sans Bold"/>
              </a:rPr>
              <a:t>Unduh dari situs penulis. Tautannya ada di Panduan Peserta.</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2179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Penilaian</a:t>
            </a:r>
          </a:p>
        </p:txBody>
      </p:sp>
      <p:sp>
        <p:nvSpPr>
          <p:cNvPr id="14" name="Angka 1"/>
          <p:cNvSpPr txBox="1"/>
          <p:nvPr/>
        </p:nvSpPr>
        <p:spPr>
          <a:xfrm>
            <a:off x="5074920" y="2240280"/>
            <a:ext cx="3627120" cy="1463040"/>
          </a:xfrm>
          <a:prstGeom prst="rect">
            <a:avLst/>
          </a:prstGeom>
          <a:noFill/>
        </p:spPr>
        <p:txBody>
          <a:bodyPr wrap="square" lIns="0" rIns="0" tIns="0" bIns="0" anchor="t">
            <a:spAutoFit/>
          </a:bodyPr>
          <a:lstStyle/>
          <a:p>
            <a:pPr algn="l">
              <a:spcAft>
                <a:spcPts val="0"/>
              </a:spcAft>
            </a:pPr>
            <a:r>
              <a:rPr sz="9600">
                <a:solidFill>
                  <a:srgbClr val="F7B125"/>
                </a:solidFill>
                <a:latin typeface="Playpen Sans Bold"/>
              </a:rPr>
              <a:t>40%</a:t>
            </a:r>
          </a:p>
        </p:txBody>
      </p:sp>
      <p:sp>
        <p:nvSpPr>
          <p:cNvPr id="15" name="Label 1"/>
          <p:cNvSpPr txBox="1"/>
          <p:nvPr/>
        </p:nvSpPr>
        <p:spPr>
          <a:xfrm>
            <a:off x="5074920" y="3840480"/>
            <a:ext cx="3627120" cy="2286000"/>
          </a:xfrm>
          <a:prstGeom prst="rect">
            <a:avLst/>
          </a:prstGeom>
          <a:noFill/>
        </p:spPr>
        <p:txBody>
          <a:bodyPr wrap="square" lIns="0" rIns="0" tIns="0" bIns="0" anchor="t">
            <a:spAutoFit/>
          </a:bodyPr>
          <a:lstStyle/>
          <a:p>
            <a:pPr algn="l">
              <a:spcAft>
                <a:spcPts val="600"/>
              </a:spcAft>
            </a:pPr>
            <a:r>
              <a:rPr sz="3200">
                <a:solidFill>
                  <a:srgbClr val="FFFFFF"/>
                </a:solidFill>
                <a:latin typeface="Playpen Sans Bold"/>
              </a:rPr>
              <a:t>Latihan</a:t>
            </a:r>
          </a:p>
          <a:p>
            <a:pPr algn="l">
              <a:spcAft>
                <a:spcPts val="0"/>
              </a:spcAft>
            </a:pPr>
            <a:r>
              <a:rPr sz="2400">
                <a:solidFill>
                  <a:srgbClr val="FFFFFF"/>
                </a:solidFill>
                <a:latin typeface="Playpen Sans"/>
              </a:rPr>
              <a:t>mingguan: kelengkapan dan satu pertanyaan pemahaman</a:t>
            </a:r>
          </a:p>
        </p:txBody>
      </p:sp>
      <p:sp>
        <p:nvSpPr>
          <p:cNvPr id="16" name="Angka 2"/>
          <p:cNvSpPr txBox="1"/>
          <p:nvPr/>
        </p:nvSpPr>
        <p:spPr>
          <a:xfrm>
            <a:off x="8976360" y="2240280"/>
            <a:ext cx="3627120" cy="1463040"/>
          </a:xfrm>
          <a:prstGeom prst="rect">
            <a:avLst/>
          </a:prstGeom>
          <a:noFill/>
        </p:spPr>
        <p:txBody>
          <a:bodyPr wrap="square" lIns="0" rIns="0" tIns="0" bIns="0" anchor="t">
            <a:spAutoFit/>
          </a:bodyPr>
          <a:lstStyle/>
          <a:p>
            <a:pPr algn="l">
              <a:spcAft>
                <a:spcPts val="0"/>
              </a:spcAft>
            </a:pPr>
            <a:r>
              <a:rPr sz="9600">
                <a:solidFill>
                  <a:srgbClr val="F7B125"/>
                </a:solidFill>
                <a:latin typeface="Playpen Sans Bold"/>
              </a:rPr>
              <a:t>10%</a:t>
            </a:r>
          </a:p>
        </p:txBody>
      </p:sp>
      <p:sp>
        <p:nvSpPr>
          <p:cNvPr id="17" name="Label 2"/>
          <p:cNvSpPr txBox="1"/>
          <p:nvPr/>
        </p:nvSpPr>
        <p:spPr>
          <a:xfrm>
            <a:off x="8976360" y="3840480"/>
            <a:ext cx="3627120" cy="2286000"/>
          </a:xfrm>
          <a:prstGeom prst="rect">
            <a:avLst/>
          </a:prstGeom>
          <a:noFill/>
        </p:spPr>
        <p:txBody>
          <a:bodyPr wrap="square" lIns="0" rIns="0" tIns="0" bIns="0" anchor="t">
            <a:spAutoFit/>
          </a:bodyPr>
          <a:lstStyle/>
          <a:p>
            <a:pPr algn="l">
              <a:spcAft>
                <a:spcPts val="600"/>
              </a:spcAft>
            </a:pPr>
            <a:r>
              <a:rPr sz="3200">
                <a:solidFill>
                  <a:srgbClr val="FFFFFF"/>
                </a:solidFill>
                <a:latin typeface="Playpen Sans Bold"/>
              </a:rPr>
              <a:t>Cek lisan</a:t>
            </a:r>
          </a:p>
          <a:p>
            <a:pPr algn="l">
              <a:spcAft>
                <a:spcPts val="0"/>
              </a:spcAft>
            </a:pPr>
            <a:r>
              <a:rPr sz="2400">
                <a:solidFill>
                  <a:srgbClr val="FFFFFF"/>
                </a:solidFill>
                <a:latin typeface="Playpen Sans"/>
              </a:rPr>
              <a:t>Pekan 8 individu, Pekan 12 tim</a:t>
            </a:r>
          </a:p>
        </p:txBody>
      </p:sp>
      <p:sp>
        <p:nvSpPr>
          <p:cNvPr id="18" name="Angka 3"/>
          <p:cNvSpPr txBox="1"/>
          <p:nvPr/>
        </p:nvSpPr>
        <p:spPr>
          <a:xfrm>
            <a:off x="12877800" y="2240280"/>
            <a:ext cx="3627120" cy="1463040"/>
          </a:xfrm>
          <a:prstGeom prst="rect">
            <a:avLst/>
          </a:prstGeom>
          <a:noFill/>
        </p:spPr>
        <p:txBody>
          <a:bodyPr wrap="square" lIns="0" rIns="0" tIns="0" bIns="0" anchor="t">
            <a:spAutoFit/>
          </a:bodyPr>
          <a:lstStyle/>
          <a:p>
            <a:pPr algn="l">
              <a:spcAft>
                <a:spcPts val="0"/>
              </a:spcAft>
            </a:pPr>
            <a:r>
              <a:rPr sz="9600">
                <a:solidFill>
                  <a:srgbClr val="F7B125"/>
                </a:solidFill>
                <a:latin typeface="Playpen Sans Bold"/>
              </a:rPr>
              <a:t>50%</a:t>
            </a:r>
          </a:p>
        </p:txBody>
      </p:sp>
      <p:sp>
        <p:nvSpPr>
          <p:cNvPr id="19" name="Label 3"/>
          <p:cNvSpPr txBox="1"/>
          <p:nvPr/>
        </p:nvSpPr>
        <p:spPr>
          <a:xfrm>
            <a:off x="12877800" y="3840480"/>
            <a:ext cx="3627120" cy="2286000"/>
          </a:xfrm>
          <a:prstGeom prst="rect">
            <a:avLst/>
          </a:prstGeom>
          <a:noFill/>
        </p:spPr>
        <p:txBody>
          <a:bodyPr wrap="square" lIns="0" rIns="0" tIns="0" bIns="0" anchor="t">
            <a:spAutoFit/>
          </a:bodyPr>
          <a:lstStyle/>
          <a:p>
            <a:pPr algn="l">
              <a:spcAft>
                <a:spcPts val="600"/>
              </a:spcAft>
            </a:pPr>
            <a:r>
              <a:rPr sz="3200">
                <a:solidFill>
                  <a:srgbClr val="FFFFFF"/>
                </a:solidFill>
                <a:latin typeface="Playpen Sans Bold"/>
              </a:rPr>
              <a:t>Proyek akhir</a:t>
            </a:r>
          </a:p>
          <a:p>
            <a:pPr algn="l">
              <a:spcAft>
                <a:spcPts val="0"/>
              </a:spcAft>
            </a:pPr>
            <a:r>
              <a:rPr sz="2400">
                <a:solidFill>
                  <a:srgbClr val="FFFFFF"/>
                </a:solidFill>
                <a:latin typeface="Playpen Sans"/>
              </a:rPr>
              <a:t>tim 30%, cek lisan individu 20%</a:t>
            </a:r>
          </a:p>
        </p:txBody>
      </p:sp>
      <p:sp>
        <p:nvSpPr>
          <p:cNvPr id="20" name="Kehadiran"/>
          <p:cNvSpPr txBox="1"/>
          <p:nvPr/>
        </p:nvSpPr>
        <p:spPr>
          <a:xfrm>
            <a:off x="5074920" y="6217920"/>
            <a:ext cx="11704319" cy="914400"/>
          </a:xfrm>
          <a:prstGeom prst="rect">
            <a:avLst/>
          </a:prstGeom>
          <a:noFill/>
        </p:spPr>
        <p:txBody>
          <a:bodyPr wrap="square" lIns="0" rIns="0" tIns="0" bIns="0" anchor="t">
            <a:spAutoFit/>
          </a:bodyPr>
          <a:lstStyle/>
          <a:p>
            <a:pPr algn="l">
              <a:spcAft>
                <a:spcPts val="0"/>
              </a:spcAft>
            </a:pPr>
            <a:r>
              <a:rPr sz="3000">
                <a:solidFill>
                  <a:srgbClr val="F7B125"/>
                </a:solidFill>
                <a:latin typeface="Playpen Sans Bold"/>
              </a:rPr>
              <a:t>Kehadiran menjadi syarat: minimal 13 dari 16 pertemuan.</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9" id="9"/>
          <p:cNvSpPr/>
          <p:nvPr/>
        </p:nvSpPr>
        <p:spPr>
          <a:xfrm flipH="false" flipV="false" rot="0">
            <a:off x="12978766" y="2453423"/>
            <a:ext cx="7524206" cy="8229600"/>
          </a:xfrm>
          <a:custGeom>
            <a:avLst/>
            <a:gdLst/>
            <a:ahLst/>
            <a:cxnLst/>
            <a:rect r="r" b="b" t="t" l="l"/>
            <a:pathLst>
              <a:path h="8229600" w="7524206">
                <a:moveTo>
                  <a:pt x="0" y="0"/>
                </a:moveTo>
                <a:lnTo>
                  <a:pt x="7524205" y="0"/>
                </a:lnTo>
                <a:lnTo>
                  <a:pt x="7524205" y="8229600"/>
                </a:lnTo>
                <a:lnTo>
                  <a:pt x="0" y="8229600"/>
                </a:lnTo>
                <a:lnTo>
                  <a:pt x="0" y="0"/>
                </a:lnTo>
                <a:close/>
              </a:path>
            </a:pathLst>
          </a:custGeom>
          <a:blipFill>
            <a:blip r:embed="rId7"/>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161288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0424159"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Proyek Akhir</a:t>
            </a:r>
          </a:p>
        </p:txBody>
      </p:sp>
      <p:sp>
        <p:nvSpPr>
          <p:cNvPr id="16" name="Isi proyek"/>
          <p:cNvSpPr txBox="1"/>
          <p:nvPr/>
        </p:nvSpPr>
        <p:spPr>
          <a:xfrm>
            <a:off x="1508760" y="2194560"/>
            <a:ext cx="10424159" cy="4206240"/>
          </a:xfrm>
          <a:prstGeom prst="rect">
            <a:avLst/>
          </a:prstGeom>
          <a:noFill/>
        </p:spPr>
        <p:txBody>
          <a:bodyPr wrap="square" lIns="0" rIns="0" tIns="0" bIns="0" anchor="t">
            <a:spAutoFit/>
          </a:bodyPr>
          <a:lstStyle/>
          <a:p>
            <a:pPr algn="l" marL="502920" indent="-502920">
              <a:spcAft>
                <a:spcPts val="1200"/>
              </a:spcAft>
              <a:buClr>
                <a:srgbClr val="F7B125"/>
              </a:buClr>
              <a:buFont typeface="Arial"/>
              <a:buChar char="•"/>
            </a:pPr>
            <a:r>
              <a:rPr sz="2900">
                <a:solidFill>
                  <a:srgbClr val="FFFFFF"/>
                </a:solidFill>
                <a:latin typeface="Playpen Sans"/>
              </a:rPr>
              <a:t>Tim 3 orang: model ML dengan lapisan optimasi yang benar-benar menentukan hasil</a:t>
            </a:r>
          </a:p>
          <a:p>
            <a:pPr algn="l" marL="502920" indent="-502920">
              <a:spcAft>
                <a:spcPts val="1200"/>
              </a:spcAft>
              <a:buClr>
                <a:srgbClr val="F7B125"/>
              </a:buClr>
              <a:buFont typeface="Arial"/>
              <a:buChar char="•"/>
            </a:pPr>
            <a:r>
              <a:rPr sz="2900">
                <a:solidFill>
                  <a:srgbClr val="FFFFFF"/>
                </a:solidFill>
                <a:latin typeface="Playpen Sans"/>
              </a:rPr>
              <a:t>Dibandingkan dengan pembanding, anggaran sama, minimal 10 percobaan</a:t>
            </a:r>
          </a:p>
          <a:p>
            <a:pPr algn="l" marL="502920" indent="-502920">
              <a:spcAft>
                <a:spcPts val="1200"/>
              </a:spcAft>
              <a:buClr>
                <a:srgbClr val="F7B125"/>
              </a:buClr>
              <a:buFont typeface="Arial"/>
              <a:buChar char="•"/>
            </a:pPr>
            <a:r>
              <a:rPr sz="2900">
                <a:solidFill>
                  <a:srgbClr val="FFFFFF"/>
                </a:solidFill>
                <a:latin typeface="Playpen Sans"/>
              </a:rPr>
              <a:t>Demo yang bisa dibuka di peramban, plus catatan teknis 2 sampai 3 halaman</a:t>
            </a:r>
          </a:p>
          <a:p>
            <a:pPr algn="l" marL="502920" indent="-502920">
              <a:spcAft>
                <a:spcPts val="0"/>
              </a:spcAft>
              <a:buClr>
                <a:srgbClr val="F7B125"/>
              </a:buClr>
              <a:buFont typeface="Arial"/>
              <a:buChar char="•"/>
            </a:pPr>
            <a:r>
              <a:rPr sz="2900">
                <a:solidFill>
                  <a:srgbClr val="F7B125"/>
                </a:solidFill>
                <a:latin typeface="Playpen Sans Bold"/>
              </a:rPr>
              <a:t>Hari Demo di Pekan 16</a:t>
            </a:r>
          </a:p>
        </p:txBody>
      </p:sp>
      <p:sp>
        <p:nvSpPr>
          <p:cNvPr id="17" name="Jalur waktu"/>
          <p:cNvSpPr txBox="1"/>
          <p:nvPr/>
        </p:nvSpPr>
        <p:spPr>
          <a:xfrm>
            <a:off x="1508760" y="6446520"/>
            <a:ext cx="10424159" cy="731520"/>
          </a:xfrm>
          <a:prstGeom prst="rect">
            <a:avLst/>
          </a:prstGeom>
          <a:noFill/>
        </p:spPr>
        <p:txBody>
          <a:bodyPr wrap="square" lIns="0" rIns="0" tIns="0" bIns="0" anchor="t">
            <a:spAutoFit/>
          </a:bodyPr>
          <a:lstStyle/>
          <a:p>
            <a:pPr algn="l">
              <a:spcAft>
                <a:spcPts val="0"/>
              </a:spcAft>
            </a:pPr>
            <a:r>
              <a:rPr sz="2600">
                <a:solidFill>
                  <a:srgbClr val="FFFFFF"/>
                </a:solidFill>
                <a:latin typeface="Playpen Sans Bold"/>
              </a:rPr>
              <a:t>Proposal Pekan 9 · Baseline Pekan 11 · Demo Pekan 16</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40080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Alat AI</a:t>
            </a:r>
          </a:p>
        </p:txBody>
      </p:sp>
      <p:sp>
        <p:nvSpPr>
          <p:cNvPr id="14" name="Teks"/>
          <p:cNvSpPr txBox="1"/>
          <p:nvPr/>
        </p:nvSpPr>
        <p:spPr>
          <a:xfrm>
            <a:off x="5074920" y="2194560"/>
            <a:ext cx="11704319" cy="4937760"/>
          </a:xfrm>
          <a:prstGeom prst="rect">
            <a:avLst/>
          </a:prstGeom>
          <a:noFill/>
        </p:spPr>
        <p:txBody>
          <a:bodyPr wrap="square" lIns="0" rIns="0" tIns="0" bIns="0" anchor="t">
            <a:spAutoFit/>
          </a:bodyPr>
          <a:lstStyle/>
          <a:p>
            <a:pPr algn="l">
              <a:spcAft>
                <a:spcPts val="1400"/>
              </a:spcAft>
            </a:pPr>
            <a:r>
              <a:rPr sz="3400">
                <a:solidFill>
                  <a:srgbClr val="FFFFFF"/>
                </a:solidFill>
                <a:latin typeface="Playpen Sans"/>
              </a:rPr>
              <a:t>Pakai AI apa pun, kapan pun. Tidak ada yang mencatatnya.</a:t>
            </a:r>
          </a:p>
          <a:p>
            <a:pPr algn="l">
              <a:spcAft>
                <a:spcPts val="1000"/>
              </a:spcAft>
            </a:pPr>
            <a:r>
              <a:rPr sz="3200">
                <a:solidFill>
                  <a:srgbClr val="F7B125"/>
                </a:solidFill>
                <a:latin typeface="Playpen Sans Bold"/>
              </a:rPr>
              <a:t>Tiga hal tetap berlaku:</a:t>
            </a:r>
          </a:p>
          <a:p>
            <a:pPr algn="l" marL="502920" indent="-502920">
              <a:spcAft>
                <a:spcPts val="1000"/>
              </a:spcAft>
              <a:buClr>
                <a:srgbClr val="F7B125"/>
              </a:buClr>
              <a:buFont typeface="Playpen Sans Bold"/>
              <a:buAutoNum type="arabicPeriod"/>
            </a:pPr>
            <a:r>
              <a:rPr sz="2900">
                <a:solidFill>
                  <a:srgbClr val="FFFFFF"/>
                </a:solidFill>
                <a:latin typeface="Playpen Sans"/>
              </a:rPr>
              <a:t>Kuis pembuka dan cek lisan: tanpa perangkat</a:t>
            </a:r>
          </a:p>
          <a:p>
            <a:pPr algn="l" marL="502920" indent="-502920">
              <a:spcAft>
                <a:spcPts val="1000"/>
              </a:spcAft>
              <a:buClr>
                <a:srgbClr val="F7B125"/>
              </a:buClr>
              <a:buFont typeface="Playpen Sans Bold"/>
              <a:buAutoNum type="arabicPeriod"/>
            </a:pPr>
            <a:r>
              <a:rPr sz="2900">
                <a:solidFill>
                  <a:srgbClr val="FFFFFF"/>
                </a:solidFill>
                <a:latin typeface="Playpen Sans"/>
              </a:rPr>
              <a:t>Cek dulu jawaban AI sebelum kamu pakai</a:t>
            </a:r>
          </a:p>
          <a:p>
            <a:pPr algn="l" marL="502920" indent="-502920">
              <a:spcAft>
                <a:spcPts val="0"/>
              </a:spcAft>
              <a:buClr>
                <a:srgbClr val="F7B125"/>
              </a:buClr>
              <a:buFont typeface="Playpen Sans Bold"/>
              <a:buAutoNum type="arabicPeriod"/>
            </a:pPr>
            <a:r>
              <a:rPr sz="2900">
                <a:solidFill>
                  <a:srgbClr val="FFFFFF"/>
                </a:solidFill>
                <a:latin typeface="Playpen Sans"/>
              </a:rPr>
              <a:t>Kamu yang bertanggung jawab dan harus bisa menjelaskannya</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5270480" cy="1188720"/>
          </a:xfrm>
          <a:prstGeom prst="rect">
            <a:avLst/>
          </a:prstGeom>
          <a:noFill/>
        </p:spPr>
        <p:txBody>
          <a:bodyPr wrap="square" lIns="0" rIns="0" tIns="0" bIns="0" anchor="t">
            <a:spAutoFit/>
          </a:bodyPr>
          <a:lstStyle/>
          <a:p>
            <a:pPr algn="l">
              <a:spcAft>
                <a:spcPts val="0"/>
              </a:spcAft>
            </a:pPr>
            <a:r>
              <a:rPr sz="6000">
                <a:solidFill>
                  <a:srgbClr val="F7B125"/>
                </a:solidFill>
                <a:latin typeface="Playpen Sans Bold"/>
              </a:rPr>
              <a:t>Harapan Dua Arah</a:t>
            </a:r>
          </a:p>
        </p:txBody>
      </p:sp>
      <p:sp>
        <p:nvSpPr>
          <p:cNvPr id="16" name="Kolom 1"/>
          <p:cNvSpPr/>
          <p:nvPr/>
        </p:nvSpPr>
        <p:spPr>
          <a:xfrm>
            <a:off x="1508760" y="2103120"/>
            <a:ext cx="7360919" cy="50292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Dari kamu"/>
          <p:cNvSpPr/>
          <p:nvPr/>
        </p:nvSpPr>
        <p:spPr>
          <a:xfrm>
            <a:off x="1828800" y="2286000"/>
            <a:ext cx="2761487"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Dari kamu"/>
          <p:cNvSpPr txBox="1"/>
          <p:nvPr/>
        </p:nvSpPr>
        <p:spPr>
          <a:xfrm>
            <a:off x="1828800" y="2350008"/>
            <a:ext cx="2761487" cy="548640"/>
          </a:xfrm>
          <a:prstGeom prst="rect">
            <a:avLst/>
          </a:prstGeom>
          <a:noFill/>
        </p:spPr>
        <p:txBody>
          <a:bodyPr wrap="square" lIns="0" rIns="0" tIns="0" bIns="0" anchor="t">
            <a:spAutoFit/>
          </a:bodyPr>
          <a:lstStyle/>
          <a:p>
            <a:pPr algn="ctr">
              <a:spcAft>
                <a:spcPts val="0"/>
              </a:spcAft>
            </a:pPr>
            <a:r>
              <a:rPr sz="2400">
                <a:solidFill>
                  <a:srgbClr val="0A2540"/>
                </a:solidFill>
                <a:latin typeface="Playpen Sans Bold"/>
              </a:rPr>
              <a:t>Dari kamu</a:t>
            </a:r>
          </a:p>
        </p:txBody>
      </p:sp>
      <p:sp>
        <p:nvSpPr>
          <p:cNvPr id="19" name="Isi kolom 1"/>
          <p:cNvSpPr txBox="1"/>
          <p:nvPr/>
        </p:nvSpPr>
        <p:spPr>
          <a:xfrm>
            <a:off x="1874519" y="3200400"/>
            <a:ext cx="6629399" cy="3840480"/>
          </a:xfrm>
          <a:prstGeom prst="rect">
            <a:avLst/>
          </a:prstGeom>
          <a:noFill/>
        </p:spPr>
        <p:txBody>
          <a:bodyPr wrap="square" lIns="0" rIns="0" tIns="0" bIns="0" anchor="t">
            <a:spAutoFit/>
          </a:bodyPr>
          <a:lstStyle/>
          <a:p>
            <a:pPr algn="l" marL="502920" indent="-502920">
              <a:spcAft>
                <a:spcPts val="1600"/>
              </a:spcAft>
              <a:buClr>
                <a:srgbClr val="F7B125"/>
              </a:buClr>
              <a:buFont typeface="Arial"/>
              <a:buChar char="•"/>
            </a:pPr>
            <a:r>
              <a:rPr sz="3100">
                <a:solidFill>
                  <a:srgbClr val="FFFFFF"/>
                </a:solidFill>
                <a:latin typeface="Playpen Sans"/>
              </a:rPr>
              <a:t>Hadir dan bawa laptop</a:t>
            </a:r>
          </a:p>
          <a:p>
            <a:pPr algn="l" marL="502920" indent="-502920">
              <a:spcAft>
                <a:spcPts val="1600"/>
              </a:spcAft>
              <a:buClr>
                <a:srgbClr val="F7B125"/>
              </a:buClr>
              <a:buFont typeface="Arial"/>
              <a:buChar char="•"/>
            </a:pPr>
            <a:r>
              <a:rPr sz="3100">
                <a:solidFill>
                  <a:srgbClr val="FFFFFF"/>
                </a:solidFill>
                <a:latin typeface="Playpen Sans"/>
              </a:rPr>
              <a:t>Baca sebelum kelas</a:t>
            </a:r>
          </a:p>
          <a:p>
            <a:pPr algn="l" marL="502920" indent="-502920">
              <a:spcAft>
                <a:spcPts val="1600"/>
              </a:spcAft>
              <a:buClr>
                <a:srgbClr val="F7B125"/>
              </a:buClr>
              <a:buFont typeface="Arial"/>
              <a:buChar char="•"/>
            </a:pPr>
            <a:r>
              <a:rPr sz="3100">
                <a:solidFill>
                  <a:srgbClr val="FFFFFF"/>
                </a:solidFill>
                <a:latin typeface="Playpen Sans"/>
              </a:rPr>
              <a:t>Bertanya saat bingung. Bingung itu normal</a:t>
            </a:r>
          </a:p>
          <a:p>
            <a:pPr algn="l" marL="502920" indent="-502920">
              <a:spcAft>
                <a:spcPts val="0"/>
              </a:spcAft>
              <a:buClr>
                <a:srgbClr val="F7B125"/>
              </a:buClr>
              <a:buFont typeface="Arial"/>
              <a:buChar char="•"/>
            </a:pPr>
            <a:r>
              <a:rPr sz="3100">
                <a:solidFill>
                  <a:srgbClr val="FFFFFF"/>
                </a:solidFill>
                <a:latin typeface="Playpen Sans"/>
              </a:rPr>
              <a:t>Kumpulkan latihan tepat waktu</a:t>
            </a:r>
          </a:p>
        </p:txBody>
      </p:sp>
      <p:sp>
        <p:nvSpPr>
          <p:cNvPr id="20" name="Kolom 2"/>
          <p:cNvSpPr/>
          <p:nvPr/>
        </p:nvSpPr>
        <p:spPr>
          <a:xfrm>
            <a:off x="9418319" y="2103120"/>
            <a:ext cx="7360919" cy="50292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Dari mentor"/>
          <p:cNvSpPr/>
          <p:nvPr/>
        </p:nvSpPr>
        <p:spPr>
          <a:xfrm>
            <a:off x="9738359" y="2286000"/>
            <a:ext cx="3212591"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Dari mentor"/>
          <p:cNvSpPr txBox="1"/>
          <p:nvPr/>
        </p:nvSpPr>
        <p:spPr>
          <a:xfrm>
            <a:off x="9738359" y="2350008"/>
            <a:ext cx="3212591" cy="548640"/>
          </a:xfrm>
          <a:prstGeom prst="rect">
            <a:avLst/>
          </a:prstGeom>
          <a:noFill/>
        </p:spPr>
        <p:txBody>
          <a:bodyPr wrap="square" lIns="0" rIns="0" tIns="0" bIns="0" anchor="t">
            <a:spAutoFit/>
          </a:bodyPr>
          <a:lstStyle/>
          <a:p>
            <a:pPr algn="ctr">
              <a:spcAft>
                <a:spcPts val="0"/>
              </a:spcAft>
            </a:pPr>
            <a:r>
              <a:rPr sz="2400">
                <a:solidFill>
                  <a:srgbClr val="0A2540"/>
                </a:solidFill>
                <a:latin typeface="Playpen Sans Bold"/>
              </a:rPr>
              <a:t>Dari mentor</a:t>
            </a:r>
          </a:p>
        </p:txBody>
      </p:sp>
      <p:sp>
        <p:nvSpPr>
          <p:cNvPr id="23" name="Isi kolom 2"/>
          <p:cNvSpPr txBox="1"/>
          <p:nvPr/>
        </p:nvSpPr>
        <p:spPr>
          <a:xfrm>
            <a:off x="9784080" y="3200400"/>
            <a:ext cx="6629399" cy="3840480"/>
          </a:xfrm>
          <a:prstGeom prst="rect">
            <a:avLst/>
          </a:prstGeom>
          <a:noFill/>
        </p:spPr>
        <p:txBody>
          <a:bodyPr wrap="square" lIns="0" rIns="0" tIns="0" bIns="0" anchor="t">
            <a:spAutoFit/>
          </a:bodyPr>
          <a:lstStyle/>
          <a:p>
            <a:pPr algn="l" marL="502920" indent="-502920">
              <a:spcAft>
                <a:spcPts val="1600"/>
              </a:spcAft>
              <a:buClr>
                <a:srgbClr val="F7B125"/>
              </a:buClr>
              <a:buFont typeface="Arial"/>
              <a:buChar char="•"/>
            </a:pPr>
            <a:r>
              <a:rPr sz="3100">
                <a:solidFill>
                  <a:srgbClr val="FFFFFF"/>
                </a:solidFill>
                <a:latin typeface="Playpen Sans"/>
              </a:rPr>
              <a:t>Panduan baca dan notebook setiap pekan</a:t>
            </a:r>
          </a:p>
          <a:p>
            <a:pPr algn="l" marL="502920" indent="-502920">
              <a:spcAft>
                <a:spcPts val="1600"/>
              </a:spcAft>
              <a:buClr>
                <a:srgbClr val="F7B125"/>
              </a:buClr>
              <a:buFont typeface="Arial"/>
              <a:buChar char="•"/>
            </a:pPr>
            <a:r>
              <a:rPr sz="3100">
                <a:solidFill>
                  <a:srgbClr val="FFFFFF"/>
                </a:solidFill>
                <a:latin typeface="Playpen Sans"/>
              </a:rPr>
              <a:t>Contoh sebelum rumus</a:t>
            </a:r>
          </a:p>
          <a:p>
            <a:pPr algn="l" marL="502920" indent="-502920">
              <a:spcAft>
                <a:spcPts val="1600"/>
              </a:spcAft>
              <a:buClr>
                <a:srgbClr val="F7B125"/>
              </a:buClr>
              <a:buFont typeface="Arial"/>
              <a:buChar char="•"/>
            </a:pPr>
            <a:r>
              <a:rPr sz="3100">
                <a:solidFill>
                  <a:srgbClr val="FFFFFF"/>
                </a:solidFill>
                <a:latin typeface="Playpen Sans"/>
              </a:rPr>
              <a:t>Bantuan saat latihan di kelas</a:t>
            </a:r>
          </a:p>
          <a:p>
            <a:pPr algn="l" marL="502920" indent="-502920">
              <a:spcAft>
                <a:spcPts val="0"/>
              </a:spcAft>
              <a:buClr>
                <a:srgbClr val="F7B125"/>
              </a:buClr>
              <a:buFont typeface="Arial"/>
              <a:buChar char="•"/>
            </a:pPr>
            <a:r>
              <a:rPr sz="3100">
                <a:solidFill>
                  <a:srgbClr val="FFFFFF"/>
                </a:solidFill>
                <a:latin typeface="Playpen Sans"/>
              </a:rPr>
              <a:t>Umpan balik pada latihanmu</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9577136" y="3199705"/>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3"/>
            <a:stretch>
              <a:fillRect l="0" t="0" r="0" b="0"/>
            </a:stretch>
          </a:blipFill>
        </p:spPr>
      </p:sp>
      <p:sp>
        <p:nvSpPr>
          <p:cNvPr name="Freeform 4" id="4"/>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4"/>
            <a:stretch>
              <a:fillRect l="0" t="0" r="0" b="0"/>
            </a:stretch>
          </a:blipFill>
        </p:spPr>
      </p:sp>
      <p:sp>
        <p:nvSpPr>
          <p:cNvPr name="Freeform 6" id="6"/>
          <p:cNvSpPr/>
          <p:nvPr/>
        </p:nvSpPr>
        <p:spPr>
          <a:xfrm flipH="false" flipV="false" rot="0">
            <a:off x="2244885" y="1988036"/>
            <a:ext cx="5309234" cy="5465964"/>
          </a:xfrm>
          <a:custGeom>
            <a:avLst/>
            <a:gdLst/>
            <a:ahLst/>
            <a:cxnLst/>
            <a:rect r="r" b="b" t="t" l="l"/>
            <a:pathLst>
              <a:path h="5465964" w="5309234">
                <a:moveTo>
                  <a:pt x="0" y="0"/>
                </a:moveTo>
                <a:lnTo>
                  <a:pt x="5309235" y="0"/>
                </a:lnTo>
                <a:lnTo>
                  <a:pt x="5309235" y="5465964"/>
                </a:lnTo>
                <a:lnTo>
                  <a:pt x="0" y="5465964"/>
                </a:lnTo>
                <a:lnTo>
                  <a:pt x="0" y="0"/>
                </a:lnTo>
                <a:close/>
              </a:path>
            </a:pathLst>
          </a:custGeom>
          <a:blipFill>
            <a:blip r:embed="rId3"/>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8" id="8"/>
          <p:cNvSpPr/>
          <p:nvPr/>
        </p:nvSpPr>
        <p:spPr>
          <a:xfrm flipH="true" flipV="false" rot="0">
            <a:off x="13751443" y="1408594"/>
            <a:ext cx="5427899" cy="1816870"/>
          </a:xfrm>
          <a:custGeom>
            <a:avLst/>
            <a:gdLst/>
            <a:ahLst/>
            <a:cxnLst/>
            <a:rect r="r" b="b" t="t" l="l"/>
            <a:pathLst>
              <a:path h="1816870" w="5427899">
                <a:moveTo>
                  <a:pt x="5427899" y="0"/>
                </a:moveTo>
                <a:lnTo>
                  <a:pt x="0" y="0"/>
                </a:lnTo>
                <a:lnTo>
                  <a:pt x="0" y="1816870"/>
                </a:lnTo>
                <a:lnTo>
                  <a:pt x="5427899" y="1816870"/>
                </a:lnTo>
                <a:lnTo>
                  <a:pt x="5427899" y="0"/>
                </a:lnTo>
                <a:close/>
              </a:path>
            </a:pathLst>
          </a:custGeom>
          <a:blipFill>
            <a:blip r:embed="rId6">
              <a:alphaModFix amt="65000"/>
            </a:blip>
            <a:stretch>
              <a:fillRect l="0" t="0" r="0" b="0"/>
            </a:stretch>
          </a:blipFill>
        </p:spPr>
      </p:sp>
      <p:sp>
        <p:nvSpPr>
          <p:cNvPr name="Freeform 9" id="9"/>
          <p:cNvSpPr/>
          <p:nvPr/>
        </p:nvSpPr>
        <p:spPr>
          <a:xfrm flipH="false" flipV="false" rot="0">
            <a:off x="13240358" y="2417800"/>
            <a:ext cx="7524206" cy="8229600"/>
          </a:xfrm>
          <a:custGeom>
            <a:avLst/>
            <a:gdLst/>
            <a:ahLst/>
            <a:cxnLst/>
            <a:rect r="r" b="b" t="t" l="l"/>
            <a:pathLst>
              <a:path h="8229600" w="7524206">
                <a:moveTo>
                  <a:pt x="0" y="0"/>
                </a:moveTo>
                <a:lnTo>
                  <a:pt x="7524206" y="0"/>
                </a:lnTo>
                <a:lnTo>
                  <a:pt x="7524206" y="8229600"/>
                </a:lnTo>
                <a:lnTo>
                  <a:pt x="0" y="8229600"/>
                </a:lnTo>
                <a:lnTo>
                  <a:pt x="0" y="0"/>
                </a:lnTo>
                <a:close/>
              </a:path>
            </a:pathLst>
          </a:custGeom>
          <a:blipFill>
            <a:blip r:embed="rId7"/>
            <a:stretch>
              <a:fillRect l="0" t="0" r="0" b="0"/>
            </a:stretch>
          </a:blipFill>
        </p:spPr>
      </p:sp>
      <p:sp>
        <p:nvSpPr>
          <p:cNvPr name="Freeform 10" id="10"/>
          <p:cNvSpPr/>
          <p:nvPr/>
        </p:nvSpPr>
        <p:spPr>
          <a:xfrm flipH="false" flipV="false" rot="0">
            <a:off x="-940574"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190122" y="7454000"/>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423648" y="576981"/>
            <a:ext cx="5790657" cy="1938295"/>
          </a:xfrm>
          <a:custGeom>
            <a:avLst/>
            <a:gdLst/>
            <a:ahLst/>
            <a:cxnLst/>
            <a:rect r="r" b="b" t="t" l="l"/>
            <a:pathLst>
              <a:path h="1938295" w="5790657">
                <a:moveTo>
                  <a:pt x="0" y="0"/>
                </a:moveTo>
                <a:lnTo>
                  <a:pt x="5790656" y="0"/>
                </a:lnTo>
                <a:lnTo>
                  <a:pt x="5790656" y="1938296"/>
                </a:lnTo>
                <a:lnTo>
                  <a:pt x="0" y="1938296"/>
                </a:lnTo>
                <a:lnTo>
                  <a:pt x="0" y="0"/>
                </a:lnTo>
                <a:close/>
              </a:path>
            </a:pathLst>
          </a:custGeom>
          <a:blipFill>
            <a:blip r:embed="rId6">
              <a:alphaModFix amt="65000"/>
            </a:blip>
            <a:stretch>
              <a:fillRect l="0" t="0" r="0" b="0"/>
            </a:stretch>
          </a:blipFill>
        </p:spPr>
      </p:sp>
      <p:grpSp>
        <p:nvGrpSpPr>
          <p:cNvPr name="Group 14" id="14"/>
          <p:cNvGrpSpPr/>
          <p:nvPr/>
        </p:nvGrpSpPr>
        <p:grpSpPr>
          <a:xfrm rot="0">
            <a:off x="4061996" y="2829602"/>
            <a:ext cx="4927222" cy="791725"/>
            <a:chOff x="0" y="0"/>
            <a:chExt cx="1297705" cy="208520"/>
          </a:xfrm>
        </p:grpSpPr>
        <p:sp>
          <p:nvSpPr>
            <p:cNvPr name="Freeform 15" id="15"/>
            <p:cNvSpPr/>
            <p:nvPr/>
          </p:nvSpPr>
          <p:spPr>
            <a:xfrm flipH="false" flipV="false" rot="0">
              <a:off x="0" y="0"/>
              <a:ext cx="1297705" cy="208520"/>
            </a:xfrm>
            <a:custGeom>
              <a:avLst/>
              <a:gdLst/>
              <a:ahLst/>
              <a:cxnLst/>
              <a:rect r="r" b="b" t="t" l="l"/>
              <a:pathLst>
                <a:path h="208520" w="1297705">
                  <a:moveTo>
                    <a:pt x="104260" y="0"/>
                  </a:moveTo>
                  <a:lnTo>
                    <a:pt x="1193444" y="0"/>
                  </a:lnTo>
                  <a:cubicBezTo>
                    <a:pt x="1251026" y="0"/>
                    <a:pt x="1297705" y="46679"/>
                    <a:pt x="1297705" y="104260"/>
                  </a:cubicBezTo>
                  <a:lnTo>
                    <a:pt x="1297705" y="104260"/>
                  </a:lnTo>
                  <a:cubicBezTo>
                    <a:pt x="1297705" y="161841"/>
                    <a:pt x="1251026" y="208520"/>
                    <a:pt x="1193444" y="208520"/>
                  </a:cubicBezTo>
                  <a:lnTo>
                    <a:pt x="104260" y="208520"/>
                  </a:lnTo>
                  <a:cubicBezTo>
                    <a:pt x="46679" y="208520"/>
                    <a:pt x="0" y="161841"/>
                    <a:pt x="0" y="104260"/>
                  </a:cubicBezTo>
                  <a:lnTo>
                    <a:pt x="0" y="104260"/>
                  </a:lnTo>
                  <a:cubicBezTo>
                    <a:pt x="0" y="46679"/>
                    <a:pt x="46679" y="0"/>
                    <a:pt x="104260" y="0"/>
                  </a:cubicBezTo>
                  <a:close/>
                </a:path>
              </a:pathLst>
            </a:custGeom>
            <a:ln w="19050" cap="rnd">
              <a:solidFill>
                <a:srgbClr val="FFFFFF"/>
              </a:solidFill>
              <a:prstDash val="solid"/>
              <a:round/>
            </a:ln>
          </p:spPr>
        </p:sp>
        <p:sp>
          <p:nvSpPr>
            <p:cNvPr name="TextBox 16" id="16"/>
            <p:cNvSpPr txBox="true"/>
            <p:nvPr/>
          </p:nvSpPr>
          <p:spPr>
            <a:xfrm>
              <a:off x="0" y="-38100"/>
              <a:ext cx="1297705" cy="24662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3107461" y="6036889"/>
            <a:ext cx="6890564" cy="3775455"/>
          </a:xfrm>
          <a:custGeom>
            <a:avLst/>
            <a:gdLst/>
            <a:ahLst/>
            <a:cxnLst/>
            <a:rect r="r" b="b" t="t" l="l"/>
            <a:pathLst>
              <a:path h="3775455" w="6890564">
                <a:moveTo>
                  <a:pt x="0" y="0"/>
                </a:moveTo>
                <a:lnTo>
                  <a:pt x="6890563" y="0"/>
                </a:lnTo>
                <a:lnTo>
                  <a:pt x="6890563" y="3775454"/>
                </a:lnTo>
                <a:lnTo>
                  <a:pt x="0" y="3775454"/>
                </a:lnTo>
                <a:lnTo>
                  <a:pt x="0" y="0"/>
                </a:lnTo>
                <a:close/>
              </a:path>
            </a:pathLst>
          </a:custGeom>
          <a:blipFill>
            <a:blip r:embed="rId11"/>
            <a:stretch>
              <a:fillRect l="0" t="0" r="0" b="0"/>
            </a:stretch>
          </a:blipFill>
        </p:spPr>
      </p:sp>
      <p:sp>
        <p:nvSpPr>
          <p:cNvPr name="Freeform 21" id="21"/>
          <p:cNvSpPr/>
          <p:nvPr/>
        </p:nvSpPr>
        <p:spPr>
          <a:xfrm flipH="true" flipV="false" rot="0">
            <a:off x="12007845" y="1772904"/>
            <a:ext cx="3857149" cy="2113396"/>
          </a:xfrm>
          <a:custGeom>
            <a:avLst/>
            <a:gdLst/>
            <a:ahLst/>
            <a:cxnLst/>
            <a:rect r="r" b="b" t="t" l="l"/>
            <a:pathLst>
              <a:path h="2113396" w="3857149">
                <a:moveTo>
                  <a:pt x="3857149" y="0"/>
                </a:moveTo>
                <a:lnTo>
                  <a:pt x="0" y="0"/>
                </a:lnTo>
                <a:lnTo>
                  <a:pt x="0" y="2113396"/>
                </a:lnTo>
                <a:lnTo>
                  <a:pt x="3857149" y="2113396"/>
                </a:lnTo>
                <a:lnTo>
                  <a:pt x="3857149" y="0"/>
                </a:lnTo>
                <a:close/>
              </a:path>
            </a:pathLst>
          </a:custGeom>
          <a:blipFill>
            <a:blip r:embed="rId11"/>
            <a:stretch>
              <a:fillRect l="0" t="0" r="0" b="0"/>
            </a:stretch>
          </a:blipFill>
        </p:spPr>
      </p:sp>
      <p:sp>
        <p:nvSpPr>
          <p:cNvPr name="TextBox 22" id="22"/>
          <p:cNvSpPr txBox="true"/>
          <p:nvPr/>
        </p:nvSpPr>
        <p:spPr>
          <a:xfrm rot="0">
            <a:off x="3709994" y="4011851"/>
            <a:ext cx="7688251" cy="1920836"/>
          </a:xfrm>
          <a:prstGeom prst="rect">
            <a:avLst/>
          </a:prstGeom>
        </p:spPr>
        <p:txBody>
          <a:bodyPr anchor="t" rtlCol="false" tIns="0" lIns="0" bIns="0" rIns="0">
            <a:spAutoFit/>
          </a:bodyPr>
          <a:lstStyle/>
          <a:p>
            <a:pPr algn="l">
              <a:lnSpc>
                <a:spcPct val="100000"/>
              </a:lnSpc>
            </a:pPr>
            <a:r>
              <a:rPr lang="en-US" sz="8000" b="true">
                <a:solidFill>
                  <a:srgbClr val="EAC24B"/>
                </a:solidFill>
                <a:latin typeface="Playpen Sans Bold"/>
                <a:ea typeface="Playpen Sans Bold"/>
                <a:cs typeface="Playpen Sans Bold"/>
                <a:sym typeface="Playpen Sans Bold"/>
              </a:rPr>
              <a:t>Istirahat</a:t>
            </a:r>
          </a:p>
        </p:txBody>
      </p:sp>
      <p:sp>
        <p:nvSpPr>
          <p:cNvPr name="TextBox 23" id="23"/>
          <p:cNvSpPr txBox="true"/>
          <p:nvPr/>
        </p:nvSpPr>
        <p:spPr>
          <a:xfrm rot="0">
            <a:off x="4271362" y="3084172"/>
            <a:ext cx="4508490" cy="330209"/>
          </a:xfrm>
          <a:prstGeom prst="rect">
            <a:avLst/>
          </a:prstGeom>
        </p:spPr>
        <p:txBody>
          <a:bodyPr anchor="t" rtlCol="false" tIns="0" lIns="0" bIns="0" rIns="0">
            <a:spAutoFit/>
          </a:bodyPr>
          <a:lstStyle/>
          <a:p>
            <a:pPr algn="ctr">
              <a:lnSpc>
                <a:spcPct val="100000"/>
              </a:lnSpc>
            </a:pPr>
            <a:r>
              <a:rPr lang="en-US" b="true" sz="2200">
                <a:solidFill>
                  <a:srgbClr val="FFFFFF"/>
                </a:solidFill>
                <a:latin typeface="Playpen Sans Bold"/>
                <a:ea typeface="Playpen Sans Bold"/>
                <a:cs typeface="Playpen Sans Bold"/>
                <a:sym typeface="Playpen Sans Bold"/>
              </a:rPr>
              <a:t>Lalu: persiapan dan game</a:t>
            </a:r>
          </a:p>
        </p:txBody>
      </p:sp>
      <p:sp>
        <p:nvSpPr>
          <p:cNvPr name="TextBox 25" id="25"/>
          <p:cNvSpPr txBox="true"/>
          <p:nvPr/>
        </p:nvSpPr>
        <p:spPr>
          <a:xfrm rot="0">
            <a:off x="10391035" y="4011851"/>
            <a:ext cx="4914443" cy="1920836"/>
          </a:xfrm>
          <a:prstGeom prst="rect">
            <a:avLst/>
          </a:prstGeom>
        </p:spPr>
        <p:txBody>
          <a:bodyPr anchor="t" rtlCol="false" tIns="0" lIns="0" bIns="0" rIns="0">
            <a:spAutoFit/>
          </a:bodyPr>
          <a:lstStyle/>
          <a:p>
            <a:pPr algn="l">
              <a:lnSpc>
                <a:spcPct val="100000"/>
              </a:lnSpc>
            </a:pPr>
            <a:r>
              <a:rPr lang="en-US" sz="8000" b="true">
                <a:solidFill>
                  <a:srgbClr val="FFFFFF"/>
                </a:solidFill>
                <a:latin typeface="Playpen Sans Bold"/>
                <a:ea typeface="Playpen Sans Bold"/>
                <a:cs typeface="Playpen Sans Bold"/>
                <a:sym typeface="Playpen Sans Bold"/>
              </a:rPr>
              <a:t>5 menit</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40080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5270480"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Stasiun Persiapan</a:t>
            </a:r>
          </a:p>
        </p:txBody>
      </p:sp>
      <p:sp>
        <p:nvSpPr>
          <p:cNvPr id="16" name="Stasiun 1"/>
          <p:cNvSpPr/>
          <p:nvPr/>
        </p:nvSpPr>
        <p:spPr>
          <a:xfrm>
            <a:off x="1508760" y="2240280"/>
            <a:ext cx="4785360" cy="3566160"/>
          </a:xfrm>
          <a:prstGeom prst="roundRect">
            <a:avLst>
              <a:gd name="adj" fmla="val 6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Isi stasiun 1"/>
          <p:cNvSpPr txBox="1"/>
          <p:nvPr/>
        </p:nvSpPr>
        <p:spPr>
          <a:xfrm>
            <a:off x="1783080" y="2514600"/>
            <a:ext cx="4236720" cy="3108960"/>
          </a:xfrm>
          <a:prstGeom prst="rect">
            <a:avLst/>
          </a:prstGeom>
          <a:noFill/>
        </p:spPr>
        <p:txBody>
          <a:bodyPr wrap="square" lIns="0" rIns="0" tIns="0" bIns="0" anchor="t">
            <a:spAutoFit/>
          </a:bodyPr>
          <a:lstStyle/>
          <a:p>
            <a:pPr algn="l">
              <a:spcAft>
                <a:spcPts val="1200"/>
              </a:spcAft>
            </a:pPr>
            <a:r>
              <a:rPr sz="3200">
                <a:solidFill>
                  <a:srgbClr val="F7B125"/>
                </a:solidFill>
                <a:latin typeface="Playpen Sans Bold"/>
              </a:rPr>
              <a:t>A · Google dan Colab</a:t>
            </a:r>
          </a:p>
          <a:p>
            <a:pPr algn="l">
              <a:spcAft>
                <a:spcPts val="0"/>
              </a:spcAft>
            </a:pPr>
            <a:r>
              <a:rPr sz="2800">
                <a:solidFill>
                  <a:srgbClr val="FFFFFF"/>
                </a:solidFill>
                <a:latin typeface="Playpen Sans"/>
              </a:rPr>
              <a:t>Akun Google masuk. Colab terbuka dan print("halo") berjalan.</a:t>
            </a:r>
          </a:p>
        </p:txBody>
      </p:sp>
      <p:sp>
        <p:nvSpPr>
          <p:cNvPr id="18" name="Stasiun 2"/>
          <p:cNvSpPr/>
          <p:nvPr/>
        </p:nvSpPr>
        <p:spPr>
          <a:xfrm>
            <a:off x="6751320" y="2240280"/>
            <a:ext cx="4785360" cy="3566160"/>
          </a:xfrm>
          <a:prstGeom prst="roundRect">
            <a:avLst>
              <a:gd name="adj" fmla="val 6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i stasiun 2"/>
          <p:cNvSpPr txBox="1"/>
          <p:nvPr/>
        </p:nvSpPr>
        <p:spPr>
          <a:xfrm>
            <a:off x="7025639" y="2514600"/>
            <a:ext cx="4236720" cy="3108960"/>
          </a:xfrm>
          <a:prstGeom prst="rect">
            <a:avLst/>
          </a:prstGeom>
          <a:noFill/>
        </p:spPr>
        <p:txBody>
          <a:bodyPr wrap="square" lIns="0" rIns="0" tIns="0" bIns="0" anchor="t">
            <a:spAutoFit/>
          </a:bodyPr>
          <a:lstStyle/>
          <a:p>
            <a:pPr algn="l">
              <a:spcAft>
                <a:spcPts val="1200"/>
              </a:spcAft>
            </a:pPr>
            <a:r>
              <a:rPr sz="3200">
                <a:solidFill>
                  <a:srgbClr val="F7B125"/>
                </a:solidFill>
                <a:latin typeface="Playpen Sans Bold"/>
              </a:rPr>
              <a:t>B · GitHub</a:t>
            </a:r>
          </a:p>
          <a:p>
            <a:pPr algn="l">
              <a:spcAft>
                <a:spcPts val="0"/>
              </a:spcAft>
            </a:pPr>
            <a:r>
              <a:rPr sz="2800">
                <a:solidFill>
                  <a:srgbClr val="FFFFFF"/>
                </a:solidFill>
                <a:latin typeface="Playpen Sans"/>
              </a:rPr>
              <a:t>Akun GitHub dibuat. Username diberikan ke mentor.</a:t>
            </a:r>
          </a:p>
        </p:txBody>
      </p:sp>
      <p:sp>
        <p:nvSpPr>
          <p:cNvPr id="20" name="Stasiun 3"/>
          <p:cNvSpPr/>
          <p:nvPr/>
        </p:nvSpPr>
        <p:spPr>
          <a:xfrm>
            <a:off x="11993880" y="2240280"/>
            <a:ext cx="4785360" cy="3566160"/>
          </a:xfrm>
          <a:prstGeom prst="roundRect">
            <a:avLst>
              <a:gd name="adj" fmla="val 6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Isi stasiun 3"/>
          <p:cNvSpPr txBox="1"/>
          <p:nvPr/>
        </p:nvSpPr>
        <p:spPr>
          <a:xfrm>
            <a:off x="12268200" y="2514600"/>
            <a:ext cx="4236720" cy="3108960"/>
          </a:xfrm>
          <a:prstGeom prst="rect">
            <a:avLst/>
          </a:prstGeom>
          <a:noFill/>
        </p:spPr>
        <p:txBody>
          <a:bodyPr wrap="square" lIns="0" rIns="0" tIns="0" bIns="0" anchor="t">
            <a:spAutoFit/>
          </a:bodyPr>
          <a:lstStyle/>
          <a:p>
            <a:pPr algn="l">
              <a:spcAft>
                <a:spcPts val="1200"/>
              </a:spcAft>
            </a:pPr>
            <a:r>
              <a:rPr sz="3200">
                <a:solidFill>
                  <a:srgbClr val="F7B125"/>
                </a:solidFill>
                <a:latin typeface="Playpen Sans Bold"/>
              </a:rPr>
              <a:t>C · Buku</a:t>
            </a:r>
          </a:p>
          <a:p>
            <a:pPr algn="l">
              <a:spcAft>
                <a:spcPts val="0"/>
              </a:spcAft>
            </a:pPr>
            <a:r>
              <a:rPr sz="2800">
                <a:solidFill>
                  <a:srgbClr val="FFFFFF"/>
                </a:solidFill>
                <a:latin typeface="Playpen Sans"/>
              </a:rPr>
              <a:t>Kedua buku terunduh dan terbuka di perangkatmu.</a:t>
            </a:r>
          </a:p>
        </p:txBody>
      </p:sp>
      <p:sp>
        <p:nvSpPr>
          <p:cNvPr id="22" name="Catatan"/>
          <p:cNvSpPr txBox="1"/>
          <p:nvPr/>
        </p:nvSpPr>
        <p:spPr>
          <a:xfrm>
            <a:off x="1508760" y="6035040"/>
            <a:ext cx="15270480" cy="822960"/>
          </a:xfrm>
          <a:prstGeom prst="rect">
            <a:avLst/>
          </a:prstGeom>
          <a:noFill/>
        </p:spPr>
        <p:txBody>
          <a:bodyPr wrap="square" lIns="0" rIns="0" tIns="0" bIns="0" anchor="t">
            <a:spAutoFit/>
          </a:bodyPr>
          <a:lstStyle/>
          <a:p>
            <a:pPr algn="l">
              <a:spcAft>
                <a:spcPts val="0"/>
              </a:spcAft>
            </a:pPr>
            <a:r>
              <a:rPr sz="2800">
                <a:solidFill>
                  <a:srgbClr val="F7B125"/>
                </a:solidFill>
                <a:latin typeface="Playpen Sans Bold"/>
              </a:rPr>
              <a:t>10 menit. Sambil menunggu, buka situs kelas di HP: game berikutnya ada di sana.</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5400">
                <a:solidFill>
                  <a:srgbClr val="F7B125"/>
                </a:solidFill>
                <a:latin typeface="Playpen Sans Bold"/>
              </a:rPr>
              <a:t>Flappy Komodo: Manusia Lawan Evolusi</a:t>
            </a:r>
          </a:p>
        </p:txBody>
      </p:sp>
      <p:sp>
        <p:nvSpPr>
          <p:cNvPr id="16" name="Kartu 1"/>
          <p:cNvSpPr/>
          <p:nvPr/>
        </p:nvSpPr>
        <p:spPr>
          <a:xfrm>
            <a:off x="1508760" y="2148840"/>
            <a:ext cx="4876800" cy="393192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Babak 1"/>
          <p:cNvSpPr/>
          <p:nvPr/>
        </p:nvSpPr>
        <p:spPr>
          <a:xfrm>
            <a:off x="1737360" y="2331720"/>
            <a:ext cx="4419600"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Babak 1"/>
          <p:cNvSpPr txBox="1"/>
          <p:nvPr/>
        </p:nvSpPr>
        <p:spPr>
          <a:xfrm>
            <a:off x="173736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1</a:t>
            </a:r>
          </a:p>
        </p:txBody>
      </p:sp>
      <p:sp>
        <p:nvSpPr>
          <p:cNvPr id="19" name="Isi kartu 1"/>
          <p:cNvSpPr txBox="1"/>
          <p:nvPr/>
        </p:nvSpPr>
        <p:spPr>
          <a:xfrm>
            <a:off x="1783080" y="3154680"/>
            <a:ext cx="4328160" cy="2788920"/>
          </a:xfrm>
          <a:prstGeom prst="rect">
            <a:avLst/>
          </a:prstGeom>
          <a:noFill/>
        </p:spPr>
        <p:txBody>
          <a:bodyPr wrap="square" lIns="0" rIns="0" tIns="0" bIns="0" anchor="t">
            <a:spAutoFit/>
          </a:bodyPr>
          <a:lstStyle/>
          <a:p>
            <a:pPr algn="l">
              <a:spcAft>
                <a:spcPts val="800"/>
              </a:spcAft>
            </a:pPr>
            <a:r>
              <a:rPr sz="3000">
                <a:solidFill>
                  <a:srgbClr val="FFFFFF"/>
                </a:solidFill>
                <a:latin typeface="Playpen Sans Bold"/>
              </a:rPr>
              <a:t>Kamu bermain</a:t>
            </a:r>
          </a:p>
          <a:p>
            <a:pPr algn="l">
              <a:spcAft>
                <a:spcPts val="800"/>
              </a:spcAft>
            </a:pPr>
            <a:r>
              <a:rPr sz="2500">
                <a:solidFill>
                  <a:srgbClr val="FFFFFF"/>
                </a:solidFill>
                <a:latin typeface="Playpen Sans"/>
              </a:rPr>
              <a:t>Di HP. Lewati pipa sebanyak mungkin.</a:t>
            </a:r>
          </a:p>
          <a:p>
            <a:pPr algn="l">
              <a:spcAft>
                <a:spcPts val="0"/>
              </a:spcAft>
            </a:pPr>
            <a:r>
              <a:rPr sz="2500">
                <a:solidFill>
                  <a:srgbClr val="F7B125"/>
                </a:solidFill>
                <a:latin typeface="Playpen Sans"/>
              </a:rPr>
              <a:t>10 menit</a:t>
            </a:r>
          </a:p>
        </p:txBody>
      </p:sp>
      <p:sp>
        <p:nvSpPr>
          <p:cNvPr id="20" name="Kartu 2"/>
          <p:cNvSpPr/>
          <p:nvPr/>
        </p:nvSpPr>
        <p:spPr>
          <a:xfrm>
            <a:off x="6705599" y="2148840"/>
            <a:ext cx="4876800" cy="393192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Babak 2"/>
          <p:cNvSpPr/>
          <p:nvPr/>
        </p:nvSpPr>
        <p:spPr>
          <a:xfrm>
            <a:off x="6934199" y="2331720"/>
            <a:ext cx="4419600"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Babak 2"/>
          <p:cNvSpPr txBox="1"/>
          <p:nvPr/>
        </p:nvSpPr>
        <p:spPr>
          <a:xfrm>
            <a:off x="6934199"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2</a:t>
            </a:r>
          </a:p>
        </p:txBody>
      </p:sp>
      <p:sp>
        <p:nvSpPr>
          <p:cNvPr id="23" name="Isi kartu 2"/>
          <p:cNvSpPr txBox="1"/>
          <p:nvPr/>
        </p:nvSpPr>
        <p:spPr>
          <a:xfrm>
            <a:off x="6979919" y="3154680"/>
            <a:ext cx="4328160" cy="2788920"/>
          </a:xfrm>
          <a:prstGeom prst="rect">
            <a:avLst/>
          </a:prstGeom>
          <a:noFill/>
        </p:spPr>
        <p:txBody>
          <a:bodyPr wrap="square" lIns="0" rIns="0" tIns="0" bIns="0" anchor="t">
            <a:spAutoFit/>
          </a:bodyPr>
          <a:lstStyle/>
          <a:p>
            <a:pPr algn="l">
              <a:spcAft>
                <a:spcPts val="800"/>
              </a:spcAft>
            </a:pPr>
            <a:r>
              <a:rPr sz="3000">
                <a:solidFill>
                  <a:srgbClr val="FFFFFF"/>
                </a:solidFill>
                <a:latin typeface="Playpen Sans Bold"/>
              </a:rPr>
              <a:t>Evolusi bermain</a:t>
            </a:r>
          </a:p>
          <a:p>
            <a:pPr algn="l">
              <a:spcAft>
                <a:spcPts val="800"/>
              </a:spcAft>
            </a:pPr>
            <a:r>
              <a:rPr sz="2500">
                <a:solidFill>
                  <a:srgbClr val="FFFFFF"/>
                </a:solidFill>
                <a:latin typeface="Playpen Sans"/>
              </a:rPr>
              <a:t>Di proyektor. 50 komodo belajar sendiri.</a:t>
            </a:r>
          </a:p>
          <a:p>
            <a:pPr algn="l">
              <a:spcAft>
                <a:spcPts val="0"/>
              </a:spcAft>
            </a:pPr>
            <a:r>
              <a:rPr sz="2500">
                <a:solidFill>
                  <a:srgbClr val="F7B125"/>
                </a:solidFill>
                <a:latin typeface="Playpen Sans"/>
              </a:rPr>
              <a:t>10 menit</a:t>
            </a:r>
          </a:p>
        </p:txBody>
      </p:sp>
      <p:sp>
        <p:nvSpPr>
          <p:cNvPr id="24" name="Kartu 3"/>
          <p:cNvSpPr/>
          <p:nvPr/>
        </p:nvSpPr>
        <p:spPr>
          <a:xfrm>
            <a:off x="11902440" y="2148840"/>
            <a:ext cx="4876800" cy="393192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Babak 3"/>
          <p:cNvSpPr/>
          <p:nvPr/>
        </p:nvSpPr>
        <p:spPr>
          <a:xfrm>
            <a:off x="12131040" y="2331720"/>
            <a:ext cx="4419600"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Babak 3"/>
          <p:cNvSpPr txBox="1"/>
          <p:nvPr/>
        </p:nvSpPr>
        <p:spPr>
          <a:xfrm>
            <a:off x="1213104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3</a:t>
            </a:r>
          </a:p>
        </p:txBody>
      </p:sp>
      <p:sp>
        <p:nvSpPr>
          <p:cNvPr id="27" name="Isi kartu 3"/>
          <p:cNvSpPr txBox="1"/>
          <p:nvPr/>
        </p:nvSpPr>
        <p:spPr>
          <a:xfrm>
            <a:off x="12176760" y="3154680"/>
            <a:ext cx="4328160" cy="2788920"/>
          </a:xfrm>
          <a:prstGeom prst="rect">
            <a:avLst/>
          </a:prstGeom>
          <a:noFill/>
        </p:spPr>
        <p:txBody>
          <a:bodyPr wrap="square" lIns="0" rIns="0" tIns="0" bIns="0" anchor="t">
            <a:spAutoFit/>
          </a:bodyPr>
          <a:lstStyle/>
          <a:p>
            <a:pPr algn="l">
              <a:spcAft>
                <a:spcPts val="800"/>
              </a:spcAft>
            </a:pPr>
            <a:r>
              <a:rPr sz="3000">
                <a:solidFill>
                  <a:srgbClr val="FFFFFF"/>
                </a:solidFill>
                <a:latin typeface="Playpen Sans Bold"/>
              </a:rPr>
              <a:t>Kamu jadi pelatih</a:t>
            </a:r>
          </a:p>
          <a:p>
            <a:pPr algn="l">
              <a:spcAft>
                <a:spcPts val="800"/>
              </a:spcAft>
            </a:pPr>
            <a:r>
              <a:rPr sz="2500">
                <a:solidFill>
                  <a:srgbClr val="FFFFFF"/>
                </a:solidFill>
                <a:latin typeface="Playpen Sans"/>
              </a:rPr>
              <a:t>Atur kenop evolusi. Hemat komodo.</a:t>
            </a:r>
          </a:p>
          <a:p>
            <a:pPr algn="l">
              <a:spcAft>
                <a:spcPts val="0"/>
              </a:spcAft>
            </a:pPr>
            <a:r>
              <a:rPr sz="2500">
                <a:solidFill>
                  <a:srgbClr val="F7B125"/>
                </a:solidFill>
                <a:latin typeface="Playpen Sans"/>
              </a:rPr>
              <a:t>15 menit</a:t>
            </a:r>
          </a:p>
        </p:txBody>
      </p:sp>
      <p:sp>
        <p:nvSpPr>
          <p:cNvPr id="28" name="Penutup"/>
          <p:cNvSpPr txBox="1"/>
          <p:nvPr/>
        </p:nvSpPr>
        <p:spPr>
          <a:xfrm>
            <a:off x="1508760" y="6309360"/>
            <a:ext cx="15270480" cy="914400"/>
          </a:xfrm>
          <a:prstGeom prst="rect">
            <a:avLst/>
          </a:prstGeom>
          <a:noFill/>
        </p:spPr>
        <p:txBody>
          <a:bodyPr wrap="square" lIns="0" rIns="0" tIns="0" bIns="0" anchor="t">
            <a:spAutoFit/>
          </a:bodyPr>
          <a:lstStyle/>
          <a:p>
            <a:pPr algn="ctr">
              <a:spcAft>
                <a:spcPts val="0"/>
              </a:spcAft>
            </a:pPr>
            <a:r>
              <a:rPr sz="3000">
                <a:solidFill>
                  <a:srgbClr val="FFFFFF"/>
                </a:solidFill>
                <a:latin typeface="Playpen Sans Bold"/>
              </a:rPr>
              <a:t>Semua orang, dan mesinnya, terbang di lintasan yang sama.</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BABAK 1"/>
          <p:cNvSpPr/>
          <p:nvPr/>
        </p:nvSpPr>
        <p:spPr>
          <a:xfrm>
            <a:off x="1508760" y="960120"/>
            <a:ext cx="2178812"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BABAK 1"/>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1</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800">
                <a:solidFill>
                  <a:srgbClr val="F7B125"/>
                </a:solidFill>
                <a:latin typeface="Playpen Sans Bold"/>
              </a:rPr>
              <a:t>Kamu bermain</a:t>
            </a:r>
          </a:p>
        </p:txBody>
      </p:sp>
      <p:pic>
        <p:nvPicPr>
          <p:cNvPr id="18" name="Paper shot-play" descr="Tangkapan layar Flappy Komodo: komodo di antara dua pipa, skor 3"/>
          <p:cNvPicPr>
            <a:picLocks noChangeAspect="1"/>
          </p:cNvPicPr>
          <p:nvPr/>
        </p:nvPicPr>
        <p:blipFill>
          <a:blip r:embed="rId13"/>
          <a:stretch>
            <a:fillRect/>
          </a:stretch>
        </p:blipFill>
        <p:spPr>
          <a:xfrm>
            <a:off x="1508760" y="2011680"/>
            <a:ext cx="3467496" cy="5212080"/>
          </a:xfrm>
          <a:prstGeom prst="rect">
            <a:avLst/>
          </a:prstGeom>
          <a:ln w="38100">
            <a:solidFill>
              <a:srgbClr val="FFFFFF"/>
            </a:solidFill>
          </a:ln>
        </p:spPr>
      </p:pic>
      <p:sp>
        <p:nvSpPr>
          <p:cNvPr id="19" name="Langkah"/>
          <p:cNvSpPr txBox="1"/>
          <p:nvPr/>
        </p:nvSpPr>
        <p:spPr>
          <a:xfrm>
            <a:off x="5532120" y="2194560"/>
            <a:ext cx="11292839" cy="5029200"/>
          </a:xfrm>
          <a:prstGeom prst="rect">
            <a:avLst/>
          </a:prstGeom>
          <a:noFill/>
        </p:spPr>
        <p:txBody>
          <a:bodyPr wrap="square" lIns="0" rIns="0" tIns="0" bIns="0" anchor="t">
            <a:spAutoFit/>
          </a:bodyPr>
          <a:lstStyle/>
          <a:p>
            <a:pPr algn="l" marL="502920" indent="-502920">
              <a:spcAft>
                <a:spcPts val="1200"/>
              </a:spcAft>
              <a:buClr>
                <a:srgbClr val="F7B125"/>
              </a:buClr>
              <a:buFont typeface="Playpen Sans Bold"/>
              <a:buAutoNum type="arabicPeriod"/>
            </a:pPr>
            <a:r>
              <a:rPr sz="2800">
                <a:solidFill>
                  <a:srgbClr val="FFFFFF"/>
                </a:solidFill>
                <a:latin typeface="Playpen Sans"/>
              </a:rPr>
              <a:t>Buka situs kelas, pilih Flappy Komodo, lalu Play</a:t>
            </a:r>
          </a:p>
          <a:p>
            <a:pPr algn="l" marL="502920" indent="-502920">
              <a:spcAft>
                <a:spcPts val="1200"/>
              </a:spcAft>
              <a:buClr>
                <a:srgbClr val="F7B125"/>
              </a:buClr>
              <a:buFont typeface="Playpen Sans Bold"/>
              <a:buAutoNum type="arabicPeriod"/>
            </a:pPr>
            <a:r>
              <a:rPr sz="2800">
                <a:solidFill>
                  <a:srgbClr val="FFFFFF"/>
                </a:solidFill>
                <a:latin typeface="Playpen Sans"/>
              </a:rPr>
              <a:t>Ketuk layar atau tekan spasi untuk mengepak</a:t>
            </a:r>
          </a:p>
          <a:p>
            <a:pPr algn="l" marL="502920" indent="-502920">
              <a:spcAft>
                <a:spcPts val="1200"/>
              </a:spcAft>
              <a:buClr>
                <a:srgbClr val="F7B125"/>
              </a:buClr>
              <a:buFont typeface="Playpen Sans Bold"/>
              <a:buAutoNum type="arabicPeriod"/>
            </a:pPr>
            <a:r>
              <a:rPr sz="2800">
                <a:solidFill>
                  <a:srgbClr val="FFFFFF"/>
                </a:solidFill>
                <a:latin typeface="Playpen Sans"/>
              </a:rPr>
              <a:t>Main sebanyak yang kamu mau selama 8 menit</a:t>
            </a:r>
          </a:p>
          <a:p>
            <a:pPr algn="l" marL="502920" indent="-502920">
              <a:spcAft>
                <a:spcPts val="0"/>
              </a:spcAft>
              <a:buClr>
                <a:srgbClr val="F7B125"/>
              </a:buClr>
              <a:buFont typeface="Playpen Sans Bold"/>
              <a:buAutoNum type="arabicPeriod"/>
            </a:pPr>
            <a:r>
              <a:rPr sz="2800">
                <a:solidFill>
                  <a:srgbClr val="F7B125"/>
                </a:solidFill>
                <a:latin typeface="Playpen Sans Bold"/>
              </a:rPr>
              <a:t>Tunjukkan skor terbaikmu ke mentor</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BABAK 2"/>
          <p:cNvSpPr/>
          <p:nvPr/>
        </p:nvSpPr>
        <p:spPr>
          <a:xfrm>
            <a:off x="1508760" y="960120"/>
            <a:ext cx="2178812"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BABAK 2"/>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2</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800">
                <a:solidFill>
                  <a:srgbClr val="F7B125"/>
                </a:solidFill>
                <a:latin typeface="Playpen Sans Bold"/>
              </a:rPr>
              <a:t>Evolusi bermain</a:t>
            </a:r>
          </a:p>
        </p:txBody>
      </p:sp>
      <p:pic>
        <p:nvPicPr>
          <p:cNvPr id="18" name="Paper shot-stage" descr="Tampilan proyektor: kawanan komodo, statistik generasi, dan grafik pipa terbaik per generasi"/>
          <p:cNvPicPr>
            <a:picLocks noChangeAspect="1"/>
          </p:cNvPicPr>
          <p:nvPr/>
        </p:nvPicPr>
        <p:blipFill>
          <a:blip r:embed="rId13"/>
          <a:stretch>
            <a:fillRect/>
          </a:stretch>
        </p:blipFill>
        <p:spPr>
          <a:xfrm>
            <a:off x="1508760" y="2011680"/>
            <a:ext cx="8229600" cy="4114800"/>
          </a:xfrm>
          <a:prstGeom prst="rect">
            <a:avLst/>
          </a:prstGeom>
          <a:ln w="38100">
            <a:solidFill>
              <a:srgbClr val="FFFFFF"/>
            </a:solidFill>
          </a:ln>
        </p:spPr>
      </p:pic>
      <p:sp>
        <p:nvSpPr>
          <p:cNvPr id="19" name="Langkah"/>
          <p:cNvSpPr txBox="1"/>
          <p:nvPr/>
        </p:nvSpPr>
        <p:spPr>
          <a:xfrm>
            <a:off x="10195560" y="2103120"/>
            <a:ext cx="6629399" cy="3840480"/>
          </a:xfrm>
          <a:prstGeom prst="rect">
            <a:avLst/>
          </a:prstGeom>
          <a:noFill/>
        </p:spPr>
        <p:txBody>
          <a:bodyPr wrap="square" lIns="0" rIns="0" tIns="0" bIns="0" anchor="t">
            <a:spAutoFit/>
          </a:bodyPr>
          <a:lstStyle/>
          <a:p>
            <a:pPr algn="l" marL="502920" indent="-502920">
              <a:spcAft>
                <a:spcPts val="800"/>
              </a:spcAft>
              <a:buClr>
                <a:srgbClr val="F7B125"/>
              </a:buClr>
              <a:buFont typeface="Playpen Sans Bold"/>
              <a:buAutoNum type="arabicPeriod"/>
            </a:pPr>
            <a:r>
              <a:rPr sz="2500">
                <a:solidFill>
                  <a:srgbClr val="FFFFFF"/>
                </a:solidFill>
                <a:latin typeface="Playpen Sans"/>
              </a:rPr>
              <a:t>50 komodo, otaknya berisi angka acak</a:t>
            </a:r>
          </a:p>
          <a:p>
            <a:pPr algn="l" marL="502920" indent="-502920">
              <a:spcAft>
                <a:spcPts val="800"/>
              </a:spcAft>
              <a:buClr>
                <a:srgbClr val="F7B125"/>
              </a:buClr>
              <a:buFont typeface="Playpen Sans Bold"/>
              <a:buAutoNum type="arabicPeriod"/>
            </a:pPr>
            <a:r>
              <a:rPr sz="2500">
                <a:solidFill>
                  <a:srgbClr val="FFFFFF"/>
                </a:solidFill>
                <a:latin typeface="Playpen Sans"/>
              </a:rPr>
              <a:t>Yang terbang paling jauh menjadi induk</a:t>
            </a:r>
          </a:p>
          <a:p>
            <a:pPr algn="l" marL="502920" indent="-502920">
              <a:spcAft>
                <a:spcPts val="800"/>
              </a:spcAft>
              <a:buClr>
                <a:srgbClr val="F7B125"/>
              </a:buClr>
              <a:buFont typeface="Playpen Sans Bold"/>
              <a:buAutoNum type="arabicPeriod"/>
            </a:pPr>
            <a:r>
              <a:rPr sz="2500">
                <a:solidFill>
                  <a:srgbClr val="FFFFFF"/>
                </a:solidFill>
                <a:latin typeface="Playpen Sans"/>
              </a:rPr>
              <a:t>Anak = campuran induk + sedikit mutasi</a:t>
            </a:r>
          </a:p>
          <a:p>
            <a:pPr algn="l" marL="502920" indent="-502920">
              <a:spcAft>
                <a:spcPts val="0"/>
              </a:spcAft>
              <a:buClr>
                <a:srgbClr val="F7B125"/>
              </a:buClr>
              <a:buFont typeface="Playpen Sans Bold"/>
              <a:buAutoNum type="arabicPeriod"/>
            </a:pPr>
            <a:r>
              <a:rPr sz="2500">
                <a:solidFill>
                  <a:srgbClr val="FFFFFF"/>
                </a:solidFill>
                <a:latin typeface="Playpen Sans"/>
              </a:rPr>
              <a:t>Ulangi</a:t>
            </a:r>
          </a:p>
        </p:txBody>
      </p:sp>
      <p:sp>
        <p:nvSpPr>
          <p:cNvPr id="20" name="Tebakan"/>
          <p:cNvSpPr/>
          <p:nvPr/>
        </p:nvSpPr>
        <p:spPr>
          <a:xfrm>
            <a:off x="10195560" y="5760720"/>
            <a:ext cx="6629399" cy="1417320"/>
          </a:xfrm>
          <a:prstGeom prst="roundRect">
            <a:avLst>
              <a:gd name="adj" fmla="val 10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ks tebakan"/>
          <p:cNvSpPr txBox="1"/>
          <p:nvPr/>
        </p:nvSpPr>
        <p:spPr>
          <a:xfrm>
            <a:off x="10424160" y="5852160"/>
            <a:ext cx="6172199" cy="1280160"/>
          </a:xfrm>
          <a:prstGeom prst="rect">
            <a:avLst/>
          </a:prstGeom>
          <a:noFill/>
        </p:spPr>
        <p:txBody>
          <a:bodyPr wrap="square" lIns="0" rIns="0" tIns="0" bIns="0" anchor="ctr">
            <a:spAutoFit/>
          </a:bodyPr>
          <a:lstStyle/>
          <a:p>
            <a:pPr algn="l">
              <a:spcAft>
                <a:spcPts val="0"/>
              </a:spcAft>
            </a:pPr>
            <a:r>
              <a:rPr sz="2500">
                <a:solidFill>
                  <a:srgbClr val="F7B125"/>
                </a:solidFill>
                <a:latin typeface="Playpen Sans Bold"/>
              </a:rPr>
              <a:t>Tebak dulu: generasi ke berapa mesin melewati skor manusia terbaik?</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BABAK 3"/>
          <p:cNvSpPr/>
          <p:nvPr/>
        </p:nvSpPr>
        <p:spPr>
          <a:xfrm>
            <a:off x="1508760" y="960120"/>
            <a:ext cx="2178812"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BABAK 3"/>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3</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800">
                <a:solidFill>
                  <a:srgbClr val="F7B125"/>
                </a:solidFill>
                <a:latin typeface="Playpen Sans Bold"/>
              </a:rPr>
              <a:t>Kamu jadi pelatih</a:t>
            </a:r>
          </a:p>
        </p:txBody>
      </p:sp>
      <p:pic>
        <p:nvPicPr>
          <p:cNvPr id="18" name="Paper shot-breed" descr="Tangkapan layar halaman Breed: grafik pipa terbaik per generasi dan kode hasil 20-10-6-77"/>
          <p:cNvPicPr>
            <a:picLocks noChangeAspect="1"/>
          </p:cNvPicPr>
          <p:nvPr/>
        </p:nvPicPr>
        <p:blipFill>
          <a:blip r:embed="rId13"/>
          <a:stretch>
            <a:fillRect/>
          </a:stretch>
        </p:blipFill>
        <p:spPr>
          <a:xfrm>
            <a:off x="1508760" y="2011680"/>
            <a:ext cx="3423714" cy="5212080"/>
          </a:xfrm>
          <a:prstGeom prst="rect">
            <a:avLst/>
          </a:prstGeom>
          <a:ln w="38100">
            <a:solidFill>
              <a:srgbClr val="FFFFFF"/>
            </a:solidFill>
          </a:ln>
        </p:spPr>
      </p:pic>
      <p:sp>
        <p:nvSpPr>
          <p:cNvPr id="19" name="Aturan"/>
          <p:cNvSpPr txBox="1"/>
          <p:nvPr/>
        </p:nvSpPr>
        <p:spPr>
          <a:xfrm>
            <a:off x="6355079" y="2103120"/>
            <a:ext cx="10469880" cy="3474720"/>
          </a:xfrm>
          <a:prstGeom prst="rect">
            <a:avLst/>
          </a:prstGeom>
          <a:noFill/>
        </p:spPr>
        <p:txBody>
          <a:bodyPr wrap="square" lIns="0" rIns="0" tIns="0" bIns="0" anchor="t">
            <a:spAutoFit/>
          </a:bodyPr>
          <a:lstStyle/>
          <a:p>
            <a:pPr algn="l" marL="502920" indent="-502920">
              <a:spcAft>
                <a:spcPts val="1000"/>
              </a:spcAft>
              <a:buClr>
                <a:srgbClr val="F7B125"/>
              </a:buClr>
              <a:buFont typeface="Arial"/>
              <a:buChar char="•"/>
            </a:pPr>
            <a:r>
              <a:rPr sz="2700">
                <a:solidFill>
                  <a:srgbClr val="FFFFFF"/>
                </a:solidFill>
                <a:latin typeface="Playpen Sans"/>
              </a:rPr>
              <a:t>Kenop: populasi, mutasi, ukuran otak, seed</a:t>
            </a:r>
          </a:p>
          <a:p>
            <a:pPr algn="l" marL="502920" indent="-502920">
              <a:spcAft>
                <a:spcPts val="1000"/>
              </a:spcAft>
              <a:buClr>
                <a:srgbClr val="F7B125"/>
              </a:buClr>
              <a:buFont typeface="Arial"/>
              <a:buChar char="•"/>
            </a:pPr>
            <a:r>
              <a:rPr sz="2700">
                <a:solidFill>
                  <a:srgbClr val="F7B125"/>
                </a:solidFill>
                <a:latin typeface="Playpen Sans Bold"/>
              </a:rPr>
              <a:t>Semua dapat anggaran sama: 600 komodo</a:t>
            </a:r>
          </a:p>
          <a:p>
            <a:pPr algn="l" marL="502920" indent="-502920">
              <a:spcAft>
                <a:spcPts val="1000"/>
              </a:spcAft>
              <a:buClr>
                <a:srgbClr val="F7B125"/>
              </a:buClr>
              <a:buFont typeface="Arial"/>
              <a:buChar char="•"/>
            </a:pPr>
            <a:r>
              <a:rPr sz="2700">
                <a:solidFill>
                  <a:srgbClr val="FFFFFF"/>
                </a:solidFill>
                <a:latin typeface="Playpen Sans"/>
              </a:rPr>
              <a:t>Lintasan makin sempit di setiap pipa</a:t>
            </a:r>
          </a:p>
          <a:p>
            <a:pPr algn="l" marL="502920" indent="-502920">
              <a:spcAft>
                <a:spcPts val="1000"/>
              </a:spcAft>
              <a:buClr>
                <a:srgbClr val="F7B125"/>
              </a:buClr>
              <a:buFont typeface="Arial"/>
              <a:buChar char="•"/>
            </a:pPr>
            <a:r>
              <a:rPr sz="2700">
                <a:solidFill>
                  <a:srgbClr val="F7B125"/>
                </a:solidFill>
                <a:latin typeface="Playpen Sans Bold"/>
              </a:rPr>
              <a:t>Menang: komodo terbaikmu terbang paling jauh</a:t>
            </a:r>
          </a:p>
          <a:p>
            <a:pPr algn="l" marL="502920" indent="-502920">
              <a:spcAft>
                <a:spcPts val="0"/>
              </a:spcAft>
              <a:buClr>
                <a:srgbClr val="F7B125"/>
              </a:buClr>
              <a:buFont typeface="Arial"/>
              <a:buChar char="•"/>
            </a:pPr>
            <a:r>
              <a:rPr sz="2700">
                <a:solidFill>
                  <a:srgbClr val="FFFFFF"/>
                </a:solidFill>
                <a:latin typeface="Playpen Sans"/>
              </a:rPr>
              <a:t>Kirim kode terbaikmu ke mentor, contoh 20-10-6-77</a:t>
            </a:r>
          </a:p>
        </p:txBody>
      </p:sp>
      <p:sp>
        <p:nvSpPr>
          <p:cNvPr id="20" name="Catatan"/>
          <p:cNvSpPr/>
          <p:nvPr/>
        </p:nvSpPr>
        <p:spPr>
          <a:xfrm>
            <a:off x="6355079" y="5897880"/>
            <a:ext cx="10469880" cy="1280160"/>
          </a:xfrm>
          <a:prstGeom prst="roundRect">
            <a:avLst>
              <a:gd name="adj" fmla="val 10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ks catatan"/>
          <p:cNvSpPr txBox="1"/>
          <p:nvPr/>
        </p:nvSpPr>
        <p:spPr>
          <a:xfrm>
            <a:off x="6583679" y="5943600"/>
            <a:ext cx="10012680" cy="1188720"/>
          </a:xfrm>
          <a:prstGeom prst="rect">
            <a:avLst/>
          </a:prstGeom>
          <a:noFill/>
        </p:spPr>
        <p:txBody>
          <a:bodyPr wrap="square" lIns="0" rIns="0" tIns="0" bIns="0" anchor="ctr">
            <a:spAutoFit/>
          </a:bodyPr>
          <a:lstStyle/>
          <a:p>
            <a:pPr algn="l">
              <a:spcAft>
                <a:spcPts val="0"/>
              </a:spcAft>
            </a:pPr>
            <a:r>
              <a:rPr sz="2400">
                <a:solidFill>
                  <a:srgbClr val="FFFFFF"/>
                </a:solidFill>
                <a:latin typeface="Playpen Sans"/>
              </a:rPr>
              <a:t>Kode yang sama selalu memberi hasil yang sama, jadi proyektor bisa memeriksanya.</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PEMBAHASAN"/>
          <p:cNvSpPr/>
          <p:nvPr/>
        </p:nvSpPr>
        <p:spPr>
          <a:xfrm>
            <a:off x="1508760" y="960120"/>
            <a:ext cx="2799080" cy="640080"/>
          </a:xfrm>
          <a:prstGeom prst="roundRect">
            <a:avLst>
              <a:gd name="adj" fmla="val 50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PEMBAHASAN"/>
          <p:cNvSpPr txBox="1"/>
          <p:nvPr/>
        </p:nvSpPr>
        <p:spPr>
          <a:xfrm>
            <a:off x="1508760" y="1024128"/>
            <a:ext cx="279908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PEMBAHASAN</a:t>
            </a:r>
          </a:p>
        </p:txBody>
      </p:sp>
      <p:sp>
        <p:nvSpPr>
          <p:cNvPr id="17" name="Judul"/>
          <p:cNvSpPr txBox="1"/>
          <p:nvPr/>
        </p:nvSpPr>
        <p:spPr>
          <a:xfrm>
            <a:off x="4673600" y="960120"/>
            <a:ext cx="12105640" cy="731520"/>
          </a:xfrm>
          <a:prstGeom prst="rect">
            <a:avLst/>
          </a:prstGeom>
          <a:noFill/>
        </p:spPr>
        <p:txBody>
          <a:bodyPr wrap="square" lIns="0" rIns="0" tIns="0" bIns="0" anchor="ctr">
            <a:spAutoFit/>
          </a:bodyPr>
          <a:lstStyle/>
          <a:p>
            <a:pPr algn="l">
              <a:spcAft>
                <a:spcPts val="0"/>
              </a:spcAft>
            </a:pPr>
            <a:r>
              <a:rPr sz="4600">
                <a:solidFill>
                  <a:srgbClr val="F7B125"/>
                </a:solidFill>
                <a:latin typeface="Playpen Sans Bold"/>
              </a:rPr>
              <a:t>Apa yang barusan terjadi?</a:t>
            </a:r>
          </a:p>
        </p:txBody>
      </p:sp>
      <p:sp>
        <p:nvSpPr>
          <p:cNvPr id="18" name="Pertanyaan"/>
          <p:cNvSpPr txBox="1"/>
          <p:nvPr/>
        </p:nvSpPr>
        <p:spPr>
          <a:xfrm>
            <a:off x="1508760" y="2148840"/>
            <a:ext cx="7360919" cy="5029200"/>
          </a:xfrm>
          <a:prstGeom prst="rect">
            <a:avLst/>
          </a:prstGeom>
          <a:noFill/>
        </p:spPr>
        <p:txBody>
          <a:bodyPr wrap="square" lIns="0" rIns="0" tIns="0" bIns="0" anchor="t">
            <a:spAutoFit/>
          </a:bodyPr>
          <a:lstStyle/>
          <a:p>
            <a:pPr algn="l">
              <a:spcAft>
                <a:spcPts val="1000"/>
              </a:spcAft>
            </a:pPr>
            <a:r>
              <a:rPr sz="3000">
                <a:solidFill>
                  <a:srgbClr val="F7B125"/>
                </a:solidFill>
                <a:latin typeface="Playpen Sans Bold"/>
              </a:rPr>
              <a:t>Tiga pertanyaan</a:t>
            </a:r>
          </a:p>
          <a:p>
            <a:pPr algn="l" marL="502920" indent="-502920">
              <a:spcAft>
                <a:spcPts val="1200"/>
              </a:spcAft>
              <a:buClr>
                <a:srgbClr val="F7B125"/>
              </a:buClr>
              <a:buFont typeface="Playpen Sans Bold"/>
              <a:buAutoNum type="arabicPeriod"/>
            </a:pPr>
            <a:r>
              <a:rPr sz="2600">
                <a:solidFill>
                  <a:srgbClr val="FFFFFF"/>
                </a:solidFill>
                <a:latin typeface="Playpen Sans"/>
              </a:rPr>
              <a:t>Populasi besar berarti generasi lebih sedikit. Mana yang lebih berharga?</a:t>
            </a:r>
          </a:p>
          <a:p>
            <a:pPr algn="l" marL="502920" indent="-502920">
              <a:spcAft>
                <a:spcPts val="1200"/>
              </a:spcAft>
              <a:buClr>
                <a:srgbClr val="F7B125"/>
              </a:buClr>
              <a:buFont typeface="Playpen Sans Bold"/>
              <a:buAutoNum type="arabicPeriod"/>
            </a:pPr>
            <a:r>
              <a:rPr sz="2600">
                <a:solidFill>
                  <a:srgbClr val="FFFFFF"/>
                </a:solidFill>
                <a:latin typeface="Playpen Sans"/>
              </a:rPr>
              <a:t>Seed beruntung atau kenop yang bagus? Bagaimana membedakannya?</a:t>
            </a:r>
          </a:p>
          <a:p>
            <a:pPr algn="l" marL="502920" indent="-502920">
              <a:spcAft>
                <a:spcPts val="0"/>
              </a:spcAft>
              <a:buClr>
                <a:srgbClr val="F7B125"/>
              </a:buClr>
              <a:buFont typeface="Playpen Sans Bold"/>
              <a:buAutoNum type="arabicPeriod"/>
            </a:pPr>
            <a:r>
              <a:rPr sz="2600">
                <a:solidFill>
                  <a:srgbClr val="FFFFFF"/>
                </a:solidFill>
                <a:latin typeface="Playpen Sans"/>
              </a:rPr>
              <a:t>Tidak ada yang menulis aturan kapan mengepak. Dari mana aturan itu datang?</a:t>
            </a:r>
          </a:p>
        </p:txBody>
      </p:sp>
      <p:sp>
        <p:nvSpPr>
          <p:cNvPr id="19" name="Chip"/>
          <p:cNvSpPr/>
          <p:nvPr/>
        </p:nvSpPr>
        <p:spPr>
          <a:xfrm>
            <a:off x="9418319" y="2148840"/>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Warna chip"/>
          <p:cNvSpPr/>
          <p:nvPr/>
        </p:nvSpPr>
        <p:spPr>
          <a:xfrm>
            <a:off x="9418319" y="2148840"/>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Isi chip"/>
          <p:cNvSpPr txBox="1"/>
          <p:nvPr/>
        </p:nvSpPr>
        <p:spPr>
          <a:xfrm>
            <a:off x="9875519" y="2240280"/>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Otak komodo</a:t>
            </a:r>
          </a:p>
          <a:p>
            <a:pPr algn="l">
              <a:spcAft>
                <a:spcPts val="0"/>
              </a:spcAft>
            </a:pPr>
            <a:r>
              <a:rPr sz="2300">
                <a:solidFill>
                  <a:srgbClr val="F7B125"/>
                </a:solidFill>
                <a:latin typeface="Playpen Sans"/>
              </a:rPr>
              <a:t>jaringan saraf kecil (Pekan 4)</a:t>
            </a:r>
          </a:p>
        </p:txBody>
      </p:sp>
      <p:sp>
        <p:nvSpPr>
          <p:cNvPr id="22" name="Chip"/>
          <p:cNvSpPr/>
          <p:nvPr/>
        </p:nvSpPr>
        <p:spPr>
          <a:xfrm>
            <a:off x="9418319" y="3410712"/>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Warna chip"/>
          <p:cNvSpPr/>
          <p:nvPr/>
        </p:nvSpPr>
        <p:spPr>
          <a:xfrm>
            <a:off x="9418319" y="3410712"/>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Isi chip"/>
          <p:cNvSpPr txBox="1"/>
          <p:nvPr/>
        </p:nvSpPr>
        <p:spPr>
          <a:xfrm>
            <a:off x="9875519" y="3502152"/>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Evolusi</a:t>
            </a:r>
          </a:p>
          <a:p>
            <a:pPr algn="l">
              <a:spcAft>
                <a:spcPts val="0"/>
              </a:spcAft>
            </a:pPr>
            <a:r>
              <a:rPr sz="2300">
                <a:solidFill>
                  <a:srgbClr val="F7B125"/>
                </a:solidFill>
                <a:latin typeface="Playpen Sans"/>
              </a:rPr>
              <a:t>algoritma genetika (Pekan 10)</a:t>
            </a:r>
          </a:p>
        </p:txBody>
      </p:sp>
      <p:sp>
        <p:nvSpPr>
          <p:cNvPr id="25" name="Chip"/>
          <p:cNvSpPr/>
          <p:nvPr/>
        </p:nvSpPr>
        <p:spPr>
          <a:xfrm>
            <a:off x="9418319" y="4672583"/>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Warna chip"/>
          <p:cNvSpPr/>
          <p:nvPr/>
        </p:nvSpPr>
        <p:spPr>
          <a:xfrm>
            <a:off x="9418319" y="4672583"/>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si chip"/>
          <p:cNvSpPr txBox="1"/>
          <p:nvPr/>
        </p:nvSpPr>
        <p:spPr>
          <a:xfrm>
            <a:off x="9875519" y="4764023"/>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600 komodo untuk semua</a:t>
            </a:r>
          </a:p>
          <a:p>
            <a:pPr algn="l">
              <a:spcAft>
                <a:spcPts val="0"/>
              </a:spcAft>
            </a:pPr>
            <a:r>
              <a:rPr sz="2300">
                <a:solidFill>
                  <a:srgbClr val="F7B125"/>
                </a:solidFill>
                <a:latin typeface="Playpen Sans"/>
              </a:rPr>
              <a:t>anggaran evaluasi yang sama (Pekan 9)</a:t>
            </a:r>
          </a:p>
        </p:txBody>
      </p:sp>
      <p:sp>
        <p:nvSpPr>
          <p:cNvPr id="28" name="Chip"/>
          <p:cNvSpPr/>
          <p:nvPr/>
        </p:nvSpPr>
        <p:spPr>
          <a:xfrm>
            <a:off x="9418319" y="5934455"/>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Warna chip"/>
          <p:cNvSpPr/>
          <p:nvPr/>
        </p:nvSpPr>
        <p:spPr>
          <a:xfrm>
            <a:off x="9418319" y="5934455"/>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si chip"/>
          <p:cNvSpPr txBox="1"/>
          <p:nvPr/>
        </p:nvSpPr>
        <p:spPr>
          <a:xfrm>
            <a:off x="9875519" y="6025895"/>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Cek 5 seed lain</a:t>
            </a:r>
          </a:p>
          <a:p>
            <a:pPr algn="l">
              <a:spcAft>
                <a:spcPts val="0"/>
              </a:spcAft>
            </a:pPr>
            <a:r>
              <a:rPr sz="2300">
                <a:solidFill>
                  <a:srgbClr val="F7B125"/>
                </a:solidFill>
                <a:latin typeface="Playpen Sans"/>
              </a:rPr>
              <a:t>minimal 10 percobaan di proyek akhir</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5800">
                <a:solidFill>
                  <a:srgbClr val="F7B125"/>
                </a:solidFill>
                <a:latin typeface="Playpen Sans Bold"/>
              </a:rPr>
              <a:t>Pemenang dan Pertemuan 1</a:t>
            </a:r>
          </a:p>
        </p:txBody>
      </p:sp>
      <p:sp>
        <p:nvSpPr>
          <p:cNvPr id="14" name="Pemenang"/>
          <p:cNvSpPr txBox="1"/>
          <p:nvPr/>
        </p:nvSpPr>
        <p:spPr>
          <a:xfrm>
            <a:off x="5074920" y="2194560"/>
            <a:ext cx="11704319" cy="1463040"/>
          </a:xfrm>
          <a:prstGeom prst="rect">
            <a:avLst/>
          </a:prstGeom>
          <a:noFill/>
        </p:spPr>
        <p:txBody>
          <a:bodyPr wrap="square" lIns="0" rIns="0" tIns="0" bIns="0" anchor="t">
            <a:spAutoFit/>
          </a:bodyPr>
          <a:lstStyle/>
          <a:p>
            <a:pPr algn="l" marL="502920" indent="-502920">
              <a:spcAft>
                <a:spcPts val="800"/>
              </a:spcAft>
              <a:buClr>
                <a:srgbClr val="F7B125"/>
              </a:buClr>
              <a:buFont typeface="Arial"/>
              <a:buChar char="•"/>
            </a:pPr>
            <a:r>
              <a:rPr sz="2800">
                <a:solidFill>
                  <a:srgbClr val="FFFFFF"/>
                </a:solidFill>
                <a:latin typeface="Playpen Sans"/>
              </a:rPr>
              <a:t>Pemenang Babak 1: skor manusia tertinggi</a:t>
            </a:r>
          </a:p>
          <a:p>
            <a:pPr algn="l" marL="502920" indent="-502920">
              <a:spcAft>
                <a:spcPts val="0"/>
              </a:spcAft>
              <a:buClr>
                <a:srgbClr val="F7B125"/>
              </a:buClr>
              <a:buFont typeface="Arial"/>
              <a:buChar char="•"/>
            </a:pPr>
            <a:r>
              <a:rPr sz="2800">
                <a:solidFill>
                  <a:srgbClr val="FFFFFF"/>
                </a:solidFill>
                <a:latin typeface="Playpen Sans"/>
              </a:rPr>
              <a:t>Pemenang Babak 3: 5 besar dicek dengan 5 seed lain, rata-rata tertinggi menang</a:t>
            </a:r>
          </a:p>
        </p:txBody>
      </p:sp>
      <p:sp>
        <p:nvSpPr>
          <p:cNvPr id="15" name="Persiapan"/>
          <p:cNvSpPr txBox="1"/>
          <p:nvPr/>
        </p:nvSpPr>
        <p:spPr>
          <a:xfrm>
            <a:off x="5074920" y="4023360"/>
            <a:ext cx="11704319" cy="3200400"/>
          </a:xfrm>
          <a:prstGeom prst="rect">
            <a:avLst/>
          </a:prstGeom>
          <a:noFill/>
        </p:spPr>
        <p:txBody>
          <a:bodyPr wrap="square" lIns="0" rIns="0" tIns="0" bIns="0" anchor="t">
            <a:spAutoFit/>
          </a:bodyPr>
          <a:lstStyle/>
          <a:p>
            <a:pPr algn="l">
              <a:spcAft>
                <a:spcPts val="1000"/>
              </a:spcAft>
            </a:pPr>
            <a:r>
              <a:rPr sz="3200">
                <a:solidFill>
                  <a:srgbClr val="F7B125"/>
                </a:solidFill>
                <a:latin typeface="Playpen Sans Bold"/>
              </a:rPr>
              <a:t>Sebelum Pertemuan 1</a:t>
            </a:r>
          </a:p>
          <a:p>
            <a:pPr algn="l" marL="502920" indent="-502920">
              <a:spcAft>
                <a:spcPts val="1000"/>
              </a:spcAft>
              <a:buClr>
                <a:srgbClr val="F7B125"/>
              </a:buClr>
              <a:buFont typeface="Arial"/>
              <a:buChar char="•"/>
            </a:pPr>
            <a:r>
              <a:rPr sz="2700">
                <a:solidFill>
                  <a:srgbClr val="FFFFFF"/>
                </a:solidFill>
                <a:latin typeface="Playpen Sans"/>
              </a:rPr>
              <a:t>Baca UDL bagian 1.1 (halaman 1 sampai 6) dan bab 2 (halaman 17 sampai 22)</a:t>
            </a:r>
          </a:p>
          <a:p>
            <a:pPr algn="l" marL="502920" indent="-502920">
              <a:spcAft>
                <a:spcPts val="1000"/>
              </a:spcAft>
              <a:buClr>
                <a:srgbClr val="F7B125"/>
              </a:buClr>
              <a:buFont typeface="Arial"/>
              <a:buChar char="•"/>
            </a:pPr>
            <a:r>
              <a:rPr sz="2700">
                <a:solidFill>
                  <a:srgbClr val="FFFFFF"/>
                </a:solidFill>
                <a:latin typeface="Playpen Sans"/>
              </a:rPr>
              <a:t>Bawa laptop yang sudah bisa membuka Colab</a:t>
            </a:r>
          </a:p>
          <a:p>
            <a:pPr algn="l" marL="502920" indent="-502920">
              <a:spcAft>
                <a:spcPts val="0"/>
              </a:spcAft>
              <a:buClr>
                <a:srgbClr val="F7B125"/>
              </a:buClr>
              <a:buFont typeface="Arial"/>
              <a:buChar char="•"/>
            </a:pPr>
            <a:r>
              <a:rPr sz="2700">
                <a:solidFill>
                  <a:srgbClr val="FFFFFF"/>
                </a:solidFill>
                <a:latin typeface="Playpen Sans"/>
              </a:rPr>
              <a:t>Materi pendukung Python untuk programmer Go menyusul di situs kelas</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9577136" y="3199705"/>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3"/>
            <a:stretch>
              <a:fillRect l="0" t="0" r="0" b="0"/>
            </a:stretch>
          </a:blipFill>
        </p:spPr>
      </p:sp>
      <p:sp>
        <p:nvSpPr>
          <p:cNvPr name="Freeform 4" id="4"/>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4"/>
            <a:stretch>
              <a:fillRect l="0" t="0" r="0" b="0"/>
            </a:stretch>
          </a:blipFill>
        </p:spPr>
      </p:sp>
      <p:sp>
        <p:nvSpPr>
          <p:cNvPr name="Freeform 6" id="6"/>
          <p:cNvSpPr/>
          <p:nvPr/>
        </p:nvSpPr>
        <p:spPr>
          <a:xfrm flipH="false" flipV="false" rot="0">
            <a:off x="2244885" y="1988036"/>
            <a:ext cx="5309234" cy="5465964"/>
          </a:xfrm>
          <a:custGeom>
            <a:avLst/>
            <a:gdLst/>
            <a:ahLst/>
            <a:cxnLst/>
            <a:rect r="r" b="b" t="t" l="l"/>
            <a:pathLst>
              <a:path h="5465964" w="5309234">
                <a:moveTo>
                  <a:pt x="0" y="0"/>
                </a:moveTo>
                <a:lnTo>
                  <a:pt x="5309235" y="0"/>
                </a:lnTo>
                <a:lnTo>
                  <a:pt x="5309235" y="5465964"/>
                </a:lnTo>
                <a:lnTo>
                  <a:pt x="0" y="5465964"/>
                </a:lnTo>
                <a:lnTo>
                  <a:pt x="0" y="0"/>
                </a:lnTo>
                <a:close/>
              </a:path>
            </a:pathLst>
          </a:custGeom>
          <a:blipFill>
            <a:blip r:embed="rId3"/>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8" id="8"/>
          <p:cNvSpPr/>
          <p:nvPr/>
        </p:nvSpPr>
        <p:spPr>
          <a:xfrm flipH="true" flipV="false" rot="0">
            <a:off x="13751443" y="1408594"/>
            <a:ext cx="5427899" cy="1816870"/>
          </a:xfrm>
          <a:custGeom>
            <a:avLst/>
            <a:gdLst/>
            <a:ahLst/>
            <a:cxnLst/>
            <a:rect r="r" b="b" t="t" l="l"/>
            <a:pathLst>
              <a:path h="1816870" w="5427899">
                <a:moveTo>
                  <a:pt x="5427899" y="0"/>
                </a:moveTo>
                <a:lnTo>
                  <a:pt x="0" y="0"/>
                </a:lnTo>
                <a:lnTo>
                  <a:pt x="0" y="1816870"/>
                </a:lnTo>
                <a:lnTo>
                  <a:pt x="5427899" y="1816870"/>
                </a:lnTo>
                <a:lnTo>
                  <a:pt x="5427899" y="0"/>
                </a:lnTo>
                <a:close/>
              </a:path>
            </a:pathLst>
          </a:custGeom>
          <a:blipFill>
            <a:blip r:embed="rId6">
              <a:alphaModFix amt="65000"/>
            </a:blip>
            <a:stretch>
              <a:fillRect l="0" t="0" r="0" b="0"/>
            </a:stretch>
          </a:blipFill>
        </p:spPr>
      </p:sp>
      <p:sp>
        <p:nvSpPr>
          <p:cNvPr name="Freeform 9" id="9"/>
          <p:cNvSpPr/>
          <p:nvPr/>
        </p:nvSpPr>
        <p:spPr>
          <a:xfrm flipH="false" flipV="false" rot="0">
            <a:off x="13240358" y="2417800"/>
            <a:ext cx="7524206" cy="8229600"/>
          </a:xfrm>
          <a:custGeom>
            <a:avLst/>
            <a:gdLst/>
            <a:ahLst/>
            <a:cxnLst/>
            <a:rect r="r" b="b" t="t" l="l"/>
            <a:pathLst>
              <a:path h="8229600" w="7524206">
                <a:moveTo>
                  <a:pt x="0" y="0"/>
                </a:moveTo>
                <a:lnTo>
                  <a:pt x="7524206" y="0"/>
                </a:lnTo>
                <a:lnTo>
                  <a:pt x="7524206" y="8229600"/>
                </a:lnTo>
                <a:lnTo>
                  <a:pt x="0" y="8229600"/>
                </a:lnTo>
                <a:lnTo>
                  <a:pt x="0" y="0"/>
                </a:lnTo>
                <a:close/>
              </a:path>
            </a:pathLst>
          </a:custGeom>
          <a:blipFill>
            <a:blip r:embed="rId7"/>
            <a:stretch>
              <a:fillRect l="0" t="0" r="0" b="0"/>
            </a:stretch>
          </a:blipFill>
        </p:spPr>
      </p:sp>
      <p:sp>
        <p:nvSpPr>
          <p:cNvPr name="Freeform 10" id="10"/>
          <p:cNvSpPr/>
          <p:nvPr/>
        </p:nvSpPr>
        <p:spPr>
          <a:xfrm flipH="false" flipV="false" rot="0">
            <a:off x="-940574"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190122" y="7454000"/>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423648" y="576981"/>
            <a:ext cx="5790657" cy="1938295"/>
          </a:xfrm>
          <a:custGeom>
            <a:avLst/>
            <a:gdLst/>
            <a:ahLst/>
            <a:cxnLst/>
            <a:rect r="r" b="b" t="t" l="l"/>
            <a:pathLst>
              <a:path h="1938295" w="5790657">
                <a:moveTo>
                  <a:pt x="0" y="0"/>
                </a:moveTo>
                <a:lnTo>
                  <a:pt x="5790656" y="0"/>
                </a:lnTo>
                <a:lnTo>
                  <a:pt x="5790656" y="1938296"/>
                </a:lnTo>
                <a:lnTo>
                  <a:pt x="0" y="1938296"/>
                </a:lnTo>
                <a:lnTo>
                  <a:pt x="0" y="0"/>
                </a:lnTo>
                <a:close/>
              </a:path>
            </a:pathLst>
          </a:custGeom>
          <a:blipFill>
            <a:blip r:embed="rId6">
              <a:alphaModFix amt="65000"/>
            </a:blip>
            <a:stretch>
              <a:fillRect l="0" t="0" r="0" b="0"/>
            </a:stretch>
          </a:blipFill>
        </p:spPr>
      </p:sp>
      <p:grpSp>
        <p:nvGrpSpPr>
          <p:cNvPr name="Group 14" id="14"/>
          <p:cNvGrpSpPr/>
          <p:nvPr/>
        </p:nvGrpSpPr>
        <p:grpSpPr>
          <a:xfrm rot="0">
            <a:off x="4061996" y="2829602"/>
            <a:ext cx="4927222" cy="791725"/>
            <a:chOff x="0" y="0"/>
            <a:chExt cx="1297705" cy="208520"/>
          </a:xfrm>
        </p:grpSpPr>
        <p:sp>
          <p:nvSpPr>
            <p:cNvPr name="Freeform 15" id="15"/>
            <p:cNvSpPr/>
            <p:nvPr/>
          </p:nvSpPr>
          <p:spPr>
            <a:xfrm flipH="false" flipV="false" rot="0">
              <a:off x="0" y="0"/>
              <a:ext cx="1297705" cy="208520"/>
            </a:xfrm>
            <a:custGeom>
              <a:avLst/>
              <a:gdLst/>
              <a:ahLst/>
              <a:cxnLst/>
              <a:rect r="r" b="b" t="t" l="l"/>
              <a:pathLst>
                <a:path h="208520" w="1297705">
                  <a:moveTo>
                    <a:pt x="104260" y="0"/>
                  </a:moveTo>
                  <a:lnTo>
                    <a:pt x="1193444" y="0"/>
                  </a:lnTo>
                  <a:cubicBezTo>
                    <a:pt x="1251026" y="0"/>
                    <a:pt x="1297705" y="46679"/>
                    <a:pt x="1297705" y="104260"/>
                  </a:cubicBezTo>
                  <a:lnTo>
                    <a:pt x="1297705" y="104260"/>
                  </a:lnTo>
                  <a:cubicBezTo>
                    <a:pt x="1297705" y="161841"/>
                    <a:pt x="1251026" y="208520"/>
                    <a:pt x="1193444" y="208520"/>
                  </a:cubicBezTo>
                  <a:lnTo>
                    <a:pt x="104260" y="208520"/>
                  </a:lnTo>
                  <a:cubicBezTo>
                    <a:pt x="46679" y="208520"/>
                    <a:pt x="0" y="161841"/>
                    <a:pt x="0" y="104260"/>
                  </a:cubicBezTo>
                  <a:lnTo>
                    <a:pt x="0" y="104260"/>
                  </a:lnTo>
                  <a:cubicBezTo>
                    <a:pt x="0" y="46679"/>
                    <a:pt x="46679" y="0"/>
                    <a:pt x="104260" y="0"/>
                  </a:cubicBezTo>
                  <a:close/>
                </a:path>
              </a:pathLst>
            </a:custGeom>
            <a:ln w="19050" cap="rnd">
              <a:solidFill>
                <a:srgbClr val="FFFFFF"/>
              </a:solidFill>
              <a:prstDash val="solid"/>
              <a:round/>
            </a:ln>
          </p:spPr>
        </p:sp>
        <p:sp>
          <p:nvSpPr>
            <p:cNvPr name="TextBox 16" id="16"/>
            <p:cNvSpPr txBox="true"/>
            <p:nvPr/>
          </p:nvSpPr>
          <p:spPr>
            <a:xfrm>
              <a:off x="0" y="-38100"/>
              <a:ext cx="1297705" cy="246620"/>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9894294" y="6869221"/>
            <a:ext cx="2441189" cy="791725"/>
            <a:chOff x="0" y="0"/>
            <a:chExt cx="642947" cy="208520"/>
          </a:xfrm>
        </p:grpSpPr>
        <p:sp>
          <p:nvSpPr>
            <p:cNvPr name="Freeform 18" id="18"/>
            <p:cNvSpPr/>
            <p:nvPr/>
          </p:nvSpPr>
          <p:spPr>
            <a:xfrm flipH="false" flipV="false" rot="0">
              <a:off x="0" y="0"/>
              <a:ext cx="642947" cy="208520"/>
            </a:xfrm>
            <a:custGeom>
              <a:avLst/>
              <a:gdLst/>
              <a:ahLst/>
              <a:cxnLst/>
              <a:rect r="r" b="b" t="t" l="l"/>
              <a:pathLst>
                <a:path h="208520" w="642947">
                  <a:moveTo>
                    <a:pt x="104260" y="0"/>
                  </a:moveTo>
                  <a:lnTo>
                    <a:pt x="538687" y="0"/>
                  </a:lnTo>
                  <a:cubicBezTo>
                    <a:pt x="596268" y="0"/>
                    <a:pt x="642947" y="46679"/>
                    <a:pt x="642947" y="104260"/>
                  </a:cubicBezTo>
                  <a:lnTo>
                    <a:pt x="642947" y="104260"/>
                  </a:lnTo>
                  <a:cubicBezTo>
                    <a:pt x="642947" y="161841"/>
                    <a:pt x="596268" y="208520"/>
                    <a:pt x="538687" y="208520"/>
                  </a:cubicBezTo>
                  <a:lnTo>
                    <a:pt x="104260" y="208520"/>
                  </a:lnTo>
                  <a:cubicBezTo>
                    <a:pt x="46679" y="208520"/>
                    <a:pt x="0" y="161841"/>
                    <a:pt x="0" y="104260"/>
                  </a:cubicBezTo>
                  <a:lnTo>
                    <a:pt x="0" y="104260"/>
                  </a:lnTo>
                  <a:cubicBezTo>
                    <a:pt x="0" y="46679"/>
                    <a:pt x="46679" y="0"/>
                    <a:pt x="104260" y="0"/>
                  </a:cubicBezTo>
                  <a:close/>
                </a:path>
              </a:pathLst>
            </a:custGeom>
            <a:solidFill>
              <a:srgbClr val="001769"/>
            </a:solidFill>
            <a:ln cap="rnd">
              <a:noFill/>
              <a:prstDash val="solid"/>
              <a:round/>
            </a:ln>
          </p:spPr>
        </p:sp>
        <p:sp>
          <p:nvSpPr>
            <p:cNvPr name="TextBox 19" id="19"/>
            <p:cNvSpPr txBox="true"/>
            <p:nvPr/>
          </p:nvSpPr>
          <p:spPr>
            <a:xfrm>
              <a:off x="0" y="-38100"/>
              <a:ext cx="642947" cy="24662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3107461" y="6036889"/>
            <a:ext cx="6890564" cy="3775455"/>
          </a:xfrm>
          <a:custGeom>
            <a:avLst/>
            <a:gdLst/>
            <a:ahLst/>
            <a:cxnLst/>
            <a:rect r="r" b="b" t="t" l="l"/>
            <a:pathLst>
              <a:path h="3775455" w="6890564">
                <a:moveTo>
                  <a:pt x="0" y="0"/>
                </a:moveTo>
                <a:lnTo>
                  <a:pt x="6890563" y="0"/>
                </a:lnTo>
                <a:lnTo>
                  <a:pt x="6890563" y="3775454"/>
                </a:lnTo>
                <a:lnTo>
                  <a:pt x="0" y="3775454"/>
                </a:lnTo>
                <a:lnTo>
                  <a:pt x="0" y="0"/>
                </a:lnTo>
                <a:close/>
              </a:path>
            </a:pathLst>
          </a:custGeom>
          <a:blipFill>
            <a:blip r:embed="rId11"/>
            <a:stretch>
              <a:fillRect l="0" t="0" r="0" b="0"/>
            </a:stretch>
          </a:blipFill>
        </p:spPr>
      </p:sp>
      <p:sp>
        <p:nvSpPr>
          <p:cNvPr name="Freeform 21" id="21"/>
          <p:cNvSpPr/>
          <p:nvPr/>
        </p:nvSpPr>
        <p:spPr>
          <a:xfrm flipH="true" flipV="false" rot="0">
            <a:off x="12007845" y="1772904"/>
            <a:ext cx="3857149" cy="2113396"/>
          </a:xfrm>
          <a:custGeom>
            <a:avLst/>
            <a:gdLst/>
            <a:ahLst/>
            <a:cxnLst/>
            <a:rect r="r" b="b" t="t" l="l"/>
            <a:pathLst>
              <a:path h="2113396" w="3857149">
                <a:moveTo>
                  <a:pt x="3857149" y="0"/>
                </a:moveTo>
                <a:lnTo>
                  <a:pt x="0" y="0"/>
                </a:lnTo>
                <a:lnTo>
                  <a:pt x="0" y="2113396"/>
                </a:lnTo>
                <a:lnTo>
                  <a:pt x="3857149" y="2113396"/>
                </a:lnTo>
                <a:lnTo>
                  <a:pt x="3857149" y="0"/>
                </a:lnTo>
                <a:close/>
              </a:path>
            </a:pathLst>
          </a:custGeom>
          <a:blipFill>
            <a:blip r:embed="rId11"/>
            <a:stretch>
              <a:fillRect l="0" t="0" r="0" b="0"/>
            </a:stretch>
          </a:blipFill>
        </p:spPr>
      </p:sp>
      <p:sp>
        <p:nvSpPr>
          <p:cNvPr name="TextBox 22" id="22"/>
          <p:cNvSpPr txBox="true"/>
          <p:nvPr/>
        </p:nvSpPr>
        <p:spPr>
          <a:xfrm rot="0">
            <a:off x="3709994" y="4011851"/>
            <a:ext cx="7688251" cy="1920836"/>
          </a:xfrm>
          <a:prstGeom prst="rect">
            <a:avLst/>
          </a:prstGeom>
        </p:spPr>
        <p:txBody>
          <a:bodyPr anchor="t" rtlCol="false" tIns="0" lIns="0" bIns="0" rIns="0">
            <a:spAutoFit/>
          </a:bodyPr>
          <a:lstStyle/>
          <a:p>
            <a:pPr algn="l">
              <a:lnSpc>
                <a:spcPct val="100000"/>
              </a:lnSpc>
            </a:pPr>
            <a:r>
              <a:rPr lang="en-US" sz="12000" b="true">
                <a:solidFill>
                  <a:srgbClr val="EAC24B"/>
                </a:solidFill>
                <a:latin typeface="Playpen Sans Bold"/>
                <a:ea typeface="Playpen Sans Bold"/>
                <a:cs typeface="Playpen Sans Bold"/>
                <a:sym typeface="Playpen Sans Bold"/>
              </a:rPr>
              <a:t>Terima</a:t>
            </a:r>
          </a:p>
        </p:txBody>
      </p:sp>
      <p:sp>
        <p:nvSpPr>
          <p:cNvPr name="TextBox 23" id="23"/>
          <p:cNvSpPr txBox="true"/>
          <p:nvPr/>
        </p:nvSpPr>
        <p:spPr>
          <a:xfrm rot="0">
            <a:off x="4271362" y="3084172"/>
            <a:ext cx="4508490" cy="330209"/>
          </a:xfrm>
          <a:prstGeom prst="rect">
            <a:avLst/>
          </a:prstGeom>
        </p:spPr>
        <p:txBody>
          <a:bodyPr anchor="t" rtlCol="false" tIns="0" lIns="0" bIns="0" rIns="0">
            <a:spAutoFit/>
          </a:bodyPr>
          <a:lstStyle/>
          <a:p>
            <a:pPr algn="ctr">
              <a:lnSpc>
                <a:spcPct val="100000"/>
              </a:lnSpc>
            </a:pPr>
            <a:r>
              <a:rPr lang="en-US" b="true" sz="2500">
                <a:solidFill>
                  <a:srgbClr val="FFFFFF"/>
                </a:solidFill>
                <a:latin typeface="Playpen Sans Bold"/>
                <a:ea typeface="Playpen Sans Bold"/>
                <a:cs typeface="Playpen Sans Bold"/>
                <a:sym typeface="Playpen Sans Bold"/>
              </a:rPr>
              <a:t>Advance Study Group</a:t>
            </a:r>
          </a:p>
        </p:txBody>
      </p:sp>
      <p:sp>
        <p:nvSpPr>
          <p:cNvPr name="TextBox 24" id="24"/>
          <p:cNvSpPr txBox="true"/>
          <p:nvPr/>
        </p:nvSpPr>
        <p:spPr>
          <a:xfrm rot="0">
            <a:off x="9998024" y="7123791"/>
            <a:ext cx="2233728" cy="330209"/>
          </a:xfrm>
          <a:prstGeom prst="rect">
            <a:avLst/>
          </a:prstGeom>
        </p:spPr>
        <p:txBody>
          <a:bodyPr anchor="t" rtlCol="false" tIns="0" lIns="0" bIns="0" rIns="0">
            <a:spAutoFit/>
          </a:bodyPr>
          <a:lstStyle/>
          <a:p>
            <a:pPr algn="ctr">
              <a:lnSpc>
                <a:spcPct val="100000"/>
              </a:lnSpc>
            </a:pPr>
            <a:r>
              <a:rPr lang="en-US" b="true" sz="2200">
                <a:solidFill>
                  <a:srgbClr val="FFFFFF"/>
                </a:solidFill>
                <a:latin typeface="Playpen Sans Bold"/>
                <a:ea typeface="Playpen Sans Bold"/>
                <a:cs typeface="Playpen Sans Bold"/>
                <a:sym typeface="Playpen Sans Bold"/>
              </a:rPr>
              <a:t>Sampai jumpa</a:t>
            </a:r>
          </a:p>
        </p:txBody>
      </p:sp>
      <p:sp>
        <p:nvSpPr>
          <p:cNvPr name="TextBox 25" id="25"/>
          <p:cNvSpPr txBox="true"/>
          <p:nvPr/>
        </p:nvSpPr>
        <p:spPr>
          <a:xfrm rot="0">
            <a:off x="10391035" y="4011851"/>
            <a:ext cx="4914443" cy="1920836"/>
          </a:xfrm>
          <a:prstGeom prst="rect">
            <a:avLst/>
          </a:prstGeom>
        </p:spPr>
        <p:txBody>
          <a:bodyPr anchor="t" rtlCol="false" tIns="0" lIns="0" bIns="0" rIns="0">
            <a:spAutoFit/>
          </a:bodyPr>
          <a:lstStyle/>
          <a:p>
            <a:pPr algn="l">
              <a:lnSpc>
                <a:spcPct val="100000"/>
              </a:lnSpc>
            </a:pPr>
            <a:r>
              <a:rPr lang="en-US" sz="12000" b="true">
                <a:solidFill>
                  <a:srgbClr val="FFFFFF"/>
                </a:solidFill>
                <a:latin typeface="Playpen Sans Bold"/>
                <a:ea typeface="Playpen Sans Bold"/>
                <a:cs typeface="Playpen Sans Bold"/>
                <a:sym typeface="Playpen Sans Bold"/>
              </a:rPr>
              <a:t>Kasih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DAHY2NpwA2U</dc:identifier>
  <dcterms:modified xsi:type="dcterms:W3CDTF">2011-08-01T06:04:30Z</dcterms:modified>
  <cp:revision>1</cp:revision>
  <dc:title>Colorful Playful Ocean Knowledge Presentation</dc:title>
</cp:coreProperties>
</file>