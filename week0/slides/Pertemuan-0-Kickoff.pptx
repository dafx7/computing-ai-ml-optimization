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7.svg" ContentType="image/svg+xml"/>
  <Override PartName="/ppt/media/image19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8288000" cy="10287000"/>
  <p:notesSz cx="6858000" cy="9144000"/>
  <p:embeddedFontLst>
    <p:embeddedFont>
      <p:font typeface="Playpen Sans Bold" charset="1" panose="00000000000000000000"/>
      <p:regular r:id="rId11"/>
    </p:embeddedFont>
    <p:embeddedFont>
      <p:font typeface="Playpen Sans" charset="1" panose="00000000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1.fntdata"/><Relationship Id="rId12" Type="http://schemas.openxmlformats.org/officeDocument/2006/relationships/font" Target="fonts/font12.fntdata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0:00. On screen while students arrive. Hand out the pretest at the door. Demo (demo.html) can run on a second window.</a:t>
            </a:r>
          </a:p>
          <a:p>
            <a:r>
              <a:t>Say: 'Selamat datang di Track AI, ML, dan Optimasi.' Start the clock when most people are seated. Next: slide 2 (pretest).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 to 0:08 (8 min). Pretest on paper, printed from fasilitator/pretest.html. Collect face-down.</a:t>
            </a:r>
          </a:p>
          <a:p>
            <a:r>
              <a:t>Say: 'Tanpa nilai. Kosongkan yang tidak tahu.' Same items return in Week 16 as a post-test, so tell them to remember their code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0:08 to 0:09 (1 min). Read the agenda in one breath. Total 2 hours. Say: 'Dua jam, ada dua bagian praktik: Python dan Optimizer.'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0:09 to 0:11 (2 min). The idea of the whole course in three words.</a:t>
            </a:r>
          </a:p>
          <a:p>
            <a:r>
              <a:t>Say: 'Melatih model itu mencari parameter dengan loss terkecil. Menyusun jadwal itu mencari jadwal dengan pelanggaran paling sedikit. Selalu ada tiga bagian ini.'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0:11 to 0:15 (4 min). LIVE DEMO. Open demo.html (deployed URL, or week0/site/demo.html from the repo). Speed: Cepat. Press Mulai BEFORE you start talking.</a:t>
            </a:r>
          </a:p>
          <a:p>
            <a:r>
              <a:t>Let it run 30 to 60 seconds, then ask: 'Kapan kurvanya turun cepat? Kapan melambat?' Do not explain hill climbing yet: 'Ini hill climbing, kita pelajari penuh di Pekan 9.'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 to 0:18 (3 min). Six abilities. Point at 4 and 6: metaheuristics and the team demo are what makes this track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0:18 to 0:21 (3 min). Each week: read (1.5 to 2 h), class (2 h), practice (1.5 to 2 h). The 5 to 6 hour figure is an estimate; invite students to tell you if it is far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0:21 to 0:24 (3 min). UDL = ML and deep learning; Luke = metaheuristics (pseudocode, so Go-trained students can read it). Both free from the authors; do not use copies from other sites.</a:t>
            </a:r>
          </a:p>
          <a:p>
            <a:r>
              <a:t>PDF page offsets: UDL printed page + 14 = PDF page; Luke 2.4 printed page + 2 = PDF page. Mentors publish a Bahasa Indonesia reading guide each week as original commentary (no translation).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0:24 to 0:26 (2 min). 40 / 10 / 50. Oral checks are about 7 minutes: explain your own code, predict the effect of a small change.</a:t>
            </a:r>
          </a:p>
          <a:p>
            <a:r>
              <a:t>CONFIRM BEFORE CLASS: the attendance threshold (13 of 16) is a proposal, not an announced rule. If not confirmed say 'ambang kehadiran diumumkan minggu depan' and edit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0:26 to 0:28 (2 min). Key rule: the optimization layer must change the result and must be compared with a baseline at the same evaluation budget. A GA that loses to random search, explained well, still earns a good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0:28 to 0:30 (2 min). Say: 'Pakai AI sesukamu. Tidak ada yang mencatat. Tapi AI bisa menulis kode pelatihan yang kelihatan benar tapi keliru, dan kamu perlu bisa melihat kekeliruannya.' The seven verify-the-assistant weeks are 2, 5, 7, 9, 10, 11,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to 0:40 (10 min). Live-code three snippets with Go on the left and Python on the right:</a:t>
            </a:r>
          </a:p>
          <a:p>
            <a:r>
              <a:t>1) for _, v := range data  -&gt;  for v in data:   (and range(1, n + 1) excludes the upper bound)</a:t>
            </a:r>
          </a:p>
          <a:p>
            <a:r>
              <a:t>2) return a, b is one tuple: kecil, besar = min_maks(data)</a:t>
            </a:r>
          </a:p>
          <a:p>
            <a:r>
              <a:t>3) a = np.array([2, 4, 6, 8]); a * 10 + 1.  Say: 'Hampir semua kode kita nanti tanpa for.'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 to 1:05 (25 min). Pairs open notebook 1 from the handout (Colab link; works once the files are on main). Exercises 1 to 6 in class, NumPy exercises 7 to 10 at home.</a:t>
            </a:r>
          </a:p>
          <a:p>
            <a:r>
              <a:t>Mentor 2 circulates. Stuck for 3 minutes: neighbour first, then a mentor. Allowed: AI. 'Buktikan jawabannya dengan menjalankan kode.'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 to 1:10 (5 min). Write the leaderboard on the whiteboard: columns pair code, Round 1 %, Round 2 %. Hand out pair codes 1 to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 to 1:45 (35 min). 1:10 explain and set KODE_PASANGAN (4). 1:14 Round 1 (10). 1:24 Round 2 (10). 1:34 reveal plot and leaderboard (6). 1:40 debrief (5) on the next slide.</a:t>
            </a:r>
          </a:p>
          <a:p>
            <a:r>
              <a:t>Expected (300-pair simulation): random search median 69% of optimum, explore-then-refine 85%, single-start refine is a gamble (a quarter of pairs below 33%). Details in fasilitator/panduan-fasilitator.md section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 to 1:45 (5 min). If short on time use questions 1 and 4. Draw out: using past evaluations pays; refining from one start is a gamble (exploration versus exploitation, Week 9); one run is an anecdote (hence 10+ runs in the project); budget changes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1:45 to 1:55 (10 min). Mentor 2 = A, mentor 3 = B, mentor 1 = C. Details and fixes in fasilitator/panduan-fasilitator.md section 9. Never cut this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1:55 to 2:00 (5 min). Page numbers are the printed numbers (UDL printed 17 = PDF 31). Hand out slips, collect on the way out and read them the same evening.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2:00. End. See you in Week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16.png"/><Relationship Id="rId9" Type="http://schemas.openxmlformats.org/officeDocument/2006/relationships/image" Target="../media/image17.svg"/><Relationship Id="rId10" Type="http://schemas.openxmlformats.org/officeDocument/2006/relationships/image" Target="../media/image18.png"/><Relationship Id="rId11" Type="http://schemas.openxmlformats.org/officeDocument/2006/relationships/image" Target="../media/image19.svg"/><Relationship Id="rId12" Type="http://schemas.openxmlformats.org/officeDocument/2006/relationships/image" Target="../media/image20.png"/><Relationship Id="rId1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4.png"/><Relationship Id="rId7" Type="http://schemas.openxmlformats.org/officeDocument/2006/relationships/image" Target="../media/image8.png"/><Relationship Id="rId8" Type="http://schemas.openxmlformats.org/officeDocument/2006/relationships/image" Target="../media/image9.svg"/><Relationship Id="rId9" Type="http://schemas.openxmlformats.org/officeDocument/2006/relationships/image" Target="../media/image6.png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4.png"/><Relationship Id="rId1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0.png"/><Relationship Id="rId12" Type="http://schemas.openxmlformats.org/officeDocument/2006/relationships/image" Target="../media/image11.sv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svg"/><Relationship Id="rId11" Type="http://schemas.openxmlformats.org/officeDocument/2006/relationships/image" Target="../media/image14.png"/><Relationship Id="rId12" Type="http://schemas.openxmlformats.org/officeDocument/2006/relationships/notesSlide" Target="../notesSlides/notesSlide19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12591528" y="2004481"/>
            <a:ext cx="5427899" cy="1816870"/>
          </a:xfrm>
          <a:custGeom>
            <a:avLst/>
            <a:gdLst/>
            <a:ahLst/>
            <a:cxnLst/>
            <a:rect r="r" b="b" t="t" l="l"/>
            <a:pathLst>
              <a:path h="1816870" w="5427899">
                <a:moveTo>
                  <a:pt x="5427899" y="0"/>
                </a:moveTo>
                <a:lnTo>
                  <a:pt x="0" y="0"/>
                </a:lnTo>
                <a:lnTo>
                  <a:pt x="0" y="1816870"/>
                </a:lnTo>
                <a:lnTo>
                  <a:pt x="5427899" y="1816870"/>
                </a:lnTo>
                <a:lnTo>
                  <a:pt x="5427899" y="0"/>
                </a:lnTo>
                <a:close/>
              </a:path>
            </a:pathLst>
          </a:custGeom>
          <a:blipFill>
            <a:blip r:embed="rId6">
              <a:alphaModFix amt="65000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9416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300005" y="6713575"/>
            <a:ext cx="7627961" cy="3716897"/>
          </a:xfrm>
          <a:custGeom>
            <a:avLst/>
            <a:gdLst/>
            <a:ahLst/>
            <a:cxnLst/>
            <a:rect r="r" b="b" t="t" l="l"/>
            <a:pathLst>
              <a:path h="3716897" w="7627961">
                <a:moveTo>
                  <a:pt x="0" y="0"/>
                </a:moveTo>
                <a:lnTo>
                  <a:pt x="7627961" y="0"/>
                </a:lnTo>
                <a:lnTo>
                  <a:pt x="7627961" y="3716898"/>
                </a:lnTo>
                <a:lnTo>
                  <a:pt x="0" y="371689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71868" y="458450"/>
            <a:ext cx="5790657" cy="1938295"/>
          </a:xfrm>
          <a:custGeom>
            <a:avLst/>
            <a:gdLst/>
            <a:ahLst/>
            <a:cxnLst/>
            <a:rect r="r" b="b" t="t" l="l"/>
            <a:pathLst>
              <a:path h="1938295" w="5790657">
                <a:moveTo>
                  <a:pt x="0" y="0"/>
                </a:moveTo>
                <a:lnTo>
                  <a:pt x="5790656" y="0"/>
                </a:lnTo>
                <a:lnTo>
                  <a:pt x="5790656" y="1938295"/>
                </a:lnTo>
                <a:lnTo>
                  <a:pt x="0" y="19382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65000"/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5299875" y="2845945"/>
            <a:ext cx="7688251" cy="192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120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AI, ML,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680389" y="1456173"/>
            <a:ext cx="4927222" cy="791725"/>
            <a:chOff x="0" y="0"/>
            <a:chExt cx="1297705" cy="208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97705" cy="208520"/>
            </a:xfrm>
            <a:custGeom>
              <a:avLst/>
              <a:gdLst/>
              <a:ahLst/>
              <a:cxnLst/>
              <a:rect r="r" b="b" t="t" l="l"/>
              <a:pathLst>
                <a:path h="208520" w="1297705">
                  <a:moveTo>
                    <a:pt x="104260" y="0"/>
                  </a:moveTo>
                  <a:lnTo>
                    <a:pt x="1193444" y="0"/>
                  </a:lnTo>
                  <a:cubicBezTo>
                    <a:pt x="1251026" y="0"/>
                    <a:pt x="1297705" y="46679"/>
                    <a:pt x="1297705" y="104260"/>
                  </a:cubicBezTo>
                  <a:lnTo>
                    <a:pt x="1297705" y="104260"/>
                  </a:lnTo>
                  <a:cubicBezTo>
                    <a:pt x="1297705" y="161841"/>
                    <a:pt x="1251026" y="208520"/>
                    <a:pt x="1193444" y="208520"/>
                  </a:cubicBezTo>
                  <a:lnTo>
                    <a:pt x="104260" y="208520"/>
                  </a:lnTo>
                  <a:cubicBezTo>
                    <a:pt x="46679" y="208520"/>
                    <a:pt x="0" y="161841"/>
                    <a:pt x="0" y="104260"/>
                  </a:cubicBezTo>
                  <a:lnTo>
                    <a:pt x="0" y="104260"/>
                  </a:lnTo>
                  <a:cubicBezTo>
                    <a:pt x="0" y="46679"/>
                    <a:pt x="46679" y="0"/>
                    <a:pt x="10426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97705" cy="2466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889755" y="1710743"/>
            <a:ext cx="4508490" cy="330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250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Advance Study Group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894294" y="6869221"/>
            <a:ext cx="2441189" cy="791725"/>
            <a:chOff x="0" y="0"/>
            <a:chExt cx="642947" cy="208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2947" cy="208520"/>
            </a:xfrm>
            <a:custGeom>
              <a:avLst/>
              <a:gdLst/>
              <a:ahLst/>
              <a:cxnLst/>
              <a:rect r="r" b="b" t="t" l="l"/>
              <a:pathLst>
                <a:path h="208520" w="642947">
                  <a:moveTo>
                    <a:pt x="104260" y="0"/>
                  </a:moveTo>
                  <a:lnTo>
                    <a:pt x="538687" y="0"/>
                  </a:lnTo>
                  <a:cubicBezTo>
                    <a:pt x="596268" y="0"/>
                    <a:pt x="642947" y="46679"/>
                    <a:pt x="642947" y="104260"/>
                  </a:cubicBezTo>
                  <a:lnTo>
                    <a:pt x="642947" y="104260"/>
                  </a:lnTo>
                  <a:cubicBezTo>
                    <a:pt x="642947" y="161841"/>
                    <a:pt x="596268" y="208520"/>
                    <a:pt x="538687" y="208520"/>
                  </a:cubicBezTo>
                  <a:lnTo>
                    <a:pt x="104260" y="208520"/>
                  </a:lnTo>
                  <a:cubicBezTo>
                    <a:pt x="46679" y="208520"/>
                    <a:pt x="0" y="161841"/>
                    <a:pt x="0" y="104260"/>
                  </a:cubicBezTo>
                  <a:lnTo>
                    <a:pt x="0" y="104260"/>
                  </a:lnTo>
                  <a:cubicBezTo>
                    <a:pt x="0" y="46679"/>
                    <a:pt x="46679" y="0"/>
                    <a:pt x="104260" y="0"/>
                  </a:cubicBezTo>
                  <a:close/>
                </a:path>
              </a:pathLst>
            </a:custGeom>
            <a:solidFill>
              <a:srgbClr val="001769"/>
            </a:solidFill>
            <a:ln cap="rnd">
              <a:noFill/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42947" cy="2466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9998024" y="7123791"/>
            <a:ext cx="2233728" cy="330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240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Pertemuan 0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300005" y="4630814"/>
            <a:ext cx="11687990" cy="192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1200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Optimasi</a:t>
            </a:r>
          </a:p>
        </p:txBody>
      </p:sp>
      <p:sp>
        <p:nvSpPr>
          <p:cNvPr id="25" name="Label lab"/>
          <p:cNvSpPr/>
          <p:nvPr/>
        </p:nvSpPr>
        <p:spPr>
          <a:xfrm>
            <a:off x="3474720" y="320040"/>
            <a:ext cx="11338560" cy="685800"/>
          </a:xfrm>
          <a:prstGeom prst="roundRect">
            <a:avLst>
              <a:gd name="adj" fmla="val 40000"/>
            </a:avLst>
          </a:prstGeom>
          <a:solidFill>
            <a:srgbClr val="0A25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Nama lab"/>
          <p:cNvSpPr txBox="1"/>
          <p:nvPr/>
        </p:nvSpPr>
        <p:spPr>
          <a:xfrm>
            <a:off x="3474720" y="457200"/>
            <a:ext cx="11338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>
                <a:solidFill>
                  <a:srgbClr val="FFFFFF"/>
                </a:solidFill>
                <a:latin typeface="Playpen Sans"/>
              </a:rPr>
              <a:t>Computing Laboratory · Fakultas Informatika · Telkom University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1612880" cy="66751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Pretest</a:t>
            </a:r>
          </a:p>
        </p:txBody>
      </p:sp>
      <p:sp>
        <p:nvSpPr>
          <p:cNvPr id="16" name="Waktu"/>
          <p:cNvSpPr txBox="1"/>
          <p:nvPr/>
        </p:nvSpPr>
        <p:spPr>
          <a:xfrm>
            <a:off x="1508760" y="2194560"/>
            <a:ext cx="1042415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800">
                <a:solidFill>
                  <a:srgbClr val="F7B125"/>
                </a:solidFill>
                <a:latin typeface="Playpen Sans Bold"/>
              </a:rPr>
              <a:t>8 menit</a:t>
            </a:r>
          </a:p>
        </p:txBody>
      </p:sp>
      <p:sp>
        <p:nvSpPr>
          <p:cNvPr id="17" name="Teks"/>
          <p:cNvSpPr txBox="1"/>
          <p:nvPr/>
        </p:nvSpPr>
        <p:spPr>
          <a:xfrm>
            <a:off x="1508760" y="3794760"/>
            <a:ext cx="10424159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200"/>
              </a:spcAft>
              <a:buClr>
                <a:srgbClr val="F7B125"/>
              </a:buClr>
              <a:buFont typeface="Arial"/>
              <a:buChar char="•"/>
            </a:pPr>
            <a:r>
              <a:rPr sz="3600">
                <a:solidFill>
                  <a:srgbClr val="FFFFFF"/>
                </a:solidFill>
                <a:latin typeface="Playpen Sans"/>
              </a:rPr>
              <a:t>12 soal pendek, tanpa perangkat</a:t>
            </a:r>
          </a:p>
          <a:p>
            <a:pPr algn="l" marL="502920" indent="-502920">
              <a:spcAft>
                <a:spcPts val="1200"/>
              </a:spcAft>
              <a:buClr>
                <a:srgbClr val="F7B125"/>
              </a:buClr>
              <a:buFont typeface="Arial"/>
              <a:buChar char="•"/>
            </a:pPr>
            <a:r>
              <a:rPr sz="3600">
                <a:solidFill>
                  <a:srgbClr val="FFFFFF"/>
                </a:solidFill>
                <a:latin typeface="Playpen Sans"/>
              </a:rPr>
              <a:t>Tanpa nilai. Pakai nama samaran</a:t>
            </a:r>
          </a:p>
          <a:p>
            <a:pPr algn="l" marL="502920" indent="-502920">
              <a:spcAft>
                <a:spcPts val="1200"/>
              </a:spcAft>
              <a:buClr>
                <a:srgbClr val="F7B125"/>
              </a:buClr>
              <a:buFont typeface="Arial"/>
              <a:buChar char="•"/>
            </a:pPr>
            <a:r>
              <a:rPr sz="3600">
                <a:solidFill>
                  <a:srgbClr val="FFFFFF"/>
                </a:solidFill>
                <a:latin typeface="Playpen Sans"/>
              </a:rPr>
              <a:t>Kosongkan soal yang tidak kamu tahu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Arial"/>
              <a:buChar char="•"/>
            </a:pPr>
            <a:r>
              <a:rPr sz="3600">
                <a:solidFill>
                  <a:srgbClr val="FFFFFF"/>
                </a:solidFill>
                <a:latin typeface="Playpen Sans"/>
              </a:rPr>
              <a:t>Hasilnya hanya untuk merencanakan kelas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9416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Panel"/>
          <p:cNvSpPr/>
          <p:nvPr/>
        </p:nvSpPr>
        <p:spPr>
          <a:xfrm>
            <a:off x="4480560" y="731520"/>
            <a:ext cx="12893040" cy="66751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Judul"/>
          <p:cNvSpPr txBox="1"/>
          <p:nvPr/>
        </p:nvSpPr>
        <p:spPr>
          <a:xfrm>
            <a:off x="5074920" y="1005840"/>
            <a:ext cx="117043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>
                <a:solidFill>
                  <a:srgbClr val="F7B125"/>
                </a:solidFill>
                <a:latin typeface="Playpen Sans Bold"/>
              </a:rPr>
              <a:t>Agenda Hari Ini</a:t>
            </a:r>
          </a:p>
        </p:txBody>
      </p:sp>
      <p:sp>
        <p:nvSpPr>
          <p:cNvPr id="14" name="Jam"/>
          <p:cNvSpPr txBox="1"/>
          <p:nvPr/>
        </p:nvSpPr>
        <p:spPr>
          <a:xfrm>
            <a:off x="5074920" y="2240280"/>
            <a:ext cx="173736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0:00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0:08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0:15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0:30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0:40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1:05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1:10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1:45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1:55</a:t>
            </a:r>
          </a:p>
        </p:txBody>
      </p:sp>
      <p:sp>
        <p:nvSpPr>
          <p:cNvPr id="15" name="Kegiatan"/>
          <p:cNvSpPr txBox="1"/>
          <p:nvPr/>
        </p:nvSpPr>
        <p:spPr>
          <a:xfrm>
            <a:off x="6995160" y="2240280"/>
            <a:ext cx="978408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Pretest (8 menit)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Pembukaan dan demo (7)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Cara kerja kelas (15)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Python untuk programmer Go (10)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Lembar kerja Colab (25)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Istirahat (5)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Optimizer 20 baris (35)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Stasiun persiapan (10)</a:t>
            </a:r>
          </a:p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Tiket keluar (5)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148474" y="-5929"/>
            <a:ext cx="4139526" cy="4692896"/>
          </a:xfrm>
          <a:custGeom>
            <a:avLst/>
            <a:gdLst/>
            <a:ahLst/>
            <a:cxnLst/>
            <a:rect r="r" b="b" t="t" l="l"/>
            <a:pathLst>
              <a:path h="4692896" w="4139526">
                <a:moveTo>
                  <a:pt x="0" y="0"/>
                </a:moveTo>
                <a:lnTo>
                  <a:pt x="4139526" y="0"/>
                </a:lnTo>
                <a:lnTo>
                  <a:pt x="4139526" y="4692896"/>
                </a:lnTo>
                <a:lnTo>
                  <a:pt x="0" y="46928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-5929"/>
            <a:ext cx="4139526" cy="4692896"/>
          </a:xfrm>
          <a:custGeom>
            <a:avLst/>
            <a:gdLst/>
            <a:ahLst/>
            <a:cxnLst/>
            <a:rect r="r" b="b" t="t" l="l"/>
            <a:pathLst>
              <a:path h="4692896" w="4139526">
                <a:moveTo>
                  <a:pt x="4139526" y="0"/>
                </a:moveTo>
                <a:lnTo>
                  <a:pt x="0" y="0"/>
                </a:lnTo>
                <a:lnTo>
                  <a:pt x="0" y="4692896"/>
                </a:lnTo>
                <a:lnTo>
                  <a:pt x="4139526" y="4692896"/>
                </a:lnTo>
                <a:lnTo>
                  <a:pt x="413952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206717" y="7682290"/>
            <a:ext cx="19413624" cy="3152020"/>
          </a:xfrm>
          <a:custGeom>
            <a:avLst/>
            <a:gdLst/>
            <a:ahLst/>
            <a:cxnLst/>
            <a:rect r="r" b="b" t="t" l="l"/>
            <a:pathLst>
              <a:path h="3152020" w="19413624">
                <a:moveTo>
                  <a:pt x="0" y="0"/>
                </a:moveTo>
                <a:lnTo>
                  <a:pt x="19413624" y="0"/>
                </a:lnTo>
                <a:lnTo>
                  <a:pt x="19413624" y="3152020"/>
                </a:lnTo>
                <a:lnTo>
                  <a:pt x="0" y="31520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37199" y="8522609"/>
            <a:ext cx="4596925" cy="3109193"/>
          </a:xfrm>
          <a:custGeom>
            <a:avLst/>
            <a:gdLst/>
            <a:ahLst/>
            <a:cxnLst/>
            <a:rect r="r" b="b" t="t" l="l"/>
            <a:pathLst>
              <a:path h="3109193" w="4596925">
                <a:moveTo>
                  <a:pt x="0" y="0"/>
                </a:moveTo>
                <a:lnTo>
                  <a:pt x="4596925" y="0"/>
                </a:lnTo>
                <a:lnTo>
                  <a:pt x="4596925" y="3109193"/>
                </a:lnTo>
                <a:lnTo>
                  <a:pt x="0" y="310919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148474" y="6803204"/>
            <a:ext cx="4541608" cy="3740633"/>
          </a:xfrm>
          <a:custGeom>
            <a:avLst/>
            <a:gdLst/>
            <a:ahLst/>
            <a:cxnLst/>
            <a:rect r="r" b="b" t="t" l="l"/>
            <a:pathLst>
              <a:path h="3740633" w="4541608">
                <a:moveTo>
                  <a:pt x="0" y="0"/>
                </a:moveTo>
                <a:lnTo>
                  <a:pt x="4541608" y="0"/>
                </a:lnTo>
                <a:lnTo>
                  <a:pt x="4541608" y="3740633"/>
                </a:lnTo>
                <a:lnTo>
                  <a:pt x="0" y="374063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909034" y="1294881"/>
            <a:ext cx="5494385" cy="4745151"/>
          </a:xfrm>
          <a:custGeom>
            <a:avLst/>
            <a:gdLst/>
            <a:ahLst/>
            <a:cxnLst/>
            <a:rect r="r" b="b" t="t" l="l"/>
            <a:pathLst>
              <a:path h="4745151" w="5494385">
                <a:moveTo>
                  <a:pt x="0" y="0"/>
                </a:moveTo>
                <a:lnTo>
                  <a:pt x="5494385" y="0"/>
                </a:lnTo>
                <a:lnTo>
                  <a:pt x="5494385" y="4745150"/>
                </a:lnTo>
                <a:lnTo>
                  <a:pt x="0" y="474515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1579571" y="1761625"/>
            <a:ext cx="5137808" cy="259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b="true" sz="76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ML dan Optimasi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2558429" y="4174633"/>
            <a:ext cx="3518423" cy="3038638"/>
          </a:xfrm>
          <a:custGeom>
            <a:avLst/>
            <a:gdLst/>
            <a:ahLst/>
            <a:cxnLst/>
            <a:rect r="r" b="b" t="t" l="l"/>
            <a:pathLst>
              <a:path h="3038638" w="3518423">
                <a:moveTo>
                  <a:pt x="0" y="0"/>
                </a:moveTo>
                <a:lnTo>
                  <a:pt x="3518422" y="0"/>
                </a:lnTo>
                <a:lnTo>
                  <a:pt x="3518422" y="3038638"/>
                </a:lnTo>
                <a:lnTo>
                  <a:pt x="0" y="3038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-663503" y="6368644"/>
            <a:ext cx="2490739" cy="4049982"/>
          </a:xfrm>
          <a:custGeom>
            <a:avLst/>
            <a:gdLst/>
            <a:ahLst/>
            <a:cxnLst/>
            <a:rect r="r" b="b" t="t" l="l"/>
            <a:pathLst>
              <a:path h="4049982" w="2490739">
                <a:moveTo>
                  <a:pt x="0" y="0"/>
                </a:moveTo>
                <a:lnTo>
                  <a:pt x="2490739" y="0"/>
                </a:lnTo>
                <a:lnTo>
                  <a:pt x="2490739" y="4049982"/>
                </a:lnTo>
                <a:lnTo>
                  <a:pt x="0" y="40499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7472992" y="5398179"/>
            <a:ext cx="3502641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600" b="true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Anggaran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472992" y="6080760"/>
            <a:ext cx="4647286" cy="644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0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Berapa kali kita boleh mencoba.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5826" y="2727895"/>
            <a:ext cx="4937760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600" b="true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Fungsi tujuan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15826" y="3429000"/>
            <a:ext cx="4937760" cy="958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0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Apa yang ingin diperkecil atau diperbesar.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15826" y="5398179"/>
            <a:ext cx="4937760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600" b="true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Ruang pencarian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15826" y="6080760"/>
            <a:ext cx="4937760" cy="644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0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Pilihan apa saja yang boleh kita coba.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148474" y="-5929"/>
            <a:ext cx="4139526" cy="4692896"/>
          </a:xfrm>
          <a:custGeom>
            <a:avLst/>
            <a:gdLst/>
            <a:ahLst/>
            <a:cxnLst/>
            <a:rect r="r" b="b" t="t" l="l"/>
            <a:pathLst>
              <a:path h="4692896" w="4139526">
                <a:moveTo>
                  <a:pt x="0" y="0"/>
                </a:moveTo>
                <a:lnTo>
                  <a:pt x="4139526" y="0"/>
                </a:lnTo>
                <a:lnTo>
                  <a:pt x="4139526" y="4692896"/>
                </a:lnTo>
                <a:lnTo>
                  <a:pt x="0" y="46928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-5929"/>
            <a:ext cx="4139526" cy="4692896"/>
          </a:xfrm>
          <a:custGeom>
            <a:avLst/>
            <a:gdLst/>
            <a:ahLst/>
            <a:cxnLst/>
            <a:rect r="r" b="b" t="t" l="l"/>
            <a:pathLst>
              <a:path h="4692896" w="4139526">
                <a:moveTo>
                  <a:pt x="4139526" y="0"/>
                </a:moveTo>
                <a:lnTo>
                  <a:pt x="0" y="0"/>
                </a:lnTo>
                <a:lnTo>
                  <a:pt x="0" y="4692896"/>
                </a:lnTo>
                <a:lnTo>
                  <a:pt x="4139526" y="4692896"/>
                </a:lnTo>
                <a:lnTo>
                  <a:pt x="413952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206717" y="7682290"/>
            <a:ext cx="19413624" cy="3152020"/>
          </a:xfrm>
          <a:custGeom>
            <a:avLst/>
            <a:gdLst/>
            <a:ahLst/>
            <a:cxnLst/>
            <a:rect r="r" b="b" t="t" l="l"/>
            <a:pathLst>
              <a:path h="3152020" w="19413624">
                <a:moveTo>
                  <a:pt x="0" y="0"/>
                </a:moveTo>
                <a:lnTo>
                  <a:pt x="19413624" y="0"/>
                </a:lnTo>
                <a:lnTo>
                  <a:pt x="19413624" y="3152020"/>
                </a:lnTo>
                <a:lnTo>
                  <a:pt x="0" y="31520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258115" y="7725117"/>
            <a:ext cx="4596925" cy="3109193"/>
          </a:xfrm>
          <a:custGeom>
            <a:avLst/>
            <a:gdLst/>
            <a:ahLst/>
            <a:cxnLst/>
            <a:rect r="r" b="b" t="t" l="l"/>
            <a:pathLst>
              <a:path h="3109193" w="4596925">
                <a:moveTo>
                  <a:pt x="0" y="0"/>
                </a:moveTo>
                <a:lnTo>
                  <a:pt x="4596925" y="0"/>
                </a:lnTo>
                <a:lnTo>
                  <a:pt x="4596925" y="3109193"/>
                </a:lnTo>
                <a:lnTo>
                  <a:pt x="0" y="310919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581823" y="4915567"/>
            <a:ext cx="4573747" cy="4677031"/>
          </a:xfrm>
          <a:custGeom>
            <a:avLst/>
            <a:gdLst/>
            <a:ahLst/>
            <a:cxnLst/>
            <a:rect r="r" b="b" t="t" l="l"/>
            <a:pathLst>
              <a:path h="4677031" w="4573747">
                <a:moveTo>
                  <a:pt x="0" y="0"/>
                </a:moveTo>
                <a:lnTo>
                  <a:pt x="4573747" y="0"/>
                </a:lnTo>
                <a:lnTo>
                  <a:pt x="4573747" y="4677031"/>
                </a:lnTo>
                <a:lnTo>
                  <a:pt x="0" y="46770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840828">
            <a:off x="6648215" y="2562979"/>
            <a:ext cx="4390913" cy="2405854"/>
          </a:xfrm>
          <a:custGeom>
            <a:avLst/>
            <a:gdLst/>
            <a:ahLst/>
            <a:cxnLst/>
            <a:rect r="r" b="b" t="t" l="l"/>
            <a:pathLst>
              <a:path h="2405854" w="4390913">
                <a:moveTo>
                  <a:pt x="0" y="0"/>
                </a:moveTo>
                <a:lnTo>
                  <a:pt x="4390913" y="0"/>
                </a:lnTo>
                <a:lnTo>
                  <a:pt x="4390913" y="2405854"/>
                </a:lnTo>
                <a:lnTo>
                  <a:pt x="0" y="24058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true" flipV="false" rot="0">
            <a:off x="1028700" y="4395916"/>
            <a:ext cx="4385538" cy="3141142"/>
          </a:xfrm>
          <a:custGeom>
            <a:avLst/>
            <a:gdLst/>
            <a:ahLst/>
            <a:cxnLst/>
            <a:rect r="r" b="b" t="t" l="l"/>
            <a:pathLst>
              <a:path h="3141142" w="4385538">
                <a:moveTo>
                  <a:pt x="4385538" y="0"/>
                </a:moveTo>
                <a:lnTo>
                  <a:pt x="0" y="0"/>
                </a:lnTo>
                <a:lnTo>
                  <a:pt x="0" y="3141142"/>
                </a:lnTo>
                <a:lnTo>
                  <a:pt x="4385538" y="3141142"/>
                </a:lnTo>
                <a:lnTo>
                  <a:pt x="4385538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606326" y="1798776"/>
            <a:ext cx="5137808" cy="259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7200" b="true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Evolusi Gambar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391420" y="2298321"/>
            <a:ext cx="3502641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b="true" sz="36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Satu aturan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391420" y="2970332"/>
            <a:ext cx="4647286" cy="958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0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Ubah sedikit. Simpan jika lebih mirip target, buang jika tidak.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744134" y="5548525"/>
            <a:ext cx="3502641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600" b="true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Perhatikan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744134" y="6220536"/>
            <a:ext cx="5008179" cy="958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2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Kapan kurva turun cepat? Kapan melambat?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6422262" y="7876482"/>
            <a:ext cx="4596925" cy="3109193"/>
          </a:xfrm>
          <a:custGeom>
            <a:avLst/>
            <a:gdLst/>
            <a:ahLst/>
            <a:cxnLst/>
            <a:rect r="r" b="b" t="t" l="l"/>
            <a:pathLst>
              <a:path h="3109193" w="4596925">
                <a:moveTo>
                  <a:pt x="0" y="0"/>
                </a:moveTo>
                <a:lnTo>
                  <a:pt x="4596925" y="0"/>
                </a:lnTo>
                <a:lnTo>
                  <a:pt x="4596925" y="3109193"/>
                </a:lnTo>
                <a:lnTo>
                  <a:pt x="0" y="310919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1612880" cy="630936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Setelah 16 Pekan</a:t>
            </a:r>
          </a:p>
        </p:txBody>
      </p:sp>
      <p:sp>
        <p:nvSpPr>
          <p:cNvPr id="16" name="Teks"/>
          <p:cNvSpPr txBox="1"/>
          <p:nvPr/>
        </p:nvSpPr>
        <p:spPr>
          <a:xfrm>
            <a:off x="1508760" y="2194560"/>
            <a:ext cx="10424159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Merumuskan masalah sebagai masalah optimasi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Melatih dan men-debug model buatan sendiri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Mengevaluasi model dengan jujur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Memakai SA, GA, PSO, dan ACO, lalu menggabungkannya dengan ML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Memakai CNN, transformer, dan LLM secara kritis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Merilis demo publik bersama timmu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148474" y="-5929"/>
            <a:ext cx="4139526" cy="4692896"/>
          </a:xfrm>
          <a:custGeom>
            <a:avLst/>
            <a:gdLst/>
            <a:ahLst/>
            <a:cxnLst/>
            <a:rect r="r" b="b" t="t" l="l"/>
            <a:pathLst>
              <a:path h="4692896" w="4139526">
                <a:moveTo>
                  <a:pt x="0" y="0"/>
                </a:moveTo>
                <a:lnTo>
                  <a:pt x="4139526" y="0"/>
                </a:lnTo>
                <a:lnTo>
                  <a:pt x="4139526" y="4692896"/>
                </a:lnTo>
                <a:lnTo>
                  <a:pt x="0" y="46928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16772" y="1953985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5" y="0"/>
                </a:lnTo>
                <a:lnTo>
                  <a:pt x="5309235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-5929"/>
            <a:ext cx="4139526" cy="4692896"/>
          </a:xfrm>
          <a:custGeom>
            <a:avLst/>
            <a:gdLst/>
            <a:ahLst/>
            <a:cxnLst/>
            <a:rect r="r" b="b" t="t" l="l"/>
            <a:pathLst>
              <a:path h="4692896" w="4139526">
                <a:moveTo>
                  <a:pt x="4139526" y="0"/>
                </a:moveTo>
                <a:lnTo>
                  <a:pt x="0" y="0"/>
                </a:lnTo>
                <a:lnTo>
                  <a:pt x="0" y="4692896"/>
                </a:lnTo>
                <a:lnTo>
                  <a:pt x="4139526" y="4692896"/>
                </a:lnTo>
                <a:lnTo>
                  <a:pt x="4139526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1044" y="2340519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740492" y="3555740"/>
            <a:ext cx="5848879" cy="5973006"/>
          </a:xfrm>
          <a:custGeom>
            <a:avLst/>
            <a:gdLst/>
            <a:ahLst/>
            <a:cxnLst/>
            <a:rect r="r" b="b" t="t" l="l"/>
            <a:pathLst>
              <a:path h="5973006" w="5848879">
                <a:moveTo>
                  <a:pt x="0" y="0"/>
                </a:moveTo>
                <a:lnTo>
                  <a:pt x="5848879" y="0"/>
                </a:lnTo>
                <a:lnTo>
                  <a:pt x="5848879" y="5973006"/>
                </a:lnTo>
                <a:lnTo>
                  <a:pt x="0" y="597300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206717" y="7362431"/>
            <a:ext cx="19413624" cy="3152020"/>
          </a:xfrm>
          <a:custGeom>
            <a:avLst/>
            <a:gdLst/>
            <a:ahLst/>
            <a:cxnLst/>
            <a:rect r="r" b="b" t="t" l="l"/>
            <a:pathLst>
              <a:path h="3152020" w="19413624">
                <a:moveTo>
                  <a:pt x="0" y="0"/>
                </a:moveTo>
                <a:lnTo>
                  <a:pt x="19413624" y="0"/>
                </a:lnTo>
                <a:lnTo>
                  <a:pt x="19413624" y="3152020"/>
                </a:lnTo>
                <a:lnTo>
                  <a:pt x="0" y="31520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37199" y="8202750"/>
            <a:ext cx="4596925" cy="3109193"/>
          </a:xfrm>
          <a:custGeom>
            <a:avLst/>
            <a:gdLst/>
            <a:ahLst/>
            <a:cxnLst/>
            <a:rect r="r" b="b" t="t" l="l"/>
            <a:pathLst>
              <a:path h="3109193" w="4596925">
                <a:moveTo>
                  <a:pt x="0" y="0"/>
                </a:moveTo>
                <a:lnTo>
                  <a:pt x="4596925" y="0"/>
                </a:lnTo>
                <a:lnTo>
                  <a:pt x="4596925" y="3109193"/>
                </a:lnTo>
                <a:lnTo>
                  <a:pt x="0" y="310919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-671387" y="5495651"/>
            <a:ext cx="4781497" cy="5229762"/>
          </a:xfrm>
          <a:custGeom>
            <a:avLst/>
            <a:gdLst/>
            <a:ahLst/>
            <a:cxnLst/>
            <a:rect r="r" b="b" t="t" l="l"/>
            <a:pathLst>
              <a:path h="5229762" w="4781497">
                <a:moveTo>
                  <a:pt x="0" y="0"/>
                </a:moveTo>
                <a:lnTo>
                  <a:pt x="4781497" y="0"/>
                </a:lnTo>
                <a:lnTo>
                  <a:pt x="4781497" y="5229762"/>
                </a:lnTo>
                <a:lnTo>
                  <a:pt x="0" y="52297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2085875" y="1188720"/>
            <a:ext cx="7987091" cy="1330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b="true" sz="68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Ritme Mingguan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515666" y="1648940"/>
            <a:ext cx="3502641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b="true" sz="36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2. Kelas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515666" y="2311425"/>
            <a:ext cx="5514110" cy="958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0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2 jam tatap muka: kuis tanpa perangkat, contoh, latihan berpasangan.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085875" y="3520440"/>
            <a:ext cx="3502641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b="true" sz="36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1. Baca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085875" y="4206240"/>
            <a:ext cx="4194044" cy="958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8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10 sampai 20 halaman, dengan panduan baca berbahasa Indonesia.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95404" y="4442396"/>
            <a:ext cx="3502641" cy="400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b="true" sz="3600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3. Latihan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095404" y="5104882"/>
            <a:ext cx="5514110" cy="9588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000">
                <a:solidFill>
                  <a:srgbClr val="FFFFFF"/>
                </a:solidFill>
                <a:latin typeface="Playpen Sans"/>
                <a:ea typeface="Playpen Sans"/>
                <a:cs typeface="Playpen Sans"/>
                <a:sym typeface="Playpen Sans"/>
              </a:rPr>
              <a:t>Notebook Colab dan satu pertanyaan pemahaman.</a:t>
            </a:r>
          </a:p>
        </p:txBody>
      </p:sp>
      <p:sp>
        <p:nvSpPr>
          <p:cNvPr id="22" name="Beban"/>
          <p:cNvSpPr txBox="1"/>
          <p:nvPr/>
        </p:nvSpPr>
        <p:spPr>
          <a:xfrm>
            <a:off x="2103120" y="2606040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>
                <a:solidFill>
                  <a:srgbClr val="F7B125"/>
                </a:solidFill>
                <a:latin typeface="Playpen Sans Bold"/>
              </a:rPr>
              <a:t>Sekitar 5 sampai 6 jam per pekan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1612880" cy="66751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Dua Buku</a:t>
            </a:r>
          </a:p>
        </p:txBody>
      </p:sp>
      <p:sp>
        <p:nvSpPr>
          <p:cNvPr id="16" name="Kartu 1"/>
          <p:cNvSpPr/>
          <p:nvPr/>
        </p:nvSpPr>
        <p:spPr>
          <a:xfrm>
            <a:off x="1508760" y="2240280"/>
            <a:ext cx="4983479" cy="3520440"/>
          </a:xfrm>
          <a:prstGeom prst="roundRect">
            <a:avLst>
              <a:gd name="adj" fmla="val 6000"/>
            </a:avLst>
          </a:prstGeom>
          <a:solidFill>
            <a:srgbClr val="143A6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i kartu 1"/>
          <p:cNvSpPr txBox="1"/>
          <p:nvPr/>
        </p:nvSpPr>
        <p:spPr>
          <a:xfrm>
            <a:off x="1783080" y="242316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Understanding Deep Learning</a:t>
            </a:r>
          </a:p>
          <a:p>
            <a:pPr algn="l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Simon J. D. Prince · MIT Press 2023</a:t>
            </a:r>
          </a:p>
          <a:p>
            <a:pPr algn="l">
              <a:spcAft>
                <a:spcPts val="800"/>
              </a:spcAft>
            </a:pPr>
            <a:r>
              <a:rPr sz="3000">
                <a:solidFill>
                  <a:srgbClr val="FFFFFF"/>
                </a:solidFill>
                <a:latin typeface="Playpen Sans Bold"/>
              </a:rPr>
              <a:t>ML dan deep learning</a:t>
            </a:r>
          </a:p>
          <a:p>
            <a:pPr algn="l">
              <a:spcAft>
                <a:spcPts val="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udlbook.github.io/udlbook</a:t>
            </a:r>
          </a:p>
        </p:txBody>
      </p:sp>
      <p:sp>
        <p:nvSpPr>
          <p:cNvPr id="18" name="Kartu 2"/>
          <p:cNvSpPr/>
          <p:nvPr/>
        </p:nvSpPr>
        <p:spPr>
          <a:xfrm>
            <a:off x="6949440" y="2240280"/>
            <a:ext cx="4983479" cy="3520440"/>
          </a:xfrm>
          <a:prstGeom prst="roundRect">
            <a:avLst>
              <a:gd name="adj" fmla="val 6000"/>
            </a:avLst>
          </a:prstGeom>
          <a:solidFill>
            <a:srgbClr val="143A6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i kartu 2"/>
          <p:cNvSpPr txBox="1"/>
          <p:nvPr/>
        </p:nvSpPr>
        <p:spPr>
          <a:xfrm>
            <a:off x="7223759" y="242316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Essentials of Metaheuristics</a:t>
            </a:r>
          </a:p>
          <a:p>
            <a:pPr algn="l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Sean Luke · edisi kedua, versi 2.4</a:t>
            </a:r>
          </a:p>
          <a:p>
            <a:pPr algn="l">
              <a:spcAft>
                <a:spcPts val="800"/>
              </a:spcAft>
            </a:pPr>
            <a:r>
              <a:rPr sz="3000">
                <a:solidFill>
                  <a:srgbClr val="FFFFFF"/>
                </a:solidFill>
                <a:latin typeface="Playpen Sans Bold"/>
              </a:rPr>
              <a:t>Metaheuristik</a:t>
            </a:r>
          </a:p>
          <a:p>
            <a:pPr algn="l">
              <a:spcAft>
                <a:spcPts val="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Situs penulis (lihat Panduan Peserta)</a:t>
            </a:r>
          </a:p>
        </p:txBody>
      </p:sp>
      <p:sp>
        <p:nvSpPr>
          <p:cNvPr id="20" name="Catatan buku"/>
          <p:cNvSpPr txBox="1"/>
          <p:nvPr/>
        </p:nvSpPr>
        <p:spPr>
          <a:xfrm>
            <a:off x="1508760" y="598932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>
                <a:solidFill>
                  <a:srgbClr val="FFFFFF"/>
                </a:solidFill>
                <a:latin typeface="Playpen Sans"/>
              </a:rPr>
              <a:t>Gratis dan sah. Satu bab kurang lebih satu pekan.</a:t>
            </a:r>
          </a:p>
          <a:p>
            <a:pPr algn="l">
              <a:spcAft>
                <a:spcPts val="0"/>
              </a:spcAft>
            </a:pPr>
            <a:r>
              <a:rPr sz="2400">
                <a:solidFill>
                  <a:srgbClr val="F7B125"/>
                </a:solidFill>
                <a:latin typeface="Playpen Sans"/>
              </a:rPr>
              <a:t>Kedua lisensi melarang mengubah dan menerjemahkan.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9416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Panel"/>
          <p:cNvSpPr/>
          <p:nvPr/>
        </p:nvSpPr>
        <p:spPr>
          <a:xfrm>
            <a:off x="4480560" y="731520"/>
            <a:ext cx="12893040" cy="62179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Judul"/>
          <p:cNvSpPr txBox="1"/>
          <p:nvPr/>
        </p:nvSpPr>
        <p:spPr>
          <a:xfrm>
            <a:off x="5074920" y="1005840"/>
            <a:ext cx="117043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Penilaian</a:t>
            </a:r>
          </a:p>
        </p:txBody>
      </p:sp>
      <p:sp>
        <p:nvSpPr>
          <p:cNvPr id="14" name="Angka 1"/>
          <p:cNvSpPr txBox="1"/>
          <p:nvPr/>
        </p:nvSpPr>
        <p:spPr>
          <a:xfrm>
            <a:off x="5074920" y="2240280"/>
            <a:ext cx="362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0">
                <a:solidFill>
                  <a:srgbClr val="F7B125"/>
                </a:solidFill>
                <a:latin typeface="Playpen Sans Bold"/>
              </a:rPr>
              <a:t>40%</a:t>
            </a:r>
          </a:p>
        </p:txBody>
      </p:sp>
      <p:sp>
        <p:nvSpPr>
          <p:cNvPr id="15" name="Label 1"/>
          <p:cNvSpPr txBox="1"/>
          <p:nvPr/>
        </p:nvSpPr>
        <p:spPr>
          <a:xfrm>
            <a:off x="5074920" y="3840480"/>
            <a:ext cx="3627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 Bold"/>
              </a:rPr>
              <a:t>Latihan</a:t>
            </a:r>
          </a:p>
          <a:p>
            <a:pPr algn="l">
              <a:spcAft>
                <a:spcPts val="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mingguan: kelengkapan dan satu pertanyaan pemahaman</a:t>
            </a:r>
          </a:p>
        </p:txBody>
      </p:sp>
      <p:sp>
        <p:nvSpPr>
          <p:cNvPr id="16" name="Angka 2"/>
          <p:cNvSpPr txBox="1"/>
          <p:nvPr/>
        </p:nvSpPr>
        <p:spPr>
          <a:xfrm>
            <a:off x="8976360" y="2240280"/>
            <a:ext cx="362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0">
                <a:solidFill>
                  <a:srgbClr val="F7B125"/>
                </a:solidFill>
                <a:latin typeface="Playpen Sans Bold"/>
              </a:rPr>
              <a:t>10%</a:t>
            </a:r>
          </a:p>
        </p:txBody>
      </p:sp>
      <p:sp>
        <p:nvSpPr>
          <p:cNvPr id="17" name="Label 2"/>
          <p:cNvSpPr txBox="1"/>
          <p:nvPr/>
        </p:nvSpPr>
        <p:spPr>
          <a:xfrm>
            <a:off x="8976360" y="3840480"/>
            <a:ext cx="3627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 Bold"/>
              </a:rPr>
              <a:t>Cek lisan</a:t>
            </a:r>
          </a:p>
          <a:p>
            <a:pPr algn="l">
              <a:spcAft>
                <a:spcPts val="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Pekan 8 individu, Pekan 12 tim</a:t>
            </a:r>
          </a:p>
        </p:txBody>
      </p:sp>
      <p:sp>
        <p:nvSpPr>
          <p:cNvPr id="18" name="Angka 3"/>
          <p:cNvSpPr txBox="1"/>
          <p:nvPr/>
        </p:nvSpPr>
        <p:spPr>
          <a:xfrm>
            <a:off x="12877800" y="2240280"/>
            <a:ext cx="362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0">
                <a:solidFill>
                  <a:srgbClr val="F7B125"/>
                </a:solidFill>
                <a:latin typeface="Playpen Sans Bold"/>
              </a:rPr>
              <a:t>50%</a:t>
            </a:r>
          </a:p>
        </p:txBody>
      </p:sp>
      <p:sp>
        <p:nvSpPr>
          <p:cNvPr id="19" name="Label 3"/>
          <p:cNvSpPr txBox="1"/>
          <p:nvPr/>
        </p:nvSpPr>
        <p:spPr>
          <a:xfrm>
            <a:off x="12877800" y="3840480"/>
            <a:ext cx="36271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>
                <a:solidFill>
                  <a:srgbClr val="FFFFFF"/>
                </a:solidFill>
                <a:latin typeface="Playpen Sans Bold"/>
              </a:rPr>
              <a:t>Proyek akhir</a:t>
            </a:r>
          </a:p>
          <a:p>
            <a:pPr algn="l">
              <a:spcAft>
                <a:spcPts val="0"/>
              </a:spcAft>
            </a:pPr>
            <a:r>
              <a:rPr sz="2400">
                <a:solidFill>
                  <a:srgbClr val="FFFFFF"/>
                </a:solidFill>
                <a:latin typeface="Playpen Sans"/>
              </a:rPr>
              <a:t>tim 30%, cek lisan individu 20%</a:t>
            </a:r>
          </a:p>
        </p:txBody>
      </p:sp>
      <p:sp>
        <p:nvSpPr>
          <p:cNvPr id="20" name="Kehadiran"/>
          <p:cNvSpPr txBox="1"/>
          <p:nvPr/>
        </p:nvSpPr>
        <p:spPr>
          <a:xfrm>
            <a:off x="5074920" y="6217920"/>
            <a:ext cx="117043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>
                <a:solidFill>
                  <a:srgbClr val="F7B125"/>
                </a:solidFill>
                <a:latin typeface="Playpen Sans Bold"/>
              </a:rPr>
              <a:t>Kehadiran menjadi syarat: minimal 13 dari 16 pertemuan.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1612880" cy="640080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Proyek Akhir</a:t>
            </a:r>
          </a:p>
        </p:txBody>
      </p:sp>
      <p:sp>
        <p:nvSpPr>
          <p:cNvPr id="16" name="Teks"/>
          <p:cNvSpPr txBox="1"/>
          <p:nvPr/>
        </p:nvSpPr>
        <p:spPr>
          <a:xfrm>
            <a:off x="1508760" y="2240280"/>
            <a:ext cx="10424159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400">
                <a:solidFill>
                  <a:srgbClr val="FFFFFF"/>
                </a:solidFill>
                <a:latin typeface="Playpen Sans"/>
              </a:rPr>
              <a:t>Tim 3 orang, dibentuk mentor di Pekan 8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400">
                <a:solidFill>
                  <a:srgbClr val="FFFFFF"/>
                </a:solidFill>
                <a:latin typeface="Playpen Sans"/>
              </a:rPr>
              <a:t>Model ML dengan lapisan optimasi yang menentukan hasil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400">
                <a:solidFill>
                  <a:srgbClr val="FFFFFF"/>
                </a:solidFill>
                <a:latin typeface="Playpen Sans"/>
              </a:rPr>
              <a:t>Dibandingkan dengan pembanding pada anggaran yang sama, minimal 10 percobaan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Arial"/>
              <a:buChar char="•"/>
            </a:pPr>
            <a:r>
              <a:rPr sz="3400">
                <a:solidFill>
                  <a:srgbClr val="FFFFFF"/>
                </a:solidFill>
                <a:latin typeface="Playpen Sans"/>
              </a:rPr>
              <a:t>Demo publik, repositori, dan catatan teknis dengan satu kasus gagal</a:t>
            </a:r>
          </a:p>
        </p:txBody>
      </p:sp>
      <p:sp>
        <p:nvSpPr>
          <p:cNvPr id="17" name="Jalur waktu"/>
          <p:cNvSpPr txBox="1"/>
          <p:nvPr/>
        </p:nvSpPr>
        <p:spPr>
          <a:xfrm>
            <a:off x="1508760" y="6492240"/>
            <a:ext cx="104241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>
                <a:solidFill>
                  <a:srgbClr val="F7B125"/>
                </a:solidFill>
                <a:latin typeface="Playpen Sans Bold"/>
              </a:rPr>
              <a:t>Proposal Pekan 9 · Baseline Pekan 11 · Demo Pekan 16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9416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Panel"/>
          <p:cNvSpPr/>
          <p:nvPr/>
        </p:nvSpPr>
        <p:spPr>
          <a:xfrm>
            <a:off x="4480560" y="731520"/>
            <a:ext cx="12893040" cy="640080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Judul"/>
          <p:cNvSpPr txBox="1"/>
          <p:nvPr/>
        </p:nvSpPr>
        <p:spPr>
          <a:xfrm>
            <a:off x="5074920" y="1005840"/>
            <a:ext cx="117043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Alat AI</a:t>
            </a:r>
          </a:p>
        </p:txBody>
      </p:sp>
      <p:sp>
        <p:nvSpPr>
          <p:cNvPr id="14" name="Teks"/>
          <p:cNvSpPr txBox="1"/>
          <p:nvPr/>
        </p:nvSpPr>
        <p:spPr>
          <a:xfrm>
            <a:off x="5074920" y="2194560"/>
            <a:ext cx="11704319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3600">
                <a:solidFill>
                  <a:srgbClr val="FFFFFF"/>
                </a:solidFill>
                <a:latin typeface="Playpen Sans"/>
              </a:rPr>
              <a:t>Pakai AI apa pun, kapan pun. Tidak ada yang mencatatnya.</a:t>
            </a:r>
          </a:p>
          <a:p>
            <a:pPr algn="l">
              <a:spcAft>
                <a:spcPts val="10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Tiga hal tetap berlaku: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Kuis pembuka dan cek lisan: tanpa perangkat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Tujuh pekan memuat tugas memeriksa jawaban asisten AI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Kamu yang bertanggung jawab dan harus bisa menjelaskannya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6459200" cy="66751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527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0">
                <a:solidFill>
                  <a:srgbClr val="F7B125"/>
                </a:solidFill>
                <a:latin typeface="Playpen Sans Bold"/>
              </a:rPr>
              <a:t>Python untuk Programmer Go</a:t>
            </a:r>
          </a:p>
        </p:txBody>
      </p:sp>
      <p:graphicFrame>
        <p:nvGraphicFramePr>
          <p:cNvPr id="16" name="Tabel Go dan Python"/>
          <p:cNvGraphicFramePr>
            <a:graphicFrameLocks noGrp="1"/>
          </p:cNvGraphicFramePr>
          <p:nvPr/>
        </p:nvGraphicFramePr>
        <p:xfrm>
          <a:off x="1508760" y="2103120"/>
          <a:ext cx="148132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5303520"/>
                <a:gridCol w="54864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3000">
                          <a:solidFill>
                            <a:srgbClr val="0A2540"/>
                          </a:solidFill>
                          <a:latin typeface="Playpen Sans Bold"/>
                        </a:rPr>
                        <a:t>Hal</a:t>
                      </a:r>
                    </a:p>
                  </a:txBody>
                  <a:tcPr marL="137160" marR="137160" marT="36576" marB="36576" anchor="ctr">
                    <a:solidFill>
                      <a:srgbClr val="F7B1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>
                          <a:solidFill>
                            <a:srgbClr val="0A2540"/>
                          </a:solidFill>
                          <a:latin typeface="Playpen Sans Bold"/>
                        </a:rPr>
                        <a:t>Go</a:t>
                      </a:r>
                    </a:p>
                  </a:txBody>
                  <a:tcPr marL="137160" marR="137160" marT="36576" marB="36576" anchor="ctr">
                    <a:solidFill>
                      <a:srgbClr val="F7B1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>
                          <a:solidFill>
                            <a:srgbClr val="0A2540"/>
                          </a:solidFill>
                          <a:latin typeface="Playpen Sans Bold"/>
                        </a:rPr>
                        <a:t>Python</a:t>
                      </a:r>
                    </a:p>
                  </a:txBody>
                  <a:tcPr marL="137160" marR="137160" marT="36576" marB="36576" anchor="ctr">
                    <a:solidFill>
                      <a:srgbClr val="F7B12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7B125"/>
                          </a:solidFill>
                          <a:latin typeface="Playpen Sans Bold"/>
                        </a:rPr>
                        <a:t>Variabel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total := 17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total = 17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7B125"/>
                          </a:solidFill>
                          <a:latin typeface="Playpen Sans Bold"/>
                        </a:rPr>
                        <a:t>Perulangan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for i := 1; i &lt;= n; i++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for i in range(1, n + 1):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7B125"/>
                          </a:solidFill>
                          <a:latin typeface="Playpen Sans Bold"/>
                        </a:rPr>
                        <a:t>Kumpulan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FFFFF"/>
                          </a:solidFill>
                          <a:latin typeface="Playpen Sans"/>
                        </a:rPr>
                        <a:t>slice, map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FFFFF"/>
                          </a:solidFill>
                          <a:latin typeface="Playpen Sans"/>
                        </a:rPr>
                        <a:t>list, dict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7B125"/>
                          </a:solidFill>
                          <a:latin typeface="Playpen Sans Bold"/>
                        </a:rPr>
                        <a:t>Dua nilai kembali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return a, b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return a, b  (satu tuple)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7B125"/>
                          </a:solidFill>
                          <a:latin typeface="Playpen Sans Bold"/>
                        </a:rPr>
                        <a:t>Galat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500">
                          <a:solidFill>
                            <a:srgbClr val="FFFFFF"/>
                          </a:solidFill>
                          <a:latin typeface="Courier New"/>
                        </a:rPr>
                        <a:t>if err != nil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FFFFF"/>
                          </a:solidFill>
                          <a:latin typeface="Playpen Sans"/>
                        </a:rPr>
                        <a:t>try dan except</a:t>
                      </a:r>
                    </a:p>
                  </a:txBody>
                  <a:tcPr marL="137160" marR="137160" marT="36576" marB="36576" anchor="ctr">
                    <a:solidFill>
                      <a:srgbClr val="143A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7B125"/>
                          </a:solidFill>
                          <a:latin typeface="Playpen Sans Bold"/>
                        </a:rPr>
                        <a:t>Blok kode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FFFFF"/>
                          </a:solidFill>
                          <a:latin typeface="Playpen Sans"/>
                        </a:rPr>
                        <a:t>kurung kurawal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800">
                          <a:solidFill>
                            <a:srgbClr val="FFFFFF"/>
                          </a:solidFill>
                          <a:latin typeface="Playpen Sans"/>
                        </a:rPr>
                        <a:t>indentasi</a:t>
                      </a:r>
                    </a:p>
                  </a:txBody>
                  <a:tcPr marL="137160" marR="137160" marT="36576" marB="36576" anchor="ctr">
                    <a:solidFill>
                      <a:srgbClr val="0A2540"/>
                    </a:solidFill>
                  </a:tcPr>
                </a:tc>
              </a:tr>
            </a:tbl>
          </a:graphicData>
        </a:graphic>
      </p:graphicFrame>
      <p:sp>
        <p:nvSpPr>
          <p:cNvPr id="17" name="Catatan Python"/>
          <p:cNvSpPr txBox="1"/>
          <p:nvPr/>
        </p:nvSpPr>
        <p:spPr>
          <a:xfrm>
            <a:off x="1508760" y="6784848"/>
            <a:ext cx="1527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>
                <a:solidFill>
                  <a:srgbClr val="F7B125"/>
                </a:solidFill>
                <a:latin typeface="Playpen Sans"/>
              </a:rPr>
              <a:t>Tipe tidak dideklarasikan. / selalu menghasilkan pecahan, // pembagian bulat.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1612880" cy="658368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Lembar Kerja 1</a:t>
            </a:r>
          </a:p>
        </p:txBody>
      </p:sp>
      <p:sp>
        <p:nvSpPr>
          <p:cNvPr id="16" name="Waktu"/>
          <p:cNvSpPr txBox="1"/>
          <p:nvPr/>
        </p:nvSpPr>
        <p:spPr>
          <a:xfrm>
            <a:off x="1508760" y="2148840"/>
            <a:ext cx="104241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>
                <a:solidFill>
                  <a:srgbClr val="F7B125"/>
                </a:solidFill>
                <a:latin typeface="Playpen Sans Bold"/>
              </a:rPr>
              <a:t>25 menit · berpasangan</a:t>
            </a:r>
          </a:p>
        </p:txBody>
      </p:sp>
      <p:sp>
        <p:nvSpPr>
          <p:cNvPr id="17" name="Teks"/>
          <p:cNvSpPr txBox="1"/>
          <p:nvPr/>
        </p:nvSpPr>
        <p:spPr>
          <a:xfrm>
            <a:off x="1508760" y="3108960"/>
            <a:ext cx="10424159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Satu laptop boleh dipakai berdua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Buka notebook Python untuk programmer Go dari Panduan Peserta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Latihan 1 sampai 6 di kelas. Latihan 7 sampai 10 di rumah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Ganti ... dengan kodemu, lalu jalankan sel pemeriksa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77136" y="3199705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244885" y="1988036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5" y="0"/>
                </a:lnTo>
                <a:lnTo>
                  <a:pt x="5309235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13751443" y="1408594"/>
            <a:ext cx="5427899" cy="1816870"/>
          </a:xfrm>
          <a:custGeom>
            <a:avLst/>
            <a:gdLst/>
            <a:ahLst/>
            <a:cxnLst/>
            <a:rect r="r" b="b" t="t" l="l"/>
            <a:pathLst>
              <a:path h="1816870" w="5427899">
                <a:moveTo>
                  <a:pt x="5427899" y="0"/>
                </a:moveTo>
                <a:lnTo>
                  <a:pt x="0" y="0"/>
                </a:lnTo>
                <a:lnTo>
                  <a:pt x="0" y="1816870"/>
                </a:lnTo>
                <a:lnTo>
                  <a:pt x="5427899" y="1816870"/>
                </a:lnTo>
                <a:lnTo>
                  <a:pt x="5427899" y="0"/>
                </a:lnTo>
                <a:close/>
              </a:path>
            </a:pathLst>
          </a:custGeom>
          <a:blipFill>
            <a:blip r:embed="rId6">
              <a:alphaModFix amt="65000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240358" y="2417800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6" y="0"/>
                </a:lnTo>
                <a:lnTo>
                  <a:pt x="752420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940574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90122" y="7454000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23648" y="576981"/>
            <a:ext cx="5790657" cy="1938295"/>
          </a:xfrm>
          <a:custGeom>
            <a:avLst/>
            <a:gdLst/>
            <a:ahLst/>
            <a:cxnLst/>
            <a:rect r="r" b="b" t="t" l="l"/>
            <a:pathLst>
              <a:path h="1938295" w="5790657">
                <a:moveTo>
                  <a:pt x="0" y="0"/>
                </a:moveTo>
                <a:lnTo>
                  <a:pt x="5790656" y="0"/>
                </a:lnTo>
                <a:lnTo>
                  <a:pt x="5790656" y="1938296"/>
                </a:lnTo>
                <a:lnTo>
                  <a:pt x="0" y="19382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65000"/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4061996" y="2829602"/>
            <a:ext cx="4927222" cy="791725"/>
            <a:chOff x="0" y="0"/>
            <a:chExt cx="1297705" cy="208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97705" cy="208520"/>
            </a:xfrm>
            <a:custGeom>
              <a:avLst/>
              <a:gdLst/>
              <a:ahLst/>
              <a:cxnLst/>
              <a:rect r="r" b="b" t="t" l="l"/>
              <a:pathLst>
                <a:path h="208520" w="1297705">
                  <a:moveTo>
                    <a:pt x="104260" y="0"/>
                  </a:moveTo>
                  <a:lnTo>
                    <a:pt x="1193444" y="0"/>
                  </a:lnTo>
                  <a:cubicBezTo>
                    <a:pt x="1251026" y="0"/>
                    <a:pt x="1297705" y="46679"/>
                    <a:pt x="1297705" y="104260"/>
                  </a:cubicBezTo>
                  <a:lnTo>
                    <a:pt x="1297705" y="104260"/>
                  </a:lnTo>
                  <a:cubicBezTo>
                    <a:pt x="1297705" y="161841"/>
                    <a:pt x="1251026" y="208520"/>
                    <a:pt x="1193444" y="208520"/>
                  </a:cubicBezTo>
                  <a:lnTo>
                    <a:pt x="104260" y="208520"/>
                  </a:lnTo>
                  <a:cubicBezTo>
                    <a:pt x="46679" y="208520"/>
                    <a:pt x="0" y="161841"/>
                    <a:pt x="0" y="104260"/>
                  </a:cubicBezTo>
                  <a:lnTo>
                    <a:pt x="0" y="104260"/>
                  </a:lnTo>
                  <a:cubicBezTo>
                    <a:pt x="0" y="46679"/>
                    <a:pt x="46679" y="0"/>
                    <a:pt x="10426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297705" cy="2466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107461" y="6036889"/>
            <a:ext cx="6890564" cy="3775455"/>
          </a:xfrm>
          <a:custGeom>
            <a:avLst/>
            <a:gdLst/>
            <a:ahLst/>
            <a:cxnLst/>
            <a:rect r="r" b="b" t="t" l="l"/>
            <a:pathLst>
              <a:path h="3775455" w="6890564">
                <a:moveTo>
                  <a:pt x="0" y="0"/>
                </a:moveTo>
                <a:lnTo>
                  <a:pt x="6890563" y="0"/>
                </a:lnTo>
                <a:lnTo>
                  <a:pt x="6890563" y="3775454"/>
                </a:lnTo>
                <a:lnTo>
                  <a:pt x="0" y="377545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true" flipV="false" rot="0">
            <a:off x="12007845" y="1772904"/>
            <a:ext cx="3857149" cy="2113396"/>
          </a:xfrm>
          <a:custGeom>
            <a:avLst/>
            <a:gdLst/>
            <a:ahLst/>
            <a:cxnLst/>
            <a:rect r="r" b="b" t="t" l="l"/>
            <a:pathLst>
              <a:path h="2113396" w="3857149">
                <a:moveTo>
                  <a:pt x="3857149" y="0"/>
                </a:moveTo>
                <a:lnTo>
                  <a:pt x="0" y="0"/>
                </a:lnTo>
                <a:lnTo>
                  <a:pt x="0" y="2113396"/>
                </a:lnTo>
                <a:lnTo>
                  <a:pt x="3857149" y="2113396"/>
                </a:lnTo>
                <a:lnTo>
                  <a:pt x="3857149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3709994" y="4011851"/>
            <a:ext cx="7688251" cy="192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8000" b="true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Istirahat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271362" y="3084172"/>
            <a:ext cx="4508490" cy="330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250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Lalu: Optimizer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391035" y="4011851"/>
            <a:ext cx="4914443" cy="192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8000" b="true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5 menit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9416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Panel"/>
          <p:cNvSpPr/>
          <p:nvPr/>
        </p:nvSpPr>
        <p:spPr>
          <a:xfrm>
            <a:off x="4480560" y="731520"/>
            <a:ext cx="12893040" cy="66751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Judul"/>
          <p:cNvSpPr txBox="1"/>
          <p:nvPr/>
        </p:nvSpPr>
        <p:spPr>
          <a:xfrm>
            <a:off x="5074920" y="1005840"/>
            <a:ext cx="117043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Optimizer 20 Baris</a:t>
            </a:r>
          </a:p>
        </p:txBody>
      </p:sp>
      <p:sp>
        <p:nvSpPr>
          <p:cNvPr id="14" name="Teks"/>
          <p:cNvSpPr txBox="1"/>
          <p:nvPr/>
        </p:nvSpPr>
        <p:spPr>
          <a:xfrm>
            <a:off x="5074920" y="2194560"/>
            <a:ext cx="11704319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Ada fungsi misterius f(x, y). Cari titik dengan skor tertinggi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7B125"/>
                </a:solidFill>
                <a:latin typeface="Playpen Sans Bold"/>
              </a:rPr>
              <a:t>Anggaran: 30 evaluasi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Ronde 1: pencarian acak. Ronde 2: strategi bebas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Tulis persen hasilmu di papan. Jangan bagikan koordinat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Ubah KODE_PASANGAN sesuai nomor dari mentor</a:t>
            </a:r>
          </a:p>
        </p:txBody>
      </p:sp>
      <p:sp>
        <p:nvSpPr>
          <p:cNvPr id="15" name="Waktu ronde"/>
          <p:cNvSpPr txBox="1"/>
          <p:nvPr/>
        </p:nvSpPr>
        <p:spPr>
          <a:xfrm>
            <a:off x="5074920" y="6400800"/>
            <a:ext cx="1170431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>
                <a:solidFill>
                  <a:srgbClr val="F7B125"/>
                </a:solidFill>
                <a:latin typeface="Playpen Sans Bold"/>
              </a:rPr>
              <a:t>Ronde 1: 10 menit · Ronde 2: 10 menit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78766" y="2453423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5" y="0"/>
                </a:lnTo>
                <a:lnTo>
                  <a:pt x="7524205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1612880" cy="603504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042415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Diskusi</a:t>
            </a:r>
          </a:p>
        </p:txBody>
      </p:sp>
      <p:sp>
        <p:nvSpPr>
          <p:cNvPr id="16" name="Teks"/>
          <p:cNvSpPr txBox="1"/>
          <p:nvPr/>
        </p:nvSpPr>
        <p:spPr>
          <a:xfrm>
            <a:off x="1508760" y="2194560"/>
            <a:ext cx="10424159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2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Siapa yang naik dari ronde 1 ke ronde 2? Apa yang diubah?</a:t>
            </a:r>
          </a:p>
          <a:p>
            <a:pPr algn="l" marL="502920" indent="-502920">
              <a:spcAft>
                <a:spcPts val="12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Siapa yang turun, dan mengapa itu mungkin terjadi?</a:t>
            </a:r>
          </a:p>
          <a:p>
            <a:pPr algn="l" marL="502920" indent="-502920">
              <a:spcAft>
                <a:spcPts val="120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Apa risikonya jika semua evaluasi jatuh di satu bukit kecil?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Playpen Sans Bold"/>
              <a:buAutoNum type="arabicPeriod"/>
            </a:pPr>
            <a:r>
              <a:rPr sz="3200">
                <a:solidFill>
                  <a:srgbClr val="FFFFFF"/>
                </a:solidFill>
                <a:latin typeface="Playpen Sans"/>
              </a:rPr>
              <a:t>Jika satu evaluasi memakan satu jam, strategi apa yang kamu pilih?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4" name="Panel"/>
          <p:cNvSpPr/>
          <p:nvPr/>
        </p:nvSpPr>
        <p:spPr>
          <a:xfrm>
            <a:off x="914400" y="731520"/>
            <a:ext cx="16459200" cy="640080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Judul"/>
          <p:cNvSpPr txBox="1"/>
          <p:nvPr/>
        </p:nvSpPr>
        <p:spPr>
          <a:xfrm>
            <a:off x="1508760" y="1005840"/>
            <a:ext cx="1527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Stasiun Persiapan</a:t>
            </a:r>
          </a:p>
        </p:txBody>
      </p:sp>
      <p:sp>
        <p:nvSpPr>
          <p:cNvPr id="16" name="Stasiun 1"/>
          <p:cNvSpPr/>
          <p:nvPr/>
        </p:nvSpPr>
        <p:spPr>
          <a:xfrm>
            <a:off x="1508760" y="2240280"/>
            <a:ext cx="4785360" cy="3566160"/>
          </a:xfrm>
          <a:prstGeom prst="roundRect">
            <a:avLst>
              <a:gd name="adj" fmla="val 6000"/>
            </a:avLst>
          </a:prstGeom>
          <a:solidFill>
            <a:srgbClr val="143A6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i stasiun 1"/>
          <p:cNvSpPr txBox="1"/>
          <p:nvPr/>
        </p:nvSpPr>
        <p:spPr>
          <a:xfrm>
            <a:off x="1783080" y="2514600"/>
            <a:ext cx="42367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A · Google dan Colab</a:t>
            </a:r>
          </a:p>
          <a:p>
            <a:pPr algn="l">
              <a:spcAft>
                <a:spcPts val="0"/>
              </a:spcAft>
            </a:pPr>
            <a:r>
              <a:rPr sz="2800">
                <a:solidFill>
                  <a:srgbClr val="FFFFFF"/>
                </a:solidFill>
                <a:latin typeface="Playpen Sans"/>
              </a:rPr>
              <a:t>Akun Google masuk. Colab terbuka dan print("halo") berjalan.</a:t>
            </a:r>
          </a:p>
        </p:txBody>
      </p:sp>
      <p:sp>
        <p:nvSpPr>
          <p:cNvPr id="18" name="Stasiun 2"/>
          <p:cNvSpPr/>
          <p:nvPr/>
        </p:nvSpPr>
        <p:spPr>
          <a:xfrm>
            <a:off x="6751320" y="2240280"/>
            <a:ext cx="4785360" cy="3566160"/>
          </a:xfrm>
          <a:prstGeom prst="roundRect">
            <a:avLst>
              <a:gd name="adj" fmla="val 6000"/>
            </a:avLst>
          </a:prstGeom>
          <a:solidFill>
            <a:srgbClr val="143A6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i stasiun 2"/>
          <p:cNvSpPr txBox="1"/>
          <p:nvPr/>
        </p:nvSpPr>
        <p:spPr>
          <a:xfrm>
            <a:off x="7025639" y="2514600"/>
            <a:ext cx="42367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B · GitHub</a:t>
            </a:r>
          </a:p>
          <a:p>
            <a:pPr algn="l">
              <a:spcAft>
                <a:spcPts val="0"/>
              </a:spcAft>
            </a:pPr>
            <a:r>
              <a:rPr sz="2800">
                <a:solidFill>
                  <a:srgbClr val="FFFFFF"/>
                </a:solidFill>
                <a:latin typeface="Playpen Sans"/>
              </a:rPr>
              <a:t>Akun GitHub dibuat. Username diberikan ke mentor.</a:t>
            </a:r>
          </a:p>
        </p:txBody>
      </p:sp>
      <p:sp>
        <p:nvSpPr>
          <p:cNvPr id="20" name="Stasiun 3"/>
          <p:cNvSpPr/>
          <p:nvPr/>
        </p:nvSpPr>
        <p:spPr>
          <a:xfrm>
            <a:off x="11993880" y="2240280"/>
            <a:ext cx="4785360" cy="3566160"/>
          </a:xfrm>
          <a:prstGeom prst="roundRect">
            <a:avLst>
              <a:gd name="adj" fmla="val 6000"/>
            </a:avLst>
          </a:prstGeom>
          <a:solidFill>
            <a:srgbClr val="143A63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si stasiun 3"/>
          <p:cNvSpPr txBox="1"/>
          <p:nvPr/>
        </p:nvSpPr>
        <p:spPr>
          <a:xfrm>
            <a:off x="12268200" y="2514600"/>
            <a:ext cx="42367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C · Buku</a:t>
            </a:r>
          </a:p>
          <a:p>
            <a:pPr algn="l">
              <a:spcAft>
                <a:spcPts val="0"/>
              </a:spcAft>
            </a:pPr>
            <a:r>
              <a:rPr sz="2800">
                <a:solidFill>
                  <a:srgbClr val="FFFFFF"/>
                </a:solidFill>
                <a:latin typeface="Playpen Sans"/>
              </a:rPr>
              <a:t>Kedua buku terunduh dan terbuka di perangkatmu.</a:t>
            </a:r>
          </a:p>
        </p:txBody>
      </p:sp>
      <p:sp>
        <p:nvSpPr>
          <p:cNvPr id="22" name="Catatan"/>
          <p:cNvSpPr txBox="1"/>
          <p:nvPr/>
        </p:nvSpPr>
        <p:spPr>
          <a:xfrm>
            <a:off x="1508760" y="6035040"/>
            <a:ext cx="1527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>
                <a:solidFill>
                  <a:srgbClr val="F7B125"/>
                </a:solidFill>
                <a:latin typeface="Playpen Sans Bold"/>
              </a:rPr>
              <a:t>10 menit. Yang belum selesai dikerjakan di rumah.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978766" y="2004481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23648" y="2410518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29416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81269" y="74704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09" y="0"/>
                </a:lnTo>
                <a:lnTo>
                  <a:pt x="608370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Panel"/>
          <p:cNvSpPr/>
          <p:nvPr/>
        </p:nvSpPr>
        <p:spPr>
          <a:xfrm>
            <a:off x="4480560" y="731520"/>
            <a:ext cx="12893040" cy="6675120"/>
          </a:xfrm>
          <a:prstGeom prst="roundRect">
            <a:avLst>
              <a:gd name="adj" fmla="val 5000"/>
            </a:avLst>
          </a:prstGeom>
          <a:solidFill>
            <a:srgbClr val="0A2540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Judul"/>
          <p:cNvSpPr txBox="1"/>
          <p:nvPr/>
        </p:nvSpPr>
        <p:spPr>
          <a:xfrm>
            <a:off x="5074920" y="1005840"/>
            <a:ext cx="117043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800">
                <a:solidFill>
                  <a:srgbClr val="F7B125"/>
                </a:solidFill>
                <a:latin typeface="Playpen Sans Bold"/>
              </a:rPr>
              <a:t>Untuk Pertemuan 1</a:t>
            </a:r>
          </a:p>
        </p:txBody>
      </p:sp>
      <p:sp>
        <p:nvSpPr>
          <p:cNvPr id="14" name="Teks"/>
          <p:cNvSpPr txBox="1"/>
          <p:nvPr/>
        </p:nvSpPr>
        <p:spPr>
          <a:xfrm>
            <a:off x="5074920" y="2194560"/>
            <a:ext cx="1170431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Baca UDL bagian 1.1 (halaman 1 sampai 6) dan bab 2 (halaman 17 sampai 22)</a:t>
            </a:r>
          </a:p>
          <a:p>
            <a:pPr algn="l" marL="502920" indent="-502920">
              <a:spcAft>
                <a:spcPts val="100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Bawa laptop yang sudah bisa membuka Colab</a:t>
            </a:r>
          </a:p>
          <a:p>
            <a:pPr algn="l" marL="502920" indent="-502920">
              <a:spcAft>
                <a:spcPts val="0"/>
              </a:spcAft>
              <a:buClr>
                <a:srgbClr val="F7B125"/>
              </a:buClr>
              <a:buFont typeface="Arial"/>
              <a:buChar char="•"/>
            </a:pPr>
            <a:r>
              <a:rPr sz="3200">
                <a:solidFill>
                  <a:srgbClr val="FFFFFF"/>
                </a:solidFill>
                <a:latin typeface="Playpen Sans"/>
              </a:rPr>
              <a:t>Latihan 7 sampai 10 dan persiapan yang tertinggal dikerjakan di rumah</a:t>
            </a:r>
          </a:p>
        </p:txBody>
      </p:sp>
      <p:sp>
        <p:nvSpPr>
          <p:cNvPr id="15" name="Teks"/>
          <p:cNvSpPr txBox="1"/>
          <p:nvPr/>
        </p:nvSpPr>
        <p:spPr>
          <a:xfrm>
            <a:off x="5074920" y="5486400"/>
            <a:ext cx="1170431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>
                <a:solidFill>
                  <a:srgbClr val="F7B125"/>
                </a:solidFill>
                <a:latin typeface="Playpen Sans Bold"/>
              </a:rPr>
              <a:t>Tiket keluar (2 menit)</a:t>
            </a:r>
          </a:p>
          <a:p>
            <a:pPr algn="l">
              <a:spcAft>
                <a:spcPts val="0"/>
              </a:spcAft>
            </a:pPr>
            <a:r>
              <a:rPr sz="3200">
                <a:solidFill>
                  <a:srgbClr val="FFFFFF"/>
                </a:solidFill>
                <a:latin typeface="Playpen Sans"/>
              </a:rPr>
              <a:t>Tulis satu pertanyaan dan satu hal yang kamu khawatirkan.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67928" r="0" b="-6792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77136" y="3199705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4" y="0"/>
                </a:lnTo>
                <a:lnTo>
                  <a:pt x="5309234" y="5465965"/>
                </a:lnTo>
                <a:lnTo>
                  <a:pt x="0" y="5465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533569" y="-21055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0" y="0"/>
                </a:moveTo>
                <a:lnTo>
                  <a:pt x="5762298" y="0"/>
                </a:lnTo>
                <a:lnTo>
                  <a:pt x="5762298" y="6532600"/>
                </a:lnTo>
                <a:lnTo>
                  <a:pt x="0" y="6532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false" rot="0">
            <a:off x="-29416" y="0"/>
            <a:ext cx="5762298" cy="6532600"/>
          </a:xfrm>
          <a:custGeom>
            <a:avLst/>
            <a:gdLst/>
            <a:ahLst/>
            <a:cxnLst/>
            <a:rect r="r" b="b" t="t" l="l"/>
            <a:pathLst>
              <a:path h="6532600" w="5762298">
                <a:moveTo>
                  <a:pt x="5762298" y="0"/>
                </a:moveTo>
                <a:lnTo>
                  <a:pt x="0" y="0"/>
                </a:lnTo>
                <a:lnTo>
                  <a:pt x="0" y="6532600"/>
                </a:lnTo>
                <a:lnTo>
                  <a:pt x="5762298" y="6532600"/>
                </a:lnTo>
                <a:lnTo>
                  <a:pt x="5762298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244885" y="1988036"/>
            <a:ext cx="5309234" cy="5465964"/>
          </a:xfrm>
          <a:custGeom>
            <a:avLst/>
            <a:gdLst/>
            <a:ahLst/>
            <a:cxnLst/>
            <a:rect r="r" b="b" t="t" l="l"/>
            <a:pathLst>
              <a:path h="5465964" w="5309234">
                <a:moveTo>
                  <a:pt x="0" y="0"/>
                </a:moveTo>
                <a:lnTo>
                  <a:pt x="5309235" y="0"/>
                </a:lnTo>
                <a:lnTo>
                  <a:pt x="5309235" y="5465964"/>
                </a:lnTo>
                <a:lnTo>
                  <a:pt x="0" y="54659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317430" y="7660946"/>
            <a:ext cx="18613297" cy="3022078"/>
          </a:xfrm>
          <a:custGeom>
            <a:avLst/>
            <a:gdLst/>
            <a:ahLst/>
            <a:cxnLst/>
            <a:rect r="r" b="b" t="t" l="l"/>
            <a:pathLst>
              <a:path h="3022078" w="18613297">
                <a:moveTo>
                  <a:pt x="0" y="0"/>
                </a:moveTo>
                <a:lnTo>
                  <a:pt x="18613297" y="0"/>
                </a:lnTo>
                <a:lnTo>
                  <a:pt x="18613297" y="3022077"/>
                </a:lnTo>
                <a:lnTo>
                  <a:pt x="0" y="3022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8" t="0" r="-158" b="-6838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0">
            <a:off x="13751443" y="1408594"/>
            <a:ext cx="5427899" cy="1816870"/>
          </a:xfrm>
          <a:custGeom>
            <a:avLst/>
            <a:gdLst/>
            <a:ahLst/>
            <a:cxnLst/>
            <a:rect r="r" b="b" t="t" l="l"/>
            <a:pathLst>
              <a:path h="1816870" w="5427899">
                <a:moveTo>
                  <a:pt x="5427899" y="0"/>
                </a:moveTo>
                <a:lnTo>
                  <a:pt x="0" y="0"/>
                </a:lnTo>
                <a:lnTo>
                  <a:pt x="0" y="1816870"/>
                </a:lnTo>
                <a:lnTo>
                  <a:pt x="5427899" y="1816870"/>
                </a:lnTo>
                <a:lnTo>
                  <a:pt x="5427899" y="0"/>
                </a:lnTo>
                <a:close/>
              </a:path>
            </a:pathLst>
          </a:custGeom>
          <a:blipFill>
            <a:blip r:embed="rId6">
              <a:alphaModFix amt="65000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240358" y="2417800"/>
            <a:ext cx="7524206" cy="8229600"/>
          </a:xfrm>
          <a:custGeom>
            <a:avLst/>
            <a:gdLst/>
            <a:ahLst/>
            <a:cxnLst/>
            <a:rect r="r" b="b" t="t" l="l"/>
            <a:pathLst>
              <a:path h="8229600" w="7524206">
                <a:moveTo>
                  <a:pt x="0" y="0"/>
                </a:moveTo>
                <a:lnTo>
                  <a:pt x="7524206" y="0"/>
                </a:lnTo>
                <a:lnTo>
                  <a:pt x="752420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940574" y="2396745"/>
            <a:ext cx="4040554" cy="8229600"/>
          </a:xfrm>
          <a:custGeom>
            <a:avLst/>
            <a:gdLst/>
            <a:ahLst/>
            <a:cxnLst/>
            <a:rect r="r" b="b" t="t" l="l"/>
            <a:pathLst>
              <a:path h="8229600" w="4040554">
                <a:moveTo>
                  <a:pt x="0" y="0"/>
                </a:moveTo>
                <a:lnTo>
                  <a:pt x="4040554" y="0"/>
                </a:lnTo>
                <a:lnTo>
                  <a:pt x="404055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-190122" y="7454000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549673" y="7660946"/>
            <a:ext cx="6083710" cy="4114800"/>
          </a:xfrm>
          <a:custGeom>
            <a:avLst/>
            <a:gdLst/>
            <a:ahLst/>
            <a:cxnLst/>
            <a:rect r="r" b="b" t="t" l="l"/>
            <a:pathLst>
              <a:path h="4114800" w="6083710">
                <a:moveTo>
                  <a:pt x="0" y="0"/>
                </a:moveTo>
                <a:lnTo>
                  <a:pt x="6083710" y="0"/>
                </a:lnTo>
                <a:lnTo>
                  <a:pt x="60837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23648" y="576981"/>
            <a:ext cx="5790657" cy="1938295"/>
          </a:xfrm>
          <a:custGeom>
            <a:avLst/>
            <a:gdLst/>
            <a:ahLst/>
            <a:cxnLst/>
            <a:rect r="r" b="b" t="t" l="l"/>
            <a:pathLst>
              <a:path h="1938295" w="5790657">
                <a:moveTo>
                  <a:pt x="0" y="0"/>
                </a:moveTo>
                <a:lnTo>
                  <a:pt x="5790656" y="0"/>
                </a:lnTo>
                <a:lnTo>
                  <a:pt x="5790656" y="1938296"/>
                </a:lnTo>
                <a:lnTo>
                  <a:pt x="0" y="19382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65000"/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4061996" y="2829602"/>
            <a:ext cx="4927222" cy="791725"/>
            <a:chOff x="0" y="0"/>
            <a:chExt cx="1297705" cy="208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97705" cy="208520"/>
            </a:xfrm>
            <a:custGeom>
              <a:avLst/>
              <a:gdLst/>
              <a:ahLst/>
              <a:cxnLst/>
              <a:rect r="r" b="b" t="t" l="l"/>
              <a:pathLst>
                <a:path h="208520" w="1297705">
                  <a:moveTo>
                    <a:pt x="104260" y="0"/>
                  </a:moveTo>
                  <a:lnTo>
                    <a:pt x="1193444" y="0"/>
                  </a:lnTo>
                  <a:cubicBezTo>
                    <a:pt x="1251026" y="0"/>
                    <a:pt x="1297705" y="46679"/>
                    <a:pt x="1297705" y="104260"/>
                  </a:cubicBezTo>
                  <a:lnTo>
                    <a:pt x="1297705" y="104260"/>
                  </a:lnTo>
                  <a:cubicBezTo>
                    <a:pt x="1297705" y="161841"/>
                    <a:pt x="1251026" y="208520"/>
                    <a:pt x="1193444" y="208520"/>
                  </a:cubicBezTo>
                  <a:lnTo>
                    <a:pt x="104260" y="208520"/>
                  </a:lnTo>
                  <a:cubicBezTo>
                    <a:pt x="46679" y="208520"/>
                    <a:pt x="0" y="161841"/>
                    <a:pt x="0" y="104260"/>
                  </a:cubicBezTo>
                  <a:lnTo>
                    <a:pt x="0" y="104260"/>
                  </a:lnTo>
                  <a:cubicBezTo>
                    <a:pt x="0" y="46679"/>
                    <a:pt x="46679" y="0"/>
                    <a:pt x="104260" y="0"/>
                  </a:cubicBezTo>
                  <a:close/>
                </a:path>
              </a:pathLst>
            </a:custGeom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297705" cy="2466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894294" y="6869221"/>
            <a:ext cx="2441189" cy="791725"/>
            <a:chOff x="0" y="0"/>
            <a:chExt cx="642947" cy="208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42947" cy="208520"/>
            </a:xfrm>
            <a:custGeom>
              <a:avLst/>
              <a:gdLst/>
              <a:ahLst/>
              <a:cxnLst/>
              <a:rect r="r" b="b" t="t" l="l"/>
              <a:pathLst>
                <a:path h="208520" w="642947">
                  <a:moveTo>
                    <a:pt x="104260" y="0"/>
                  </a:moveTo>
                  <a:lnTo>
                    <a:pt x="538687" y="0"/>
                  </a:lnTo>
                  <a:cubicBezTo>
                    <a:pt x="596268" y="0"/>
                    <a:pt x="642947" y="46679"/>
                    <a:pt x="642947" y="104260"/>
                  </a:cubicBezTo>
                  <a:lnTo>
                    <a:pt x="642947" y="104260"/>
                  </a:lnTo>
                  <a:cubicBezTo>
                    <a:pt x="642947" y="161841"/>
                    <a:pt x="596268" y="208520"/>
                    <a:pt x="538687" y="208520"/>
                  </a:cubicBezTo>
                  <a:lnTo>
                    <a:pt x="104260" y="208520"/>
                  </a:lnTo>
                  <a:cubicBezTo>
                    <a:pt x="46679" y="208520"/>
                    <a:pt x="0" y="161841"/>
                    <a:pt x="0" y="104260"/>
                  </a:cubicBezTo>
                  <a:lnTo>
                    <a:pt x="0" y="104260"/>
                  </a:lnTo>
                  <a:cubicBezTo>
                    <a:pt x="0" y="46679"/>
                    <a:pt x="46679" y="0"/>
                    <a:pt x="104260" y="0"/>
                  </a:cubicBezTo>
                  <a:close/>
                </a:path>
              </a:pathLst>
            </a:custGeom>
            <a:solidFill>
              <a:srgbClr val="001769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42947" cy="2466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3107461" y="6036889"/>
            <a:ext cx="6890564" cy="3775455"/>
          </a:xfrm>
          <a:custGeom>
            <a:avLst/>
            <a:gdLst/>
            <a:ahLst/>
            <a:cxnLst/>
            <a:rect r="r" b="b" t="t" l="l"/>
            <a:pathLst>
              <a:path h="3775455" w="6890564">
                <a:moveTo>
                  <a:pt x="0" y="0"/>
                </a:moveTo>
                <a:lnTo>
                  <a:pt x="6890563" y="0"/>
                </a:lnTo>
                <a:lnTo>
                  <a:pt x="6890563" y="3775454"/>
                </a:lnTo>
                <a:lnTo>
                  <a:pt x="0" y="377545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true" flipV="false" rot="0">
            <a:off x="12007845" y="1772904"/>
            <a:ext cx="3857149" cy="2113396"/>
          </a:xfrm>
          <a:custGeom>
            <a:avLst/>
            <a:gdLst/>
            <a:ahLst/>
            <a:cxnLst/>
            <a:rect r="r" b="b" t="t" l="l"/>
            <a:pathLst>
              <a:path h="2113396" w="3857149">
                <a:moveTo>
                  <a:pt x="3857149" y="0"/>
                </a:moveTo>
                <a:lnTo>
                  <a:pt x="0" y="0"/>
                </a:lnTo>
                <a:lnTo>
                  <a:pt x="0" y="2113396"/>
                </a:lnTo>
                <a:lnTo>
                  <a:pt x="3857149" y="2113396"/>
                </a:lnTo>
                <a:lnTo>
                  <a:pt x="3857149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3709994" y="4011851"/>
            <a:ext cx="7688251" cy="192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2000" b="true">
                <a:solidFill>
                  <a:srgbClr val="EAC24B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Terima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271362" y="3084172"/>
            <a:ext cx="4508490" cy="330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250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Advance Study Group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998024" y="7123791"/>
            <a:ext cx="2233728" cy="330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b="true" sz="2200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Sampai jumpa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391035" y="4011851"/>
            <a:ext cx="4914443" cy="1920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2000" b="true">
                <a:solidFill>
                  <a:srgbClr val="FFFFFF"/>
                </a:solidFill>
                <a:latin typeface="Playpen Sans Bold"/>
                <a:ea typeface="Playpen Sans Bold"/>
                <a:cs typeface="Playpen Sans Bold"/>
                <a:sym typeface="Playpen Sans Bold"/>
              </a:rPr>
              <a:t>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DAHY2NpwA2U</dc:identifier>
  <dcterms:modified xsi:type="dcterms:W3CDTF">2011-08-01T06:04:30Z</dcterms:modified>
  <cp:revision>1</cp:revision>
  <dc:title>Colorful Playful Ocean Knowledge Presentation</dc:title>
</cp:coreProperties>
</file>